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3" r:id="rId26"/>
    <p:sldId id="280" r:id="rId27"/>
    <p:sldId id="281" r:id="rId28"/>
    <p:sldId id="282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6" d="100"/>
          <a:sy n="156" d="100"/>
        </p:scale>
        <p:origin x="456" y="1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cture_v2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lecture_v2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09600" y="2209800"/>
            <a:ext cx="95250" cy="1981200"/>
          </a:xfrm>
          <a:prstGeom prst="rect">
            <a:avLst/>
          </a:prstGeom>
          <a:solidFill>
            <a:srgbClr val="E30613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895350" y="2295049"/>
            <a:ext cx="7273481" cy="1760696"/>
            <a:chOff x="895350" y="2295049"/>
            <a:chExt cx="7273481" cy="1760696"/>
          </a:xfrm>
        </p:grpSpPr>
        <p:sp>
          <p:nvSpPr>
            <p:cNvPr id="3" name="TextBox 3"/>
            <p:cNvSpPr txBox="1"/>
            <p:nvPr/>
          </p:nvSpPr>
          <p:spPr>
            <a:xfrm>
              <a:off x="909447" y="2295049"/>
              <a:ext cx="272006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225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AGENTIC ERA LECTURE · 2026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895350" y="2708910"/>
              <a:ext cx="6636471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从 AI 使用者到 AI 架构师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06780" y="3495675"/>
              <a:ext cx="726205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Agentic 时代：AI 前沿与计算机人的职业路径 —— LLM 让每个人都成为通才，但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906780" y="376237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专业知识定义差距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04266" y="5943600"/>
            <a:ext cx="10983468" cy="358711"/>
            <a:chOff x="604266" y="5943600"/>
            <a:chExt cx="10983468" cy="358711"/>
          </a:xfrm>
        </p:grpSpPr>
        <p:sp>
          <p:nvSpPr>
            <p:cNvPr id="8" name="Line 8"/>
            <p:cNvSpPr/>
            <p:nvPr/>
          </p:nvSpPr>
          <p:spPr>
            <a:xfrm>
              <a:off x="609600" y="59436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04266" y="6096952"/>
              <a:ext cx="20127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计算机学院 · Agentic 职业讲座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032865" y="6096952"/>
              <a:ext cx="5548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2026-09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4328904" cy="738854"/>
            <a:chOff x="595122" y="501491"/>
            <a:chExt cx="4328904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25049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目录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432890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本讲框架 · 一条成长主线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601218" y="1707832"/>
            <a:ext cx="3488036" cy="755571"/>
            <a:chOff x="601218" y="1707832"/>
            <a:chExt cx="3488036" cy="755571"/>
          </a:xfrm>
        </p:grpSpPr>
        <p:sp>
          <p:nvSpPr>
            <p:cNvPr id="6" name="TextBox 6"/>
            <p:cNvSpPr txBox="1"/>
            <p:nvPr/>
          </p:nvSpPr>
          <p:spPr>
            <a:xfrm>
              <a:off x="601218" y="17078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01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135761" y="1732121"/>
              <a:ext cx="295349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范式转移：从写代码到编排 Agent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138238" y="2051447"/>
              <a:ext cx="1964611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命题 · 价值迁移 · 趋势 · 六大趋势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38238" y="2280047"/>
              <a:ext cx="914306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格局 · 模型选型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01218" y="2660332"/>
            <a:ext cx="3611916" cy="755571"/>
            <a:chOff x="601218" y="2660332"/>
            <a:chExt cx="3611916" cy="755571"/>
          </a:xfrm>
        </p:grpSpPr>
        <p:sp>
          <p:nvSpPr>
            <p:cNvPr id="11" name="TextBox 11"/>
            <p:cNvSpPr txBox="1"/>
            <p:nvPr/>
          </p:nvSpPr>
          <p:spPr>
            <a:xfrm>
              <a:off x="601218" y="26603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35761" y="2684621"/>
              <a:ext cx="307737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核心技术栈：Agentic Engineering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38238" y="3003947"/>
              <a:ext cx="2540441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演进 · RAG 到 Agent · 架构 · 四要素与治理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38238" y="3232547"/>
              <a:ext cx="1613981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技能 · Coding Agent 五技能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01218" y="3612832"/>
            <a:ext cx="2628174" cy="755571"/>
            <a:chOff x="601218" y="3612832"/>
            <a:chExt cx="2628174" cy="755571"/>
          </a:xfrm>
        </p:grpSpPr>
        <p:sp>
          <p:nvSpPr>
            <p:cNvPr id="16" name="TextBox 16"/>
            <p:cNvSpPr txBox="1"/>
            <p:nvPr/>
          </p:nvSpPr>
          <p:spPr>
            <a:xfrm>
              <a:off x="601218" y="36128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03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35761" y="3637121"/>
              <a:ext cx="196574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职业路径：角色 · 进阶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38238" y="3956447"/>
              <a:ext cx="2091154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角色 · 三类工程师 · 对比 · 能力矩阵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138238" y="4185047"/>
              <a:ext cx="2091154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路径 · 推荐成长 · 洞察 · 专业护城河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01218" y="4565332"/>
            <a:ext cx="2866203" cy="755571"/>
            <a:chOff x="601218" y="4565332"/>
            <a:chExt cx="2866203" cy="755571"/>
          </a:xfrm>
        </p:grpSpPr>
        <p:sp>
          <p:nvSpPr>
            <p:cNvPr id="21" name="TextBox 21"/>
            <p:cNvSpPr txBox="1"/>
            <p:nvPr/>
          </p:nvSpPr>
          <p:spPr>
            <a:xfrm>
              <a:off x="601218" y="45653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04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35761" y="4589621"/>
              <a:ext cx="23084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实践方法论：成为超级个体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38238" y="4908947"/>
              <a:ext cx="2329183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实践 · AI Coding 三级 · 学习 · 新学习栈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38238" y="5137547"/>
              <a:ext cx="2217697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反直觉 · 基础更重要 · 思维 · 架构设计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468618" y="1707832"/>
            <a:ext cx="2651785" cy="755571"/>
            <a:chOff x="6468618" y="1707832"/>
            <a:chExt cx="2651785" cy="755571"/>
          </a:xfrm>
        </p:grpSpPr>
        <p:sp>
          <p:nvSpPr>
            <p:cNvPr id="26" name="TextBox 26"/>
            <p:cNvSpPr txBox="1"/>
            <p:nvPr/>
          </p:nvSpPr>
          <p:spPr>
            <a:xfrm>
              <a:off x="6468618" y="17078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05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003161" y="1732121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跨界与开源：不止于代码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005638" y="2051447"/>
              <a:ext cx="1167392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跨界 · 从软件到现实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005638" y="2280047"/>
              <a:ext cx="1234364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开源 · GitHub 即证据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468618" y="2660332"/>
            <a:ext cx="2552248" cy="755571"/>
            <a:chOff x="6468618" y="2660332"/>
            <a:chExt cx="2552248" cy="755571"/>
          </a:xfrm>
        </p:grpSpPr>
        <p:sp>
          <p:nvSpPr>
            <p:cNvPr id="31" name="TextBox 31"/>
            <p:cNvSpPr txBox="1"/>
            <p:nvPr/>
          </p:nvSpPr>
          <p:spPr>
            <a:xfrm>
              <a:off x="6468618" y="26603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06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003161" y="2684621"/>
              <a:ext cx="150266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总结与 30 天行动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005638" y="3003947"/>
              <a:ext cx="2015228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金句 · 三句总结 · 行动 · 30 天清单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005638" y="3232547"/>
              <a:ext cx="1293934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号召 · 使用者到架构师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468618" y="3612832"/>
            <a:ext cx="3073772" cy="755571"/>
            <a:chOff x="6468618" y="3612832"/>
            <a:chExt cx="3073772" cy="755571"/>
          </a:xfrm>
        </p:grpSpPr>
        <p:sp>
          <p:nvSpPr>
            <p:cNvPr id="36" name="TextBox 36"/>
            <p:cNvSpPr txBox="1"/>
            <p:nvPr/>
          </p:nvSpPr>
          <p:spPr>
            <a:xfrm>
              <a:off x="6468618" y="36128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07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003161" y="3637121"/>
              <a:ext cx="253922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延伸方向：具身智能 &amp; 两门课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005638" y="3956447"/>
              <a:ext cx="1252987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具身 · 物理世界的 AI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005638" y="4185047"/>
              <a:ext cx="1167392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课程 · 斯坦福两门课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41" name="TextBox 41"/>
            <p:cNvSpPr txBox="1"/>
            <p:nvPr/>
          </p:nvSpPr>
          <p:spPr>
            <a:xfrm>
              <a:off x="604838" y="6613684"/>
              <a:ext cx="1063808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从 AI 使用者到 AI 架构师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0978421" y="6613684"/>
              <a:ext cx="2658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2 / 27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5400294" cy="738854"/>
            <a:chOff x="595122" y="501491"/>
            <a:chExt cx="5400294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01 · 命题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540029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开发者价值迁移：从实现到编排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33" name="Group 33"/>
          <p:cNvGrpSpPr/>
          <p:nvPr/>
        </p:nvGrpSpPr>
        <p:grpSpPr>
          <a:xfrm>
            <a:off x="1047750" y="1905000"/>
            <a:ext cx="10096500" cy="4019550"/>
            <a:chOff x="1047750" y="1905000"/>
            <a:chExt cx="10096500" cy="4019550"/>
          </a:xfrm>
        </p:grpSpPr>
        <p:sp>
          <p:nvSpPr>
            <p:cNvPr id="6" name="Rectangle 6"/>
            <p:cNvSpPr/>
            <p:nvPr/>
          </p:nvSpPr>
          <p:spPr>
            <a:xfrm>
              <a:off x="1047750" y="1905000"/>
              <a:ext cx="10096500" cy="400050"/>
            </a:xfrm>
            <a:prstGeom prst="roundRect">
              <a:avLst>
                <a:gd name="adj" fmla="val 7143"/>
              </a:avLst>
            </a:prstGeom>
            <a:solidFill>
              <a:srgbClr val="F5F5F5"/>
            </a:solidFill>
            <a:ln w="9525">
              <a:solidFill>
                <a:srgbClr val="999999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4481214" y="2039302"/>
              <a:ext cx="32295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核心命题：从「写代码」到「编排 Agent 写代码」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1047750" y="2457450"/>
              <a:ext cx="10096500" cy="876300"/>
            </a:xfrm>
            <a:prstGeom prst="roundRect">
              <a:avLst>
                <a:gd name="adj" fmla="val 3261"/>
              </a:avLst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1047750" y="2457450"/>
              <a:ext cx="100965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662393" y="2611279"/>
              <a:ext cx="4867214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2025 年你写代码 —— 2026 年你编排 Agent 写代码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026380" y="3037999"/>
              <a:ext cx="41392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开发者的价值从「实现」转向「定义约束 · 评估输出 · 设计反馈循环」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047750" y="3543300"/>
              <a:ext cx="3200400" cy="1600200"/>
            </a:xfrm>
            <a:prstGeom prst="roundRect">
              <a:avLst>
                <a:gd name="adj" fmla="val 1786"/>
              </a:avLst>
            </a:prstGeom>
            <a:solidFill>
              <a:srgbClr val="FFFFFF"/>
            </a:solidFill>
            <a:ln w="11430">
              <a:solidFill>
                <a:srgbClr val="999999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1047750" y="3543300"/>
              <a:ext cx="32004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2340686" y="372665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价值上移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097976" y="4093845"/>
              <a:ext cx="109994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定义约束与验收标准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070362" y="4360545"/>
              <a:ext cx="115517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评估 Agent 输出质量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097976" y="4627245"/>
              <a:ext cx="109994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设计反馈与迭代闭环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438650" y="3543300"/>
              <a:ext cx="3200400" cy="1600200"/>
            </a:xfrm>
            <a:prstGeom prst="roundRect">
              <a:avLst>
                <a:gd name="adj" fmla="val 1786"/>
              </a:avLst>
            </a:prstGeom>
            <a:solidFill>
              <a:srgbClr val="FFFFFF"/>
            </a:solidFill>
            <a:ln w="11430">
              <a:solidFill>
                <a:srgbClr val="999999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4438650" y="3543300"/>
              <a:ext cx="32004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640556" y="3726656"/>
              <a:ext cx="7965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使用 ≠ 信任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291595" y="4093845"/>
              <a:ext cx="149451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84% 使用或计划用 AI 工具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401037" y="4360545"/>
              <a:ext cx="127562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仅 29% 信任输出准确性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570658" y="4627245"/>
              <a:ext cx="93638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2024 年还是 40%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7829550" y="3543300"/>
              <a:ext cx="3200400" cy="1600200"/>
            </a:xfrm>
            <a:prstGeom prst="roundRect">
              <a:avLst>
                <a:gd name="adj" fmla="val 1786"/>
              </a:avLst>
            </a:prstGeom>
            <a:solidFill>
              <a:srgbClr val="FFFFFF"/>
            </a:solidFill>
            <a:ln w="11430">
              <a:solidFill>
                <a:srgbClr val="999999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7829550" y="3543300"/>
              <a:ext cx="32004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820937" y="3726656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几乎对，但不完全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564766" y="4093845"/>
              <a:ext cx="172996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66%：最大挫败是 almost right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701697" y="4360545"/>
              <a:ext cx="145610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45%：调试 AI 代码更耗时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052427" y="4627245"/>
              <a:ext cx="75464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会用 ≠ 会验收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1047750" y="5334000"/>
              <a:ext cx="10096500" cy="590550"/>
            </a:xfrm>
            <a:prstGeom prst="roundRect">
              <a:avLst>
                <a:gd name="adj" fmla="val 4839"/>
              </a:avLst>
            </a:prstGeom>
            <a:solidFill>
              <a:srgbClr val="FFFFFF"/>
            </a:solidFill>
            <a:ln w="11430">
              <a:solidFill>
                <a:srgbClr val="E30613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3536187" y="5449252"/>
              <a:ext cx="51196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差距不在「用没用 AI」，而在是否把它当作协作者：能定义、会评估、懂约束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380765" y="5702141"/>
              <a:ext cx="343047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来源：Stack Overflow Developer Survey 2025（n≈4.9 万开发者）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34" name="TextBox 34"/>
            <p:cNvSpPr txBox="1"/>
            <p:nvPr/>
          </p:nvSpPr>
          <p:spPr>
            <a:xfrm>
              <a:off x="604838" y="6613684"/>
              <a:ext cx="1063808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从 AI 使用者到 AI 架构师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0978421" y="6613684"/>
              <a:ext cx="2658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3 / 27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5636430" cy="738854"/>
            <a:chOff x="595122" y="501491"/>
            <a:chExt cx="5636430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01 · 趋势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5636430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2026 AI 全景：六大结构性趋势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609600" y="1619250"/>
            <a:ext cx="3429000" cy="2000250"/>
            <a:chOff x="609600" y="1619250"/>
            <a:chExt cx="3429000" cy="200025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3429000" cy="200025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13374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自主多步 Agent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2478881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从问答到任务执行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2726531"/>
              <a:ext cx="12402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长时程 · 工具调用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2485" y="2974181"/>
              <a:ext cx="14371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软件工程 Agent 最热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381500" y="1619250"/>
            <a:ext cx="3429000" cy="2000250"/>
            <a:chOff x="4381500" y="1619250"/>
            <a:chExt cx="3429000" cy="2000250"/>
          </a:xfrm>
        </p:grpSpPr>
        <p:sp>
          <p:nvSpPr>
            <p:cNvPr id="13" name="Rectangle 13"/>
            <p:cNvSpPr/>
            <p:nvPr/>
          </p:nvSpPr>
          <p:spPr>
            <a:xfrm>
              <a:off x="4381500" y="1619250"/>
              <a:ext cx="3429000" cy="200025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43815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603242" y="1892618"/>
              <a:ext cx="15993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MCP 成为事实标准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604385" y="2478881"/>
              <a:ext cx="19931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Anthropic 发起 → Linux AAIF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604385" y="2726531"/>
              <a:ext cx="219350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OpenAI/Google/微软/AWS 采纳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604385" y="2974181"/>
              <a:ext cx="150893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月 SDK 下载近 1 亿次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8153400" y="1619250"/>
            <a:ext cx="3429000" cy="2000250"/>
            <a:chOff x="8153400" y="1619250"/>
            <a:chExt cx="3429000" cy="2000250"/>
          </a:xfrm>
        </p:grpSpPr>
        <p:sp>
          <p:nvSpPr>
            <p:cNvPr id="20" name="Rectangle 20"/>
            <p:cNvSpPr/>
            <p:nvPr/>
          </p:nvSpPr>
          <p:spPr>
            <a:xfrm>
              <a:off x="8153400" y="1619250"/>
              <a:ext cx="3429000" cy="200025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81534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375142" y="189261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多模态深度融合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376285" y="2478881"/>
              <a:ext cx="17377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文本 + 图像 + 语音 + 视频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376285" y="2726531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跨模态理解成默认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376285" y="2974181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端侧小模型兴起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09600" y="3810000"/>
            <a:ext cx="3429000" cy="2000250"/>
            <a:chOff x="609600" y="3810000"/>
            <a:chExt cx="3429000" cy="2000250"/>
          </a:xfrm>
        </p:grpSpPr>
        <p:sp>
          <p:nvSpPr>
            <p:cNvPr id="27" name="Rectangle 27"/>
            <p:cNvSpPr/>
            <p:nvPr/>
          </p:nvSpPr>
          <p:spPr>
            <a:xfrm>
              <a:off x="609600" y="3810000"/>
              <a:ext cx="3429000" cy="200025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09600" y="381000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31342" y="4083368"/>
              <a:ext cx="215635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AI 原生 IDE / Agent 工具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32485" y="4669631"/>
              <a:ext cx="21297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Cursor · Claude Code · Codex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32485" y="4917281"/>
              <a:ext cx="18882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Gemini CLI · Copilot Agent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32485" y="5164931"/>
              <a:ext cx="15567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IDE 从编辑器变工作台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4381500" y="3810000"/>
            <a:ext cx="3429000" cy="2000250"/>
            <a:chOff x="4381500" y="3810000"/>
            <a:chExt cx="3429000" cy="2000250"/>
          </a:xfrm>
        </p:grpSpPr>
        <p:sp>
          <p:nvSpPr>
            <p:cNvPr id="34" name="Rectangle 34"/>
            <p:cNvSpPr/>
            <p:nvPr/>
          </p:nvSpPr>
          <p:spPr>
            <a:xfrm>
              <a:off x="4381500" y="3810000"/>
              <a:ext cx="3429000" cy="200025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4381500" y="381000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4603242" y="408336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开发者角色转向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604385" y="4669631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从「写代码」到「指挥与审查」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604385" y="4917281"/>
              <a:ext cx="14371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监督 Agent 成新技能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604385" y="5164931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评估比生成更关键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8153400" y="3810000"/>
            <a:ext cx="3429000" cy="2000250"/>
            <a:chOff x="8153400" y="3810000"/>
            <a:chExt cx="3429000" cy="2000250"/>
          </a:xfrm>
        </p:grpSpPr>
        <p:sp>
          <p:nvSpPr>
            <p:cNvPr id="41" name="Rectangle 41"/>
            <p:cNvSpPr/>
            <p:nvPr/>
          </p:nvSpPr>
          <p:spPr>
            <a:xfrm>
              <a:off x="8153400" y="3810000"/>
              <a:ext cx="3429000" cy="200025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53400" y="381000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375142" y="4083368"/>
              <a:ext cx="13235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开源 / 本地追赶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376285" y="4669631"/>
              <a:ext cx="18448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DeepSeek · Qwen · Llama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376285" y="4917281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与闭源差距快速收窄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376285" y="5164931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部署与定制更自由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48" name="TextBox 48"/>
            <p:cNvSpPr txBox="1"/>
            <p:nvPr/>
          </p:nvSpPr>
          <p:spPr>
            <a:xfrm>
              <a:off x="604838" y="6613684"/>
              <a:ext cx="1063808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从 AI 使用者到 AI 架构师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0978421" y="6613684"/>
              <a:ext cx="2658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4 / 27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5783961" cy="738854"/>
            <a:chOff x="595122" y="501491"/>
            <a:chExt cx="5783961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01 · 格局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5783961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模型选型：先定义任务，再选模型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609600" y="1619250"/>
            <a:ext cx="3429000" cy="2000250"/>
            <a:chOff x="609600" y="1619250"/>
            <a:chExt cx="3429000" cy="200025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3429000" cy="200025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16870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复杂推理 / 长程规划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2478881"/>
              <a:ext cx="11950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→ 强推理旗舰模型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2726531"/>
              <a:ext cx="16453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Agentic · 多步工具调用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2485" y="2974181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慢而准，重推理预算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381500" y="1619250"/>
            <a:ext cx="3429000" cy="2000250"/>
            <a:chOff x="4381500" y="1619250"/>
            <a:chExt cx="3429000" cy="2000250"/>
          </a:xfrm>
        </p:grpSpPr>
        <p:sp>
          <p:nvSpPr>
            <p:cNvPr id="13" name="Rectangle 13"/>
            <p:cNvSpPr/>
            <p:nvPr/>
          </p:nvSpPr>
          <p:spPr>
            <a:xfrm>
              <a:off x="4381500" y="1619250"/>
              <a:ext cx="3429000" cy="200025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43815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603242" y="1892618"/>
              <a:ext cx="16143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日常 Coding / 高频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604385" y="2478881"/>
              <a:ext cx="13457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→ 高性价比主力模型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604385" y="2726531"/>
              <a:ext cx="12402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短任务 · 吞吐优先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604385" y="2974181"/>
              <a:ext cx="12854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覆盖 80% 日常开发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8153400" y="1619250"/>
            <a:ext cx="3429000" cy="2000250"/>
            <a:chOff x="8153400" y="1619250"/>
            <a:chExt cx="3429000" cy="2000250"/>
          </a:xfrm>
        </p:grpSpPr>
        <p:sp>
          <p:nvSpPr>
            <p:cNvPr id="20" name="Rectangle 20"/>
            <p:cNvSpPr/>
            <p:nvPr/>
          </p:nvSpPr>
          <p:spPr>
            <a:xfrm>
              <a:off x="8153400" y="1619250"/>
              <a:ext cx="3429000" cy="200025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81534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375142" y="1892618"/>
              <a:ext cx="16870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本地部署 / 隐私合规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376285" y="2478881"/>
              <a:ext cx="13457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→ 开源可自托管模型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376285" y="2726531"/>
              <a:ext cx="13910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数据不出域 · 可微调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376285" y="2974181"/>
              <a:ext cx="20434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DeepSeek · Qwen · Llama 系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09600" y="3810000"/>
            <a:ext cx="3429000" cy="2000250"/>
            <a:chOff x="609600" y="3810000"/>
            <a:chExt cx="3429000" cy="2000250"/>
          </a:xfrm>
        </p:grpSpPr>
        <p:sp>
          <p:nvSpPr>
            <p:cNvPr id="27" name="Rectangle 27"/>
            <p:cNvSpPr/>
            <p:nvPr/>
          </p:nvSpPr>
          <p:spPr>
            <a:xfrm>
              <a:off x="609600" y="3810000"/>
              <a:ext cx="3429000" cy="200025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09600" y="381000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31342" y="4083368"/>
              <a:ext cx="15053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高并发 / 成本敏感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32485" y="4669631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→ 小模型 + 推理优化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32485" y="4917281"/>
              <a:ext cx="18961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更低延迟 · 更低 token 成本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32485" y="5164931"/>
              <a:ext cx="10894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蒸馏 / 量化部署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4381500" y="3810000"/>
            <a:ext cx="3429000" cy="2000250"/>
            <a:chOff x="4381500" y="3810000"/>
            <a:chExt cx="3429000" cy="2000250"/>
          </a:xfrm>
        </p:grpSpPr>
        <p:sp>
          <p:nvSpPr>
            <p:cNvPr id="34" name="Rectangle 34"/>
            <p:cNvSpPr/>
            <p:nvPr/>
          </p:nvSpPr>
          <p:spPr>
            <a:xfrm>
              <a:off x="4381500" y="3810000"/>
              <a:ext cx="3429000" cy="200025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4381500" y="381000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4603242" y="4083368"/>
              <a:ext cx="13235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多模态 / 富文档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604385" y="4669631"/>
              <a:ext cx="8934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→ 多模态模型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604385" y="4917281"/>
              <a:ext cx="16443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图 · 表 · PDF 同时理解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604385" y="5164931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按任务边界选型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8153400" y="3810000"/>
            <a:ext cx="3429000" cy="2000250"/>
            <a:chOff x="8153400" y="3810000"/>
            <a:chExt cx="3429000" cy="2000250"/>
          </a:xfrm>
        </p:grpSpPr>
        <p:sp>
          <p:nvSpPr>
            <p:cNvPr id="41" name="Rectangle 41"/>
            <p:cNvSpPr/>
            <p:nvPr/>
          </p:nvSpPr>
          <p:spPr>
            <a:xfrm>
              <a:off x="8153400" y="3810000"/>
              <a:ext cx="3429000" cy="200025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53400" y="381000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375142" y="4083368"/>
              <a:ext cx="9887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选型心法 ★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376285" y="4669631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没有最好的模型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376285" y="4917281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只有最适合任务的模型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376285" y="5164931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先定义任务，再选模型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48" name="TextBox 48"/>
            <p:cNvSpPr txBox="1"/>
            <p:nvPr/>
          </p:nvSpPr>
          <p:spPr>
            <a:xfrm>
              <a:off x="604838" y="6613684"/>
              <a:ext cx="1063808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从 AI 使用者到 AI 架构师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0978421" y="6613684"/>
              <a:ext cx="2658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5 / 27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roup 5">
            <a:extLst>
              <a:ext uri="{FF2B5EF4-FFF2-40B4-BE49-F238E27FC236}">
                <a16:creationId xmlns:a16="http://schemas.microsoft.com/office/drawing/2014/main" id="{9E6CDA6E-C0CF-229D-3A44-8A77F76F2B79}"/>
              </a:ext>
            </a:extLst>
          </p:cNvPr>
          <p:cNvGrpSpPr/>
          <p:nvPr/>
        </p:nvGrpSpPr>
        <p:grpSpPr>
          <a:xfrm>
            <a:off x="595122" y="501491"/>
            <a:ext cx="10387965" cy="738854"/>
            <a:chOff x="595122" y="501491"/>
            <a:chExt cx="10387965" cy="738854"/>
          </a:xfrm>
        </p:grpSpPr>
        <p:sp>
          <p:nvSpPr>
            <p:cNvPr id="56" name="TextBox 2">
              <a:extLst>
                <a:ext uri="{FF2B5EF4-FFF2-40B4-BE49-F238E27FC236}">
                  <a16:creationId xmlns:a16="http://schemas.microsoft.com/office/drawing/2014/main" id="{AB5D70D7-CD16-CC30-0E8D-FA83AA99E61B}"/>
                </a:ext>
              </a:extLst>
            </p:cNvPr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02 · 演进</a:t>
              </a:r>
            </a:p>
          </p:txBody>
        </p:sp>
        <p:sp>
          <p:nvSpPr>
            <p:cNvPr id="57" name="TextBox 3">
              <a:extLst>
                <a:ext uri="{FF2B5EF4-FFF2-40B4-BE49-F238E27FC236}">
                  <a16:creationId xmlns:a16="http://schemas.microsoft.com/office/drawing/2014/main" id="{3A461AAB-3D41-24C8-F7DA-9364F3E55570}"/>
                </a:ext>
              </a:extLst>
            </p:cNvPr>
            <p:cNvSpPr txBox="1"/>
            <p:nvPr/>
          </p:nvSpPr>
          <p:spPr>
            <a:xfrm>
              <a:off x="595122" y="682942"/>
              <a:ext cx="10387965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五段工程范式：从「提问」到「编排」，被问题逼出来的迭代</a:t>
              </a:r>
            </a:p>
          </p:txBody>
        </p:sp>
        <p:sp>
          <p:nvSpPr>
            <p:cNvPr id="58" name="Rectangle 4">
              <a:extLst>
                <a:ext uri="{FF2B5EF4-FFF2-40B4-BE49-F238E27FC236}">
                  <a16:creationId xmlns:a16="http://schemas.microsoft.com/office/drawing/2014/main" id="{16A658CE-45AC-B23C-B674-A1820994A2F6}"/>
                </a:ext>
              </a:extLst>
            </p:cNvPr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59" name="Group 69">
            <a:extLst>
              <a:ext uri="{FF2B5EF4-FFF2-40B4-BE49-F238E27FC236}">
                <a16:creationId xmlns:a16="http://schemas.microsoft.com/office/drawing/2014/main" id="{76B9E281-0214-D82A-CBFD-DDEF3B5E8F8D}"/>
              </a:ext>
            </a:extLst>
          </p:cNvPr>
          <p:cNvGrpSpPr/>
          <p:nvPr/>
        </p:nvGrpSpPr>
        <p:grpSpPr>
          <a:xfrm>
            <a:off x="1047750" y="1866900"/>
            <a:ext cx="10096500" cy="3733800"/>
            <a:chOff x="1047750" y="1866900"/>
            <a:chExt cx="10096500" cy="3733800"/>
          </a:xfrm>
        </p:grpSpPr>
        <p:sp>
          <p:nvSpPr>
            <p:cNvPr id="60" name="Rectangle 6">
              <a:extLst>
                <a:ext uri="{FF2B5EF4-FFF2-40B4-BE49-F238E27FC236}">
                  <a16:creationId xmlns:a16="http://schemas.microsoft.com/office/drawing/2014/main" id="{AD24DD1F-5781-5026-F26A-F8C80D4FA12D}"/>
                </a:ext>
              </a:extLst>
            </p:cNvPr>
            <p:cNvSpPr/>
            <p:nvPr/>
          </p:nvSpPr>
          <p:spPr>
            <a:xfrm>
              <a:off x="1047750" y="1866900"/>
              <a:ext cx="10096500" cy="381000"/>
            </a:xfrm>
            <a:prstGeom prst="roundRect">
              <a:avLst>
                <a:gd name="adj" fmla="val 7500"/>
              </a:avLst>
            </a:prstGeom>
            <a:solidFill>
              <a:srgbClr val="F5F5F5"/>
            </a:solidFill>
            <a:ln w="9525">
              <a:solidFill>
                <a:srgbClr val="999999"/>
              </a:solidFill>
            </a:ln>
          </p:spPr>
        </p:sp>
        <p:sp>
          <p:nvSpPr>
            <p:cNvPr id="61" name="TextBox 7">
              <a:extLst>
                <a:ext uri="{FF2B5EF4-FFF2-40B4-BE49-F238E27FC236}">
                  <a16:creationId xmlns:a16="http://schemas.microsoft.com/office/drawing/2014/main" id="{2CE188A0-C3C9-FFD9-98EA-FD61B6773F38}"/>
                </a:ext>
              </a:extLst>
            </p:cNvPr>
            <p:cNvSpPr txBox="1"/>
            <p:nvPr/>
          </p:nvSpPr>
          <p:spPr>
            <a:xfrm>
              <a:off x="3397706" y="1995726"/>
              <a:ext cx="5396588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1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主线：提示词 → 上下文 → 循环 → 外壳 → 图编排 —— 每一段，都是被上一段的短板逼出来的</a:t>
              </a:r>
            </a:p>
          </p:txBody>
        </p:sp>
        <p:sp>
          <p:nvSpPr>
            <p:cNvPr id="62" name="Rectangle 8">
              <a:extLst>
                <a:ext uri="{FF2B5EF4-FFF2-40B4-BE49-F238E27FC236}">
                  <a16:creationId xmlns:a16="http://schemas.microsoft.com/office/drawing/2014/main" id="{55D0C377-CCDF-0804-B8AC-F575AFAEB511}"/>
                </a:ext>
              </a:extLst>
            </p:cNvPr>
            <p:cNvSpPr/>
            <p:nvPr/>
          </p:nvSpPr>
          <p:spPr>
            <a:xfrm>
              <a:off x="1047750" y="2400300"/>
              <a:ext cx="1905000" cy="1600200"/>
            </a:xfrm>
            <a:prstGeom prst="roundRect">
              <a:avLst>
                <a:gd name="adj" fmla="val 1786"/>
              </a:avLst>
            </a:prstGeom>
            <a:solidFill>
              <a:srgbClr val="FFFFFF"/>
            </a:solidFill>
            <a:ln w="11430">
              <a:solidFill>
                <a:srgbClr val="999999"/>
              </a:solidFill>
            </a:ln>
          </p:spPr>
        </p:sp>
        <p:sp>
          <p:nvSpPr>
            <p:cNvPr id="63" name="Rectangle 9">
              <a:extLst>
                <a:ext uri="{FF2B5EF4-FFF2-40B4-BE49-F238E27FC236}">
                  <a16:creationId xmlns:a16="http://schemas.microsoft.com/office/drawing/2014/main" id="{1F937807-5F62-2809-B2BF-1CEB25F17E8E}"/>
                </a:ext>
              </a:extLst>
            </p:cNvPr>
            <p:cNvSpPr/>
            <p:nvPr/>
          </p:nvSpPr>
          <p:spPr>
            <a:xfrm>
              <a:off x="1047750" y="2400300"/>
              <a:ext cx="1905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64" name="Rectangle 10">
              <a:extLst>
                <a:ext uri="{FF2B5EF4-FFF2-40B4-BE49-F238E27FC236}">
                  <a16:creationId xmlns:a16="http://schemas.microsoft.com/office/drawing/2014/main" id="{7D96EFAE-CDC7-A72C-2086-5ECD8220F44F}"/>
                </a:ext>
              </a:extLst>
            </p:cNvPr>
            <p:cNvSpPr/>
            <p:nvPr/>
          </p:nvSpPr>
          <p:spPr>
            <a:xfrm>
              <a:off x="1047750" y="2457450"/>
              <a:ext cx="1905000" cy="1905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65" name="TextBox 11">
              <a:extLst>
                <a:ext uri="{FF2B5EF4-FFF2-40B4-BE49-F238E27FC236}">
                  <a16:creationId xmlns:a16="http://schemas.microsoft.com/office/drawing/2014/main" id="{5E5D7A2A-17CA-6E10-B9E0-A71D3DC0A746}"/>
                </a:ext>
              </a:extLst>
            </p:cNvPr>
            <p:cNvSpPr txBox="1"/>
            <p:nvPr/>
          </p:nvSpPr>
          <p:spPr>
            <a:xfrm>
              <a:off x="1371393" y="2592943"/>
              <a:ext cx="1257713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6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1 Prompt Engineering</a:t>
              </a:r>
            </a:p>
          </p:txBody>
        </p:sp>
        <p:sp>
          <p:nvSpPr>
            <p:cNvPr id="66" name="TextBox 12">
              <a:extLst>
                <a:ext uri="{FF2B5EF4-FFF2-40B4-BE49-F238E27FC236}">
                  <a16:creationId xmlns:a16="http://schemas.microsoft.com/office/drawing/2014/main" id="{85CC8098-5FE0-D26C-E511-A93DA26C709C}"/>
                </a:ext>
              </a:extLst>
            </p:cNvPr>
            <p:cNvSpPr txBox="1"/>
            <p:nvPr/>
          </p:nvSpPr>
          <p:spPr>
            <a:xfrm>
              <a:off x="1706054" y="2783443"/>
              <a:ext cx="588391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提示词工程</a:t>
              </a:r>
            </a:p>
          </p:txBody>
        </p:sp>
        <p:sp>
          <p:nvSpPr>
            <p:cNvPr id="67" name="Line 13">
              <a:extLst>
                <a:ext uri="{FF2B5EF4-FFF2-40B4-BE49-F238E27FC236}">
                  <a16:creationId xmlns:a16="http://schemas.microsoft.com/office/drawing/2014/main" id="{58E28CA9-2A18-DC38-9243-96402328377B}"/>
                </a:ext>
              </a:extLst>
            </p:cNvPr>
            <p:cNvSpPr/>
            <p:nvPr/>
          </p:nvSpPr>
          <p:spPr>
            <a:xfrm>
              <a:off x="1162050" y="3009900"/>
              <a:ext cx="1676400" cy="9525"/>
            </a:xfrm>
            <a:custGeom>
              <a:avLst/>
              <a:gdLst/>
              <a:ahLst/>
              <a:cxnLst/>
              <a:rect l="l" t="t" r="r" b="b"/>
              <a:pathLst>
                <a:path w="1676400" h="9525">
                  <a:moveTo>
                    <a:pt x="0" y="0"/>
                  </a:moveTo>
                  <a:lnTo>
                    <a:pt x="16764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68" name="TextBox 14">
              <a:extLst>
                <a:ext uri="{FF2B5EF4-FFF2-40B4-BE49-F238E27FC236}">
                  <a16:creationId xmlns:a16="http://schemas.microsoft.com/office/drawing/2014/main" id="{1A03B491-7933-469E-D111-FB952E39D86F}"/>
                </a:ext>
              </a:extLst>
            </p:cNvPr>
            <p:cNvSpPr txBox="1"/>
            <p:nvPr/>
          </p:nvSpPr>
          <p:spPr>
            <a:xfrm>
              <a:off x="1288732" y="3138488"/>
              <a:ext cx="142303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解决：一次问对：给示例与约束</a:t>
              </a:r>
            </a:p>
          </p:txBody>
        </p:sp>
        <p:sp>
          <p:nvSpPr>
            <p:cNvPr id="69" name="TextBox 15">
              <a:extLst>
                <a:ext uri="{FF2B5EF4-FFF2-40B4-BE49-F238E27FC236}">
                  <a16:creationId xmlns:a16="http://schemas.microsoft.com/office/drawing/2014/main" id="{5422DF38-32F9-B36C-DE19-E98A1661EFD6}"/>
                </a:ext>
              </a:extLst>
            </p:cNvPr>
            <p:cNvSpPr txBox="1"/>
            <p:nvPr/>
          </p:nvSpPr>
          <p:spPr>
            <a:xfrm>
              <a:off x="1440180" y="3367088"/>
              <a:ext cx="1120140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短板：对话一长就「忘」</a:t>
              </a:r>
            </a:p>
          </p:txBody>
        </p:sp>
        <p:sp>
          <p:nvSpPr>
            <p:cNvPr id="70" name="TextBox 16">
              <a:extLst>
                <a:ext uri="{FF2B5EF4-FFF2-40B4-BE49-F238E27FC236}">
                  <a16:creationId xmlns:a16="http://schemas.microsoft.com/office/drawing/2014/main" id="{94C755C6-B024-EFD1-8E72-3B9D8FAEC12C}"/>
                </a:ext>
              </a:extLst>
            </p:cNvPr>
            <p:cNvSpPr txBox="1"/>
            <p:nvPr/>
          </p:nvSpPr>
          <p:spPr>
            <a:xfrm>
              <a:off x="1620335" y="3599736"/>
              <a:ext cx="759830" cy="140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1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→ 开始讲究喂什么</a:t>
              </a:r>
            </a:p>
          </p:txBody>
        </p:sp>
        <p:sp>
          <p:nvSpPr>
            <p:cNvPr id="71" name="Line 17">
              <a:extLst>
                <a:ext uri="{FF2B5EF4-FFF2-40B4-BE49-F238E27FC236}">
                  <a16:creationId xmlns:a16="http://schemas.microsoft.com/office/drawing/2014/main" id="{CAE5D399-30C3-5411-BB4F-E979536D1FDA}"/>
                </a:ext>
              </a:extLst>
            </p:cNvPr>
            <p:cNvSpPr/>
            <p:nvPr/>
          </p:nvSpPr>
          <p:spPr>
            <a:xfrm>
              <a:off x="2952750" y="3162300"/>
              <a:ext cx="57150" cy="9525"/>
            </a:xfrm>
            <a:custGeom>
              <a:avLst/>
              <a:gdLst/>
              <a:ahLst/>
              <a:cxnLst/>
              <a:rect l="l" t="t" r="r" b="b"/>
              <a:pathLst>
                <a:path w="57150" h="9525">
                  <a:moveTo>
                    <a:pt x="0" y="0"/>
                  </a:moveTo>
                  <a:lnTo>
                    <a:pt x="57150" y="0"/>
                  </a:lnTo>
                </a:path>
              </a:pathLst>
            </a:custGeom>
            <a:noFill/>
            <a:ln w="15240">
              <a:solidFill>
                <a:srgbClr val="E30613"/>
              </a:solidFill>
            </a:ln>
          </p:spPr>
        </p:sp>
        <p:sp>
          <p:nvSpPr>
            <p:cNvPr id="72" name="Polygon 18">
              <a:extLst>
                <a:ext uri="{FF2B5EF4-FFF2-40B4-BE49-F238E27FC236}">
                  <a16:creationId xmlns:a16="http://schemas.microsoft.com/office/drawing/2014/main" id="{901BA2A9-044D-457A-54E9-EF08196C9581}"/>
                </a:ext>
              </a:extLst>
            </p:cNvPr>
            <p:cNvSpPr/>
            <p:nvPr/>
          </p:nvSpPr>
          <p:spPr>
            <a:xfrm>
              <a:off x="3016568" y="3129915"/>
              <a:ext cx="79058" cy="64770"/>
            </a:xfrm>
            <a:custGeom>
              <a:avLst/>
              <a:gdLst/>
              <a:ahLst/>
              <a:cxnLst/>
              <a:rect l="l" t="t" r="r" b="b"/>
              <a:pathLst>
                <a:path w="79058" h="64770">
                  <a:moveTo>
                    <a:pt x="79058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0613"/>
            </a:solidFill>
            <a:ln>
              <a:noFill/>
            </a:ln>
          </p:spPr>
        </p:sp>
        <p:sp>
          <p:nvSpPr>
            <p:cNvPr id="73" name="Rectangle 19">
              <a:extLst>
                <a:ext uri="{FF2B5EF4-FFF2-40B4-BE49-F238E27FC236}">
                  <a16:creationId xmlns:a16="http://schemas.microsoft.com/office/drawing/2014/main" id="{18CFDC00-17CD-5246-54E1-5F7300F04813}"/>
                </a:ext>
              </a:extLst>
            </p:cNvPr>
            <p:cNvSpPr/>
            <p:nvPr/>
          </p:nvSpPr>
          <p:spPr>
            <a:xfrm>
              <a:off x="3095625" y="2400300"/>
              <a:ext cx="1905000" cy="1600200"/>
            </a:xfrm>
            <a:prstGeom prst="roundRect">
              <a:avLst>
                <a:gd name="adj" fmla="val 1786"/>
              </a:avLst>
            </a:prstGeom>
            <a:solidFill>
              <a:srgbClr val="FFFFFF"/>
            </a:solidFill>
            <a:ln w="11430">
              <a:solidFill>
                <a:srgbClr val="999999"/>
              </a:solidFill>
            </a:ln>
          </p:spPr>
        </p:sp>
        <p:sp>
          <p:nvSpPr>
            <p:cNvPr id="74" name="Rectangle 20">
              <a:extLst>
                <a:ext uri="{FF2B5EF4-FFF2-40B4-BE49-F238E27FC236}">
                  <a16:creationId xmlns:a16="http://schemas.microsoft.com/office/drawing/2014/main" id="{F8C1F28C-2C3D-0814-778A-5CBEAA2820E5}"/>
                </a:ext>
              </a:extLst>
            </p:cNvPr>
            <p:cNvSpPr/>
            <p:nvPr/>
          </p:nvSpPr>
          <p:spPr>
            <a:xfrm>
              <a:off x="3095625" y="2400300"/>
              <a:ext cx="1905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75" name="Rectangle 21">
              <a:extLst>
                <a:ext uri="{FF2B5EF4-FFF2-40B4-BE49-F238E27FC236}">
                  <a16:creationId xmlns:a16="http://schemas.microsoft.com/office/drawing/2014/main" id="{0F27FD97-3A80-F87E-42E3-70C7A95F0ABC}"/>
                </a:ext>
              </a:extLst>
            </p:cNvPr>
            <p:cNvSpPr/>
            <p:nvPr/>
          </p:nvSpPr>
          <p:spPr>
            <a:xfrm>
              <a:off x="3095625" y="2457450"/>
              <a:ext cx="1905000" cy="1905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6" name="TextBox 22">
              <a:extLst>
                <a:ext uri="{FF2B5EF4-FFF2-40B4-BE49-F238E27FC236}">
                  <a16:creationId xmlns:a16="http://schemas.microsoft.com/office/drawing/2014/main" id="{FC51DC6C-4686-9083-7A33-42A463BF2722}"/>
                </a:ext>
              </a:extLst>
            </p:cNvPr>
            <p:cNvSpPr txBox="1"/>
            <p:nvPr/>
          </p:nvSpPr>
          <p:spPr>
            <a:xfrm>
              <a:off x="3398091" y="2592943"/>
              <a:ext cx="1300069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6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2 Context Engineering</a:t>
              </a:r>
            </a:p>
          </p:txBody>
        </p:sp>
        <p:sp>
          <p:nvSpPr>
            <p:cNvPr id="77" name="TextBox 23">
              <a:extLst>
                <a:ext uri="{FF2B5EF4-FFF2-40B4-BE49-F238E27FC236}">
                  <a16:creationId xmlns:a16="http://schemas.microsoft.com/office/drawing/2014/main" id="{91CC4FE3-8201-58F8-ED28-723DC40991B4}"/>
                </a:ext>
              </a:extLst>
            </p:cNvPr>
            <p:cNvSpPr txBox="1"/>
            <p:nvPr/>
          </p:nvSpPr>
          <p:spPr>
            <a:xfrm>
              <a:off x="3753930" y="2783443"/>
              <a:ext cx="588391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上下文工程</a:t>
              </a:r>
            </a:p>
          </p:txBody>
        </p:sp>
        <p:sp>
          <p:nvSpPr>
            <p:cNvPr id="78" name="Line 24">
              <a:extLst>
                <a:ext uri="{FF2B5EF4-FFF2-40B4-BE49-F238E27FC236}">
                  <a16:creationId xmlns:a16="http://schemas.microsoft.com/office/drawing/2014/main" id="{AD290765-CFBC-FF28-617E-4E20301F8FB8}"/>
                </a:ext>
              </a:extLst>
            </p:cNvPr>
            <p:cNvSpPr/>
            <p:nvPr/>
          </p:nvSpPr>
          <p:spPr>
            <a:xfrm>
              <a:off x="3209925" y="3009900"/>
              <a:ext cx="1676400" cy="9525"/>
            </a:xfrm>
            <a:custGeom>
              <a:avLst/>
              <a:gdLst/>
              <a:ahLst/>
              <a:cxnLst/>
              <a:rect l="l" t="t" r="r" b="b"/>
              <a:pathLst>
                <a:path w="1676400" h="9525">
                  <a:moveTo>
                    <a:pt x="0" y="0"/>
                  </a:moveTo>
                  <a:lnTo>
                    <a:pt x="16764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79" name="TextBox 25">
              <a:extLst>
                <a:ext uri="{FF2B5EF4-FFF2-40B4-BE49-F238E27FC236}">
                  <a16:creationId xmlns:a16="http://schemas.microsoft.com/office/drawing/2014/main" id="{0EEF8331-8736-E3B2-8D9C-872AC22052E7}"/>
                </a:ext>
              </a:extLst>
            </p:cNvPr>
            <p:cNvSpPr txBox="1"/>
            <p:nvPr/>
          </p:nvSpPr>
          <p:spPr>
            <a:xfrm>
              <a:off x="3437572" y="3138488"/>
              <a:ext cx="122110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解决：喂得少而准、可溯源</a:t>
              </a:r>
            </a:p>
          </p:txBody>
        </p:sp>
        <p:sp>
          <p:nvSpPr>
            <p:cNvPr id="80" name="TextBox 26">
              <a:extLst>
                <a:ext uri="{FF2B5EF4-FFF2-40B4-BE49-F238E27FC236}">
                  <a16:creationId xmlns:a16="http://schemas.microsoft.com/office/drawing/2014/main" id="{310B59B2-8EFF-20D4-52BF-4DB997349E9E}"/>
                </a:ext>
              </a:extLst>
            </p:cNvPr>
            <p:cNvSpPr txBox="1"/>
            <p:nvPr/>
          </p:nvSpPr>
          <p:spPr>
            <a:xfrm>
              <a:off x="3488055" y="3367088"/>
              <a:ext cx="1120140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短板：单轮装不下长任务</a:t>
              </a:r>
            </a:p>
          </p:txBody>
        </p:sp>
        <p:sp>
          <p:nvSpPr>
            <p:cNvPr id="81" name="TextBox 27">
              <a:extLst>
                <a:ext uri="{FF2B5EF4-FFF2-40B4-BE49-F238E27FC236}">
                  <a16:creationId xmlns:a16="http://schemas.microsoft.com/office/drawing/2014/main" id="{213070EE-6D0E-6F3B-8FD0-D0A59CA7255A}"/>
                </a:ext>
              </a:extLst>
            </p:cNvPr>
            <p:cNvSpPr txBox="1"/>
            <p:nvPr/>
          </p:nvSpPr>
          <p:spPr>
            <a:xfrm>
              <a:off x="3716000" y="3599736"/>
              <a:ext cx="664249" cy="140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1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→ 让它边干边查</a:t>
              </a:r>
            </a:p>
          </p:txBody>
        </p:sp>
        <p:sp>
          <p:nvSpPr>
            <p:cNvPr id="82" name="Line 28">
              <a:extLst>
                <a:ext uri="{FF2B5EF4-FFF2-40B4-BE49-F238E27FC236}">
                  <a16:creationId xmlns:a16="http://schemas.microsoft.com/office/drawing/2014/main" id="{5AF0034E-7F16-A880-BE63-6620C131F18A}"/>
                </a:ext>
              </a:extLst>
            </p:cNvPr>
            <p:cNvSpPr/>
            <p:nvPr/>
          </p:nvSpPr>
          <p:spPr>
            <a:xfrm>
              <a:off x="5000625" y="3162300"/>
              <a:ext cx="57150" cy="9525"/>
            </a:xfrm>
            <a:custGeom>
              <a:avLst/>
              <a:gdLst/>
              <a:ahLst/>
              <a:cxnLst/>
              <a:rect l="l" t="t" r="r" b="b"/>
              <a:pathLst>
                <a:path w="57150" h="9525">
                  <a:moveTo>
                    <a:pt x="0" y="0"/>
                  </a:moveTo>
                  <a:lnTo>
                    <a:pt x="57150" y="0"/>
                  </a:lnTo>
                </a:path>
              </a:pathLst>
            </a:custGeom>
            <a:noFill/>
            <a:ln w="15240">
              <a:solidFill>
                <a:srgbClr val="E30613"/>
              </a:solidFill>
            </a:ln>
          </p:spPr>
        </p:sp>
        <p:sp>
          <p:nvSpPr>
            <p:cNvPr id="83" name="Polygon 29">
              <a:extLst>
                <a:ext uri="{FF2B5EF4-FFF2-40B4-BE49-F238E27FC236}">
                  <a16:creationId xmlns:a16="http://schemas.microsoft.com/office/drawing/2014/main" id="{B9F7F7E5-8CA2-3B07-F6C5-EE537018313B}"/>
                </a:ext>
              </a:extLst>
            </p:cNvPr>
            <p:cNvSpPr/>
            <p:nvPr/>
          </p:nvSpPr>
          <p:spPr>
            <a:xfrm>
              <a:off x="5064442" y="3129915"/>
              <a:ext cx="79057" cy="64770"/>
            </a:xfrm>
            <a:custGeom>
              <a:avLst/>
              <a:gdLst/>
              <a:ahLst/>
              <a:cxnLst/>
              <a:rect l="l" t="t" r="r" b="b"/>
              <a:pathLst>
                <a:path w="79057" h="64770">
                  <a:moveTo>
                    <a:pt x="79057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0613"/>
            </a:solidFill>
            <a:ln>
              <a:noFill/>
            </a:ln>
          </p:spPr>
        </p:sp>
        <p:sp>
          <p:nvSpPr>
            <p:cNvPr id="84" name="Rectangle 30">
              <a:extLst>
                <a:ext uri="{FF2B5EF4-FFF2-40B4-BE49-F238E27FC236}">
                  <a16:creationId xmlns:a16="http://schemas.microsoft.com/office/drawing/2014/main" id="{6CA5D9EF-D268-95C8-EA3D-FFE7F4EB4434}"/>
                </a:ext>
              </a:extLst>
            </p:cNvPr>
            <p:cNvSpPr/>
            <p:nvPr/>
          </p:nvSpPr>
          <p:spPr>
            <a:xfrm>
              <a:off x="5143500" y="2400300"/>
              <a:ext cx="1905000" cy="1600200"/>
            </a:xfrm>
            <a:prstGeom prst="roundRect">
              <a:avLst>
                <a:gd name="adj" fmla="val 1786"/>
              </a:avLst>
            </a:prstGeom>
            <a:solidFill>
              <a:srgbClr val="FFFFFF"/>
            </a:solidFill>
            <a:ln w="11430">
              <a:solidFill>
                <a:srgbClr val="999999"/>
              </a:solidFill>
            </a:ln>
          </p:spPr>
        </p:sp>
        <p:sp>
          <p:nvSpPr>
            <p:cNvPr id="85" name="Rectangle 31">
              <a:extLst>
                <a:ext uri="{FF2B5EF4-FFF2-40B4-BE49-F238E27FC236}">
                  <a16:creationId xmlns:a16="http://schemas.microsoft.com/office/drawing/2014/main" id="{1FF556C9-46A2-7C0F-52A5-28F352C5FCA4}"/>
                </a:ext>
              </a:extLst>
            </p:cNvPr>
            <p:cNvSpPr/>
            <p:nvPr/>
          </p:nvSpPr>
          <p:spPr>
            <a:xfrm>
              <a:off x="5143500" y="2400300"/>
              <a:ext cx="1905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6" name="Rectangle 32">
              <a:extLst>
                <a:ext uri="{FF2B5EF4-FFF2-40B4-BE49-F238E27FC236}">
                  <a16:creationId xmlns:a16="http://schemas.microsoft.com/office/drawing/2014/main" id="{350C9041-4FAC-4780-DEF7-DCFD594D4357}"/>
                </a:ext>
              </a:extLst>
            </p:cNvPr>
            <p:cNvSpPr/>
            <p:nvPr/>
          </p:nvSpPr>
          <p:spPr>
            <a:xfrm>
              <a:off x="5143500" y="2457450"/>
              <a:ext cx="1905000" cy="1905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87" name="TextBox 33">
              <a:extLst>
                <a:ext uri="{FF2B5EF4-FFF2-40B4-BE49-F238E27FC236}">
                  <a16:creationId xmlns:a16="http://schemas.microsoft.com/office/drawing/2014/main" id="{7914BE42-A9FE-D6E3-26EB-FEF479B07A45}"/>
                </a:ext>
              </a:extLst>
            </p:cNvPr>
            <p:cNvSpPr txBox="1"/>
            <p:nvPr/>
          </p:nvSpPr>
          <p:spPr>
            <a:xfrm>
              <a:off x="5546205" y="2592943"/>
              <a:ext cx="1099591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6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3 Loop Engineering</a:t>
              </a:r>
            </a:p>
          </p:txBody>
        </p:sp>
        <p:sp>
          <p:nvSpPr>
            <p:cNvPr id="88" name="TextBox 34">
              <a:extLst>
                <a:ext uri="{FF2B5EF4-FFF2-40B4-BE49-F238E27FC236}">
                  <a16:creationId xmlns:a16="http://schemas.microsoft.com/office/drawing/2014/main" id="{1B397330-FA73-3ABC-5655-6942616795D9}"/>
                </a:ext>
              </a:extLst>
            </p:cNvPr>
            <p:cNvSpPr txBox="1"/>
            <p:nvPr/>
          </p:nvSpPr>
          <p:spPr>
            <a:xfrm>
              <a:off x="5859691" y="2783443"/>
              <a:ext cx="472618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循环工程</a:t>
              </a:r>
            </a:p>
          </p:txBody>
        </p:sp>
        <p:sp>
          <p:nvSpPr>
            <p:cNvPr id="89" name="Line 35">
              <a:extLst>
                <a:ext uri="{FF2B5EF4-FFF2-40B4-BE49-F238E27FC236}">
                  <a16:creationId xmlns:a16="http://schemas.microsoft.com/office/drawing/2014/main" id="{C4A19274-289A-D81F-F7A1-102DB198E011}"/>
                </a:ext>
              </a:extLst>
            </p:cNvPr>
            <p:cNvSpPr/>
            <p:nvPr/>
          </p:nvSpPr>
          <p:spPr>
            <a:xfrm>
              <a:off x="5257800" y="3009900"/>
              <a:ext cx="1676400" cy="9525"/>
            </a:xfrm>
            <a:custGeom>
              <a:avLst/>
              <a:gdLst/>
              <a:ahLst/>
              <a:cxnLst/>
              <a:rect l="l" t="t" r="r" b="b"/>
              <a:pathLst>
                <a:path w="1676400" h="9525">
                  <a:moveTo>
                    <a:pt x="0" y="0"/>
                  </a:moveTo>
                  <a:lnTo>
                    <a:pt x="16764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90" name="TextBox 36">
              <a:extLst>
                <a:ext uri="{FF2B5EF4-FFF2-40B4-BE49-F238E27FC236}">
                  <a16:creationId xmlns:a16="http://schemas.microsoft.com/office/drawing/2014/main" id="{55D09573-D2ED-6802-E9C9-6F734EB29DE9}"/>
                </a:ext>
              </a:extLst>
            </p:cNvPr>
            <p:cNvSpPr txBox="1"/>
            <p:nvPr/>
          </p:nvSpPr>
          <p:spPr>
            <a:xfrm>
              <a:off x="5328952" y="3138488"/>
              <a:ext cx="1534096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解决：执行→检查→反馈，自我迭代</a:t>
              </a:r>
            </a:p>
          </p:txBody>
        </p:sp>
        <p:sp>
          <p:nvSpPr>
            <p:cNvPr id="91" name="TextBox 37">
              <a:extLst>
                <a:ext uri="{FF2B5EF4-FFF2-40B4-BE49-F238E27FC236}">
                  <a16:creationId xmlns:a16="http://schemas.microsoft.com/office/drawing/2014/main" id="{0E4CC307-0141-3E7B-C58A-3B9C8B5D9543}"/>
                </a:ext>
              </a:extLst>
            </p:cNvPr>
            <p:cNvSpPr txBox="1"/>
            <p:nvPr/>
          </p:nvSpPr>
          <p:spPr>
            <a:xfrm>
              <a:off x="5535930" y="3367088"/>
              <a:ext cx="1120140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短板：缺权限与护栏兜底</a:t>
              </a:r>
            </a:p>
          </p:txBody>
        </p:sp>
        <p:sp>
          <p:nvSpPr>
            <p:cNvPr id="92" name="TextBox 38">
              <a:extLst>
                <a:ext uri="{FF2B5EF4-FFF2-40B4-BE49-F238E27FC236}">
                  <a16:creationId xmlns:a16="http://schemas.microsoft.com/office/drawing/2014/main" id="{87BBBF24-57E9-67A4-C59C-7DD92A93F344}"/>
                </a:ext>
              </a:extLst>
            </p:cNvPr>
            <p:cNvSpPr txBox="1"/>
            <p:nvPr/>
          </p:nvSpPr>
          <p:spPr>
            <a:xfrm>
              <a:off x="5716085" y="3599736"/>
              <a:ext cx="759830" cy="140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1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→ 外面加一层外壳</a:t>
              </a:r>
            </a:p>
          </p:txBody>
        </p:sp>
        <p:sp>
          <p:nvSpPr>
            <p:cNvPr id="93" name="Line 39">
              <a:extLst>
                <a:ext uri="{FF2B5EF4-FFF2-40B4-BE49-F238E27FC236}">
                  <a16:creationId xmlns:a16="http://schemas.microsoft.com/office/drawing/2014/main" id="{1037C10C-0C22-3FB2-8B8C-68831BF03766}"/>
                </a:ext>
              </a:extLst>
            </p:cNvPr>
            <p:cNvSpPr/>
            <p:nvPr/>
          </p:nvSpPr>
          <p:spPr>
            <a:xfrm>
              <a:off x="7048500" y="3162300"/>
              <a:ext cx="57150" cy="9525"/>
            </a:xfrm>
            <a:custGeom>
              <a:avLst/>
              <a:gdLst/>
              <a:ahLst/>
              <a:cxnLst/>
              <a:rect l="l" t="t" r="r" b="b"/>
              <a:pathLst>
                <a:path w="57150" h="9525">
                  <a:moveTo>
                    <a:pt x="0" y="0"/>
                  </a:moveTo>
                  <a:lnTo>
                    <a:pt x="57150" y="0"/>
                  </a:lnTo>
                </a:path>
              </a:pathLst>
            </a:custGeom>
            <a:noFill/>
            <a:ln w="15240">
              <a:solidFill>
                <a:srgbClr val="E30613"/>
              </a:solidFill>
            </a:ln>
          </p:spPr>
        </p:sp>
        <p:sp>
          <p:nvSpPr>
            <p:cNvPr id="94" name="Polygon 40">
              <a:extLst>
                <a:ext uri="{FF2B5EF4-FFF2-40B4-BE49-F238E27FC236}">
                  <a16:creationId xmlns:a16="http://schemas.microsoft.com/office/drawing/2014/main" id="{09589A27-DE07-A237-05A8-AF1C1A1B204A}"/>
                </a:ext>
              </a:extLst>
            </p:cNvPr>
            <p:cNvSpPr/>
            <p:nvPr/>
          </p:nvSpPr>
          <p:spPr>
            <a:xfrm>
              <a:off x="7112318" y="3129915"/>
              <a:ext cx="79057" cy="64770"/>
            </a:xfrm>
            <a:custGeom>
              <a:avLst/>
              <a:gdLst/>
              <a:ahLst/>
              <a:cxnLst/>
              <a:rect l="l" t="t" r="r" b="b"/>
              <a:pathLst>
                <a:path w="79057" h="64770">
                  <a:moveTo>
                    <a:pt x="79057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0613"/>
            </a:solidFill>
            <a:ln>
              <a:noFill/>
            </a:ln>
          </p:spPr>
        </p:sp>
        <p:sp>
          <p:nvSpPr>
            <p:cNvPr id="95" name="Rectangle 41">
              <a:extLst>
                <a:ext uri="{FF2B5EF4-FFF2-40B4-BE49-F238E27FC236}">
                  <a16:creationId xmlns:a16="http://schemas.microsoft.com/office/drawing/2014/main" id="{E031DE5D-ED15-7E16-72B0-51C2A3F93A43}"/>
                </a:ext>
              </a:extLst>
            </p:cNvPr>
            <p:cNvSpPr/>
            <p:nvPr/>
          </p:nvSpPr>
          <p:spPr>
            <a:xfrm>
              <a:off x="7191375" y="2400300"/>
              <a:ext cx="1905000" cy="1600200"/>
            </a:xfrm>
            <a:prstGeom prst="roundRect">
              <a:avLst>
                <a:gd name="adj" fmla="val 1786"/>
              </a:avLst>
            </a:prstGeom>
            <a:solidFill>
              <a:srgbClr val="FFFFFF"/>
            </a:solidFill>
            <a:ln w="11430">
              <a:solidFill>
                <a:srgbClr val="999999"/>
              </a:solidFill>
            </a:ln>
          </p:spPr>
        </p:sp>
        <p:sp>
          <p:nvSpPr>
            <p:cNvPr id="96" name="Rectangle 42">
              <a:extLst>
                <a:ext uri="{FF2B5EF4-FFF2-40B4-BE49-F238E27FC236}">
                  <a16:creationId xmlns:a16="http://schemas.microsoft.com/office/drawing/2014/main" id="{0D766C8B-6379-0B4F-A88B-2C3C242582FB}"/>
                </a:ext>
              </a:extLst>
            </p:cNvPr>
            <p:cNvSpPr/>
            <p:nvPr/>
          </p:nvSpPr>
          <p:spPr>
            <a:xfrm>
              <a:off x="7191375" y="2400300"/>
              <a:ext cx="1905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97" name="Rectangle 43">
              <a:extLst>
                <a:ext uri="{FF2B5EF4-FFF2-40B4-BE49-F238E27FC236}">
                  <a16:creationId xmlns:a16="http://schemas.microsoft.com/office/drawing/2014/main" id="{1393A65C-7C0A-CE50-27F1-AB4EC9DCC1E4}"/>
                </a:ext>
              </a:extLst>
            </p:cNvPr>
            <p:cNvSpPr/>
            <p:nvPr/>
          </p:nvSpPr>
          <p:spPr>
            <a:xfrm>
              <a:off x="7191375" y="2457450"/>
              <a:ext cx="1905000" cy="1905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98" name="TextBox 44">
              <a:extLst>
                <a:ext uri="{FF2B5EF4-FFF2-40B4-BE49-F238E27FC236}">
                  <a16:creationId xmlns:a16="http://schemas.microsoft.com/office/drawing/2014/main" id="{9E9628A5-E4FA-887B-03C6-6459C2C6D2F7}"/>
                </a:ext>
              </a:extLst>
            </p:cNvPr>
            <p:cNvSpPr txBox="1"/>
            <p:nvPr/>
          </p:nvSpPr>
          <p:spPr>
            <a:xfrm>
              <a:off x="7493841" y="2592943"/>
              <a:ext cx="1300069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6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4 Harness Engineering</a:t>
              </a:r>
            </a:p>
          </p:txBody>
        </p:sp>
        <p:sp>
          <p:nvSpPr>
            <p:cNvPr id="99" name="TextBox 45">
              <a:extLst>
                <a:ext uri="{FF2B5EF4-FFF2-40B4-BE49-F238E27FC236}">
                  <a16:creationId xmlns:a16="http://schemas.microsoft.com/office/drawing/2014/main" id="{B26DFA58-0FF4-8821-4944-E3B852A8AEB0}"/>
                </a:ext>
              </a:extLst>
            </p:cNvPr>
            <p:cNvSpPr txBox="1"/>
            <p:nvPr/>
          </p:nvSpPr>
          <p:spPr>
            <a:xfrm>
              <a:off x="7849680" y="2783443"/>
              <a:ext cx="588391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生产化外壳</a:t>
              </a:r>
            </a:p>
          </p:txBody>
        </p:sp>
        <p:sp>
          <p:nvSpPr>
            <p:cNvPr id="100" name="Line 46">
              <a:extLst>
                <a:ext uri="{FF2B5EF4-FFF2-40B4-BE49-F238E27FC236}">
                  <a16:creationId xmlns:a16="http://schemas.microsoft.com/office/drawing/2014/main" id="{6AFB567D-2C20-5D76-DAFF-32AF5AB03473}"/>
                </a:ext>
              </a:extLst>
            </p:cNvPr>
            <p:cNvSpPr/>
            <p:nvPr/>
          </p:nvSpPr>
          <p:spPr>
            <a:xfrm>
              <a:off x="7305675" y="3009900"/>
              <a:ext cx="1676400" cy="9525"/>
            </a:xfrm>
            <a:custGeom>
              <a:avLst/>
              <a:gdLst/>
              <a:ahLst/>
              <a:cxnLst/>
              <a:rect l="l" t="t" r="r" b="b"/>
              <a:pathLst>
                <a:path w="1676400" h="9525">
                  <a:moveTo>
                    <a:pt x="0" y="0"/>
                  </a:moveTo>
                  <a:lnTo>
                    <a:pt x="16764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101" name="TextBox 47">
              <a:extLst>
                <a:ext uri="{FF2B5EF4-FFF2-40B4-BE49-F238E27FC236}">
                  <a16:creationId xmlns:a16="http://schemas.microsoft.com/office/drawing/2014/main" id="{0F07FA72-80FA-37A5-580F-76B5DF4D8E15}"/>
                </a:ext>
              </a:extLst>
            </p:cNvPr>
            <p:cNvSpPr txBox="1"/>
            <p:nvPr/>
          </p:nvSpPr>
          <p:spPr>
            <a:xfrm>
              <a:off x="7321296" y="3138488"/>
              <a:ext cx="1645158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解决：管权限·记忆·沙箱·日志·接管</a:t>
              </a:r>
            </a:p>
          </p:txBody>
        </p:sp>
        <p:sp>
          <p:nvSpPr>
            <p:cNvPr id="102" name="TextBox 48">
              <a:extLst>
                <a:ext uri="{FF2B5EF4-FFF2-40B4-BE49-F238E27FC236}">
                  <a16:creationId xmlns:a16="http://schemas.microsoft.com/office/drawing/2014/main" id="{BD4EF8A7-5514-4904-5066-4F4B55554512}"/>
                </a:ext>
              </a:extLst>
            </p:cNvPr>
            <p:cNvSpPr txBox="1"/>
            <p:nvPr/>
          </p:nvSpPr>
          <p:spPr>
            <a:xfrm>
              <a:off x="7432358" y="3367088"/>
              <a:ext cx="142303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短板：一条线表达不了复杂流程</a:t>
              </a:r>
            </a:p>
          </p:txBody>
        </p:sp>
        <p:sp>
          <p:nvSpPr>
            <p:cNvPr id="103" name="TextBox 49">
              <a:extLst>
                <a:ext uri="{FF2B5EF4-FFF2-40B4-BE49-F238E27FC236}">
                  <a16:creationId xmlns:a16="http://schemas.microsoft.com/office/drawing/2014/main" id="{D8A05BC5-D78D-6627-ACD0-1AA841578DDA}"/>
                </a:ext>
              </a:extLst>
            </p:cNvPr>
            <p:cNvSpPr txBox="1"/>
            <p:nvPr/>
          </p:nvSpPr>
          <p:spPr>
            <a:xfrm>
              <a:off x="7763960" y="3599736"/>
              <a:ext cx="759830" cy="140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1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→ 多条路径排成图</a:t>
              </a:r>
            </a:p>
          </p:txBody>
        </p:sp>
        <p:sp>
          <p:nvSpPr>
            <p:cNvPr id="104" name="Line 50">
              <a:extLst>
                <a:ext uri="{FF2B5EF4-FFF2-40B4-BE49-F238E27FC236}">
                  <a16:creationId xmlns:a16="http://schemas.microsoft.com/office/drawing/2014/main" id="{B1B2E92F-C110-1660-0CD9-A300F4989C52}"/>
                </a:ext>
              </a:extLst>
            </p:cNvPr>
            <p:cNvSpPr/>
            <p:nvPr/>
          </p:nvSpPr>
          <p:spPr>
            <a:xfrm>
              <a:off x="9096375" y="3162300"/>
              <a:ext cx="57150" cy="9525"/>
            </a:xfrm>
            <a:custGeom>
              <a:avLst/>
              <a:gdLst/>
              <a:ahLst/>
              <a:cxnLst/>
              <a:rect l="l" t="t" r="r" b="b"/>
              <a:pathLst>
                <a:path w="57150" h="9525">
                  <a:moveTo>
                    <a:pt x="0" y="0"/>
                  </a:moveTo>
                  <a:lnTo>
                    <a:pt x="57150" y="0"/>
                  </a:lnTo>
                </a:path>
              </a:pathLst>
            </a:custGeom>
            <a:noFill/>
            <a:ln w="15240">
              <a:solidFill>
                <a:srgbClr val="E30613"/>
              </a:solidFill>
            </a:ln>
          </p:spPr>
        </p:sp>
        <p:sp>
          <p:nvSpPr>
            <p:cNvPr id="105" name="Polygon 51">
              <a:extLst>
                <a:ext uri="{FF2B5EF4-FFF2-40B4-BE49-F238E27FC236}">
                  <a16:creationId xmlns:a16="http://schemas.microsoft.com/office/drawing/2014/main" id="{316C0B92-CB95-E05B-8CF7-C1244A3F758D}"/>
                </a:ext>
              </a:extLst>
            </p:cNvPr>
            <p:cNvSpPr/>
            <p:nvPr/>
          </p:nvSpPr>
          <p:spPr>
            <a:xfrm>
              <a:off x="9160192" y="3129915"/>
              <a:ext cx="79057" cy="64770"/>
            </a:xfrm>
            <a:custGeom>
              <a:avLst/>
              <a:gdLst/>
              <a:ahLst/>
              <a:cxnLst/>
              <a:rect l="l" t="t" r="r" b="b"/>
              <a:pathLst>
                <a:path w="79057" h="64770">
                  <a:moveTo>
                    <a:pt x="79057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0613"/>
            </a:solidFill>
            <a:ln>
              <a:noFill/>
            </a:ln>
          </p:spPr>
        </p:sp>
        <p:sp>
          <p:nvSpPr>
            <p:cNvPr id="106" name="Rectangle 52">
              <a:extLst>
                <a:ext uri="{FF2B5EF4-FFF2-40B4-BE49-F238E27FC236}">
                  <a16:creationId xmlns:a16="http://schemas.microsoft.com/office/drawing/2014/main" id="{7777067B-EAD0-7D9E-E813-FFF166F1AAAD}"/>
                </a:ext>
              </a:extLst>
            </p:cNvPr>
            <p:cNvSpPr/>
            <p:nvPr/>
          </p:nvSpPr>
          <p:spPr>
            <a:xfrm>
              <a:off x="9239250" y="2400300"/>
              <a:ext cx="1905000" cy="1600200"/>
            </a:xfrm>
            <a:prstGeom prst="roundRect">
              <a:avLst>
                <a:gd name="adj" fmla="val 1786"/>
              </a:avLst>
            </a:prstGeom>
            <a:solidFill>
              <a:srgbClr val="FFFFFF"/>
            </a:solidFill>
            <a:ln w="11430">
              <a:solidFill>
                <a:srgbClr val="999999"/>
              </a:solidFill>
            </a:ln>
          </p:spPr>
        </p:sp>
        <p:sp>
          <p:nvSpPr>
            <p:cNvPr id="107" name="Rectangle 53">
              <a:extLst>
                <a:ext uri="{FF2B5EF4-FFF2-40B4-BE49-F238E27FC236}">
                  <a16:creationId xmlns:a16="http://schemas.microsoft.com/office/drawing/2014/main" id="{51055ED6-4A86-EB6F-875B-58EDED73D797}"/>
                </a:ext>
              </a:extLst>
            </p:cNvPr>
            <p:cNvSpPr/>
            <p:nvPr/>
          </p:nvSpPr>
          <p:spPr>
            <a:xfrm>
              <a:off x="9239250" y="2400300"/>
              <a:ext cx="1905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08" name="Rectangle 54">
              <a:extLst>
                <a:ext uri="{FF2B5EF4-FFF2-40B4-BE49-F238E27FC236}">
                  <a16:creationId xmlns:a16="http://schemas.microsoft.com/office/drawing/2014/main" id="{3F72A3EA-8CAD-D642-0BC8-45CB39E44782}"/>
                </a:ext>
              </a:extLst>
            </p:cNvPr>
            <p:cNvSpPr/>
            <p:nvPr/>
          </p:nvSpPr>
          <p:spPr>
            <a:xfrm>
              <a:off x="9239250" y="2457450"/>
              <a:ext cx="1905000" cy="1905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09" name="TextBox 55">
              <a:extLst>
                <a:ext uri="{FF2B5EF4-FFF2-40B4-BE49-F238E27FC236}">
                  <a16:creationId xmlns:a16="http://schemas.microsoft.com/office/drawing/2014/main" id="{77218361-F84D-7B9C-39B9-960387166A36}"/>
                </a:ext>
              </a:extLst>
            </p:cNvPr>
            <p:cNvSpPr txBox="1"/>
            <p:nvPr/>
          </p:nvSpPr>
          <p:spPr>
            <a:xfrm>
              <a:off x="9608544" y="2592943"/>
              <a:ext cx="1166413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6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5 Graph Engineering</a:t>
              </a:r>
            </a:p>
          </p:txBody>
        </p:sp>
        <p:sp>
          <p:nvSpPr>
            <p:cNvPr id="110" name="TextBox 56">
              <a:extLst>
                <a:ext uri="{FF2B5EF4-FFF2-40B4-BE49-F238E27FC236}">
                  <a16:creationId xmlns:a16="http://schemas.microsoft.com/office/drawing/2014/main" id="{CB44203F-46EE-F650-CBB9-67706B1D2EE1}"/>
                </a:ext>
              </a:extLst>
            </p:cNvPr>
            <p:cNvSpPr txBox="1"/>
            <p:nvPr/>
          </p:nvSpPr>
          <p:spPr>
            <a:xfrm>
              <a:off x="9897554" y="2783443"/>
              <a:ext cx="588391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图编排工程</a:t>
              </a:r>
            </a:p>
          </p:txBody>
        </p:sp>
        <p:sp>
          <p:nvSpPr>
            <p:cNvPr id="111" name="Line 57">
              <a:extLst>
                <a:ext uri="{FF2B5EF4-FFF2-40B4-BE49-F238E27FC236}">
                  <a16:creationId xmlns:a16="http://schemas.microsoft.com/office/drawing/2014/main" id="{45A382BC-E611-3555-D6EB-194A7710E9B0}"/>
                </a:ext>
              </a:extLst>
            </p:cNvPr>
            <p:cNvSpPr/>
            <p:nvPr/>
          </p:nvSpPr>
          <p:spPr>
            <a:xfrm>
              <a:off x="9353550" y="3009900"/>
              <a:ext cx="1676400" cy="9525"/>
            </a:xfrm>
            <a:custGeom>
              <a:avLst/>
              <a:gdLst/>
              <a:ahLst/>
              <a:cxnLst/>
              <a:rect l="l" t="t" r="r" b="b"/>
              <a:pathLst>
                <a:path w="1676400" h="9525">
                  <a:moveTo>
                    <a:pt x="0" y="0"/>
                  </a:moveTo>
                  <a:lnTo>
                    <a:pt x="16764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112" name="TextBox 58">
              <a:extLst>
                <a:ext uri="{FF2B5EF4-FFF2-40B4-BE49-F238E27FC236}">
                  <a16:creationId xmlns:a16="http://schemas.microsoft.com/office/drawing/2014/main" id="{B9D31D8D-303A-C69E-DB65-40CDA0699067}"/>
                </a:ext>
              </a:extLst>
            </p:cNvPr>
            <p:cNvSpPr txBox="1"/>
            <p:nvPr/>
          </p:nvSpPr>
          <p:spPr>
            <a:xfrm>
              <a:off x="9401985" y="3138488"/>
              <a:ext cx="1579531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解决：分支/并行成图，可测可回滚</a:t>
              </a:r>
            </a:p>
          </p:txBody>
        </p:sp>
        <p:sp>
          <p:nvSpPr>
            <p:cNvPr id="113" name="TextBox 59">
              <a:extLst>
                <a:ext uri="{FF2B5EF4-FFF2-40B4-BE49-F238E27FC236}">
                  <a16:creationId xmlns:a16="http://schemas.microsoft.com/office/drawing/2014/main" id="{C1F22E05-24B5-0E11-F43C-B1904A9E0CA7}"/>
                </a:ext>
              </a:extLst>
            </p:cNvPr>
            <p:cNvSpPr txBox="1"/>
            <p:nvPr/>
          </p:nvSpPr>
          <p:spPr>
            <a:xfrm>
              <a:off x="9480232" y="3367088"/>
              <a:ext cx="142303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短板：越复杂越要盯验证与成本</a:t>
              </a:r>
            </a:p>
          </p:txBody>
        </p:sp>
        <p:sp>
          <p:nvSpPr>
            <p:cNvPr id="114" name="TextBox 60">
              <a:extLst>
                <a:ext uri="{FF2B5EF4-FFF2-40B4-BE49-F238E27FC236}">
                  <a16:creationId xmlns:a16="http://schemas.microsoft.com/office/drawing/2014/main" id="{34CEAD55-4ED1-2B50-33B6-67BD32B03936}"/>
                </a:ext>
              </a:extLst>
            </p:cNvPr>
            <p:cNvSpPr txBox="1"/>
            <p:nvPr/>
          </p:nvSpPr>
          <p:spPr>
            <a:xfrm>
              <a:off x="9811835" y="3599736"/>
              <a:ext cx="759830" cy="140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1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→ 评估永远不能省</a:t>
              </a:r>
            </a:p>
          </p:txBody>
        </p:sp>
        <p:sp>
          <p:nvSpPr>
            <p:cNvPr id="115" name="Rectangle 61">
              <a:extLst>
                <a:ext uri="{FF2B5EF4-FFF2-40B4-BE49-F238E27FC236}">
                  <a16:creationId xmlns:a16="http://schemas.microsoft.com/office/drawing/2014/main" id="{782616A3-0F50-E825-DD5A-97B761FC74CD}"/>
                </a:ext>
              </a:extLst>
            </p:cNvPr>
            <p:cNvSpPr/>
            <p:nvPr/>
          </p:nvSpPr>
          <p:spPr>
            <a:xfrm>
              <a:off x="1047750" y="4305300"/>
              <a:ext cx="10096500" cy="552450"/>
            </a:xfrm>
            <a:prstGeom prst="roundRect">
              <a:avLst>
                <a:gd name="adj" fmla="val 5172"/>
              </a:avLst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116" name="Rectangle 62">
              <a:extLst>
                <a:ext uri="{FF2B5EF4-FFF2-40B4-BE49-F238E27FC236}">
                  <a16:creationId xmlns:a16="http://schemas.microsoft.com/office/drawing/2014/main" id="{47E8A10B-46A8-25A5-82C2-A715F2244C42}"/>
                </a:ext>
              </a:extLst>
            </p:cNvPr>
            <p:cNvSpPr/>
            <p:nvPr/>
          </p:nvSpPr>
          <p:spPr>
            <a:xfrm>
              <a:off x="1047750" y="4305300"/>
              <a:ext cx="100965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17" name="TextBox 63">
              <a:extLst>
                <a:ext uri="{FF2B5EF4-FFF2-40B4-BE49-F238E27FC236}">
                  <a16:creationId xmlns:a16="http://schemas.microsoft.com/office/drawing/2014/main" id="{66B74D76-1FF9-A39F-E0B5-3340DAD2698A}"/>
                </a:ext>
              </a:extLst>
            </p:cNvPr>
            <p:cNvSpPr txBox="1"/>
            <p:nvPr/>
          </p:nvSpPr>
          <p:spPr>
            <a:xfrm>
              <a:off x="3579379" y="4431506"/>
              <a:ext cx="50332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不是门派之争，是同一件事越来越难：让 AI 稳定、可控、低成本地交付</a:t>
              </a:r>
            </a:p>
          </p:txBody>
        </p:sp>
        <p:sp>
          <p:nvSpPr>
            <p:cNvPr id="118" name="TextBox 64">
              <a:extLst>
                <a:ext uri="{FF2B5EF4-FFF2-40B4-BE49-F238E27FC236}">
                  <a16:creationId xmlns:a16="http://schemas.microsoft.com/office/drawing/2014/main" id="{6DDAE085-50A4-1570-7187-26EB51306540}"/>
                </a:ext>
              </a:extLst>
            </p:cNvPr>
            <p:cNvSpPr txBox="1"/>
            <p:nvPr/>
          </p:nvSpPr>
          <p:spPr>
            <a:xfrm>
              <a:off x="3953883" y="4692491"/>
              <a:ext cx="428423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Prompt→Context→Loop→Harness→Graph：每一步解决上一步的短板，也暴露新的短板</a:t>
              </a:r>
            </a:p>
          </p:txBody>
        </p:sp>
        <p:sp>
          <p:nvSpPr>
            <p:cNvPr id="119" name="Rectangle 65">
              <a:extLst>
                <a:ext uri="{FF2B5EF4-FFF2-40B4-BE49-F238E27FC236}">
                  <a16:creationId xmlns:a16="http://schemas.microsoft.com/office/drawing/2014/main" id="{4CE0E29F-7C52-F8F9-376D-6B6B1D4A804A}"/>
                </a:ext>
              </a:extLst>
            </p:cNvPr>
            <p:cNvSpPr/>
            <p:nvPr/>
          </p:nvSpPr>
          <p:spPr>
            <a:xfrm>
              <a:off x="1047750" y="5048250"/>
              <a:ext cx="10096500" cy="552450"/>
            </a:xfrm>
            <a:prstGeom prst="roundRect">
              <a:avLst>
                <a:gd name="adj" fmla="val 5172"/>
              </a:avLst>
            </a:prstGeom>
            <a:solidFill>
              <a:srgbClr val="FFFFFF"/>
            </a:solidFill>
            <a:ln w="11430">
              <a:solidFill>
                <a:srgbClr val="E30613"/>
              </a:solidFill>
            </a:ln>
          </p:spPr>
        </p:sp>
        <p:sp>
          <p:nvSpPr>
            <p:cNvPr id="120" name="TextBox 66">
              <a:extLst>
                <a:ext uri="{FF2B5EF4-FFF2-40B4-BE49-F238E27FC236}">
                  <a16:creationId xmlns:a16="http://schemas.microsoft.com/office/drawing/2014/main" id="{5E6F294D-D8B8-C629-6CD1-E2A932CD589A}"/>
                </a:ext>
              </a:extLst>
            </p:cNvPr>
            <p:cNvSpPr txBox="1"/>
            <p:nvPr/>
          </p:nvSpPr>
          <p:spPr>
            <a:xfrm>
              <a:off x="2960724" y="5186601"/>
              <a:ext cx="6270552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1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一句话人话：Prompt 问得再好也只是第一步；稳定交付靠的是「喂得对 → 循环验 → 外壳兜 → 排得清」</a:t>
              </a:r>
            </a:p>
          </p:txBody>
        </p:sp>
        <p:sp>
          <p:nvSpPr>
            <p:cNvPr id="121" name="TextBox 67">
              <a:extLst>
                <a:ext uri="{FF2B5EF4-FFF2-40B4-BE49-F238E27FC236}">
                  <a16:creationId xmlns:a16="http://schemas.microsoft.com/office/drawing/2014/main" id="{196C979C-CC70-896B-A87C-4A3D3FE6658B}"/>
                </a:ext>
              </a:extLst>
            </p:cNvPr>
            <p:cNvSpPr txBox="1"/>
            <p:nvPr/>
          </p:nvSpPr>
          <p:spPr>
            <a:xfrm>
              <a:off x="3237518" y="5439489"/>
              <a:ext cx="5716964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9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本讲后文会逐个展开：五技能(P09)对 Prompt/Context，架构与治理(P07)对 Loop/Harness，多 Agent 协作对 Graph</a:t>
              </a:r>
            </a:p>
          </p:txBody>
        </p:sp>
      </p:grpSp>
      <p:grpSp>
        <p:nvGrpSpPr>
          <p:cNvPr id="123" name="Group 73">
            <a:extLst>
              <a:ext uri="{FF2B5EF4-FFF2-40B4-BE49-F238E27FC236}">
                <a16:creationId xmlns:a16="http://schemas.microsoft.com/office/drawing/2014/main" id="{705B4E3E-11D6-0A06-80DA-5A98FAFC8EBD}"/>
              </a:ext>
            </a:extLst>
          </p:cNvPr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124" name="TextBox 70">
              <a:extLst>
                <a:ext uri="{FF2B5EF4-FFF2-40B4-BE49-F238E27FC236}">
                  <a16:creationId xmlns:a16="http://schemas.microsoft.com/office/drawing/2014/main" id="{E907E815-CDE5-AA43-0A52-898149C13D3C}"/>
                </a:ext>
              </a:extLst>
            </p:cNvPr>
            <p:cNvSpPr txBox="1"/>
            <p:nvPr/>
          </p:nvSpPr>
          <p:spPr>
            <a:xfrm>
              <a:off x="604838" y="6613684"/>
              <a:ext cx="1063808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从 AI 使用者到 AI 架构师</a:t>
              </a:r>
            </a:p>
          </p:txBody>
        </p:sp>
        <p:sp>
          <p:nvSpPr>
            <p:cNvPr id="125" name="Rectangle 71">
              <a:extLst>
                <a:ext uri="{FF2B5EF4-FFF2-40B4-BE49-F238E27FC236}">
                  <a16:creationId xmlns:a16="http://schemas.microsoft.com/office/drawing/2014/main" id="{F2359939-E1B0-DE9B-20A2-42EDCDD477AB}"/>
                </a:ext>
              </a:extLst>
            </p:cNvPr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26" name="TextBox 72">
              <a:extLst>
                <a:ext uri="{FF2B5EF4-FFF2-40B4-BE49-F238E27FC236}">
                  <a16:creationId xmlns:a16="http://schemas.microsoft.com/office/drawing/2014/main" id="{E09163C2-6F72-847F-6D45-2845A6B23480}"/>
                </a:ext>
              </a:extLst>
            </p:cNvPr>
            <p:cNvSpPr txBox="1"/>
            <p:nvPr/>
          </p:nvSpPr>
          <p:spPr>
            <a:xfrm>
              <a:off x="10978421" y="6613684"/>
              <a:ext cx="2658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6 / 27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5525770" cy="738854"/>
            <a:chOff x="595122" y="501491"/>
            <a:chExt cx="5525770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02 · 架构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5525770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Agentic Engineering 核心架构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34" name="Group 34"/>
          <p:cNvGrpSpPr/>
          <p:nvPr/>
        </p:nvGrpSpPr>
        <p:grpSpPr>
          <a:xfrm>
            <a:off x="1047750" y="1866900"/>
            <a:ext cx="10096500" cy="3448050"/>
            <a:chOff x="1047750" y="1866900"/>
            <a:chExt cx="10096500" cy="3448050"/>
          </a:xfrm>
        </p:grpSpPr>
        <p:sp>
          <p:nvSpPr>
            <p:cNvPr id="6" name="Rectangle 6"/>
            <p:cNvSpPr/>
            <p:nvPr/>
          </p:nvSpPr>
          <p:spPr>
            <a:xfrm>
              <a:off x="1047750" y="1866900"/>
              <a:ext cx="10096500" cy="419100"/>
            </a:xfrm>
            <a:prstGeom prst="roundRect">
              <a:avLst>
                <a:gd name="adj" fmla="val 6818"/>
              </a:avLst>
            </a:prstGeom>
            <a:solidFill>
              <a:srgbClr val="F5F5F5"/>
            </a:solidFill>
            <a:ln w="9525">
              <a:solidFill>
                <a:srgbClr val="999999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3419105" y="2039302"/>
              <a:ext cx="53537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内核公式：Agent = LLM 推理 + 工具 + 记忆 + 规划 —— 能力四要素，先让内核稳定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1047750" y="2438400"/>
              <a:ext cx="3238500" cy="1333500"/>
            </a:xfrm>
            <a:prstGeom prst="roundRect">
              <a:avLst>
                <a:gd name="adj" fmla="val 2143"/>
              </a:avLst>
            </a:prstGeom>
            <a:solidFill>
              <a:srgbClr val="FFFFFF"/>
            </a:solidFill>
            <a:ln w="11430">
              <a:solidFill>
                <a:srgbClr val="999999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1047750" y="2438400"/>
              <a:ext cx="32385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952457" y="2629852"/>
              <a:ext cx="14290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Tool Calling 工具调用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059780" y="2935843"/>
              <a:ext cx="1214440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调用 API · 查询数据库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132575" y="3183493"/>
              <a:ext cx="1068850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执行代码 · 读写文件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888523" y="3431143"/>
              <a:ext cx="1556954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MCP 统一接入（2026 标准）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4476750" y="2438400"/>
              <a:ext cx="3238500" cy="1333500"/>
            </a:xfrm>
            <a:prstGeom prst="roundRect">
              <a:avLst>
                <a:gd name="adj" fmla="val 2143"/>
              </a:avLst>
            </a:prstGeom>
            <a:solidFill>
              <a:srgbClr val="FFFFFF"/>
            </a:solidFill>
            <a:ln w="11430">
              <a:solidFill>
                <a:srgbClr val="999999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4476750" y="2438400"/>
              <a:ext cx="32385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505660" y="2629852"/>
              <a:ext cx="11806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Memory 记忆分层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619462" y="2935843"/>
              <a:ext cx="953077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短期 = 上下文窗口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552892" y="3183493"/>
              <a:ext cx="1086216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长期 = 向量库 / 文件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686031" y="3431143"/>
              <a:ext cx="819937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分层记忆最实用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905750" y="2438400"/>
              <a:ext cx="3238500" cy="1333500"/>
            </a:xfrm>
            <a:prstGeom prst="roundRect">
              <a:avLst>
                <a:gd name="adj" fmla="val 2143"/>
              </a:avLst>
            </a:prstGeom>
            <a:solidFill>
              <a:srgbClr val="FFFFFF"/>
            </a:solidFill>
            <a:ln w="11430">
              <a:solidFill>
                <a:srgbClr val="999999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7905750" y="2438400"/>
              <a:ext cx="32385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063431" y="2629852"/>
              <a:ext cx="9231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Planning 规划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993442" y="2935843"/>
              <a:ext cx="1063116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ReAct · CoT 思维链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932689" y="3183493"/>
              <a:ext cx="1184623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子目标分解 · 多步推理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999258" y="3431143"/>
              <a:ext cx="1051484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先想再做、步步留痕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047750" y="3962400"/>
              <a:ext cx="10096500" cy="476250"/>
            </a:xfrm>
            <a:prstGeom prst="roundRect">
              <a:avLst>
                <a:gd name="adj" fmla="val 6000"/>
              </a:avLst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1047750" y="3962400"/>
              <a:ext cx="100965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571230" y="4152424"/>
              <a:ext cx="50495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内核可观察：工具调用留日志 · 记忆可查 · 规划可见 —— 稳定，是一切上层能力的前提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1047750" y="4591050"/>
              <a:ext cx="10096500" cy="723900"/>
            </a:xfrm>
            <a:prstGeom prst="roundRect">
              <a:avLst>
                <a:gd name="adj" fmla="val 3947"/>
              </a:avLst>
            </a:prstGeom>
            <a:solidFill>
              <a:srgbClr val="FFFFFF"/>
            </a:solidFill>
            <a:ln w="11430">
              <a:solidFill>
                <a:srgbClr val="E30613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3211105" y="4744402"/>
              <a:ext cx="576979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为了让企业级 Agent 可控，还需要 Human-in-the-Loop —— 治理层，不是第五个必要组件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720290" y="5012293"/>
              <a:ext cx="4751421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关键节点人工审核 · 可打断 · 可接管 · 可回滚 —— 按风险分级引入，不是每个 Agent 都必须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35" name="TextBox 35"/>
            <p:cNvSpPr txBox="1"/>
            <p:nvPr/>
          </p:nvSpPr>
          <p:spPr>
            <a:xfrm>
              <a:off x="604838" y="6613684"/>
              <a:ext cx="1063808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从 AI 使用者到 AI 架构师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0978421" y="6613684"/>
              <a:ext cx="2658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7 / 27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roup 5">
            <a:extLst>
              <a:ext uri="{FF2B5EF4-FFF2-40B4-BE49-F238E27FC236}">
                <a16:creationId xmlns:a16="http://schemas.microsoft.com/office/drawing/2014/main" id="{B6103EB2-43B2-2660-E963-E4FDF4BCCAA3}"/>
              </a:ext>
            </a:extLst>
          </p:cNvPr>
          <p:cNvGrpSpPr/>
          <p:nvPr/>
        </p:nvGrpSpPr>
        <p:grpSpPr>
          <a:xfrm>
            <a:off x="595122" y="501491"/>
            <a:ext cx="6852474" cy="738854"/>
            <a:chOff x="595122" y="501491"/>
            <a:chExt cx="6852474" cy="738854"/>
          </a:xfrm>
        </p:grpSpPr>
        <p:sp>
          <p:nvSpPr>
            <p:cNvPr id="48" name="TextBox 2">
              <a:extLst>
                <a:ext uri="{FF2B5EF4-FFF2-40B4-BE49-F238E27FC236}">
                  <a16:creationId xmlns:a16="http://schemas.microsoft.com/office/drawing/2014/main" id="{BD646C8C-B026-69AB-273C-1017EB9CC09F}"/>
                </a:ext>
              </a:extLst>
            </p:cNvPr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02 · 地图</a:t>
              </a:r>
            </a:p>
          </p:txBody>
        </p:sp>
        <p:sp>
          <p:nvSpPr>
            <p:cNvPr id="49" name="TextBox 3">
              <a:extLst>
                <a:ext uri="{FF2B5EF4-FFF2-40B4-BE49-F238E27FC236}">
                  <a16:creationId xmlns:a16="http://schemas.microsoft.com/office/drawing/2014/main" id="{AB5DCEE6-9883-8C9C-DDB0-9B35569E0C7B}"/>
                </a:ext>
              </a:extLst>
            </p:cNvPr>
            <p:cNvSpPr txBox="1"/>
            <p:nvPr/>
          </p:nvSpPr>
          <p:spPr>
            <a:xfrm>
              <a:off x="595122" y="682942"/>
              <a:ext cx="685247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本讲地图：三条能力带 —— 你现在在哪？</a:t>
              </a:r>
            </a:p>
          </p:txBody>
        </p:sp>
        <p:sp>
          <p:nvSpPr>
            <p:cNvPr id="50" name="Rectangle 4">
              <a:extLst>
                <a:ext uri="{FF2B5EF4-FFF2-40B4-BE49-F238E27FC236}">
                  <a16:creationId xmlns:a16="http://schemas.microsoft.com/office/drawing/2014/main" id="{678260D2-1EF1-7CE8-21A7-7C70060A13CE}"/>
                </a:ext>
              </a:extLst>
            </p:cNvPr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51" name="Group 59">
            <a:extLst>
              <a:ext uri="{FF2B5EF4-FFF2-40B4-BE49-F238E27FC236}">
                <a16:creationId xmlns:a16="http://schemas.microsoft.com/office/drawing/2014/main" id="{FC0CA560-30C6-FC15-6EEA-13C6B22BE6CC}"/>
              </a:ext>
            </a:extLst>
          </p:cNvPr>
          <p:cNvGrpSpPr/>
          <p:nvPr/>
        </p:nvGrpSpPr>
        <p:grpSpPr>
          <a:xfrm>
            <a:off x="1047750" y="1905000"/>
            <a:ext cx="10096500" cy="4248150"/>
            <a:chOff x="1047750" y="1905000"/>
            <a:chExt cx="10096500" cy="4248150"/>
          </a:xfrm>
        </p:grpSpPr>
        <p:sp>
          <p:nvSpPr>
            <p:cNvPr id="52" name="Rectangle 6">
              <a:extLst>
                <a:ext uri="{FF2B5EF4-FFF2-40B4-BE49-F238E27FC236}">
                  <a16:creationId xmlns:a16="http://schemas.microsoft.com/office/drawing/2014/main" id="{621D9098-7D10-97E8-034A-0937479835F9}"/>
                </a:ext>
              </a:extLst>
            </p:cNvPr>
            <p:cNvSpPr/>
            <p:nvPr/>
          </p:nvSpPr>
          <p:spPr>
            <a:xfrm>
              <a:off x="1047750" y="1905000"/>
              <a:ext cx="10096500" cy="381000"/>
            </a:xfrm>
            <a:prstGeom prst="roundRect">
              <a:avLst>
                <a:gd name="adj" fmla="val 7500"/>
              </a:avLst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53" name="TextBox 7">
              <a:extLst>
                <a:ext uri="{FF2B5EF4-FFF2-40B4-BE49-F238E27FC236}">
                  <a16:creationId xmlns:a16="http://schemas.microsoft.com/office/drawing/2014/main" id="{218CB7FE-BC30-DE76-4D3F-8F5C505C0AAE}"/>
                </a:ext>
              </a:extLst>
            </p:cNvPr>
            <p:cNvSpPr txBox="1"/>
            <p:nvPr/>
          </p:nvSpPr>
          <p:spPr>
            <a:xfrm>
              <a:off x="4201946" y="2033826"/>
              <a:ext cx="3788108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1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本讲地图：三条能力带 —— 先守地基，再练主线，后升系统思维</a:t>
              </a:r>
            </a:p>
          </p:txBody>
        </p:sp>
        <p:sp>
          <p:nvSpPr>
            <p:cNvPr id="54" name="Rectangle 8">
              <a:extLst>
                <a:ext uri="{FF2B5EF4-FFF2-40B4-BE49-F238E27FC236}">
                  <a16:creationId xmlns:a16="http://schemas.microsoft.com/office/drawing/2014/main" id="{F99EAEDF-074C-D053-26AF-4531C8E04039}"/>
                </a:ext>
              </a:extLst>
            </p:cNvPr>
            <p:cNvSpPr/>
            <p:nvPr/>
          </p:nvSpPr>
          <p:spPr>
            <a:xfrm>
              <a:off x="1047750" y="2400300"/>
              <a:ext cx="2762250" cy="3143250"/>
            </a:xfrm>
            <a:prstGeom prst="roundRect">
              <a:avLst>
                <a:gd name="adj" fmla="val 1034"/>
              </a:avLst>
            </a:prstGeom>
            <a:solidFill>
              <a:srgbClr val="FFFFFF"/>
            </a:solidFill>
            <a:ln w="11430">
              <a:solidFill>
                <a:srgbClr val="999999"/>
              </a:solidFill>
            </a:ln>
          </p:spPr>
        </p:sp>
        <p:sp>
          <p:nvSpPr>
            <p:cNvPr id="55" name="Rectangle 9">
              <a:extLst>
                <a:ext uri="{FF2B5EF4-FFF2-40B4-BE49-F238E27FC236}">
                  <a16:creationId xmlns:a16="http://schemas.microsoft.com/office/drawing/2014/main" id="{AAC116F9-2E51-FD6F-1380-115D5D179631}"/>
                </a:ext>
              </a:extLst>
            </p:cNvPr>
            <p:cNvSpPr/>
            <p:nvPr/>
          </p:nvSpPr>
          <p:spPr>
            <a:xfrm>
              <a:off x="1047750" y="2400300"/>
              <a:ext cx="2762250" cy="57150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</p:spPr>
        </p:sp>
        <p:sp>
          <p:nvSpPr>
            <p:cNvPr id="56" name="TextBox 10">
              <a:extLst>
                <a:ext uri="{FF2B5EF4-FFF2-40B4-BE49-F238E27FC236}">
                  <a16:creationId xmlns:a16="http://schemas.microsoft.com/office/drawing/2014/main" id="{0412B7BC-A051-7FD7-8B76-32B8ECB74838}"/>
                </a:ext>
              </a:extLst>
            </p:cNvPr>
            <p:cNvSpPr txBox="1"/>
            <p:nvPr/>
          </p:nvSpPr>
          <p:spPr>
            <a:xfrm>
              <a:off x="1783568" y="2591752"/>
              <a:ext cx="129061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① 地基 · CS 基本功</a:t>
              </a:r>
            </a:p>
          </p:txBody>
        </p:sp>
        <p:sp>
          <p:nvSpPr>
            <p:cNvPr id="57" name="TextBox 11">
              <a:extLst>
                <a:ext uri="{FF2B5EF4-FFF2-40B4-BE49-F238E27FC236}">
                  <a16:creationId xmlns:a16="http://schemas.microsoft.com/office/drawing/2014/main" id="{19B4E2C2-24E5-2258-032A-2246FF3DFB69}"/>
                </a:ext>
              </a:extLst>
            </p:cNvPr>
            <p:cNvSpPr txBox="1"/>
            <p:nvPr/>
          </p:nvSpPr>
          <p:spPr>
            <a:xfrm>
              <a:off x="2037753" y="2825591"/>
              <a:ext cx="78224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（不变的核心）</a:t>
              </a:r>
            </a:p>
          </p:txBody>
        </p:sp>
        <p:sp>
          <p:nvSpPr>
            <p:cNvPr id="58" name="TextBox 12">
              <a:extLst>
                <a:ext uri="{FF2B5EF4-FFF2-40B4-BE49-F238E27FC236}">
                  <a16:creationId xmlns:a16="http://schemas.microsoft.com/office/drawing/2014/main" id="{D68C7DD5-D7A5-A926-6C5D-A84BF4D56EA6}"/>
                </a:ext>
              </a:extLst>
            </p:cNvPr>
            <p:cNvSpPr txBox="1"/>
            <p:nvPr/>
          </p:nvSpPr>
          <p:spPr>
            <a:xfrm>
              <a:off x="1827881" y="3164443"/>
              <a:ext cx="1201989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编程 · 数据结构 · 算法</a:t>
              </a:r>
            </a:p>
          </p:txBody>
        </p:sp>
        <p:sp>
          <p:nvSpPr>
            <p:cNvPr id="59" name="Rectangle 13">
              <a:extLst>
                <a:ext uri="{FF2B5EF4-FFF2-40B4-BE49-F238E27FC236}">
                  <a16:creationId xmlns:a16="http://schemas.microsoft.com/office/drawing/2014/main" id="{5BD7BF1C-1E4A-5D53-F126-EDD312744636}"/>
                </a:ext>
              </a:extLst>
            </p:cNvPr>
            <p:cNvSpPr/>
            <p:nvPr/>
          </p:nvSpPr>
          <p:spPr>
            <a:xfrm>
              <a:off x="1238250" y="3209925"/>
              <a:ext cx="66675" cy="66675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60" name="TextBox 14">
              <a:extLst>
                <a:ext uri="{FF2B5EF4-FFF2-40B4-BE49-F238E27FC236}">
                  <a16:creationId xmlns:a16="http://schemas.microsoft.com/office/drawing/2014/main" id="{884BE79E-9238-55EC-2DF2-7B325FCCE81E}"/>
                </a:ext>
              </a:extLst>
            </p:cNvPr>
            <p:cNvSpPr txBox="1"/>
            <p:nvPr/>
          </p:nvSpPr>
          <p:spPr>
            <a:xfrm>
              <a:off x="1885767" y="3450193"/>
              <a:ext cx="1086216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系统 · 网络 · 数据库</a:t>
              </a:r>
            </a:p>
          </p:txBody>
        </p:sp>
        <p:sp>
          <p:nvSpPr>
            <p:cNvPr id="61" name="Rectangle 15">
              <a:extLst>
                <a:ext uri="{FF2B5EF4-FFF2-40B4-BE49-F238E27FC236}">
                  <a16:creationId xmlns:a16="http://schemas.microsoft.com/office/drawing/2014/main" id="{7752A4DE-6C8B-7919-90AB-7B2192D6617C}"/>
                </a:ext>
              </a:extLst>
            </p:cNvPr>
            <p:cNvSpPr/>
            <p:nvPr/>
          </p:nvSpPr>
          <p:spPr>
            <a:xfrm>
              <a:off x="1238250" y="3495675"/>
              <a:ext cx="66675" cy="66675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62" name="TextBox 16">
              <a:extLst>
                <a:ext uri="{FF2B5EF4-FFF2-40B4-BE49-F238E27FC236}">
                  <a16:creationId xmlns:a16="http://schemas.microsoft.com/office/drawing/2014/main" id="{3960EA69-7664-AE95-04C6-B8042707EC09}"/>
                </a:ext>
              </a:extLst>
            </p:cNvPr>
            <p:cNvSpPr txBox="1"/>
            <p:nvPr/>
          </p:nvSpPr>
          <p:spPr>
            <a:xfrm>
              <a:off x="1885767" y="3735943"/>
              <a:ext cx="1086216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测试 · 调试 · 工程化</a:t>
              </a:r>
            </a:p>
          </p:txBody>
        </p:sp>
        <p:sp>
          <p:nvSpPr>
            <p:cNvPr id="63" name="Rectangle 17">
              <a:extLst>
                <a:ext uri="{FF2B5EF4-FFF2-40B4-BE49-F238E27FC236}">
                  <a16:creationId xmlns:a16="http://schemas.microsoft.com/office/drawing/2014/main" id="{100FEBC9-9675-2874-4C86-CBAF4964137B}"/>
                </a:ext>
              </a:extLst>
            </p:cNvPr>
            <p:cNvSpPr/>
            <p:nvPr/>
          </p:nvSpPr>
          <p:spPr>
            <a:xfrm>
              <a:off x="1238250" y="3781425"/>
              <a:ext cx="66675" cy="66675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64" name="TextBox 18">
              <a:extLst>
                <a:ext uri="{FF2B5EF4-FFF2-40B4-BE49-F238E27FC236}">
                  <a16:creationId xmlns:a16="http://schemas.microsoft.com/office/drawing/2014/main" id="{7215CDA9-88AE-07FA-8387-C67C35DED069}"/>
                </a:ext>
              </a:extLst>
            </p:cNvPr>
            <p:cNvSpPr txBox="1"/>
            <p:nvPr/>
          </p:nvSpPr>
          <p:spPr>
            <a:xfrm>
              <a:off x="2010223" y="4021693"/>
              <a:ext cx="837303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读代码 · 架构感</a:t>
              </a:r>
            </a:p>
          </p:txBody>
        </p:sp>
        <p:sp>
          <p:nvSpPr>
            <p:cNvPr id="65" name="Rectangle 19">
              <a:extLst>
                <a:ext uri="{FF2B5EF4-FFF2-40B4-BE49-F238E27FC236}">
                  <a16:creationId xmlns:a16="http://schemas.microsoft.com/office/drawing/2014/main" id="{E9A88CB0-E4BE-2411-9C19-EE74682BA9F4}"/>
                </a:ext>
              </a:extLst>
            </p:cNvPr>
            <p:cNvSpPr/>
            <p:nvPr/>
          </p:nvSpPr>
          <p:spPr>
            <a:xfrm>
              <a:off x="1238250" y="4067175"/>
              <a:ext cx="66675" cy="66675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66" name="Rectangle 20">
              <a:extLst>
                <a:ext uri="{FF2B5EF4-FFF2-40B4-BE49-F238E27FC236}">
                  <a16:creationId xmlns:a16="http://schemas.microsoft.com/office/drawing/2014/main" id="{023850DD-3F73-34F2-27B6-C635175D671A}"/>
                </a:ext>
              </a:extLst>
            </p:cNvPr>
            <p:cNvSpPr/>
            <p:nvPr/>
          </p:nvSpPr>
          <p:spPr>
            <a:xfrm>
              <a:off x="1200150" y="4686300"/>
              <a:ext cx="2457450" cy="628650"/>
            </a:xfrm>
            <a:prstGeom prst="roundRect">
              <a:avLst>
                <a:gd name="adj" fmla="val 4545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67" name="TextBox 21">
              <a:extLst>
                <a:ext uri="{FF2B5EF4-FFF2-40B4-BE49-F238E27FC236}">
                  <a16:creationId xmlns:a16="http://schemas.microsoft.com/office/drawing/2014/main" id="{70C8A2C6-31FF-9126-FE75-D5806492E9EB}"/>
                </a:ext>
              </a:extLst>
            </p:cNvPr>
            <p:cNvSpPr txBox="1"/>
            <p:nvPr/>
          </p:nvSpPr>
          <p:spPr>
            <a:xfrm>
              <a:off x="1770751" y="4836795"/>
              <a:ext cx="131624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AI 越快，越需要判断力</a:t>
              </a:r>
            </a:p>
          </p:txBody>
        </p:sp>
        <p:sp>
          <p:nvSpPr>
            <p:cNvPr id="68" name="TextBox 22">
              <a:extLst>
                <a:ext uri="{FF2B5EF4-FFF2-40B4-BE49-F238E27FC236}">
                  <a16:creationId xmlns:a16="http://schemas.microsoft.com/office/drawing/2014/main" id="{4059E043-B444-C451-88C4-122320A1D086}"/>
                </a:ext>
              </a:extLst>
            </p:cNvPr>
            <p:cNvSpPr txBox="1"/>
            <p:nvPr/>
          </p:nvSpPr>
          <p:spPr>
            <a:xfrm>
              <a:off x="1903133" y="5069443"/>
              <a:ext cx="1051484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地基只会越来越值钱</a:t>
              </a:r>
            </a:p>
          </p:txBody>
        </p:sp>
        <p:sp>
          <p:nvSpPr>
            <p:cNvPr id="69" name="Rectangle 23">
              <a:extLst>
                <a:ext uri="{FF2B5EF4-FFF2-40B4-BE49-F238E27FC236}">
                  <a16:creationId xmlns:a16="http://schemas.microsoft.com/office/drawing/2014/main" id="{A34104AF-0C1F-4C32-143A-A80C66F095C1}"/>
                </a:ext>
              </a:extLst>
            </p:cNvPr>
            <p:cNvSpPr/>
            <p:nvPr/>
          </p:nvSpPr>
          <p:spPr>
            <a:xfrm>
              <a:off x="4000500" y="2400300"/>
              <a:ext cx="4762500" cy="3143250"/>
            </a:xfrm>
            <a:prstGeom prst="roundRect">
              <a:avLst>
                <a:gd name="adj" fmla="val 909"/>
              </a:avLst>
            </a:prstGeom>
            <a:solidFill>
              <a:srgbClr val="FFFFFF"/>
            </a:solidFill>
            <a:ln w="19050">
              <a:solidFill>
                <a:srgbClr val="E30613"/>
              </a:solidFill>
            </a:ln>
          </p:spPr>
        </p:sp>
        <p:sp>
          <p:nvSpPr>
            <p:cNvPr id="70" name="Rectangle 24">
              <a:extLst>
                <a:ext uri="{FF2B5EF4-FFF2-40B4-BE49-F238E27FC236}">
                  <a16:creationId xmlns:a16="http://schemas.microsoft.com/office/drawing/2014/main" id="{383B9C2F-36CF-7330-92FE-1FF00C1760C4}"/>
                </a:ext>
              </a:extLst>
            </p:cNvPr>
            <p:cNvSpPr/>
            <p:nvPr/>
          </p:nvSpPr>
          <p:spPr>
            <a:xfrm>
              <a:off x="4000500" y="2400300"/>
              <a:ext cx="47625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71" name="TextBox 25">
              <a:extLst>
                <a:ext uri="{FF2B5EF4-FFF2-40B4-BE49-F238E27FC236}">
                  <a16:creationId xmlns:a16="http://schemas.microsoft.com/office/drawing/2014/main" id="{0C8D78FB-1CC0-C922-65C6-AFDD10CDCD68}"/>
                </a:ext>
              </a:extLst>
            </p:cNvPr>
            <p:cNvSpPr txBox="1"/>
            <p:nvPr/>
          </p:nvSpPr>
          <p:spPr>
            <a:xfrm>
              <a:off x="5242678" y="2587704"/>
              <a:ext cx="2278145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9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② 主线 · 让 AI 干活（本讲主体）</a:t>
              </a:r>
            </a:p>
          </p:txBody>
        </p:sp>
        <p:sp>
          <p:nvSpPr>
            <p:cNvPr id="72" name="Rectangle 26">
              <a:extLst>
                <a:ext uri="{FF2B5EF4-FFF2-40B4-BE49-F238E27FC236}">
                  <a16:creationId xmlns:a16="http://schemas.microsoft.com/office/drawing/2014/main" id="{CA878B68-75B1-FAC2-4AA9-AAA677F82723}"/>
                </a:ext>
              </a:extLst>
            </p:cNvPr>
            <p:cNvSpPr/>
            <p:nvPr/>
          </p:nvSpPr>
          <p:spPr>
            <a:xfrm>
              <a:off x="4210050" y="3009900"/>
              <a:ext cx="4343400" cy="381000"/>
            </a:xfrm>
            <a:prstGeom prst="roundRect">
              <a:avLst>
                <a:gd name="adj" fmla="val 7500"/>
              </a:avLst>
            </a:prstGeom>
            <a:solidFill>
              <a:srgbClr val="F5F5F5"/>
            </a:solidFill>
            <a:ln w="9525">
              <a:solidFill>
                <a:srgbClr val="DDDDDD"/>
              </a:solidFill>
            </a:ln>
          </p:spPr>
        </p:sp>
        <p:sp>
          <p:nvSpPr>
            <p:cNvPr id="73" name="TextBox 27">
              <a:extLst>
                <a:ext uri="{FF2B5EF4-FFF2-40B4-BE49-F238E27FC236}">
                  <a16:creationId xmlns:a16="http://schemas.microsoft.com/office/drawing/2014/main" id="{DF0A91E6-FCC1-4571-58D4-89D23116F109}"/>
                </a:ext>
              </a:extLst>
            </p:cNvPr>
            <p:cNvSpPr txBox="1"/>
            <p:nvPr/>
          </p:nvSpPr>
          <p:spPr>
            <a:xfrm>
              <a:off x="4395788" y="3160395"/>
              <a:ext cx="97025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① 告诉 Directing</a:t>
              </a:r>
            </a:p>
          </p:txBody>
        </p:sp>
        <p:sp>
          <p:nvSpPr>
            <p:cNvPr id="74" name="TextBox 28">
              <a:extLst>
                <a:ext uri="{FF2B5EF4-FFF2-40B4-BE49-F238E27FC236}">
                  <a16:creationId xmlns:a16="http://schemas.microsoft.com/office/drawing/2014/main" id="{A5E2797C-F31A-B5BC-EEF5-AC71FFA1DF10}"/>
                </a:ext>
              </a:extLst>
            </p:cNvPr>
            <p:cNvSpPr txBox="1"/>
            <p:nvPr/>
          </p:nvSpPr>
          <p:spPr>
            <a:xfrm>
              <a:off x="5938838" y="3168491"/>
              <a:ext cx="168190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把「要什么」说清楚 · 给验收标准</a:t>
              </a:r>
            </a:p>
          </p:txBody>
        </p:sp>
        <p:sp>
          <p:nvSpPr>
            <p:cNvPr id="75" name="Rectangle 29">
              <a:extLst>
                <a:ext uri="{FF2B5EF4-FFF2-40B4-BE49-F238E27FC236}">
                  <a16:creationId xmlns:a16="http://schemas.microsoft.com/office/drawing/2014/main" id="{D39AEA24-A38D-3C4F-E808-E4D4F55910CA}"/>
                </a:ext>
              </a:extLst>
            </p:cNvPr>
            <p:cNvSpPr/>
            <p:nvPr/>
          </p:nvSpPr>
          <p:spPr>
            <a:xfrm>
              <a:off x="4210050" y="3467100"/>
              <a:ext cx="4343400" cy="381000"/>
            </a:xfrm>
            <a:prstGeom prst="roundRect">
              <a:avLst>
                <a:gd name="adj" fmla="val 7500"/>
              </a:avLst>
            </a:prstGeom>
            <a:solidFill>
              <a:srgbClr val="F5F5F5"/>
            </a:solidFill>
            <a:ln w="9525">
              <a:solidFill>
                <a:srgbClr val="DDDDDD"/>
              </a:solidFill>
            </a:ln>
          </p:spPr>
        </p:sp>
        <p:sp>
          <p:nvSpPr>
            <p:cNvPr id="76" name="TextBox 30">
              <a:extLst>
                <a:ext uri="{FF2B5EF4-FFF2-40B4-BE49-F238E27FC236}">
                  <a16:creationId xmlns:a16="http://schemas.microsoft.com/office/drawing/2014/main" id="{E36C5FB5-0B04-EA56-30B8-D174FB1667C5}"/>
                </a:ext>
              </a:extLst>
            </p:cNvPr>
            <p:cNvSpPr txBox="1"/>
            <p:nvPr/>
          </p:nvSpPr>
          <p:spPr>
            <a:xfrm>
              <a:off x="4395788" y="3617595"/>
              <a:ext cx="9005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② 放手 Enabling</a:t>
              </a:r>
            </a:p>
          </p:txBody>
        </p:sp>
        <p:sp>
          <p:nvSpPr>
            <p:cNvPr id="77" name="TextBox 31">
              <a:extLst>
                <a:ext uri="{FF2B5EF4-FFF2-40B4-BE49-F238E27FC236}">
                  <a16:creationId xmlns:a16="http://schemas.microsoft.com/office/drawing/2014/main" id="{A24DEE4B-657B-EEC0-7288-C5377352B7D6}"/>
                </a:ext>
              </a:extLst>
            </p:cNvPr>
            <p:cNvSpPr txBox="1"/>
            <p:nvPr/>
          </p:nvSpPr>
          <p:spPr>
            <a:xfrm>
              <a:off x="5938838" y="3625691"/>
              <a:ext cx="146113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让它自己想办法 · 给反馈闭环</a:t>
              </a:r>
            </a:p>
          </p:txBody>
        </p:sp>
        <p:sp>
          <p:nvSpPr>
            <p:cNvPr id="78" name="Rectangle 32">
              <a:extLst>
                <a:ext uri="{FF2B5EF4-FFF2-40B4-BE49-F238E27FC236}">
                  <a16:creationId xmlns:a16="http://schemas.microsoft.com/office/drawing/2014/main" id="{3B6791C1-A1A2-E43B-18B1-454721DAC908}"/>
                </a:ext>
              </a:extLst>
            </p:cNvPr>
            <p:cNvSpPr/>
            <p:nvPr/>
          </p:nvSpPr>
          <p:spPr>
            <a:xfrm>
              <a:off x="4210050" y="3924300"/>
              <a:ext cx="4343400" cy="381000"/>
            </a:xfrm>
            <a:prstGeom prst="roundRect">
              <a:avLst>
                <a:gd name="adj" fmla="val 7500"/>
              </a:avLst>
            </a:prstGeom>
            <a:solidFill>
              <a:srgbClr val="F5F5F5"/>
            </a:solidFill>
            <a:ln w="9525">
              <a:solidFill>
                <a:srgbClr val="DDDDDD"/>
              </a:solidFill>
            </a:ln>
          </p:spPr>
        </p:sp>
        <p:sp>
          <p:nvSpPr>
            <p:cNvPr id="79" name="TextBox 33">
              <a:extLst>
                <a:ext uri="{FF2B5EF4-FFF2-40B4-BE49-F238E27FC236}">
                  <a16:creationId xmlns:a16="http://schemas.microsoft.com/office/drawing/2014/main" id="{C0732F28-831B-BC68-8153-76425EB7C095}"/>
                </a:ext>
              </a:extLst>
            </p:cNvPr>
            <p:cNvSpPr txBox="1"/>
            <p:nvPr/>
          </p:nvSpPr>
          <p:spPr>
            <a:xfrm>
              <a:off x="4395788" y="4074795"/>
              <a:ext cx="99585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③ 审查 Reviewing</a:t>
              </a:r>
            </a:p>
          </p:txBody>
        </p:sp>
        <p:sp>
          <p:nvSpPr>
            <p:cNvPr id="80" name="TextBox 34">
              <a:extLst>
                <a:ext uri="{FF2B5EF4-FFF2-40B4-BE49-F238E27FC236}">
                  <a16:creationId xmlns:a16="http://schemas.microsoft.com/office/drawing/2014/main" id="{A5376A56-D435-1917-A735-FA44194BBC8C}"/>
                </a:ext>
              </a:extLst>
            </p:cNvPr>
            <p:cNvSpPr txBox="1"/>
            <p:nvPr/>
          </p:nvSpPr>
          <p:spPr>
            <a:xfrm>
              <a:off x="5938838" y="4082891"/>
              <a:ext cx="157152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检查它做得对不对 · 不轻信输出</a:t>
              </a:r>
            </a:p>
          </p:txBody>
        </p:sp>
        <p:sp>
          <p:nvSpPr>
            <p:cNvPr id="81" name="Rectangle 35">
              <a:extLst>
                <a:ext uri="{FF2B5EF4-FFF2-40B4-BE49-F238E27FC236}">
                  <a16:creationId xmlns:a16="http://schemas.microsoft.com/office/drawing/2014/main" id="{B8213ECC-15FB-FEDE-281A-BC991B62B9C7}"/>
                </a:ext>
              </a:extLst>
            </p:cNvPr>
            <p:cNvSpPr/>
            <p:nvPr/>
          </p:nvSpPr>
          <p:spPr>
            <a:xfrm>
              <a:off x="4210050" y="4381500"/>
              <a:ext cx="4343400" cy="381000"/>
            </a:xfrm>
            <a:prstGeom prst="roundRect">
              <a:avLst>
                <a:gd name="adj" fmla="val 7500"/>
              </a:avLst>
            </a:prstGeom>
            <a:solidFill>
              <a:srgbClr val="F5F5F5"/>
            </a:solidFill>
            <a:ln w="9525">
              <a:solidFill>
                <a:srgbClr val="DDDDDD"/>
              </a:solidFill>
            </a:ln>
          </p:spPr>
        </p:sp>
        <p:sp>
          <p:nvSpPr>
            <p:cNvPr id="82" name="TextBox 36">
              <a:extLst>
                <a:ext uri="{FF2B5EF4-FFF2-40B4-BE49-F238E27FC236}">
                  <a16:creationId xmlns:a16="http://schemas.microsoft.com/office/drawing/2014/main" id="{D8A75773-004B-73A7-1B15-F1F098CE0D95}"/>
                </a:ext>
              </a:extLst>
            </p:cNvPr>
            <p:cNvSpPr txBox="1"/>
            <p:nvPr/>
          </p:nvSpPr>
          <p:spPr>
            <a:xfrm>
              <a:off x="4395788" y="4531995"/>
              <a:ext cx="113539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④ 定制 Customizing</a:t>
              </a:r>
            </a:p>
          </p:txBody>
        </p:sp>
        <p:sp>
          <p:nvSpPr>
            <p:cNvPr id="83" name="TextBox 37">
              <a:extLst>
                <a:ext uri="{FF2B5EF4-FFF2-40B4-BE49-F238E27FC236}">
                  <a16:creationId xmlns:a16="http://schemas.microsoft.com/office/drawing/2014/main" id="{A871338A-381E-827D-9EF3-C2B6960022F8}"/>
                </a:ext>
              </a:extLst>
            </p:cNvPr>
            <p:cNvSpPr txBox="1"/>
            <p:nvPr/>
          </p:nvSpPr>
          <p:spPr>
            <a:xfrm>
              <a:off x="5938838" y="4540091"/>
              <a:ext cx="165993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接上你的工具 · MCP · 最小权限</a:t>
              </a:r>
            </a:p>
          </p:txBody>
        </p:sp>
        <p:sp>
          <p:nvSpPr>
            <p:cNvPr id="84" name="Rectangle 38">
              <a:extLst>
                <a:ext uri="{FF2B5EF4-FFF2-40B4-BE49-F238E27FC236}">
                  <a16:creationId xmlns:a16="http://schemas.microsoft.com/office/drawing/2014/main" id="{5C93E8C9-36BF-A6E7-2829-51B32C6FA166}"/>
                </a:ext>
              </a:extLst>
            </p:cNvPr>
            <p:cNvSpPr/>
            <p:nvPr/>
          </p:nvSpPr>
          <p:spPr>
            <a:xfrm>
              <a:off x="4210050" y="4838700"/>
              <a:ext cx="4343400" cy="381000"/>
            </a:xfrm>
            <a:prstGeom prst="roundRect">
              <a:avLst>
                <a:gd name="adj" fmla="val 7500"/>
              </a:avLst>
            </a:prstGeom>
            <a:solidFill>
              <a:srgbClr val="F5F5F5"/>
            </a:solidFill>
            <a:ln w="9525">
              <a:solidFill>
                <a:srgbClr val="DDDDDD"/>
              </a:solidFill>
            </a:ln>
          </p:spPr>
        </p:sp>
        <p:sp>
          <p:nvSpPr>
            <p:cNvPr id="85" name="TextBox 39">
              <a:extLst>
                <a:ext uri="{FF2B5EF4-FFF2-40B4-BE49-F238E27FC236}">
                  <a16:creationId xmlns:a16="http://schemas.microsoft.com/office/drawing/2014/main" id="{DEAD1AE5-F8A5-EC11-1979-151117B802A8}"/>
                </a:ext>
              </a:extLst>
            </p:cNvPr>
            <p:cNvSpPr txBox="1"/>
            <p:nvPr/>
          </p:nvSpPr>
          <p:spPr>
            <a:xfrm>
              <a:off x="4395788" y="4989195"/>
              <a:ext cx="114178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⑤ 原理 Foundations</a:t>
              </a:r>
            </a:p>
          </p:txBody>
        </p:sp>
        <p:sp>
          <p:nvSpPr>
            <p:cNvPr id="86" name="TextBox 40">
              <a:extLst>
                <a:ext uri="{FF2B5EF4-FFF2-40B4-BE49-F238E27FC236}">
                  <a16:creationId xmlns:a16="http://schemas.microsoft.com/office/drawing/2014/main" id="{38D312D9-1A5D-3C21-2D74-B65E30BAA829}"/>
                </a:ext>
              </a:extLst>
            </p:cNvPr>
            <p:cNvSpPr txBox="1"/>
            <p:nvPr/>
          </p:nvSpPr>
          <p:spPr>
            <a:xfrm>
              <a:off x="5938838" y="4997291"/>
              <a:ext cx="136592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懂 Token/上下文/模型极限</a:t>
              </a:r>
            </a:p>
          </p:txBody>
        </p:sp>
        <p:sp>
          <p:nvSpPr>
            <p:cNvPr id="87" name="TextBox 41">
              <a:extLst>
                <a:ext uri="{FF2B5EF4-FFF2-40B4-BE49-F238E27FC236}">
                  <a16:creationId xmlns:a16="http://schemas.microsoft.com/office/drawing/2014/main" id="{931D683B-F4AE-D426-9F2E-F1374C59F696}"/>
                </a:ext>
              </a:extLst>
            </p:cNvPr>
            <p:cNvSpPr txBox="1"/>
            <p:nvPr/>
          </p:nvSpPr>
          <p:spPr>
            <a:xfrm>
              <a:off x="5499296" y="5378291"/>
              <a:ext cx="176490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＝ 下一页(P09)五个技能逐个展开</a:t>
              </a:r>
            </a:p>
          </p:txBody>
        </p:sp>
        <p:sp>
          <p:nvSpPr>
            <p:cNvPr id="88" name="Rectangle 42">
              <a:extLst>
                <a:ext uri="{FF2B5EF4-FFF2-40B4-BE49-F238E27FC236}">
                  <a16:creationId xmlns:a16="http://schemas.microsoft.com/office/drawing/2014/main" id="{862CA28F-BD0C-B1AB-6AFF-B353524EFFFC}"/>
                </a:ext>
              </a:extLst>
            </p:cNvPr>
            <p:cNvSpPr/>
            <p:nvPr/>
          </p:nvSpPr>
          <p:spPr>
            <a:xfrm>
              <a:off x="8953500" y="2400300"/>
              <a:ext cx="2190750" cy="3143250"/>
            </a:xfrm>
            <a:prstGeom prst="roundRect">
              <a:avLst>
                <a:gd name="adj" fmla="val 1304"/>
              </a:avLst>
            </a:prstGeom>
            <a:solidFill>
              <a:srgbClr val="FFFFFF"/>
            </a:solidFill>
            <a:ln w="11430">
              <a:solidFill>
                <a:srgbClr val="999999"/>
              </a:solidFill>
            </a:ln>
          </p:spPr>
        </p:sp>
        <p:sp>
          <p:nvSpPr>
            <p:cNvPr id="89" name="Rectangle 43">
              <a:extLst>
                <a:ext uri="{FF2B5EF4-FFF2-40B4-BE49-F238E27FC236}">
                  <a16:creationId xmlns:a16="http://schemas.microsoft.com/office/drawing/2014/main" id="{3B84D5F6-30BB-132C-76E3-B7435ABF4E8A}"/>
                </a:ext>
              </a:extLst>
            </p:cNvPr>
            <p:cNvSpPr/>
            <p:nvPr/>
          </p:nvSpPr>
          <p:spPr>
            <a:xfrm>
              <a:off x="8953500" y="2400300"/>
              <a:ext cx="219075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90" name="TextBox 44">
              <a:extLst>
                <a:ext uri="{FF2B5EF4-FFF2-40B4-BE49-F238E27FC236}">
                  <a16:creationId xmlns:a16="http://schemas.microsoft.com/office/drawing/2014/main" id="{EC87D227-BAA1-2275-810D-F8D9C70E5F57}"/>
                </a:ext>
              </a:extLst>
            </p:cNvPr>
            <p:cNvSpPr txBox="1"/>
            <p:nvPr/>
          </p:nvSpPr>
          <p:spPr>
            <a:xfrm>
              <a:off x="9509615" y="2580799"/>
              <a:ext cx="10785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③ 进阶 · 设计思维</a:t>
              </a:r>
            </a:p>
          </p:txBody>
        </p:sp>
        <p:sp>
          <p:nvSpPr>
            <p:cNvPr id="91" name="TextBox 45">
              <a:extLst>
                <a:ext uri="{FF2B5EF4-FFF2-40B4-BE49-F238E27FC236}">
                  <a16:creationId xmlns:a16="http://schemas.microsoft.com/office/drawing/2014/main" id="{8592D38F-F369-B049-7C01-79D42A1320AA}"/>
                </a:ext>
              </a:extLst>
            </p:cNvPr>
            <p:cNvSpPr txBox="1"/>
            <p:nvPr/>
          </p:nvSpPr>
          <p:spPr>
            <a:xfrm>
              <a:off x="9696793" y="2954893"/>
              <a:ext cx="704164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把大问题切小</a:t>
              </a:r>
            </a:p>
          </p:txBody>
        </p:sp>
        <p:sp>
          <p:nvSpPr>
            <p:cNvPr id="92" name="Rectangle 46">
              <a:extLst>
                <a:ext uri="{FF2B5EF4-FFF2-40B4-BE49-F238E27FC236}">
                  <a16:creationId xmlns:a16="http://schemas.microsoft.com/office/drawing/2014/main" id="{2B6B27F7-4EF1-3AFE-AA4E-60A0AD712979}"/>
                </a:ext>
              </a:extLst>
            </p:cNvPr>
            <p:cNvSpPr/>
            <p:nvPr/>
          </p:nvSpPr>
          <p:spPr>
            <a:xfrm>
              <a:off x="9144000" y="2990850"/>
              <a:ext cx="66675" cy="66675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93" name="TextBox 47">
              <a:extLst>
                <a:ext uri="{FF2B5EF4-FFF2-40B4-BE49-F238E27FC236}">
                  <a16:creationId xmlns:a16="http://schemas.microsoft.com/office/drawing/2014/main" id="{3D3D5334-08E4-74FA-840D-3884A8D7F785}"/>
                </a:ext>
              </a:extLst>
            </p:cNvPr>
            <p:cNvSpPr txBox="1"/>
            <p:nvPr/>
          </p:nvSpPr>
          <p:spPr>
            <a:xfrm>
              <a:off x="9696793" y="3259693"/>
              <a:ext cx="704164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定接口与边界</a:t>
              </a:r>
            </a:p>
          </p:txBody>
        </p:sp>
        <p:sp>
          <p:nvSpPr>
            <p:cNvPr id="94" name="Rectangle 48">
              <a:extLst>
                <a:ext uri="{FF2B5EF4-FFF2-40B4-BE49-F238E27FC236}">
                  <a16:creationId xmlns:a16="http://schemas.microsoft.com/office/drawing/2014/main" id="{BBBE7F62-B168-0EA4-CA7A-772B35BE72D4}"/>
                </a:ext>
              </a:extLst>
            </p:cNvPr>
            <p:cNvSpPr/>
            <p:nvPr/>
          </p:nvSpPr>
          <p:spPr>
            <a:xfrm>
              <a:off x="9144000" y="3295650"/>
              <a:ext cx="66675" cy="66675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95" name="TextBox 49">
              <a:extLst>
                <a:ext uri="{FF2B5EF4-FFF2-40B4-BE49-F238E27FC236}">
                  <a16:creationId xmlns:a16="http://schemas.microsoft.com/office/drawing/2014/main" id="{D002C47B-B051-CE00-C8F0-5DE28BB1A3BC}"/>
                </a:ext>
              </a:extLst>
            </p:cNvPr>
            <p:cNvSpPr txBox="1"/>
            <p:nvPr/>
          </p:nvSpPr>
          <p:spPr>
            <a:xfrm>
              <a:off x="9581020" y="3564493"/>
              <a:ext cx="935711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容错：失败要兜底</a:t>
              </a:r>
            </a:p>
          </p:txBody>
        </p:sp>
        <p:sp>
          <p:nvSpPr>
            <p:cNvPr id="96" name="Rectangle 50">
              <a:extLst>
                <a:ext uri="{FF2B5EF4-FFF2-40B4-BE49-F238E27FC236}">
                  <a16:creationId xmlns:a16="http://schemas.microsoft.com/office/drawing/2014/main" id="{AD9E974D-8C1C-01E2-3F57-7B69D0E6BD37}"/>
                </a:ext>
              </a:extLst>
            </p:cNvPr>
            <p:cNvSpPr/>
            <p:nvPr/>
          </p:nvSpPr>
          <p:spPr>
            <a:xfrm>
              <a:off x="9144000" y="3600450"/>
              <a:ext cx="66675" cy="66675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97" name="TextBox 51">
              <a:extLst>
                <a:ext uri="{FF2B5EF4-FFF2-40B4-BE49-F238E27FC236}">
                  <a16:creationId xmlns:a16="http://schemas.microsoft.com/office/drawing/2014/main" id="{DB835AB4-C991-AF06-8246-838A42F04BA5}"/>
                </a:ext>
              </a:extLst>
            </p:cNvPr>
            <p:cNvSpPr txBox="1"/>
            <p:nvPr/>
          </p:nvSpPr>
          <p:spPr>
            <a:xfrm>
              <a:off x="9638906" y="3869293"/>
              <a:ext cx="819937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成本与评估意识</a:t>
              </a:r>
            </a:p>
          </p:txBody>
        </p:sp>
        <p:sp>
          <p:nvSpPr>
            <p:cNvPr id="98" name="Rectangle 52">
              <a:extLst>
                <a:ext uri="{FF2B5EF4-FFF2-40B4-BE49-F238E27FC236}">
                  <a16:creationId xmlns:a16="http://schemas.microsoft.com/office/drawing/2014/main" id="{CE6AFD58-9B7F-7022-1FEA-58EF5355BD86}"/>
                </a:ext>
              </a:extLst>
            </p:cNvPr>
            <p:cNvSpPr/>
            <p:nvPr/>
          </p:nvSpPr>
          <p:spPr>
            <a:xfrm>
              <a:off x="9144000" y="3905250"/>
              <a:ext cx="66675" cy="66675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99" name="Rectangle 53">
              <a:extLst>
                <a:ext uri="{FF2B5EF4-FFF2-40B4-BE49-F238E27FC236}">
                  <a16:creationId xmlns:a16="http://schemas.microsoft.com/office/drawing/2014/main" id="{856FFF00-03AA-7792-72D6-E43B7A270733}"/>
                </a:ext>
              </a:extLst>
            </p:cNvPr>
            <p:cNvSpPr/>
            <p:nvPr/>
          </p:nvSpPr>
          <p:spPr>
            <a:xfrm>
              <a:off x="9105900" y="4572000"/>
              <a:ext cx="1885950" cy="742950"/>
            </a:xfrm>
            <a:prstGeom prst="roundRect">
              <a:avLst>
                <a:gd name="adj" fmla="val 3846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00" name="TextBox 54">
              <a:extLst>
                <a:ext uri="{FF2B5EF4-FFF2-40B4-BE49-F238E27FC236}">
                  <a16:creationId xmlns:a16="http://schemas.microsoft.com/office/drawing/2014/main" id="{7F1ECBCB-6369-1ABF-F75B-0846D506706F}"/>
                </a:ext>
              </a:extLst>
            </p:cNvPr>
            <p:cNvSpPr txBox="1"/>
            <p:nvPr/>
          </p:nvSpPr>
          <p:spPr>
            <a:xfrm>
              <a:off x="9812566" y="4726543"/>
              <a:ext cx="472618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别停在这</a:t>
              </a:r>
            </a:p>
          </p:txBody>
        </p:sp>
        <p:sp>
          <p:nvSpPr>
            <p:cNvPr id="101" name="TextBox 55">
              <a:extLst>
                <a:ext uri="{FF2B5EF4-FFF2-40B4-BE49-F238E27FC236}">
                  <a16:creationId xmlns:a16="http://schemas.microsoft.com/office/drawing/2014/main" id="{FA6741FD-177F-B014-3BFA-5C92EB210EF8}"/>
                </a:ext>
              </a:extLst>
            </p:cNvPr>
            <p:cNvSpPr txBox="1"/>
            <p:nvPr/>
          </p:nvSpPr>
          <p:spPr>
            <a:xfrm>
              <a:off x="9767100" y="4940141"/>
              <a:ext cx="56355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角色(P10)</a:t>
              </a:r>
            </a:p>
          </p:txBody>
        </p:sp>
        <p:sp>
          <p:nvSpPr>
            <p:cNvPr id="102" name="TextBox 56">
              <a:extLst>
                <a:ext uri="{FF2B5EF4-FFF2-40B4-BE49-F238E27FC236}">
                  <a16:creationId xmlns:a16="http://schemas.microsoft.com/office/drawing/2014/main" id="{0C006F0A-1CD8-298D-8440-DD059D987306}"/>
                </a:ext>
              </a:extLst>
            </p:cNvPr>
            <p:cNvSpPr txBox="1"/>
            <p:nvPr/>
          </p:nvSpPr>
          <p:spPr>
            <a:xfrm>
              <a:off x="9708782" y="5130641"/>
              <a:ext cx="68018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演进链(P06)</a:t>
              </a:r>
            </a:p>
          </p:txBody>
        </p:sp>
        <p:sp>
          <p:nvSpPr>
            <p:cNvPr id="103" name="Rectangle 57">
              <a:extLst>
                <a:ext uri="{FF2B5EF4-FFF2-40B4-BE49-F238E27FC236}">
                  <a16:creationId xmlns:a16="http://schemas.microsoft.com/office/drawing/2014/main" id="{AF00A175-6AAF-2DD3-0EE4-B8843C2CE601}"/>
                </a:ext>
              </a:extLst>
            </p:cNvPr>
            <p:cNvSpPr/>
            <p:nvPr/>
          </p:nvSpPr>
          <p:spPr>
            <a:xfrm>
              <a:off x="1047750" y="5715000"/>
              <a:ext cx="10096500" cy="438150"/>
            </a:xfrm>
            <a:prstGeom prst="roundRect">
              <a:avLst>
                <a:gd name="adj" fmla="val 6522"/>
              </a:avLst>
            </a:prstGeom>
            <a:solidFill>
              <a:srgbClr val="FFFFFF"/>
            </a:solidFill>
            <a:ln w="11430">
              <a:solidFill>
                <a:srgbClr val="E30613"/>
              </a:solidFill>
            </a:ln>
          </p:spPr>
        </p:sp>
        <p:sp>
          <p:nvSpPr>
            <p:cNvPr id="104" name="TextBox 58">
              <a:extLst>
                <a:ext uri="{FF2B5EF4-FFF2-40B4-BE49-F238E27FC236}">
                  <a16:creationId xmlns:a16="http://schemas.microsoft.com/office/drawing/2014/main" id="{184256B7-5A21-CD9B-2243-54D36DC55592}"/>
                </a:ext>
              </a:extLst>
            </p:cNvPr>
            <p:cNvSpPr txBox="1"/>
            <p:nvPr/>
          </p:nvSpPr>
          <p:spPr>
            <a:xfrm>
              <a:off x="3754939" y="5876449"/>
              <a:ext cx="468212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你现在在哪？有地基 → 直奔主线练五技能；想再进一步 → 补系统设计与工程范式</a:t>
              </a:r>
            </a:p>
          </p:txBody>
        </p:sp>
      </p:grpSp>
      <p:grpSp>
        <p:nvGrpSpPr>
          <p:cNvPr id="105" name="Group 63">
            <a:extLst>
              <a:ext uri="{FF2B5EF4-FFF2-40B4-BE49-F238E27FC236}">
                <a16:creationId xmlns:a16="http://schemas.microsoft.com/office/drawing/2014/main" id="{265AFF36-C845-3231-14BE-5187D2F592FA}"/>
              </a:ext>
            </a:extLst>
          </p:cNvPr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106" name="TextBox 60">
              <a:extLst>
                <a:ext uri="{FF2B5EF4-FFF2-40B4-BE49-F238E27FC236}">
                  <a16:creationId xmlns:a16="http://schemas.microsoft.com/office/drawing/2014/main" id="{784AE040-D81B-8C9F-54C5-2C3BF3D317F6}"/>
                </a:ext>
              </a:extLst>
            </p:cNvPr>
            <p:cNvSpPr txBox="1"/>
            <p:nvPr/>
          </p:nvSpPr>
          <p:spPr>
            <a:xfrm>
              <a:off x="604838" y="6613684"/>
              <a:ext cx="1063808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从 AI 使用者到 AI 架构师</a:t>
              </a:r>
            </a:p>
          </p:txBody>
        </p:sp>
        <p:sp>
          <p:nvSpPr>
            <p:cNvPr id="107" name="Rectangle 61">
              <a:extLst>
                <a:ext uri="{FF2B5EF4-FFF2-40B4-BE49-F238E27FC236}">
                  <a16:creationId xmlns:a16="http://schemas.microsoft.com/office/drawing/2014/main" id="{55AA7635-2A68-53A5-513A-C5B082CF9AC2}"/>
                </a:ext>
              </a:extLst>
            </p:cNvPr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08" name="TextBox 62">
              <a:extLst>
                <a:ext uri="{FF2B5EF4-FFF2-40B4-BE49-F238E27FC236}">
                  <a16:creationId xmlns:a16="http://schemas.microsoft.com/office/drawing/2014/main" id="{EE8D111A-E2B6-553D-188B-45C3996194F0}"/>
                </a:ext>
              </a:extLst>
            </p:cNvPr>
            <p:cNvSpPr txBox="1"/>
            <p:nvPr/>
          </p:nvSpPr>
          <p:spPr>
            <a:xfrm>
              <a:off x="10978421" y="6613684"/>
              <a:ext cx="2658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8 / 27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6509888" cy="738854"/>
            <a:chOff x="595122" y="501491"/>
            <a:chExt cx="6509888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02 · 技能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6509888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Coding Agent 五大核心技能（展开）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61" name="Group 61"/>
          <p:cNvGrpSpPr/>
          <p:nvPr/>
        </p:nvGrpSpPr>
        <p:grpSpPr>
          <a:xfrm>
            <a:off x="1047750" y="1866900"/>
            <a:ext cx="10096500" cy="4019550"/>
            <a:chOff x="1047750" y="1866900"/>
            <a:chExt cx="10096500" cy="4019550"/>
          </a:xfrm>
        </p:grpSpPr>
        <p:sp>
          <p:nvSpPr>
            <p:cNvPr id="6" name="Rectangle 6"/>
            <p:cNvSpPr/>
            <p:nvPr/>
          </p:nvSpPr>
          <p:spPr>
            <a:xfrm>
              <a:off x="1047750" y="1866900"/>
              <a:ext cx="10096500" cy="400050"/>
            </a:xfrm>
            <a:prstGeom prst="roundRect">
              <a:avLst>
                <a:gd name="adj" fmla="val 7143"/>
              </a:avLst>
            </a:prstGeom>
            <a:solidFill>
              <a:srgbClr val="F5F5F5"/>
            </a:solidFill>
            <a:ln w="9525">
              <a:solidFill>
                <a:srgbClr val="999999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4182958" y="2001202"/>
              <a:ext cx="38260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五大技能 × 人话翻译 —— 用一句大白话说清每个技能在干什么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1047750" y="2400300"/>
              <a:ext cx="1943100" cy="2667000"/>
            </a:xfrm>
            <a:prstGeom prst="roundRect">
              <a:avLst>
                <a:gd name="adj" fmla="val 1471"/>
              </a:avLst>
            </a:prstGeom>
            <a:solidFill>
              <a:srgbClr val="FFFFFF"/>
            </a:solidFill>
            <a:ln w="11430">
              <a:solidFill>
                <a:srgbClr val="999999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1047750" y="2400300"/>
              <a:ext cx="19431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308997" y="2580799"/>
              <a:ext cx="142060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① Directing workflow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77932" y="2832497"/>
              <a:ext cx="1282737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4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告诉 AI 到底要做什么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1200150" y="3105150"/>
              <a:ext cx="1638300" cy="9525"/>
            </a:xfrm>
            <a:custGeom>
              <a:avLst/>
              <a:gdLst/>
              <a:ahLst/>
              <a:cxnLst/>
              <a:rect l="l" t="t" r="r" b="b"/>
              <a:pathLst>
                <a:path w="1638300" h="9525">
                  <a:moveTo>
                    <a:pt x="0" y="0"/>
                  </a:moveTo>
                  <a:lnTo>
                    <a:pt x="16383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383464" y="3259693"/>
              <a:ext cx="1271671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Prompt 更精准而非更长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561930" y="3564493"/>
              <a:ext cx="914740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写清验收标准 AC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551445" y="3869293"/>
              <a:ext cx="935711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先讲清「要什么」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1047750" y="4572000"/>
              <a:ext cx="1943100" cy="381000"/>
            </a:xfrm>
            <a:prstGeom prst="roundRect">
              <a:avLst>
                <a:gd name="adj" fmla="val 7500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861641" y="4704874"/>
              <a:ext cx="31531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做 对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3086100" y="2400300"/>
              <a:ext cx="1943100" cy="2667000"/>
            </a:xfrm>
            <a:prstGeom prst="roundRect">
              <a:avLst>
                <a:gd name="adj" fmla="val 1471"/>
              </a:avLst>
            </a:prstGeom>
            <a:solidFill>
              <a:srgbClr val="FFFFFF"/>
            </a:solidFill>
            <a:ln w="11430">
              <a:solidFill>
                <a:srgbClr val="999999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3086100" y="2400300"/>
              <a:ext cx="19431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381954" y="2580799"/>
              <a:ext cx="135139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② Enabling autonomy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416282" y="2832497"/>
              <a:ext cx="1282737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4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让 AI 自己决定怎么做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3238500" y="3105150"/>
              <a:ext cx="1638300" cy="9525"/>
            </a:xfrm>
            <a:custGeom>
              <a:avLst/>
              <a:gdLst/>
              <a:ahLst/>
              <a:cxnLst/>
              <a:rect l="l" t="t" r="r" b="b"/>
              <a:pathLst>
                <a:path w="1638300" h="9525">
                  <a:moveTo>
                    <a:pt x="0" y="0"/>
                  </a:moveTo>
                  <a:lnTo>
                    <a:pt x="16383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564062" y="3259693"/>
              <a:ext cx="987175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给 Agent 决策空间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705568" y="3564493"/>
              <a:ext cx="704164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构建反馈闭环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647681" y="3869293"/>
              <a:ext cx="819937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让它越用越聪明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3086100" y="4572000"/>
              <a:ext cx="1943100" cy="381000"/>
            </a:xfrm>
            <a:prstGeom prst="roundRect">
              <a:avLst>
                <a:gd name="adj" fmla="val 7500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3899991" y="4704874"/>
              <a:ext cx="31531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做 对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124450" y="2400300"/>
              <a:ext cx="1943100" cy="2667000"/>
            </a:xfrm>
            <a:prstGeom prst="roundRect">
              <a:avLst>
                <a:gd name="adj" fmla="val 1471"/>
              </a:avLst>
            </a:prstGeom>
            <a:solidFill>
              <a:srgbClr val="FFFFFF"/>
            </a:solidFill>
            <a:ln w="11430">
              <a:solidFill>
                <a:srgbClr val="999999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5124450" y="2400300"/>
              <a:ext cx="19431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385551" y="2580799"/>
              <a:ext cx="142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③ Reviewing the work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521485" y="2832497"/>
              <a:ext cx="1149031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4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判断 AI 做得对不对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5276850" y="3105150"/>
              <a:ext cx="1638300" cy="9525"/>
            </a:xfrm>
            <a:custGeom>
              <a:avLst/>
              <a:gdLst/>
              <a:ahLst/>
              <a:cxnLst/>
              <a:rect l="l" t="t" r="r" b="b"/>
              <a:pathLst>
                <a:path w="1638300" h="9525">
                  <a:moveTo>
                    <a:pt x="0" y="0"/>
                  </a:moveTo>
                  <a:lnTo>
                    <a:pt x="16383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611194" y="3259693"/>
              <a:ext cx="969612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Agent 输出 ≠ 正确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743918" y="3564493"/>
              <a:ext cx="704164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建立评估框架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628145" y="3869293"/>
              <a:ext cx="935711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失败要能定位归因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124450" y="4572000"/>
              <a:ext cx="1943100" cy="381000"/>
            </a:xfrm>
            <a:prstGeom prst="roundRect">
              <a:avLst>
                <a:gd name="adj" fmla="val 7500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938341" y="4704874"/>
              <a:ext cx="31531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做 对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7162800" y="2400300"/>
              <a:ext cx="1943100" cy="2667000"/>
            </a:xfrm>
            <a:prstGeom prst="roundRect">
              <a:avLst>
                <a:gd name="adj" fmla="val 1471"/>
              </a:avLst>
            </a:prstGeom>
            <a:solidFill>
              <a:srgbClr val="FFFFFF"/>
            </a:solidFill>
            <a:ln w="11430">
              <a:solidFill>
                <a:srgbClr val="999999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7162800" y="2400300"/>
              <a:ext cx="19431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475702" y="2580799"/>
              <a:ext cx="131729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④ Customizing &amp; env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492982" y="2832497"/>
              <a:ext cx="1282737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4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给 AI 接上真正的工具</a:t>
              </a:r>
            </a:p>
          </p:txBody>
        </p:sp>
        <p:sp>
          <p:nvSpPr>
            <p:cNvPr id="42" name="Line 42"/>
            <p:cNvSpPr/>
            <p:nvPr/>
          </p:nvSpPr>
          <p:spPr>
            <a:xfrm>
              <a:off x="7315200" y="3105150"/>
              <a:ext cx="1638300" cy="9525"/>
            </a:xfrm>
            <a:custGeom>
              <a:avLst/>
              <a:gdLst/>
              <a:ahLst/>
              <a:cxnLst/>
              <a:rect l="l" t="t" r="r" b="b"/>
              <a:pathLst>
                <a:path w="1638300" h="9525">
                  <a:moveTo>
                    <a:pt x="0" y="0"/>
                  </a:moveTo>
                  <a:lnTo>
                    <a:pt x="16383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735085" y="3259693"/>
              <a:ext cx="798530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配置 MCP 服务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666495" y="3564493"/>
              <a:ext cx="935711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接入自定义工具链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840154" y="3869293"/>
              <a:ext cx="588391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权限最小化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7162800" y="4572000"/>
              <a:ext cx="1943100" cy="381000"/>
            </a:xfrm>
            <a:prstGeom prst="roundRect">
              <a:avLst>
                <a:gd name="adj" fmla="val 7500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976691" y="4704874"/>
              <a:ext cx="31531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做 对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9201150" y="2400300"/>
              <a:ext cx="1943100" cy="2667000"/>
            </a:xfrm>
            <a:prstGeom prst="roundRect">
              <a:avLst>
                <a:gd name="adj" fmla="val 1471"/>
              </a:avLst>
            </a:prstGeom>
            <a:solidFill>
              <a:srgbClr val="FFFFFF"/>
            </a:solidFill>
            <a:ln w="11430">
              <a:solidFill>
                <a:srgbClr val="999999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9201150" y="2400300"/>
              <a:ext cx="19431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9551293" y="2580799"/>
              <a:ext cx="124281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⑤ Foundations 原理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464479" y="2832497"/>
              <a:ext cx="1416442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4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知道 AI 为什么会这样做</a:t>
              </a:r>
            </a:p>
          </p:txBody>
        </p:sp>
        <p:sp>
          <p:nvSpPr>
            <p:cNvPr id="52" name="Line 52"/>
            <p:cNvSpPr/>
            <p:nvPr/>
          </p:nvSpPr>
          <p:spPr>
            <a:xfrm>
              <a:off x="9353550" y="3105150"/>
              <a:ext cx="1638300" cy="9525"/>
            </a:xfrm>
            <a:custGeom>
              <a:avLst/>
              <a:gdLst/>
              <a:ahLst/>
              <a:cxnLst/>
              <a:rect l="l" t="t" r="r" b="b"/>
              <a:pathLst>
                <a:path w="1638300" h="9525">
                  <a:moveTo>
                    <a:pt x="0" y="0"/>
                  </a:moveTo>
                  <a:lnTo>
                    <a:pt x="16383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9696675" y="3259693"/>
              <a:ext cx="952050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Token 与成本意识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762731" y="3564493"/>
              <a:ext cx="819937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上下文窗口边界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704845" y="3869293"/>
              <a:ext cx="935711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知道模型能力极限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9201150" y="4572000"/>
              <a:ext cx="1943100" cy="381000"/>
            </a:xfrm>
            <a:prstGeom prst="roundRect">
              <a:avLst>
                <a:gd name="adj" fmla="val 7500"/>
              </a:avLst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10015041" y="4704874"/>
              <a:ext cx="31531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做 对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1047750" y="5257800"/>
              <a:ext cx="10096500" cy="628650"/>
            </a:xfrm>
            <a:prstGeom prst="roundRect">
              <a:avLst>
                <a:gd name="adj" fmla="val 4545"/>
              </a:avLst>
            </a:prstGeom>
            <a:solidFill>
              <a:srgbClr val="FFFFFF"/>
            </a:solidFill>
            <a:ln w="11430">
              <a:solidFill>
                <a:srgbClr val="E30613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3659034" y="5403056"/>
              <a:ext cx="487393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以前程序员最重要的是写得出来；以后程序员最重要的是让 AI 做得对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4253271" y="5664041"/>
              <a:ext cx="368545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五技能闭环：告诉 → 授权 → 审查 → 定制 → 懂原理 —— 缺「审查」，等于裸奔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62" name="TextBox 62"/>
            <p:cNvSpPr txBox="1"/>
            <p:nvPr/>
          </p:nvSpPr>
          <p:spPr>
            <a:xfrm>
              <a:off x="604838" y="6613684"/>
              <a:ext cx="1063808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从 AI 使用者到 AI 架构师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10978421" y="6613684"/>
              <a:ext cx="2658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9 / 27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roup 5">
            <a:extLst>
              <a:ext uri="{FF2B5EF4-FFF2-40B4-BE49-F238E27FC236}">
                <a16:creationId xmlns:a16="http://schemas.microsoft.com/office/drawing/2014/main" id="{9E9CF4B9-5932-575F-8BD8-134746775175}"/>
              </a:ext>
            </a:extLst>
          </p:cNvPr>
          <p:cNvGrpSpPr/>
          <p:nvPr/>
        </p:nvGrpSpPr>
        <p:grpSpPr>
          <a:xfrm>
            <a:off x="595122" y="501491"/>
            <a:ext cx="6023753" cy="738854"/>
            <a:chOff x="595122" y="501491"/>
            <a:chExt cx="6023753" cy="738854"/>
          </a:xfrm>
        </p:grpSpPr>
        <p:sp>
          <p:nvSpPr>
            <p:cNvPr id="73" name="TextBox 2">
              <a:extLst>
                <a:ext uri="{FF2B5EF4-FFF2-40B4-BE49-F238E27FC236}">
                  <a16:creationId xmlns:a16="http://schemas.microsoft.com/office/drawing/2014/main" id="{55056D7B-00E4-CDDB-A9B3-40598BA93223}"/>
                </a:ext>
              </a:extLst>
            </p:cNvPr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03 · 角色</a:t>
              </a:r>
            </a:p>
          </p:txBody>
        </p:sp>
        <p:sp>
          <p:nvSpPr>
            <p:cNvPr id="74" name="TextBox 3">
              <a:extLst>
                <a:ext uri="{FF2B5EF4-FFF2-40B4-BE49-F238E27FC236}">
                  <a16:creationId xmlns:a16="http://schemas.microsoft.com/office/drawing/2014/main" id="{D184A9A1-3C81-C653-8D8E-89B35D5001C8}"/>
                </a:ext>
              </a:extLst>
            </p:cNvPr>
            <p:cNvSpPr txBox="1"/>
            <p:nvPr/>
          </p:nvSpPr>
          <p:spPr>
            <a:xfrm>
              <a:off x="595122" y="682942"/>
              <a:ext cx="6023753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新兴职业角色：2026 最抢手的人才</a:t>
              </a:r>
            </a:p>
          </p:txBody>
        </p:sp>
        <p:sp>
          <p:nvSpPr>
            <p:cNvPr id="75" name="Rectangle 4">
              <a:extLst>
                <a:ext uri="{FF2B5EF4-FFF2-40B4-BE49-F238E27FC236}">
                  <a16:creationId xmlns:a16="http://schemas.microsoft.com/office/drawing/2014/main" id="{AF448A42-9ECE-BF0B-0D59-24C2B81FC763}"/>
                </a:ext>
              </a:extLst>
            </p:cNvPr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76" name="Group 32">
            <a:extLst>
              <a:ext uri="{FF2B5EF4-FFF2-40B4-BE49-F238E27FC236}">
                <a16:creationId xmlns:a16="http://schemas.microsoft.com/office/drawing/2014/main" id="{C4135E30-0FF6-F199-1562-49D5D541BAC8}"/>
              </a:ext>
            </a:extLst>
          </p:cNvPr>
          <p:cNvGrpSpPr/>
          <p:nvPr/>
        </p:nvGrpSpPr>
        <p:grpSpPr>
          <a:xfrm>
            <a:off x="1047750" y="1866900"/>
            <a:ext cx="10096500" cy="4057650"/>
            <a:chOff x="1047750" y="1866900"/>
            <a:chExt cx="10096500" cy="4057650"/>
          </a:xfrm>
        </p:grpSpPr>
        <p:sp>
          <p:nvSpPr>
            <p:cNvPr id="77" name="Rectangle 6">
              <a:extLst>
                <a:ext uri="{FF2B5EF4-FFF2-40B4-BE49-F238E27FC236}">
                  <a16:creationId xmlns:a16="http://schemas.microsoft.com/office/drawing/2014/main" id="{CB96BE34-16F3-56AB-550E-6B3F63346E75}"/>
                </a:ext>
              </a:extLst>
            </p:cNvPr>
            <p:cNvSpPr/>
            <p:nvPr/>
          </p:nvSpPr>
          <p:spPr>
            <a:xfrm>
              <a:off x="1047750" y="1866900"/>
              <a:ext cx="10096500" cy="400050"/>
            </a:xfrm>
            <a:prstGeom prst="roundRect">
              <a:avLst>
                <a:gd name="adj" fmla="val 7143"/>
              </a:avLst>
            </a:prstGeom>
            <a:solidFill>
              <a:srgbClr val="F5F5F5"/>
            </a:solidFill>
            <a:ln w="9525">
              <a:solidFill>
                <a:srgbClr val="999999"/>
              </a:solidFill>
            </a:ln>
          </p:spPr>
        </p:sp>
        <p:sp>
          <p:nvSpPr>
            <p:cNvPr id="78" name="TextBox 7">
              <a:extLst>
                <a:ext uri="{FF2B5EF4-FFF2-40B4-BE49-F238E27FC236}">
                  <a16:creationId xmlns:a16="http://schemas.microsoft.com/office/drawing/2014/main" id="{06BF4809-5A1B-DEF2-0C28-FFE9FA12364D}"/>
                </a:ext>
              </a:extLst>
            </p:cNvPr>
            <p:cNvSpPr txBox="1"/>
            <p:nvPr/>
          </p:nvSpPr>
          <p:spPr>
            <a:xfrm>
              <a:off x="3776270" y="2001202"/>
              <a:ext cx="463946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需求侧最抢手：从「会写代码」到「会交付 AI 系统」—— 三种典型角色</a:t>
              </a:r>
            </a:p>
          </p:txBody>
        </p:sp>
        <p:sp>
          <p:nvSpPr>
            <p:cNvPr id="79" name="Rectangle 8">
              <a:extLst>
                <a:ext uri="{FF2B5EF4-FFF2-40B4-BE49-F238E27FC236}">
                  <a16:creationId xmlns:a16="http://schemas.microsoft.com/office/drawing/2014/main" id="{913D470C-B631-C59D-059A-9F9ABD10ED98}"/>
                </a:ext>
              </a:extLst>
            </p:cNvPr>
            <p:cNvSpPr/>
            <p:nvPr/>
          </p:nvSpPr>
          <p:spPr>
            <a:xfrm>
              <a:off x="1047750" y="2457450"/>
              <a:ext cx="3238500" cy="2819400"/>
            </a:xfrm>
            <a:prstGeom prst="roundRect">
              <a:avLst>
                <a:gd name="adj" fmla="val 1014"/>
              </a:avLst>
            </a:prstGeom>
            <a:solidFill>
              <a:srgbClr val="FFFFFF"/>
            </a:solidFill>
            <a:ln w="11430">
              <a:solidFill>
                <a:srgbClr val="999999"/>
              </a:solidFill>
            </a:ln>
          </p:spPr>
        </p:sp>
        <p:sp>
          <p:nvSpPr>
            <p:cNvPr id="80" name="Rectangle 9">
              <a:extLst>
                <a:ext uri="{FF2B5EF4-FFF2-40B4-BE49-F238E27FC236}">
                  <a16:creationId xmlns:a16="http://schemas.microsoft.com/office/drawing/2014/main" id="{8AB985A2-3B64-8217-C73E-8B1FA0B350EC}"/>
                </a:ext>
              </a:extLst>
            </p:cNvPr>
            <p:cNvSpPr/>
            <p:nvPr/>
          </p:nvSpPr>
          <p:spPr>
            <a:xfrm>
              <a:off x="1047750" y="2457450"/>
              <a:ext cx="32385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1" name="TextBox 10">
              <a:extLst>
                <a:ext uri="{FF2B5EF4-FFF2-40B4-BE49-F238E27FC236}">
                  <a16:creationId xmlns:a16="http://schemas.microsoft.com/office/drawing/2014/main" id="{FE830A02-8A5A-0FB6-01B0-72514DD000E1}"/>
                </a:ext>
              </a:extLst>
            </p:cNvPr>
            <p:cNvSpPr txBox="1"/>
            <p:nvPr/>
          </p:nvSpPr>
          <p:spPr>
            <a:xfrm>
              <a:off x="2069581" y="2708910"/>
              <a:ext cx="11948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AI Infra 工程师</a:t>
              </a:r>
            </a:p>
          </p:txBody>
        </p:sp>
        <p:sp>
          <p:nvSpPr>
            <p:cNvPr id="82" name="TextBox 11">
              <a:extLst>
                <a:ext uri="{FF2B5EF4-FFF2-40B4-BE49-F238E27FC236}">
                  <a16:creationId xmlns:a16="http://schemas.microsoft.com/office/drawing/2014/main" id="{C01D3BFA-78AB-31E2-4C62-60D80915720B}"/>
                </a:ext>
              </a:extLst>
            </p:cNvPr>
            <p:cNvSpPr txBox="1"/>
            <p:nvPr/>
          </p:nvSpPr>
          <p:spPr>
            <a:xfrm>
              <a:off x="2056448" y="3160395"/>
              <a:ext cx="122110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连接算法与算力的桥梁</a:t>
              </a:r>
            </a:p>
          </p:txBody>
        </p:sp>
        <p:sp>
          <p:nvSpPr>
            <p:cNvPr id="83" name="TextBox 12">
              <a:extLst>
                <a:ext uri="{FF2B5EF4-FFF2-40B4-BE49-F238E27FC236}">
                  <a16:creationId xmlns:a16="http://schemas.microsoft.com/office/drawing/2014/main" id="{48613776-075B-EEAA-2445-90D67E30A4B5}"/>
                </a:ext>
              </a:extLst>
            </p:cNvPr>
            <p:cNvSpPr txBox="1"/>
            <p:nvPr/>
          </p:nvSpPr>
          <p:spPr>
            <a:xfrm>
              <a:off x="1735379" y="3484245"/>
              <a:ext cx="186324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推理加速 · 分布式训练 · 显存优化</a:t>
              </a:r>
            </a:p>
          </p:txBody>
        </p:sp>
        <p:sp>
          <p:nvSpPr>
            <p:cNvPr id="84" name="TextBox 13">
              <a:extLst>
                <a:ext uri="{FF2B5EF4-FFF2-40B4-BE49-F238E27FC236}">
                  <a16:creationId xmlns:a16="http://schemas.microsoft.com/office/drawing/2014/main" id="{8D3F5832-6BE5-DD8B-E8B6-101978B1C9E5}"/>
                </a:ext>
              </a:extLst>
            </p:cNvPr>
            <p:cNvSpPr txBox="1"/>
            <p:nvPr/>
          </p:nvSpPr>
          <p:spPr>
            <a:xfrm>
              <a:off x="1867544" y="3808095"/>
              <a:ext cx="159891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技术栈：K8s · CUDA · vLLM</a:t>
              </a:r>
            </a:p>
          </p:txBody>
        </p:sp>
        <p:sp>
          <p:nvSpPr>
            <p:cNvPr id="85" name="TextBox 14">
              <a:extLst>
                <a:ext uri="{FF2B5EF4-FFF2-40B4-BE49-F238E27FC236}">
                  <a16:creationId xmlns:a16="http://schemas.microsoft.com/office/drawing/2014/main" id="{E5FDECFC-C759-0C94-AD24-0DD4A662CE0E}"/>
                </a:ext>
              </a:extLst>
            </p:cNvPr>
            <p:cNvSpPr txBox="1"/>
            <p:nvPr/>
          </p:nvSpPr>
          <p:spPr>
            <a:xfrm>
              <a:off x="1856537" y="4131945"/>
              <a:ext cx="162092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雇主：云 · 芯片 · 大模型厂商</a:t>
              </a:r>
            </a:p>
          </p:txBody>
        </p:sp>
        <p:sp>
          <p:nvSpPr>
            <p:cNvPr id="86" name="Rectangle 15">
              <a:extLst>
                <a:ext uri="{FF2B5EF4-FFF2-40B4-BE49-F238E27FC236}">
                  <a16:creationId xmlns:a16="http://schemas.microsoft.com/office/drawing/2014/main" id="{D45B6E36-12FA-5115-2270-71FB725F0DA2}"/>
                </a:ext>
              </a:extLst>
            </p:cNvPr>
            <p:cNvSpPr/>
            <p:nvPr/>
          </p:nvSpPr>
          <p:spPr>
            <a:xfrm>
              <a:off x="4476750" y="2457450"/>
              <a:ext cx="3238500" cy="2819400"/>
            </a:xfrm>
            <a:prstGeom prst="roundRect">
              <a:avLst>
                <a:gd name="adj" fmla="val 1014"/>
              </a:avLst>
            </a:prstGeom>
            <a:solidFill>
              <a:srgbClr val="FFFFFF"/>
            </a:solidFill>
            <a:ln w="11430">
              <a:solidFill>
                <a:srgbClr val="999999"/>
              </a:solidFill>
            </a:ln>
          </p:spPr>
        </p:sp>
        <p:sp>
          <p:nvSpPr>
            <p:cNvPr id="87" name="Rectangle 16">
              <a:extLst>
                <a:ext uri="{FF2B5EF4-FFF2-40B4-BE49-F238E27FC236}">
                  <a16:creationId xmlns:a16="http://schemas.microsoft.com/office/drawing/2014/main" id="{EFDB05CB-5476-D9FA-8C95-7F29256A90C3}"/>
                </a:ext>
              </a:extLst>
            </p:cNvPr>
            <p:cNvSpPr/>
            <p:nvPr/>
          </p:nvSpPr>
          <p:spPr>
            <a:xfrm>
              <a:off x="4476750" y="2457450"/>
              <a:ext cx="32385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8" name="TextBox 17">
              <a:extLst>
                <a:ext uri="{FF2B5EF4-FFF2-40B4-BE49-F238E27FC236}">
                  <a16:creationId xmlns:a16="http://schemas.microsoft.com/office/drawing/2014/main" id="{ED61459D-3BA1-3210-8C73-33A3F86F0A40}"/>
                </a:ext>
              </a:extLst>
            </p:cNvPr>
            <p:cNvSpPr txBox="1"/>
            <p:nvPr/>
          </p:nvSpPr>
          <p:spPr>
            <a:xfrm>
              <a:off x="4983498" y="2708910"/>
              <a:ext cx="22250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Forward Deployed Engineer</a:t>
              </a:r>
            </a:p>
          </p:txBody>
        </p:sp>
        <p:sp>
          <p:nvSpPr>
            <p:cNvPr id="89" name="TextBox 18">
              <a:extLst>
                <a:ext uri="{FF2B5EF4-FFF2-40B4-BE49-F238E27FC236}">
                  <a16:creationId xmlns:a16="http://schemas.microsoft.com/office/drawing/2014/main" id="{644B2EAD-D8F0-E9F5-9E4F-C23A7368AF04}"/>
                </a:ext>
              </a:extLst>
            </p:cNvPr>
            <p:cNvSpPr txBox="1"/>
            <p:nvPr/>
          </p:nvSpPr>
          <p:spPr>
            <a:xfrm>
              <a:off x="5303710" y="3160395"/>
              <a:ext cx="15845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驻场交付：客户现场快速落地</a:t>
              </a:r>
            </a:p>
          </p:txBody>
        </p:sp>
        <p:sp>
          <p:nvSpPr>
            <p:cNvPr id="90" name="TextBox 19">
              <a:extLst>
                <a:ext uri="{FF2B5EF4-FFF2-40B4-BE49-F238E27FC236}">
                  <a16:creationId xmlns:a16="http://schemas.microsoft.com/office/drawing/2014/main" id="{76D45223-A077-7337-3E45-40760C47AA97}"/>
                </a:ext>
              </a:extLst>
            </p:cNvPr>
            <p:cNvSpPr txBox="1"/>
            <p:nvPr/>
          </p:nvSpPr>
          <p:spPr>
            <a:xfrm>
              <a:off x="5303710" y="3484245"/>
              <a:ext cx="15845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写生产代码，直接对结果负责</a:t>
              </a:r>
            </a:p>
          </p:txBody>
        </p:sp>
        <p:sp>
          <p:nvSpPr>
            <p:cNvPr id="91" name="TextBox 20">
              <a:extLst>
                <a:ext uri="{FF2B5EF4-FFF2-40B4-BE49-F238E27FC236}">
                  <a16:creationId xmlns:a16="http://schemas.microsoft.com/office/drawing/2014/main" id="{67D9E86E-3744-3A9E-ACC9-82EE2C05F65F}"/>
                </a:ext>
              </a:extLst>
            </p:cNvPr>
            <p:cNvSpPr txBox="1"/>
            <p:nvPr/>
          </p:nvSpPr>
          <p:spPr>
            <a:xfrm>
              <a:off x="5243132" y="3808095"/>
              <a:ext cx="170573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美区交付高薪赛道（量级参考）</a:t>
              </a:r>
            </a:p>
          </p:txBody>
        </p:sp>
        <p:sp>
          <p:nvSpPr>
            <p:cNvPr id="92" name="TextBox 21">
              <a:extLst>
                <a:ext uri="{FF2B5EF4-FFF2-40B4-BE49-F238E27FC236}">
                  <a16:creationId xmlns:a16="http://schemas.microsoft.com/office/drawing/2014/main" id="{FD97C2B9-4CAC-ED25-D3D5-7597A145C200}"/>
                </a:ext>
              </a:extLst>
            </p:cNvPr>
            <p:cNvSpPr txBox="1"/>
            <p:nvPr/>
          </p:nvSpPr>
          <p:spPr>
            <a:xfrm>
              <a:off x="5239931" y="4131945"/>
              <a:ext cx="171213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雇主：AI 产品公司 · 企业客户</a:t>
              </a:r>
            </a:p>
          </p:txBody>
        </p:sp>
        <p:sp>
          <p:nvSpPr>
            <p:cNvPr id="93" name="Rectangle 22">
              <a:extLst>
                <a:ext uri="{FF2B5EF4-FFF2-40B4-BE49-F238E27FC236}">
                  <a16:creationId xmlns:a16="http://schemas.microsoft.com/office/drawing/2014/main" id="{E71CB1FF-F290-0D32-5993-559241C0D2B4}"/>
                </a:ext>
              </a:extLst>
            </p:cNvPr>
            <p:cNvSpPr/>
            <p:nvPr/>
          </p:nvSpPr>
          <p:spPr>
            <a:xfrm>
              <a:off x="7905750" y="2457450"/>
              <a:ext cx="3238500" cy="2819400"/>
            </a:xfrm>
            <a:prstGeom prst="roundRect">
              <a:avLst>
                <a:gd name="adj" fmla="val 1014"/>
              </a:avLst>
            </a:prstGeom>
            <a:solidFill>
              <a:srgbClr val="FFFFFF"/>
            </a:solidFill>
            <a:ln w="11430">
              <a:solidFill>
                <a:srgbClr val="999999"/>
              </a:solidFill>
            </a:ln>
          </p:spPr>
        </p:sp>
        <p:sp>
          <p:nvSpPr>
            <p:cNvPr id="94" name="Rectangle 23">
              <a:extLst>
                <a:ext uri="{FF2B5EF4-FFF2-40B4-BE49-F238E27FC236}">
                  <a16:creationId xmlns:a16="http://schemas.microsoft.com/office/drawing/2014/main" id="{D88BEC9B-2FD6-882B-D471-BD4AA1AE8F65}"/>
                </a:ext>
              </a:extLst>
            </p:cNvPr>
            <p:cNvSpPr/>
            <p:nvPr/>
          </p:nvSpPr>
          <p:spPr>
            <a:xfrm>
              <a:off x="7905750" y="2457450"/>
              <a:ext cx="32385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95" name="TextBox 24">
              <a:extLst>
                <a:ext uri="{FF2B5EF4-FFF2-40B4-BE49-F238E27FC236}">
                  <a16:creationId xmlns:a16="http://schemas.microsoft.com/office/drawing/2014/main" id="{7685D286-02F4-FCCA-9F08-180683C1EB93}"/>
                </a:ext>
              </a:extLst>
            </p:cNvPr>
            <p:cNvSpPr txBox="1"/>
            <p:nvPr/>
          </p:nvSpPr>
          <p:spPr>
            <a:xfrm>
              <a:off x="8749740" y="2708910"/>
              <a:ext cx="155052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Applied AI Engineer</a:t>
              </a:r>
            </a:p>
          </p:txBody>
        </p:sp>
        <p:sp>
          <p:nvSpPr>
            <p:cNvPr id="96" name="TextBox 25">
              <a:extLst>
                <a:ext uri="{FF2B5EF4-FFF2-40B4-BE49-F238E27FC236}">
                  <a16:creationId xmlns:a16="http://schemas.microsoft.com/office/drawing/2014/main" id="{AE1EC8F7-C218-2E6E-970B-E150A883E831}"/>
                </a:ext>
              </a:extLst>
            </p:cNvPr>
            <p:cNvSpPr txBox="1"/>
            <p:nvPr/>
          </p:nvSpPr>
          <p:spPr>
            <a:xfrm>
              <a:off x="8975026" y="3160395"/>
              <a:ext cx="109994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把模型变成可用产品</a:t>
              </a:r>
            </a:p>
          </p:txBody>
        </p:sp>
        <p:sp>
          <p:nvSpPr>
            <p:cNvPr id="97" name="TextBox 26">
              <a:extLst>
                <a:ext uri="{FF2B5EF4-FFF2-40B4-BE49-F238E27FC236}">
                  <a16:creationId xmlns:a16="http://schemas.microsoft.com/office/drawing/2014/main" id="{F49836E6-907F-C35A-4B21-C68E2466C422}"/>
                </a:ext>
              </a:extLst>
            </p:cNvPr>
            <p:cNvSpPr txBox="1"/>
            <p:nvPr/>
          </p:nvSpPr>
          <p:spPr>
            <a:xfrm>
              <a:off x="8653958" y="3484245"/>
              <a:ext cx="174208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需求拆解 · 模型选型 · 评测护栏</a:t>
              </a:r>
            </a:p>
          </p:txBody>
        </p:sp>
        <p:sp>
          <p:nvSpPr>
            <p:cNvPr id="98" name="TextBox 27">
              <a:extLst>
                <a:ext uri="{FF2B5EF4-FFF2-40B4-BE49-F238E27FC236}">
                  <a16:creationId xmlns:a16="http://schemas.microsoft.com/office/drawing/2014/main" id="{D9137455-F13F-CC72-1DFA-A9DB197B4630}"/>
                </a:ext>
              </a:extLst>
            </p:cNvPr>
            <p:cNvSpPr txBox="1"/>
            <p:nvPr/>
          </p:nvSpPr>
          <p:spPr>
            <a:xfrm>
              <a:off x="8553236" y="3808095"/>
              <a:ext cx="194352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技术栈：LangGraph · RAG · Agent</a:t>
              </a:r>
            </a:p>
          </p:txBody>
        </p:sp>
        <p:sp>
          <p:nvSpPr>
            <p:cNvPr id="99" name="TextBox 28">
              <a:extLst>
                <a:ext uri="{FF2B5EF4-FFF2-40B4-BE49-F238E27FC236}">
                  <a16:creationId xmlns:a16="http://schemas.microsoft.com/office/drawing/2014/main" id="{FFA067B1-E966-C149-52AE-B6AD86F3B96C}"/>
                </a:ext>
              </a:extLst>
            </p:cNvPr>
            <p:cNvSpPr txBox="1"/>
            <p:nvPr/>
          </p:nvSpPr>
          <p:spPr>
            <a:xfrm>
              <a:off x="8915362" y="4131945"/>
              <a:ext cx="121927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雇主：各行业 AI 团队</a:t>
              </a:r>
            </a:p>
          </p:txBody>
        </p:sp>
        <p:sp>
          <p:nvSpPr>
            <p:cNvPr id="100" name="Rectangle 29">
              <a:extLst>
                <a:ext uri="{FF2B5EF4-FFF2-40B4-BE49-F238E27FC236}">
                  <a16:creationId xmlns:a16="http://schemas.microsoft.com/office/drawing/2014/main" id="{05747009-11BC-C057-EA8E-0B38CEB10082}"/>
                </a:ext>
              </a:extLst>
            </p:cNvPr>
            <p:cNvSpPr/>
            <p:nvPr/>
          </p:nvSpPr>
          <p:spPr>
            <a:xfrm>
              <a:off x="1047750" y="5467350"/>
              <a:ext cx="10096500" cy="457200"/>
            </a:xfrm>
            <a:prstGeom prst="roundRect">
              <a:avLst>
                <a:gd name="adj" fmla="val 6250"/>
              </a:avLst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101" name="Rectangle 30">
              <a:extLst>
                <a:ext uri="{FF2B5EF4-FFF2-40B4-BE49-F238E27FC236}">
                  <a16:creationId xmlns:a16="http://schemas.microsoft.com/office/drawing/2014/main" id="{D83FE398-0FA2-73C3-5396-265C65F3209F}"/>
                </a:ext>
              </a:extLst>
            </p:cNvPr>
            <p:cNvSpPr/>
            <p:nvPr/>
          </p:nvSpPr>
          <p:spPr>
            <a:xfrm>
              <a:off x="1047750" y="5467350"/>
              <a:ext cx="100965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02" name="TextBox 31">
              <a:extLst>
                <a:ext uri="{FF2B5EF4-FFF2-40B4-BE49-F238E27FC236}">
                  <a16:creationId xmlns:a16="http://schemas.microsoft.com/office/drawing/2014/main" id="{B0DCFDC7-9053-2EC9-CEBF-4798E0D7D44A}"/>
                </a:ext>
              </a:extLst>
            </p:cNvPr>
            <p:cNvSpPr txBox="1"/>
            <p:nvPr/>
          </p:nvSpPr>
          <p:spPr>
            <a:xfrm>
              <a:off x="3861769" y="5619274"/>
              <a:ext cx="44684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共同底座：工程能力 + AI 应用 + 领域/客户理解 —— 分工不同，底座相同</a:t>
              </a:r>
            </a:p>
          </p:txBody>
        </p:sp>
      </p:grpSp>
      <p:grpSp>
        <p:nvGrpSpPr>
          <p:cNvPr id="103" name="Group 36">
            <a:extLst>
              <a:ext uri="{FF2B5EF4-FFF2-40B4-BE49-F238E27FC236}">
                <a16:creationId xmlns:a16="http://schemas.microsoft.com/office/drawing/2014/main" id="{439D7972-A962-C9A4-7ADE-FB7CA91953C9}"/>
              </a:ext>
            </a:extLst>
          </p:cNvPr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104" name="TextBox 33">
              <a:extLst>
                <a:ext uri="{FF2B5EF4-FFF2-40B4-BE49-F238E27FC236}">
                  <a16:creationId xmlns:a16="http://schemas.microsoft.com/office/drawing/2014/main" id="{09EC82B8-3C23-0B31-4FE8-9C6AFFADADDE}"/>
                </a:ext>
              </a:extLst>
            </p:cNvPr>
            <p:cNvSpPr txBox="1"/>
            <p:nvPr/>
          </p:nvSpPr>
          <p:spPr>
            <a:xfrm>
              <a:off x="604838" y="6613684"/>
              <a:ext cx="1063808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从 AI 使用者到 AI 架构师</a:t>
              </a:r>
            </a:p>
          </p:txBody>
        </p:sp>
        <p:sp>
          <p:nvSpPr>
            <p:cNvPr id="105" name="Rectangle 34">
              <a:extLst>
                <a:ext uri="{FF2B5EF4-FFF2-40B4-BE49-F238E27FC236}">
                  <a16:creationId xmlns:a16="http://schemas.microsoft.com/office/drawing/2014/main" id="{A3985431-23F4-82FB-F292-66F7F4B5640A}"/>
                </a:ext>
              </a:extLst>
            </p:cNvPr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06" name="TextBox 35">
              <a:extLst>
                <a:ext uri="{FF2B5EF4-FFF2-40B4-BE49-F238E27FC236}">
                  <a16:creationId xmlns:a16="http://schemas.microsoft.com/office/drawing/2014/main" id="{ABF77BA1-2227-4FEC-830C-03F2B0B47BEB}"/>
                </a:ext>
              </a:extLst>
            </p:cNvPr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10 / 27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4699993" cy="738854"/>
            <a:chOff x="595122" y="501491"/>
            <a:chExt cx="4699993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03 · 对比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4699993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三种 AI 工程师：能力对照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33" name="Group 33"/>
          <p:cNvGrpSpPr/>
          <p:nvPr/>
        </p:nvGrpSpPr>
        <p:grpSpPr>
          <a:xfrm>
            <a:off x="609600" y="1619250"/>
            <a:ext cx="10972800" cy="4200525"/>
            <a:chOff x="609600" y="1619250"/>
            <a:chExt cx="10972800" cy="4200525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10972800" cy="419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10972800" cy="38100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80466" y="175355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维度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441631" y="1753552"/>
              <a:ext cx="5655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AI Infra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332890" y="1753552"/>
              <a:ext cx="2694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FDE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865223" y="1753552"/>
              <a:ext cx="6911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Applied AI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609600" y="2000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80847" y="241887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核心能力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181842" y="2418874"/>
              <a:ext cx="10851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系统优化 + 分布式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859078" y="2418874"/>
              <a:ext cx="12170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全栈原型 + 客户沟通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602278" y="2418874"/>
              <a:ext cx="12170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模型应用 + 产品设计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609600" y="29527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80847" y="3371374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技术栈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129917" y="3371374"/>
              <a:ext cx="1188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K8s · CUDA · vLLM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620004" y="3371374"/>
              <a:ext cx="169519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Cursor / Claude Code + API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22016" y="3371374"/>
              <a:ext cx="157756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LangGraph · RAG · Agent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609600" y="3905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80847" y="432387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典型雇主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040020" y="4323874"/>
              <a:ext cx="136876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云 · 芯片 · 大模型厂商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744762" y="4323874"/>
              <a:ext cx="144567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AI 产品公司 · 企业客户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756297" y="4323874"/>
              <a:ext cx="9090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各行业 AI 团队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09600" y="48577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0847" y="527637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适合背景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171947" y="5276374"/>
              <a:ext cx="11049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后端 · 运维 · 系统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991006" y="5276374"/>
              <a:ext cx="95318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全栈 / 方案架构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446143" y="5276374"/>
              <a:ext cx="152931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ML 工程 / 全栈 · 产品感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609600" y="5810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</p:grpSp>
      <p:grpSp>
        <p:nvGrpSpPr>
          <p:cNvPr id="37" name="Group 37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34" name="TextBox 34"/>
            <p:cNvSpPr txBox="1"/>
            <p:nvPr/>
          </p:nvSpPr>
          <p:spPr>
            <a:xfrm>
              <a:off x="604838" y="6613684"/>
              <a:ext cx="1063808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从 AI 使用者到 AI 架构师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11 / 27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8626137" cy="738854"/>
            <a:chOff x="595122" y="501491"/>
            <a:chExt cx="8626137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03 · 路径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8626137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从「码农」到「AI 架构师」：一条推荐成长路线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626494" y="3188018"/>
            <a:ext cx="10928291" cy="1456943"/>
            <a:chOff x="626494" y="3188018"/>
            <a:chExt cx="10928291" cy="1456943"/>
          </a:xfrm>
        </p:grpSpPr>
        <p:sp>
          <p:nvSpPr>
            <p:cNvPr id="6" name="Line 6"/>
            <p:cNvSpPr/>
            <p:nvPr/>
          </p:nvSpPr>
          <p:spPr>
            <a:xfrm>
              <a:off x="1371600" y="3810000"/>
              <a:ext cx="9448800" cy="9525"/>
            </a:xfrm>
            <a:custGeom>
              <a:avLst/>
              <a:gdLst/>
              <a:ahLst/>
              <a:cxnLst/>
              <a:rect l="l" t="t" r="r" b="b"/>
              <a:pathLst>
                <a:path w="9448800" h="9525">
                  <a:moveTo>
                    <a:pt x="0" y="0"/>
                  </a:moveTo>
                  <a:lnTo>
                    <a:pt x="9448800" y="0"/>
                  </a:lnTo>
                </a:path>
              </a:pathLst>
            </a:custGeom>
            <a:noFill/>
            <a:ln w="19050">
              <a:solidFill>
                <a:srgbClr val="999999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1285875" y="3724275"/>
              <a:ext cx="171450" cy="171450"/>
            </a:xfrm>
            <a:prstGeom prst="ellipse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56280" y="3188018"/>
              <a:ext cx="10306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Year 1 打底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39162" y="4020502"/>
              <a:ext cx="14648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GenAI 基础 · 工具调用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26494" y="4230052"/>
              <a:ext cx="149021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完成首个单 Agent 项目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7090" y="4439602"/>
              <a:ext cx="14090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会 Prompt · 会用 API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6010275" y="3724275"/>
              <a:ext cx="171450" cy="171450"/>
            </a:xfrm>
            <a:prstGeom prst="ellipse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580680" y="3188018"/>
              <a:ext cx="10306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Year 2 纵深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361615" y="4020502"/>
              <a:ext cx="14687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复杂 Agent · 评估框架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418582" y="4230052"/>
              <a:ext cx="135483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外部服务集成 / MCP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595938" y="4439602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以工程标准交付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10734675" y="3724275"/>
              <a:ext cx="171450" cy="171450"/>
            </a:xfrm>
            <a:prstGeom prst="ellipse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0212926" y="3188018"/>
              <a:ext cx="12149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Year 3 系统化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086015" y="4020502"/>
              <a:ext cx="14687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多 Agent · 分布式推理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168385" y="4230052"/>
              <a:ext cx="13040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领域专精 + 开源作品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309736" y="4439602"/>
              <a:ext cx="10213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能架构 · 能带人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09600" y="5715000"/>
            <a:ext cx="10972800" cy="571500"/>
            <a:chOff x="609600" y="5715000"/>
            <a:chExt cx="10972800" cy="571500"/>
          </a:xfrm>
        </p:grpSpPr>
        <p:sp>
          <p:nvSpPr>
            <p:cNvPr id="23" name="Rectangle 23"/>
            <p:cNvSpPr/>
            <p:nvPr/>
          </p:nvSpPr>
          <p:spPr>
            <a:xfrm>
              <a:off x="609600" y="5715000"/>
              <a:ext cx="10972800" cy="57150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09638" y="6017895"/>
              <a:ext cx="464381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不是硬性三年制，而是能力进阶的参考节奏：每年 1–2 个完整项目，比堆课程更有效。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26" name="TextBox 26"/>
            <p:cNvSpPr txBox="1"/>
            <p:nvPr/>
          </p:nvSpPr>
          <p:spPr>
            <a:xfrm>
              <a:off x="604838" y="6613684"/>
              <a:ext cx="1063808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从 AI 使用者到 AI 架构师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12 / 27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5400294" cy="738854"/>
            <a:chOff x="595122" y="501491"/>
            <a:chExt cx="5400294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03 · 洞察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540029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关键洞察：专业知识才是护城河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1047750" y="1905000"/>
            <a:ext cx="10096500" cy="3867150"/>
            <a:chOff x="1047750" y="1905000"/>
            <a:chExt cx="10096500" cy="3867150"/>
          </a:xfrm>
        </p:grpSpPr>
        <p:sp>
          <p:nvSpPr>
            <p:cNvPr id="6" name="Rectangle 6"/>
            <p:cNvSpPr/>
            <p:nvPr/>
          </p:nvSpPr>
          <p:spPr>
            <a:xfrm>
              <a:off x="1047750" y="1905000"/>
              <a:ext cx="10096500" cy="400050"/>
            </a:xfrm>
            <a:prstGeom prst="roundRect">
              <a:avLst>
                <a:gd name="adj" fmla="val 7143"/>
              </a:avLst>
            </a:prstGeom>
            <a:solidFill>
              <a:srgbClr val="F5F5F5"/>
            </a:solidFill>
            <a:ln w="9525">
              <a:solidFill>
                <a:srgbClr val="999999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4959858" y="2039302"/>
              <a:ext cx="22722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同一个模型，为什么有人用出差距？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1047750" y="2457450"/>
              <a:ext cx="10096500" cy="933450"/>
            </a:xfrm>
            <a:prstGeom prst="roundRect">
              <a:avLst>
                <a:gd name="adj" fmla="val 3061"/>
              </a:avLst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1047750" y="2457450"/>
              <a:ext cx="100965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211041" y="2624614"/>
              <a:ext cx="576991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「LLM 让每个人都更像通才：不懂 CSS 也能写，陌生领域也能先做出来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981266" y="2967514"/>
              <a:ext cx="42294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—— 但真正把同一个模型用出差距的，还是专业知识。」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047750" y="3638550"/>
              <a:ext cx="4914900" cy="1257300"/>
            </a:xfrm>
            <a:prstGeom prst="roundRect">
              <a:avLst>
                <a:gd name="adj" fmla="val 2273"/>
              </a:avLst>
            </a:prstGeom>
            <a:solidFill>
              <a:srgbClr val="FFFFFF"/>
            </a:solidFill>
            <a:ln w="11430">
              <a:solidFill>
                <a:srgbClr val="999999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1047750" y="3638550"/>
              <a:ext cx="49149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2619261" y="3806904"/>
              <a:ext cx="1771879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9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同样用前沿模型：医疗专家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762197" y="4170045"/>
              <a:ext cx="148600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能设计更精准的诊断 Agent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634158" y="4436745"/>
              <a:ext cx="174208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懂病理 · 懂数据 · 懂误诊的代价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6153150" y="3638550"/>
              <a:ext cx="4914900" cy="1257300"/>
            </a:xfrm>
            <a:prstGeom prst="roundRect">
              <a:avLst>
                <a:gd name="adj" fmla="val 2273"/>
              </a:avLst>
            </a:prstGeom>
            <a:solidFill>
              <a:srgbClr val="FFFFFF"/>
            </a:solidFill>
            <a:ln w="11430">
              <a:solidFill>
                <a:srgbClr val="999999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6153150" y="3638550"/>
              <a:ext cx="49149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238236" y="3806904"/>
              <a:ext cx="744728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9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硬件工程师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802537" y="4170045"/>
              <a:ext cx="161612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能指导 AI 画 PCB / 做结构件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818310" y="4436745"/>
              <a:ext cx="15845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能判断布局、公差与可制造性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47750" y="5143500"/>
              <a:ext cx="10096500" cy="628650"/>
            </a:xfrm>
            <a:prstGeom prst="roundRect">
              <a:avLst>
                <a:gd name="adj" fmla="val 4545"/>
              </a:avLst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1047750" y="5143500"/>
              <a:ext cx="100965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646266" y="5237321"/>
              <a:ext cx="289946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AI + 行业 Expertise ＞ AI Alone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637342" y="5541645"/>
              <a:ext cx="291731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通用能力被拉平的时代，领域深度决定你的不可替代性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27" name="TextBox 27"/>
            <p:cNvSpPr txBox="1"/>
            <p:nvPr/>
          </p:nvSpPr>
          <p:spPr>
            <a:xfrm>
              <a:off x="604838" y="6613684"/>
              <a:ext cx="1063808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从 AI 使用者到 AI 架构师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13 / 27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7655946" cy="738854"/>
            <a:chOff x="595122" y="501491"/>
            <a:chExt cx="7655946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04 · 实践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7655946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AI Coding 三级：从 Assistants 到 Agents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29" name="Group 29"/>
          <p:cNvGrpSpPr/>
          <p:nvPr/>
        </p:nvGrpSpPr>
        <p:grpSpPr>
          <a:xfrm>
            <a:off x="1047750" y="1905000"/>
            <a:ext cx="10191750" cy="4133850"/>
            <a:chOff x="1047750" y="1905000"/>
            <a:chExt cx="10191750" cy="4133850"/>
          </a:xfrm>
        </p:grpSpPr>
        <p:sp>
          <p:nvSpPr>
            <p:cNvPr id="6" name="Rectangle 6"/>
            <p:cNvSpPr/>
            <p:nvPr/>
          </p:nvSpPr>
          <p:spPr>
            <a:xfrm>
              <a:off x="1047750" y="1905000"/>
              <a:ext cx="10096500" cy="400050"/>
            </a:xfrm>
            <a:prstGeom prst="roundRect">
              <a:avLst>
                <a:gd name="adj" fmla="val 7143"/>
              </a:avLst>
            </a:prstGeom>
            <a:solidFill>
              <a:srgbClr val="F5F5F5"/>
            </a:solidFill>
            <a:ln w="9525">
              <a:solidFill>
                <a:srgbClr val="999999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4542676" y="2039302"/>
              <a:ext cx="310664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AI Coding 实践三级：从 Assistants 到 Agents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1143000" y="2590800"/>
              <a:ext cx="6667500" cy="876300"/>
            </a:xfrm>
            <a:prstGeom prst="roundRect">
              <a:avLst>
                <a:gd name="adj" fmla="val 3261"/>
              </a:avLst>
            </a:prstGeom>
            <a:solidFill>
              <a:srgbClr val="FFFFFF"/>
            </a:solidFill>
            <a:ln w="11430">
              <a:solidFill>
                <a:srgbClr val="999999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1143000" y="2590800"/>
              <a:ext cx="76200" cy="8763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422654" y="2747010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L1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880235" y="2755106"/>
              <a:ext cx="25549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AI 辅助编码（GitHub Copilot 模式）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881188" y="3050143"/>
              <a:ext cx="2333727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自动补全 · 即时建议 —— 人写代码，AI 补全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2857500" y="3695700"/>
              <a:ext cx="6667500" cy="876300"/>
            </a:xfrm>
            <a:prstGeom prst="roundRect">
              <a:avLst>
                <a:gd name="adj" fmla="val 3261"/>
              </a:avLst>
            </a:prstGeom>
            <a:solidFill>
              <a:srgbClr val="FFFFFF"/>
            </a:solidFill>
            <a:ln w="11430">
              <a:solidFill>
                <a:srgbClr val="999999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2857500" y="3695700"/>
              <a:ext cx="76200" cy="8763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137154" y="3851910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L2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594735" y="3860006"/>
              <a:ext cx="24098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AI 结对编程（Cursor Chat 模式）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595688" y="4155043"/>
              <a:ext cx="2841381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对话式开发：解释 · 重构 · 试错 —— 人主导，AI 协作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572000" y="4800600"/>
              <a:ext cx="6667500" cy="876300"/>
            </a:xfrm>
            <a:prstGeom prst="roundRect">
              <a:avLst>
                <a:gd name="adj" fmla="val 3261"/>
              </a:avLst>
            </a:prstGeom>
            <a:solidFill>
              <a:srgbClr val="FFFFFF"/>
            </a:solidFill>
            <a:ln w="11430">
              <a:solidFill>
                <a:srgbClr val="999999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4572000" y="4800600"/>
              <a:ext cx="76200" cy="8763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851654" y="4956810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L3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309235" y="4964906"/>
              <a:ext cx="29276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Agent 自主执行（Claude Code / Codex）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310188" y="5259943"/>
              <a:ext cx="3471362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给定任务：规划 → 执行 → 测试 → 修复 —— AI 主导，人定义与验收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4095750" y="3467100"/>
              <a:ext cx="390525" cy="9525"/>
            </a:xfrm>
            <a:custGeom>
              <a:avLst/>
              <a:gdLst/>
              <a:ahLst/>
              <a:cxnLst/>
              <a:rect l="l" t="t" r="r" b="b"/>
              <a:pathLst>
                <a:path w="390525" h="9525">
                  <a:moveTo>
                    <a:pt x="0" y="0"/>
                  </a:moveTo>
                  <a:lnTo>
                    <a:pt x="390525" y="0"/>
                  </a:lnTo>
                </a:path>
              </a:pathLst>
            </a:custGeom>
            <a:noFill/>
            <a:ln w="17145">
              <a:solidFill>
                <a:srgbClr val="E30613"/>
              </a:solidFill>
            </a:ln>
          </p:spPr>
        </p:sp>
        <p:sp>
          <p:nvSpPr>
            <p:cNvPr id="24" name="Polygon 24"/>
            <p:cNvSpPr/>
            <p:nvPr/>
          </p:nvSpPr>
          <p:spPr>
            <a:xfrm>
              <a:off x="4492942" y="3434715"/>
              <a:ext cx="79058" cy="64770"/>
            </a:xfrm>
            <a:custGeom>
              <a:avLst/>
              <a:gdLst/>
              <a:ahLst/>
              <a:cxnLst/>
              <a:rect l="l" t="t" r="r" b="b"/>
              <a:pathLst>
                <a:path w="79058" h="64770">
                  <a:moveTo>
                    <a:pt x="79058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0613"/>
            </a:solidFill>
            <a:ln>
              <a:noFill/>
            </a:ln>
          </p:spPr>
        </p:sp>
        <p:sp>
          <p:nvSpPr>
            <p:cNvPr id="25" name="Line 25"/>
            <p:cNvSpPr/>
            <p:nvPr/>
          </p:nvSpPr>
          <p:spPr>
            <a:xfrm>
              <a:off x="5810250" y="4572000"/>
              <a:ext cx="485775" cy="9525"/>
            </a:xfrm>
            <a:custGeom>
              <a:avLst/>
              <a:gdLst/>
              <a:ahLst/>
              <a:cxnLst/>
              <a:rect l="l" t="t" r="r" b="b"/>
              <a:pathLst>
                <a:path w="485775" h="9525">
                  <a:moveTo>
                    <a:pt x="0" y="0"/>
                  </a:moveTo>
                  <a:lnTo>
                    <a:pt x="485775" y="0"/>
                  </a:lnTo>
                </a:path>
              </a:pathLst>
            </a:custGeom>
            <a:noFill/>
            <a:ln w="17145">
              <a:solidFill>
                <a:srgbClr val="E30613"/>
              </a:solidFill>
            </a:ln>
          </p:spPr>
        </p:sp>
        <p:sp>
          <p:nvSpPr>
            <p:cNvPr id="26" name="Polygon 26"/>
            <p:cNvSpPr/>
            <p:nvPr/>
          </p:nvSpPr>
          <p:spPr>
            <a:xfrm>
              <a:off x="6302692" y="4539615"/>
              <a:ext cx="79057" cy="64770"/>
            </a:xfrm>
            <a:custGeom>
              <a:avLst/>
              <a:gdLst/>
              <a:ahLst/>
              <a:cxnLst/>
              <a:rect l="l" t="t" r="r" b="b"/>
              <a:pathLst>
                <a:path w="79057" h="64770">
                  <a:moveTo>
                    <a:pt x="79057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0613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1047750" y="5619750"/>
              <a:ext cx="10096500" cy="419100"/>
            </a:xfrm>
            <a:prstGeom prst="roundRect">
              <a:avLst>
                <a:gd name="adj" fmla="val 6818"/>
              </a:avLst>
            </a:prstGeom>
            <a:solidFill>
              <a:srgbClr val="FFFFFF"/>
            </a:solidFill>
            <a:ln w="11430">
              <a:solidFill>
                <a:srgbClr val="E30613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700618" y="5785247"/>
              <a:ext cx="4790763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4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机会窗口：SO 2025 仅 14% 每天在工作中用 AI Agent —— 先掌握 L3，先吃到红利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30" name="TextBox 30"/>
            <p:cNvSpPr txBox="1"/>
            <p:nvPr/>
          </p:nvSpPr>
          <p:spPr>
            <a:xfrm>
              <a:off x="604838" y="6613684"/>
              <a:ext cx="1063808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从 AI 使用者到 AI 架构师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14 / 27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7728212" cy="738854"/>
            <a:chOff x="595122" y="501491"/>
            <a:chExt cx="7728212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04 · 学习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7728212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技术变了，学的方式也该变 —— AI 新学习栈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609600" y="1619250"/>
            <a:ext cx="5257800" cy="4191000"/>
            <a:chOff x="609600" y="1619250"/>
            <a:chExt cx="5257800" cy="4191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52578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旧路径（慢）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838200" y="3324225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03935" y="3298031"/>
              <a:ext cx="11045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读 500 页教科书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838200" y="3648075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03935" y="3621881"/>
              <a:ext cx="10216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看 40 小时视频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838200" y="3971925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03935" y="3945731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复制粘贴不求甚解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838200" y="4295775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003935" y="4269581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学完即忘难迁移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324600" y="1619250"/>
            <a:ext cx="5257800" cy="4191000"/>
            <a:chOff x="6324600" y="1619250"/>
            <a:chExt cx="5257800" cy="4191000"/>
          </a:xfrm>
        </p:grpSpPr>
        <p:sp>
          <p:nvSpPr>
            <p:cNvPr id="18" name="Rectangle 18"/>
            <p:cNvSpPr/>
            <p:nvPr/>
          </p:nvSpPr>
          <p:spPr>
            <a:xfrm>
              <a:off x="6324600" y="1619250"/>
              <a:ext cx="52578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6324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546342" y="1892618"/>
              <a:ext cx="17629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2026 新学习栈（快）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553200" y="3324225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718935" y="3298031"/>
              <a:ext cx="26001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用 AI 当 24/7 私教：多问「为什么」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553200" y="3648075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718935" y="3621881"/>
              <a:ext cx="25907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游戏化闯关：bibabo · freeCodeCamp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6553200" y="3971925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718935" y="3945731"/>
              <a:ext cx="25618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即时验证：让 AI 出 Demo 几分钟见效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553200" y="4295775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718935" y="4269581"/>
              <a:ext cx="2632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小黄鸭调试：向 AI 逐行解释暴露漏洞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30" name="TextBox 30"/>
            <p:cNvSpPr txBox="1"/>
            <p:nvPr/>
          </p:nvSpPr>
          <p:spPr>
            <a:xfrm>
              <a:off x="604838" y="6613684"/>
              <a:ext cx="1063808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从 AI 使用者到 AI 架构师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15 / 27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6193833" cy="738854"/>
            <a:chOff x="595122" y="501491"/>
            <a:chExt cx="6193833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74283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04 · 反直觉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6193833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有了 AI，为什么基础知识更重要？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609600" y="1619250"/>
            <a:ext cx="3429000" cy="1905000"/>
            <a:chOff x="609600" y="1619250"/>
            <a:chExt cx="3429000" cy="1905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34290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反直觉真相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2431256"/>
              <a:ext cx="13097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AI 越强，判断越贵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267890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底层知识是校验依据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2485" y="2926556"/>
              <a:ext cx="7879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生成 ≠ 正确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381500" y="1619250"/>
            <a:ext cx="3429000" cy="1905000"/>
            <a:chOff x="4381500" y="1619250"/>
            <a:chExt cx="3429000" cy="1905000"/>
          </a:xfrm>
        </p:grpSpPr>
        <p:sp>
          <p:nvSpPr>
            <p:cNvPr id="13" name="Rectangle 13"/>
            <p:cNvSpPr/>
            <p:nvPr/>
          </p:nvSpPr>
          <p:spPr>
            <a:xfrm>
              <a:off x="4381500" y="1619250"/>
              <a:ext cx="34290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43815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603242" y="1892618"/>
              <a:ext cx="15053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没有基础 → 盲区一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604385" y="2431256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无法判断输出对错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604385" y="2678906"/>
              <a:ext cx="16551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无法设计约束与 Prompt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604385" y="292655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被「看起来对」带偏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8153400" y="1619250"/>
            <a:ext cx="3429000" cy="1905000"/>
            <a:chOff x="8153400" y="1619250"/>
            <a:chExt cx="3429000" cy="1905000"/>
          </a:xfrm>
        </p:grpSpPr>
        <p:sp>
          <p:nvSpPr>
            <p:cNvPr id="20" name="Rectangle 20"/>
            <p:cNvSpPr/>
            <p:nvPr/>
          </p:nvSpPr>
          <p:spPr>
            <a:xfrm>
              <a:off x="8153400" y="1619250"/>
              <a:ext cx="34290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81534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375142" y="1892618"/>
              <a:ext cx="15053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没有基础 → 盲区二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376285" y="2431256"/>
              <a:ext cx="11251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遇 Bug 束手无策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376285" y="2678906"/>
              <a:ext cx="16284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AI 反复出错时只能干等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376285" y="2926556"/>
              <a:ext cx="13910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排障 = 判断力的体现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09600" y="3810000"/>
            <a:ext cx="10972800" cy="2000250"/>
            <a:chOff x="609600" y="3810000"/>
            <a:chExt cx="10972800" cy="2000250"/>
          </a:xfrm>
        </p:grpSpPr>
        <p:sp>
          <p:nvSpPr>
            <p:cNvPr id="27" name="Rectangle 27"/>
            <p:cNvSpPr/>
            <p:nvPr/>
          </p:nvSpPr>
          <p:spPr>
            <a:xfrm>
              <a:off x="609600" y="3810000"/>
              <a:ext cx="10972800" cy="200025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06018" y="4050982"/>
              <a:ext cx="640225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AI 降低了「写出来」的门槛，却提高了「判断对不对」的门槛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08304" y="4832985"/>
              <a:ext cx="51584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用 AI 加速基础学习，但不能跳过基础理解 —— 基础决定你能走多高。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08304" y="5061585"/>
              <a:ext cx="51157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三个盲区 = 判断 · 约束 · 排障：这正是 AI 越强、判断越贵的本质。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32" name="TextBox 32"/>
            <p:cNvSpPr txBox="1"/>
            <p:nvPr/>
          </p:nvSpPr>
          <p:spPr>
            <a:xfrm>
              <a:off x="604838" y="6613684"/>
              <a:ext cx="1063808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从 AI 使用者到 AI 架构师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16 / 27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6599217" cy="738854"/>
            <a:chOff x="595122" y="501491"/>
            <a:chExt cx="6599217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04 · 思维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6599217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架构设计思维：AI 时代最稀缺的能力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47" name="Group 47"/>
          <p:cNvGrpSpPr/>
          <p:nvPr/>
        </p:nvGrpSpPr>
        <p:grpSpPr>
          <a:xfrm>
            <a:off x="1047750" y="1866900"/>
            <a:ext cx="10096500" cy="4057650"/>
            <a:chOff x="1047750" y="1866900"/>
            <a:chExt cx="10096500" cy="4057650"/>
          </a:xfrm>
        </p:grpSpPr>
        <p:sp>
          <p:nvSpPr>
            <p:cNvPr id="6" name="Rectangle 6"/>
            <p:cNvSpPr/>
            <p:nvPr/>
          </p:nvSpPr>
          <p:spPr>
            <a:xfrm>
              <a:off x="1047750" y="1866900"/>
              <a:ext cx="10096500" cy="400050"/>
            </a:xfrm>
            <a:prstGeom prst="roundRect">
              <a:avLst>
                <a:gd name="adj" fmla="val 7143"/>
              </a:avLst>
            </a:prstGeom>
            <a:solidFill>
              <a:srgbClr val="F5F5F5"/>
            </a:solidFill>
            <a:ln w="9525">
              <a:solidFill>
                <a:srgbClr val="999999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4097617" y="2001202"/>
              <a:ext cx="399676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先把角色说清：使用者 / 工程师 / 架构师 —— 责任半径逐级变大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1047750" y="2400300"/>
              <a:ext cx="3238500" cy="990600"/>
            </a:xfrm>
            <a:prstGeom prst="roundRect">
              <a:avLst>
                <a:gd name="adj" fmla="val 2885"/>
              </a:avLst>
            </a:prstGeom>
            <a:solidFill>
              <a:srgbClr val="FFFFFF"/>
            </a:solidFill>
            <a:ln w="11430">
              <a:solidFill>
                <a:srgbClr val="999999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1047750" y="2400300"/>
              <a:ext cx="32385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2326139" y="2583656"/>
              <a:ext cx="6817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AI 使用者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148147" y="2867739"/>
              <a:ext cx="1037707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9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告诉 AI：帮我写代码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328758" y="280416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→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4476750" y="2400300"/>
              <a:ext cx="3238500" cy="990600"/>
            </a:xfrm>
            <a:prstGeom prst="roundRect">
              <a:avLst>
                <a:gd name="adj" fmla="val 2885"/>
              </a:avLst>
            </a:prstGeom>
            <a:solidFill>
              <a:srgbClr val="FFFFFF"/>
            </a:solidFill>
            <a:ln w="11430">
              <a:solidFill>
                <a:srgbClr val="999999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4476750" y="2400300"/>
              <a:ext cx="32385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755139" y="2583656"/>
              <a:ext cx="6817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AI 工程师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504106" y="2867739"/>
              <a:ext cx="1183787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9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让 AI 稳定完成一个任务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757758" y="280416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→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905750" y="2400300"/>
              <a:ext cx="3238500" cy="990600"/>
            </a:xfrm>
            <a:prstGeom prst="roundRect">
              <a:avLst>
                <a:gd name="adj" fmla="val 2885"/>
              </a:avLst>
            </a:prstGeom>
            <a:solidFill>
              <a:srgbClr val="1A1A1A"/>
            </a:solidFill>
            <a:ln w="15240">
              <a:solidFill>
                <a:srgbClr val="E30613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905750" y="2400300"/>
              <a:ext cx="32385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184139" y="2583656"/>
              <a:ext cx="6817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AI 架构师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706662" y="2867739"/>
              <a:ext cx="1636677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9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设计：谁做 · 怎么协作 · 怎么验证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980512" y="3077289"/>
              <a:ext cx="1088975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9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失败怎么办 · 成本多少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1047750" y="3543300"/>
              <a:ext cx="4953000" cy="800100"/>
            </a:xfrm>
            <a:prstGeom prst="roundRect">
              <a:avLst>
                <a:gd name="adj" fmla="val 3571"/>
              </a:avLst>
            </a:prstGeom>
            <a:solidFill>
              <a:srgbClr val="FFFFFF"/>
            </a:solidFill>
            <a:ln w="11430">
              <a:solidFill>
                <a:srgbClr val="999999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1047750" y="3543300"/>
              <a:ext cx="4953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3236214" y="36966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系统分解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726857" y="3968591"/>
              <a:ext cx="159478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复杂问题 → Agent 可执行子任务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014461" y="4178141"/>
              <a:ext cx="10195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依赖清晰 · 边界明确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191250" y="3543300"/>
              <a:ext cx="4953000" cy="800100"/>
            </a:xfrm>
            <a:prstGeom prst="roundRect">
              <a:avLst>
                <a:gd name="adj" fmla="val 3571"/>
              </a:avLst>
            </a:prstGeom>
            <a:solidFill>
              <a:srgbClr val="FFFFFF"/>
            </a:solidFill>
            <a:ln w="11430">
              <a:solidFill>
                <a:srgbClr val="999999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6191250" y="3543300"/>
              <a:ext cx="4953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379714" y="36966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接口设计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772674" y="3968591"/>
              <a:ext cx="17901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定义 Agent↔Agent、Agent↔人 协议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984099" y="4178141"/>
              <a:ext cx="136730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消息 · 工具 · 上下文的约定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1047750" y="4419600"/>
              <a:ext cx="4953000" cy="800100"/>
            </a:xfrm>
            <a:prstGeom prst="roundRect">
              <a:avLst>
                <a:gd name="adj" fmla="val 3571"/>
              </a:avLst>
            </a:prstGeom>
            <a:solidFill>
              <a:srgbClr val="FFFFFF"/>
            </a:solidFill>
            <a:ln w="11430">
              <a:solidFill>
                <a:srgbClr val="999999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1047750" y="4419600"/>
              <a:ext cx="4953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3236214" y="45729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容错设计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662665" y="4844891"/>
              <a:ext cx="172317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Agent 会失败：重试 · 降级 · 接管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912351" y="5054441"/>
              <a:ext cx="122379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验证不可省，防幻觉扩散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191250" y="4419600"/>
              <a:ext cx="4953000" cy="800100"/>
            </a:xfrm>
            <a:prstGeom prst="roundRect">
              <a:avLst>
                <a:gd name="adj" fmla="val 3571"/>
              </a:avLst>
            </a:prstGeom>
            <a:solidFill>
              <a:srgbClr val="FFFFFF"/>
            </a:solidFill>
            <a:ln w="11430">
              <a:solidFill>
                <a:srgbClr val="999999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6191250" y="4419600"/>
              <a:ext cx="4953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309038" y="4572952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成本与评估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848535" y="4844891"/>
              <a:ext cx="163843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多 Agent 循环快速消耗 API 费用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917866" y="5054441"/>
              <a:ext cx="149976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监控 token 成本 · 先小步试跑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1047750" y="5353050"/>
              <a:ext cx="10096500" cy="571500"/>
            </a:xfrm>
            <a:prstGeom prst="roundRect">
              <a:avLst>
                <a:gd name="adj" fmla="val 5000"/>
              </a:avLst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1047750" y="5353050"/>
              <a:ext cx="100965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4005727" y="5483304"/>
              <a:ext cx="4180547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9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从「实现」到「设计」：把问题切对 · 把边界定清 · 把失败兜住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197377" y="5730716"/>
              <a:ext cx="379724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定义角色、设计接口、评估结果 —— 这是 AI 架构师在 Agent 时代真正的落点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48" name="TextBox 48"/>
            <p:cNvSpPr txBox="1"/>
            <p:nvPr/>
          </p:nvSpPr>
          <p:spPr>
            <a:xfrm>
              <a:off x="604838" y="6613684"/>
              <a:ext cx="1063808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从 AI 使用者到 AI 架构师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17 / 27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6599217" cy="738854"/>
            <a:chOff x="595122" y="501491"/>
            <a:chExt cx="6599217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05 · 跨界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6599217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AI 不止于代码：从软件走向现实世界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609600" y="1619250"/>
            <a:ext cx="2057400" cy="1905000"/>
            <a:chOff x="609600" y="1619250"/>
            <a:chExt cx="2057400" cy="1905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20574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20574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10877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Text → Code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2431256"/>
              <a:ext cx="9339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Agent 写程序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2678906"/>
              <a:ext cx="11529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Cursor · Claude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2485" y="2926556"/>
              <a:ext cx="942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Code · Codex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2838450" y="1619250"/>
            <a:ext cx="2057400" cy="1905000"/>
            <a:chOff x="2838450" y="1619250"/>
            <a:chExt cx="2057400" cy="1905000"/>
          </a:xfrm>
        </p:grpSpPr>
        <p:sp>
          <p:nvSpPr>
            <p:cNvPr id="13" name="Rectangle 13"/>
            <p:cNvSpPr/>
            <p:nvPr/>
          </p:nvSpPr>
          <p:spPr>
            <a:xfrm>
              <a:off x="2838450" y="1619250"/>
              <a:ext cx="20574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2838450" y="1619250"/>
              <a:ext cx="20574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060192" y="1892618"/>
              <a:ext cx="11827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Text → Image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061335" y="243125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文生图已成熟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061335" y="2678906"/>
              <a:ext cx="12775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Midjourney · 即梦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061335" y="2926556"/>
              <a:ext cx="43050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20904" indent="-120904" algn="l">
                <a:buClr>
                  <a:srgbClr val="555555"/>
                </a:buClr>
                <a:buSzTx/>
                <a:buFontTx/>
                <a:buChar char="•"/>
              </a:pPr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Flux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067300" y="1619250"/>
            <a:ext cx="2057400" cy="1905000"/>
            <a:chOff x="5067300" y="1619250"/>
            <a:chExt cx="2057400" cy="1905000"/>
          </a:xfrm>
        </p:grpSpPr>
        <p:sp>
          <p:nvSpPr>
            <p:cNvPr id="20" name="Rectangle 20"/>
            <p:cNvSpPr/>
            <p:nvPr/>
          </p:nvSpPr>
          <p:spPr>
            <a:xfrm>
              <a:off x="5067300" y="1619250"/>
              <a:ext cx="20574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067300" y="1619250"/>
              <a:ext cx="20574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289042" y="1892618"/>
              <a:ext cx="11440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Text → Video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290185" y="243125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文生视频可用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290185" y="2678906"/>
              <a:ext cx="9766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Sora · Veo 系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290185" y="2926556"/>
              <a:ext cx="4338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20904" indent="-120904" algn="l">
                <a:buClr>
                  <a:srgbClr val="555555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可灵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7296150" y="1619250"/>
            <a:ext cx="2057400" cy="1905000"/>
            <a:chOff x="7296150" y="1619250"/>
            <a:chExt cx="2057400" cy="1905000"/>
          </a:xfrm>
        </p:grpSpPr>
        <p:sp>
          <p:nvSpPr>
            <p:cNvPr id="27" name="Rectangle 27"/>
            <p:cNvSpPr/>
            <p:nvPr/>
          </p:nvSpPr>
          <p:spPr>
            <a:xfrm>
              <a:off x="7296150" y="1619250"/>
              <a:ext cx="20574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7296150" y="1619250"/>
              <a:ext cx="20574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517892" y="1892618"/>
              <a:ext cx="88210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Text → 3D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519035" y="2431256"/>
              <a:ext cx="496931" cy="1723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alt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Blender</a:t>
              </a:r>
              <a:endParaRPr lang="zh-CN" sz="1120" dirty="0">
                <a:solidFill>
                  <a:srgbClr val="555555"/>
                </a:solidFill>
                <a:latin typeface="Arial"/>
                <a:ea typeface="Microsoft YaHei"/>
                <a:cs typeface="Arial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519035" y="2678906"/>
              <a:ext cx="512961" cy="1723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Unity3D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519035" y="2926556"/>
              <a:ext cx="408766" cy="1723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buClr>
                  <a:srgbClr val="555555"/>
                </a:buClr>
                <a:buSzTx/>
              </a:pPr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C</a:t>
              </a:r>
              <a:r>
                <a:rPr lang="en-US" altLang="zh-CN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ocos</a:t>
              </a:r>
              <a:endParaRPr lang="en-US" sz="1120" dirty="0">
                <a:solidFill>
                  <a:srgbClr val="555555"/>
                </a:solidFill>
                <a:latin typeface="Arial"/>
                <a:ea typeface="Arial"/>
                <a:cs typeface="Arial"/>
              </a:endParaRP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525000" y="1619250"/>
            <a:ext cx="2057400" cy="1905000"/>
            <a:chOff x="9525000" y="1619250"/>
            <a:chExt cx="2057400" cy="1905000"/>
          </a:xfrm>
        </p:grpSpPr>
        <p:sp>
          <p:nvSpPr>
            <p:cNvPr id="34" name="Rectangle 34"/>
            <p:cNvSpPr/>
            <p:nvPr/>
          </p:nvSpPr>
          <p:spPr>
            <a:xfrm>
              <a:off x="9525000" y="1619250"/>
              <a:ext cx="20574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9525000" y="1619250"/>
              <a:ext cx="20574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746742" y="1892618"/>
              <a:ext cx="15450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Text → Hardware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747885" y="2431256"/>
              <a:ext cx="14850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AI 画 PCB / 硬件制造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747885" y="2678906"/>
              <a:ext cx="9386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概念 → 原理图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747885" y="2926556"/>
              <a:ext cx="591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→ 可制造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609600" y="3810000"/>
            <a:ext cx="10972800" cy="2000250"/>
            <a:chOff x="609600" y="3810000"/>
            <a:chExt cx="10972800" cy="2000250"/>
          </a:xfrm>
        </p:grpSpPr>
        <p:sp>
          <p:nvSpPr>
            <p:cNvPr id="41" name="Rectangle 41"/>
            <p:cNvSpPr/>
            <p:nvPr/>
          </p:nvSpPr>
          <p:spPr>
            <a:xfrm>
              <a:off x="609600" y="3810000"/>
              <a:ext cx="10972800" cy="200025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906018" y="4050982"/>
              <a:ext cx="556817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边界正在消失，但工程约束没有消失 —— 能生成 ≠ 能制造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08304" y="4947285"/>
              <a:ext cx="814008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Text-to-3D ≠ Text-to-CAD：尺寸 / 公差 / DFM / 安全仍需工程师把关。生成只是起点，工程判断才是终点。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45" name="TextBox 45"/>
            <p:cNvSpPr txBox="1"/>
            <p:nvPr/>
          </p:nvSpPr>
          <p:spPr>
            <a:xfrm>
              <a:off x="604838" y="6613684"/>
              <a:ext cx="1063808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从 AI 使用者到 AI 架构师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18 / 27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4249293" cy="738854"/>
            <a:chOff x="595122" y="501491"/>
            <a:chExt cx="4249293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05 · 开源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4249293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开源社区：建立个人品牌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609600" y="1619250"/>
            <a:ext cx="3429000" cy="1905000"/>
            <a:chOff x="609600" y="1619250"/>
            <a:chExt cx="3429000" cy="1905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34290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为什么开源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2431256"/>
              <a:ext cx="15417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真实项目 = 最好的简历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2678906"/>
              <a:ext cx="14477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GitHub 历史可被看见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2485" y="2926556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社区反馈加速成长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381500" y="1619250"/>
            <a:ext cx="3429000" cy="1905000"/>
            <a:chOff x="4381500" y="1619250"/>
            <a:chExt cx="3429000" cy="1905000"/>
          </a:xfrm>
        </p:grpSpPr>
        <p:sp>
          <p:nvSpPr>
            <p:cNvPr id="13" name="Rectangle 13"/>
            <p:cNvSpPr/>
            <p:nvPr/>
          </p:nvSpPr>
          <p:spPr>
            <a:xfrm>
              <a:off x="4381500" y="1619250"/>
              <a:ext cx="34290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43815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603242" y="18926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平台双轨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604385" y="2431256"/>
              <a:ext cx="10944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GitHub（国际）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604385" y="2678906"/>
              <a:ext cx="10025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Gitee（国内）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604385" y="292655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双平台同步维护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8153400" y="1619250"/>
            <a:ext cx="3429000" cy="1905000"/>
            <a:chOff x="8153400" y="1619250"/>
            <a:chExt cx="3429000" cy="1905000"/>
          </a:xfrm>
        </p:grpSpPr>
        <p:sp>
          <p:nvSpPr>
            <p:cNvPr id="20" name="Rectangle 20"/>
            <p:cNvSpPr/>
            <p:nvPr/>
          </p:nvSpPr>
          <p:spPr>
            <a:xfrm>
              <a:off x="8153400" y="1619250"/>
              <a:ext cx="34290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81534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375142" y="18926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项目建议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376285" y="2431256"/>
              <a:ext cx="12389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自动化研究 Agent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376285" y="2678906"/>
              <a:ext cx="15667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客服 / 退款处理 Agent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376285" y="2926556"/>
              <a:ext cx="11186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个人知识库 RAG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09600" y="3810000"/>
            <a:ext cx="10972800" cy="2000250"/>
            <a:chOff x="609600" y="3810000"/>
            <a:chExt cx="10972800" cy="2000250"/>
          </a:xfrm>
        </p:grpSpPr>
        <p:sp>
          <p:nvSpPr>
            <p:cNvPr id="27" name="Rectangle 27"/>
            <p:cNvSpPr/>
            <p:nvPr/>
          </p:nvSpPr>
          <p:spPr>
            <a:xfrm>
              <a:off x="609600" y="3810000"/>
              <a:ext cx="10972800" cy="200025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06018" y="4050982"/>
              <a:ext cx="363495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没有工作经历？—— GitHub 就是证据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08304" y="4832985"/>
              <a:ext cx="375342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2–3 个解决真实问题的 Agent 项目 ＞ 一堆课程证书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08304" y="5061585"/>
              <a:ext cx="37331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把过程写进 README：会解决问题的人自带证据。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32" name="TextBox 32"/>
            <p:cNvSpPr txBox="1"/>
            <p:nvPr/>
          </p:nvSpPr>
          <p:spPr>
            <a:xfrm>
              <a:off x="604838" y="6613684"/>
              <a:ext cx="1063808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从 AI 使用者到 AI 架构师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19 / 27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2330958" cy="738854"/>
            <a:chOff x="595122" y="501491"/>
            <a:chExt cx="2330958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06 · 金句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2330958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三句核心总结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1047750" y="1905000"/>
            <a:ext cx="10096500" cy="4152900"/>
            <a:chOff x="1047750" y="1905000"/>
            <a:chExt cx="10096500" cy="4152900"/>
          </a:xfrm>
        </p:grpSpPr>
        <p:sp>
          <p:nvSpPr>
            <p:cNvPr id="6" name="Rectangle 6"/>
            <p:cNvSpPr/>
            <p:nvPr/>
          </p:nvSpPr>
          <p:spPr>
            <a:xfrm>
              <a:off x="1047750" y="1905000"/>
              <a:ext cx="10096500" cy="400050"/>
            </a:xfrm>
            <a:prstGeom prst="roundRect">
              <a:avLst>
                <a:gd name="adj" fmla="val 7143"/>
              </a:avLst>
            </a:prstGeom>
            <a:solidFill>
              <a:srgbClr val="F5F5F5"/>
            </a:solidFill>
            <a:ln w="9525">
              <a:solidFill>
                <a:srgbClr val="999999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383911" y="2039302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三句值得贴在工位的话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1047750" y="2552700"/>
              <a:ext cx="10096500" cy="819150"/>
            </a:xfrm>
            <a:prstGeom prst="roundRect">
              <a:avLst>
                <a:gd name="adj" fmla="val 3488"/>
              </a:avLst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1047750" y="2552700"/>
              <a:ext cx="76200" cy="819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421130" y="2886075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184273" y="2910364"/>
              <a:ext cx="58716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你的价值不由代码行数衡量，而由你定义问题的清晰度、评估输出的质量衡量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047750" y="3543300"/>
              <a:ext cx="10096500" cy="819150"/>
            </a:xfrm>
            <a:prstGeom prst="roundRect">
              <a:avLst>
                <a:gd name="adj" fmla="val 3488"/>
              </a:avLst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1047750" y="3543300"/>
              <a:ext cx="76200" cy="819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421130" y="3876675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184273" y="3900964"/>
              <a:ext cx="29638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AI 让入门变容易，但让精通变更重要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1047750" y="4533900"/>
              <a:ext cx="10096500" cy="819150"/>
            </a:xfrm>
            <a:prstGeom prst="roundRect">
              <a:avLst>
                <a:gd name="adj" fmla="val 3488"/>
              </a:avLst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1047750" y="4533900"/>
              <a:ext cx="76200" cy="819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421130" y="4867275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03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184273" y="4891564"/>
              <a:ext cx="36315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最好的学习方式是构建，最好的构建方式是开源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1047750" y="5562600"/>
              <a:ext cx="10096500" cy="495300"/>
            </a:xfrm>
            <a:prstGeom prst="roundRect">
              <a:avLst>
                <a:gd name="adj" fmla="val 5769"/>
              </a:avLst>
            </a:prstGeom>
            <a:solidFill>
              <a:srgbClr val="FFFFFF"/>
            </a:solidFill>
            <a:ln w="11430">
              <a:solidFill>
                <a:srgbClr val="E30613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975053" y="5715952"/>
              <a:ext cx="22418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下一页：把总结变成 30 天行动清单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23" name="TextBox 23"/>
            <p:cNvSpPr txBox="1"/>
            <p:nvPr/>
          </p:nvSpPr>
          <p:spPr>
            <a:xfrm>
              <a:off x="604838" y="6613684"/>
              <a:ext cx="1063808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从 AI 使用者到 AI 架构师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20 / 27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5196950" cy="738854"/>
            <a:chOff x="595122" y="501491"/>
            <a:chExt cx="5196950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06 · 行动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5196950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30 天行动清单（从今天开始）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662526" y="3188018"/>
            <a:ext cx="10872250" cy="1456943"/>
            <a:chOff x="662526" y="3188018"/>
            <a:chExt cx="10872250" cy="1456943"/>
          </a:xfrm>
        </p:grpSpPr>
        <p:sp>
          <p:nvSpPr>
            <p:cNvPr id="6" name="Line 6"/>
            <p:cNvSpPr/>
            <p:nvPr/>
          </p:nvSpPr>
          <p:spPr>
            <a:xfrm>
              <a:off x="1371600" y="3810000"/>
              <a:ext cx="9448800" cy="9525"/>
            </a:xfrm>
            <a:custGeom>
              <a:avLst/>
              <a:gdLst/>
              <a:ahLst/>
              <a:cxnLst/>
              <a:rect l="l" t="t" r="r" b="b"/>
              <a:pathLst>
                <a:path w="9448800" h="9525">
                  <a:moveTo>
                    <a:pt x="0" y="0"/>
                  </a:moveTo>
                  <a:lnTo>
                    <a:pt x="9448800" y="0"/>
                  </a:lnTo>
                </a:path>
              </a:pathLst>
            </a:custGeom>
            <a:noFill/>
            <a:ln w="19050">
              <a:solidFill>
                <a:srgbClr val="999999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1285875" y="3724275"/>
              <a:ext cx="171450" cy="171450"/>
            </a:xfrm>
            <a:prstGeom prst="ellipse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2526" y="3188018"/>
              <a:ext cx="14181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Week 1 · 搭骨架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08690" y="4020502"/>
              <a:ext cx="13258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选框架 · 建单 Agent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79659" y="4230052"/>
              <a:ext cx="11838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任务 → 工具 → 输出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4429125" y="3724275"/>
              <a:ext cx="171450" cy="171450"/>
            </a:xfrm>
            <a:prstGeom prst="ellipse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788722" y="3188018"/>
              <a:ext cx="14522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Week 2 · 接 RAG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984170" y="4020502"/>
              <a:ext cx="10613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给 Agent 加检索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085463" y="423005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连上私有知识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042791" y="4439602"/>
              <a:ext cx="94411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对比 RAG 效果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581900" y="3724275"/>
              <a:ext cx="171450" cy="171450"/>
            </a:xfrm>
            <a:prstGeom prst="ellipse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866396" y="3188018"/>
              <a:ext cx="16024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Week 3 · 协作评估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238238" y="402050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设计协作流程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238238" y="423005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加评估与日志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238238" y="443960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盯成本与质量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10734675" y="3724275"/>
              <a:ext cx="171450" cy="171450"/>
            </a:xfrm>
            <a:prstGeom prst="ellipse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203480" y="3188018"/>
              <a:ext cx="12338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Week 4 · 发布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461689" y="4020502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部署到云端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106024" y="4230052"/>
              <a:ext cx="142875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写 README · 录 Demo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391013" y="443960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开源分享作品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09600" y="5715000"/>
            <a:ext cx="10972800" cy="571500"/>
            <a:chOff x="609600" y="5715000"/>
            <a:chExt cx="10972800" cy="571500"/>
          </a:xfrm>
        </p:grpSpPr>
        <p:sp>
          <p:nvSpPr>
            <p:cNvPr id="27" name="Rectangle 27"/>
            <p:cNvSpPr/>
            <p:nvPr/>
          </p:nvSpPr>
          <p:spPr>
            <a:xfrm>
              <a:off x="609600" y="5715000"/>
              <a:ext cx="10972800" cy="57150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09638" y="6017895"/>
              <a:ext cx="533329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30 天后不要求成为 AI 专家 —— 但至少要有一个真正属于你的 Agent：能演示 · 有代码 · 有文档。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30" name="TextBox 30"/>
            <p:cNvSpPr txBox="1"/>
            <p:nvPr/>
          </p:nvSpPr>
          <p:spPr>
            <a:xfrm>
              <a:off x="604838" y="6613684"/>
              <a:ext cx="1063808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从 AI 使用者到 AI 架构师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21 / 27</a:t>
              </a: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7494102" cy="738854"/>
            <a:chOff x="595122" y="501491"/>
            <a:chExt cx="7494102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91904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07 · 具身 1/3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7494102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具身智能：有身体的 AI（概念 × 技术栈）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609600" y="1619250"/>
            <a:ext cx="3429000" cy="1905000"/>
            <a:chOff x="609600" y="1619250"/>
            <a:chExt cx="3429000" cy="1905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34290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是什么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2431256"/>
              <a:ext cx="21063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纯文本 LLM：只在屏幕上思考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2678906"/>
              <a:ext cx="22202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具身：真实世界→感知→决策→动作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2485" y="2926556"/>
              <a:ext cx="23532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形成感知-行动闭环、能动手的 AI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381500" y="1619250"/>
            <a:ext cx="3429000" cy="1905000"/>
            <a:chOff x="4381500" y="1619250"/>
            <a:chExt cx="3429000" cy="1905000"/>
          </a:xfrm>
        </p:grpSpPr>
        <p:sp>
          <p:nvSpPr>
            <p:cNvPr id="13" name="Rectangle 13"/>
            <p:cNvSpPr/>
            <p:nvPr/>
          </p:nvSpPr>
          <p:spPr>
            <a:xfrm>
              <a:off x="4381500" y="1619250"/>
              <a:ext cx="34290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43815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603242" y="18926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为什么是现在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604385" y="2431256"/>
              <a:ext cx="24238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大模型给机器人「常识」与指令理解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604385" y="2678906"/>
              <a:ext cx="25559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仿真成熟：MuJoCo / Isaac / Gazebo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604385" y="2926556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数据飞轮：开源数据集持续增长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8153400" y="1619250"/>
            <a:ext cx="3429000" cy="1905000"/>
            <a:chOff x="8153400" y="1619250"/>
            <a:chExt cx="3429000" cy="1905000"/>
          </a:xfrm>
        </p:grpSpPr>
        <p:sp>
          <p:nvSpPr>
            <p:cNvPr id="20" name="Rectangle 20"/>
            <p:cNvSpPr/>
            <p:nvPr/>
          </p:nvSpPr>
          <p:spPr>
            <a:xfrm>
              <a:off x="8153400" y="1619250"/>
              <a:ext cx="34290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81534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375142" y="18926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技术栈三句话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376285" y="2431256"/>
              <a:ext cx="19187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感知：视觉/点云/触觉/本体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376285" y="2678906"/>
              <a:ext cx="193110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决策：VLA · 世界模型 · RL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376285" y="2926556"/>
              <a:ext cx="23532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平台：ROS2 · 仿真 · 遥操作数据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09600" y="3810000"/>
            <a:ext cx="10972800" cy="2000250"/>
            <a:chOff x="609600" y="3810000"/>
            <a:chExt cx="10972800" cy="2000250"/>
          </a:xfrm>
        </p:grpSpPr>
        <p:sp>
          <p:nvSpPr>
            <p:cNvPr id="27" name="Rectangle 27"/>
            <p:cNvSpPr/>
            <p:nvPr/>
          </p:nvSpPr>
          <p:spPr>
            <a:xfrm>
              <a:off x="609600" y="3810000"/>
              <a:ext cx="10972800" cy="200025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06018" y="4050982"/>
              <a:ext cx="659660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具身智能 = 大模型给的『大脑』 × 物理世界的『身体』 × 反馈闭环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08304" y="4880610"/>
              <a:ext cx="6974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对计算机学生：不必先买硬件 —— 仿真（MuJoCo / Isaac / LeRobot）就能跑通 80% 的入门学习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32" name="TextBox 32"/>
            <p:cNvSpPr txBox="1"/>
            <p:nvPr/>
          </p:nvSpPr>
          <p:spPr>
            <a:xfrm>
              <a:off x="604838" y="6613684"/>
              <a:ext cx="1063808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从 AI 使用者到 AI 架构师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22 / 27</a:t>
              </a: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5">
            <a:extLst>
              <a:ext uri="{FF2B5EF4-FFF2-40B4-BE49-F238E27FC236}">
                <a16:creationId xmlns:a16="http://schemas.microsoft.com/office/drawing/2014/main" id="{2AE00B48-7038-24DA-804F-60F05C877701}"/>
              </a:ext>
            </a:extLst>
          </p:cNvPr>
          <p:cNvGrpSpPr/>
          <p:nvPr/>
        </p:nvGrpSpPr>
        <p:grpSpPr>
          <a:xfrm>
            <a:off x="595122" y="501491"/>
            <a:ext cx="7094184" cy="738854"/>
            <a:chOff x="595122" y="501491"/>
            <a:chExt cx="7094184" cy="738854"/>
          </a:xfrm>
        </p:grpSpPr>
        <p:sp>
          <p:nvSpPr>
            <p:cNvPr id="39" name="TextBox 2">
              <a:extLst>
                <a:ext uri="{FF2B5EF4-FFF2-40B4-BE49-F238E27FC236}">
                  <a16:creationId xmlns:a16="http://schemas.microsoft.com/office/drawing/2014/main" id="{67F013C4-5A40-25C1-D837-6D7919B8E191}"/>
                </a:ext>
              </a:extLst>
            </p:cNvPr>
            <p:cNvSpPr txBox="1"/>
            <p:nvPr/>
          </p:nvSpPr>
          <p:spPr>
            <a:xfrm>
              <a:off x="604838" y="501491"/>
              <a:ext cx="91904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07 · 具身 2/3</a:t>
              </a:r>
            </a:p>
          </p:txBody>
        </p:sp>
        <p:sp>
          <p:nvSpPr>
            <p:cNvPr id="40" name="TextBox 3">
              <a:extLst>
                <a:ext uri="{FF2B5EF4-FFF2-40B4-BE49-F238E27FC236}">
                  <a16:creationId xmlns:a16="http://schemas.microsoft.com/office/drawing/2014/main" id="{3457E3B2-5645-AFA8-D771-C84679E23784}"/>
                </a:ext>
              </a:extLst>
            </p:cNvPr>
            <p:cNvSpPr txBox="1"/>
            <p:nvPr/>
          </p:nvSpPr>
          <p:spPr>
            <a:xfrm>
              <a:off x="595122" y="682942"/>
              <a:ext cx="709418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要学什么 + 怎么学：知识地图 → 学习路线</a:t>
              </a:r>
            </a:p>
          </p:txBody>
        </p:sp>
        <p:sp>
          <p:nvSpPr>
            <p:cNvPr id="41" name="Rectangle 4">
              <a:extLst>
                <a:ext uri="{FF2B5EF4-FFF2-40B4-BE49-F238E27FC236}">
                  <a16:creationId xmlns:a16="http://schemas.microsoft.com/office/drawing/2014/main" id="{F4CDBB71-8C28-5D95-92A2-F413F56F33E7}"/>
                </a:ext>
              </a:extLst>
            </p:cNvPr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42" name="Group 19">
            <a:extLst>
              <a:ext uri="{FF2B5EF4-FFF2-40B4-BE49-F238E27FC236}">
                <a16:creationId xmlns:a16="http://schemas.microsoft.com/office/drawing/2014/main" id="{9D05D6D9-0BE5-50AA-B79D-2B53CEDB78B5}"/>
              </a:ext>
            </a:extLst>
          </p:cNvPr>
          <p:cNvGrpSpPr/>
          <p:nvPr/>
        </p:nvGrpSpPr>
        <p:grpSpPr>
          <a:xfrm>
            <a:off x="609600" y="1619250"/>
            <a:ext cx="5257800" cy="4191000"/>
            <a:chOff x="609600" y="1619250"/>
            <a:chExt cx="5257800" cy="4191000"/>
          </a:xfrm>
        </p:grpSpPr>
        <p:sp>
          <p:nvSpPr>
            <p:cNvPr id="43" name="Rectangle 6">
              <a:extLst>
                <a:ext uri="{FF2B5EF4-FFF2-40B4-BE49-F238E27FC236}">
                  <a16:creationId xmlns:a16="http://schemas.microsoft.com/office/drawing/2014/main" id="{B593D2D0-003F-3FD1-ECAD-518BAA76985C}"/>
                </a:ext>
              </a:extLst>
            </p:cNvPr>
            <p:cNvSpPr/>
            <p:nvPr/>
          </p:nvSpPr>
          <p:spPr>
            <a:xfrm>
              <a:off x="609600" y="1619250"/>
              <a:ext cx="52578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44" name="Rectangle 7">
              <a:extLst>
                <a:ext uri="{FF2B5EF4-FFF2-40B4-BE49-F238E27FC236}">
                  <a16:creationId xmlns:a16="http://schemas.microsoft.com/office/drawing/2014/main" id="{60AE74AD-0D1B-778C-2CD5-C6694FFA3A41}"/>
                </a:ext>
              </a:extLst>
            </p:cNvPr>
            <p:cNvSpPr/>
            <p:nvPr/>
          </p:nvSpPr>
          <p:spPr>
            <a:xfrm>
              <a:off x="609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45" name="TextBox 8">
              <a:extLst>
                <a:ext uri="{FF2B5EF4-FFF2-40B4-BE49-F238E27FC236}">
                  <a16:creationId xmlns:a16="http://schemas.microsoft.com/office/drawing/2014/main" id="{4A297700-2DC6-A5C3-0ACA-AC4CF92E056F}"/>
                </a:ext>
              </a:extLst>
            </p:cNvPr>
            <p:cNvSpPr txBox="1"/>
            <p:nvPr/>
          </p:nvSpPr>
          <p:spPr>
            <a:xfrm>
              <a:off x="831342" y="189261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知识地图：学什么（按优先级）</a:t>
              </a:r>
            </a:p>
          </p:txBody>
        </p:sp>
        <p:sp>
          <p:nvSpPr>
            <p:cNvPr id="46" name="Rectangle 9">
              <a:extLst>
                <a:ext uri="{FF2B5EF4-FFF2-40B4-BE49-F238E27FC236}">
                  <a16:creationId xmlns:a16="http://schemas.microsoft.com/office/drawing/2014/main" id="{421A7C69-BD39-A56A-C3A6-7F9EA0C3B7A3}"/>
                </a:ext>
              </a:extLst>
            </p:cNvPr>
            <p:cNvSpPr/>
            <p:nvPr/>
          </p:nvSpPr>
          <p:spPr>
            <a:xfrm>
              <a:off x="838200" y="316230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47" name="TextBox 10">
              <a:extLst>
                <a:ext uri="{FF2B5EF4-FFF2-40B4-BE49-F238E27FC236}">
                  <a16:creationId xmlns:a16="http://schemas.microsoft.com/office/drawing/2014/main" id="{62064CA7-D3F4-BA1B-768D-491803C2A910}"/>
                </a:ext>
              </a:extLst>
            </p:cNvPr>
            <p:cNvSpPr txBox="1"/>
            <p:nvPr/>
          </p:nvSpPr>
          <p:spPr>
            <a:xfrm>
              <a:off x="1003935" y="3136106"/>
              <a:ext cx="32380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数学地基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 线代(变换/位姿) · 概率 · 优化 · 几何</a:t>
              </a:r>
            </a:p>
          </p:txBody>
        </p:sp>
        <p:sp>
          <p:nvSpPr>
            <p:cNvPr id="48" name="Rectangle 11">
              <a:extLst>
                <a:ext uri="{FF2B5EF4-FFF2-40B4-BE49-F238E27FC236}">
                  <a16:creationId xmlns:a16="http://schemas.microsoft.com/office/drawing/2014/main" id="{2DC5F37E-A952-2303-FAC9-8E556776DFEF}"/>
                </a:ext>
              </a:extLst>
            </p:cNvPr>
            <p:cNvSpPr/>
            <p:nvPr/>
          </p:nvSpPr>
          <p:spPr>
            <a:xfrm>
              <a:off x="838200" y="34861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49" name="TextBox 12">
              <a:extLst>
                <a:ext uri="{FF2B5EF4-FFF2-40B4-BE49-F238E27FC236}">
                  <a16:creationId xmlns:a16="http://schemas.microsoft.com/office/drawing/2014/main" id="{5A190537-BCCA-CFC1-06B1-A4E5574B2972}"/>
                </a:ext>
              </a:extLst>
            </p:cNvPr>
            <p:cNvSpPr txBox="1"/>
            <p:nvPr/>
          </p:nvSpPr>
          <p:spPr>
            <a:xfrm>
              <a:off x="1003935" y="3459956"/>
              <a:ext cx="31669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CS 工程</a:t>
              </a:r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 Python/C++ · Linux · Git · PyTorch</a:t>
              </a:r>
            </a:p>
          </p:txBody>
        </p:sp>
        <p:sp>
          <p:nvSpPr>
            <p:cNvPr id="50" name="Rectangle 13">
              <a:extLst>
                <a:ext uri="{FF2B5EF4-FFF2-40B4-BE49-F238E27FC236}">
                  <a16:creationId xmlns:a16="http://schemas.microsoft.com/office/drawing/2014/main" id="{548F9D7F-389D-FB7F-440F-11FEBE394FAC}"/>
                </a:ext>
              </a:extLst>
            </p:cNvPr>
            <p:cNvSpPr/>
            <p:nvPr/>
          </p:nvSpPr>
          <p:spPr>
            <a:xfrm>
              <a:off x="838200" y="381000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51" name="TextBox 14">
              <a:extLst>
                <a:ext uri="{FF2B5EF4-FFF2-40B4-BE49-F238E27FC236}">
                  <a16:creationId xmlns:a16="http://schemas.microsoft.com/office/drawing/2014/main" id="{FAC97D20-B078-96DF-27C2-8E61FB1F85F1}"/>
                </a:ext>
              </a:extLst>
            </p:cNvPr>
            <p:cNvSpPr txBox="1"/>
            <p:nvPr/>
          </p:nvSpPr>
          <p:spPr>
            <a:xfrm>
              <a:off x="1003935" y="3783806"/>
              <a:ext cx="357780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ML/DL + CV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 Transformer · CNN · 检测/分割/位姿</a:t>
              </a:r>
            </a:p>
          </p:txBody>
        </p:sp>
        <p:sp>
          <p:nvSpPr>
            <p:cNvPr id="52" name="Rectangle 15">
              <a:extLst>
                <a:ext uri="{FF2B5EF4-FFF2-40B4-BE49-F238E27FC236}">
                  <a16:creationId xmlns:a16="http://schemas.microsoft.com/office/drawing/2014/main" id="{9CEFF3E2-6D34-7C75-C42A-168E9A997135}"/>
                </a:ext>
              </a:extLst>
            </p:cNvPr>
            <p:cNvSpPr/>
            <p:nvPr/>
          </p:nvSpPr>
          <p:spPr>
            <a:xfrm>
              <a:off x="838200" y="41338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53" name="TextBox 16">
              <a:extLst>
                <a:ext uri="{FF2B5EF4-FFF2-40B4-BE49-F238E27FC236}">
                  <a16:creationId xmlns:a16="http://schemas.microsoft.com/office/drawing/2014/main" id="{B27942B3-BB0F-7E7E-5357-E795F3C37703}"/>
                </a:ext>
              </a:extLst>
            </p:cNvPr>
            <p:cNvSpPr txBox="1"/>
            <p:nvPr/>
          </p:nvSpPr>
          <p:spPr>
            <a:xfrm>
              <a:off x="1003935" y="4107656"/>
              <a:ext cx="30599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机器人学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 运动学/动力学 · PID/MPC · ROS2</a:t>
              </a:r>
            </a:p>
          </p:txBody>
        </p:sp>
        <p:sp>
          <p:nvSpPr>
            <p:cNvPr id="54" name="Rectangle 17">
              <a:extLst>
                <a:ext uri="{FF2B5EF4-FFF2-40B4-BE49-F238E27FC236}">
                  <a16:creationId xmlns:a16="http://schemas.microsoft.com/office/drawing/2014/main" id="{205D1628-1272-0317-7886-9B77EA047C81}"/>
                </a:ext>
              </a:extLst>
            </p:cNvPr>
            <p:cNvSpPr/>
            <p:nvPr/>
          </p:nvSpPr>
          <p:spPr>
            <a:xfrm>
              <a:off x="838200" y="445770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55" name="TextBox 18">
              <a:extLst>
                <a:ext uri="{FF2B5EF4-FFF2-40B4-BE49-F238E27FC236}">
                  <a16:creationId xmlns:a16="http://schemas.microsoft.com/office/drawing/2014/main" id="{F78CADDA-CA17-74EF-43F9-C46F1F31A4C9}"/>
                </a:ext>
              </a:extLst>
            </p:cNvPr>
            <p:cNvSpPr txBox="1"/>
            <p:nvPr/>
          </p:nvSpPr>
          <p:spPr>
            <a:xfrm>
              <a:off x="1003935" y="4431506"/>
              <a:ext cx="292450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具身专精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 RL(PPO/SAC) · 模仿学习 · VLA</a:t>
              </a:r>
            </a:p>
          </p:txBody>
        </p:sp>
      </p:grpSp>
      <p:grpSp>
        <p:nvGrpSpPr>
          <p:cNvPr id="56" name="Group 33">
            <a:extLst>
              <a:ext uri="{FF2B5EF4-FFF2-40B4-BE49-F238E27FC236}">
                <a16:creationId xmlns:a16="http://schemas.microsoft.com/office/drawing/2014/main" id="{0FA06F6C-721F-3AE8-5161-D462110941C2}"/>
              </a:ext>
            </a:extLst>
          </p:cNvPr>
          <p:cNvGrpSpPr/>
          <p:nvPr/>
        </p:nvGrpSpPr>
        <p:grpSpPr>
          <a:xfrm>
            <a:off x="6324600" y="1619250"/>
            <a:ext cx="5257800" cy="4191000"/>
            <a:chOff x="6324600" y="1619250"/>
            <a:chExt cx="5257800" cy="4191000"/>
          </a:xfrm>
        </p:grpSpPr>
        <p:sp>
          <p:nvSpPr>
            <p:cNvPr id="57" name="Rectangle 20">
              <a:extLst>
                <a:ext uri="{FF2B5EF4-FFF2-40B4-BE49-F238E27FC236}">
                  <a16:creationId xmlns:a16="http://schemas.microsoft.com/office/drawing/2014/main" id="{2E7F90D5-BF29-D033-DFCE-869D0D830E2B}"/>
                </a:ext>
              </a:extLst>
            </p:cNvPr>
            <p:cNvSpPr/>
            <p:nvPr/>
          </p:nvSpPr>
          <p:spPr>
            <a:xfrm>
              <a:off x="6324600" y="1619250"/>
              <a:ext cx="52578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58" name="Rectangle 21">
              <a:extLst>
                <a:ext uri="{FF2B5EF4-FFF2-40B4-BE49-F238E27FC236}">
                  <a16:creationId xmlns:a16="http://schemas.microsoft.com/office/drawing/2014/main" id="{253D8947-B329-5300-69EF-B7E64CA10D3B}"/>
                </a:ext>
              </a:extLst>
            </p:cNvPr>
            <p:cNvSpPr/>
            <p:nvPr/>
          </p:nvSpPr>
          <p:spPr>
            <a:xfrm>
              <a:off x="6324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59" name="TextBox 22">
              <a:extLst>
                <a:ext uri="{FF2B5EF4-FFF2-40B4-BE49-F238E27FC236}">
                  <a16:creationId xmlns:a16="http://schemas.microsoft.com/office/drawing/2014/main" id="{9A754402-4131-48D3-E02F-B2F8BA713722}"/>
                </a:ext>
              </a:extLst>
            </p:cNvPr>
            <p:cNvSpPr txBox="1"/>
            <p:nvPr/>
          </p:nvSpPr>
          <p:spPr>
            <a:xfrm>
              <a:off x="6546342" y="189261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学习路线：五步走（仿真优先）</a:t>
              </a:r>
            </a:p>
          </p:txBody>
        </p:sp>
        <p:sp>
          <p:nvSpPr>
            <p:cNvPr id="60" name="Rectangle 23">
              <a:extLst>
                <a:ext uri="{FF2B5EF4-FFF2-40B4-BE49-F238E27FC236}">
                  <a16:creationId xmlns:a16="http://schemas.microsoft.com/office/drawing/2014/main" id="{7E9C5808-BBBC-63E6-2C6E-062D09FFBDC2}"/>
                </a:ext>
              </a:extLst>
            </p:cNvPr>
            <p:cNvSpPr/>
            <p:nvPr/>
          </p:nvSpPr>
          <p:spPr>
            <a:xfrm>
              <a:off x="6553200" y="316230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61" name="TextBox 24">
              <a:extLst>
                <a:ext uri="{FF2B5EF4-FFF2-40B4-BE49-F238E27FC236}">
                  <a16:creationId xmlns:a16="http://schemas.microsoft.com/office/drawing/2014/main" id="{B267A101-A688-5FAE-03E3-BCE3333479C5}"/>
                </a:ext>
              </a:extLst>
            </p:cNvPr>
            <p:cNvSpPr txBox="1"/>
            <p:nvPr/>
          </p:nvSpPr>
          <p:spPr>
            <a:xfrm>
              <a:off x="6718935" y="3136106"/>
              <a:ext cx="45310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第 1 步 · CS 底子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 产出：跑通一个「训练→推理」的 PyTorch 小例</a:t>
              </a:r>
            </a:p>
          </p:txBody>
        </p:sp>
        <p:sp>
          <p:nvSpPr>
            <p:cNvPr id="62" name="Rectangle 25">
              <a:extLst>
                <a:ext uri="{FF2B5EF4-FFF2-40B4-BE49-F238E27FC236}">
                  <a16:creationId xmlns:a16="http://schemas.microsoft.com/office/drawing/2014/main" id="{019705C4-4739-81B8-9018-A504D7470096}"/>
                </a:ext>
              </a:extLst>
            </p:cNvPr>
            <p:cNvSpPr/>
            <p:nvPr/>
          </p:nvSpPr>
          <p:spPr>
            <a:xfrm>
              <a:off x="6553200" y="34861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63" name="TextBox 26">
              <a:extLst>
                <a:ext uri="{FF2B5EF4-FFF2-40B4-BE49-F238E27FC236}">
                  <a16:creationId xmlns:a16="http://schemas.microsoft.com/office/drawing/2014/main" id="{34E8192F-4DFC-6D28-01D2-E21F9F7EC732}"/>
                </a:ext>
              </a:extLst>
            </p:cNvPr>
            <p:cNvSpPr txBox="1"/>
            <p:nvPr/>
          </p:nvSpPr>
          <p:spPr>
            <a:xfrm>
              <a:off x="6718935" y="3459956"/>
              <a:ext cx="42540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第 2 步 · 感知入门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 产出：YOLO 检测 Demo + 一张点云可视化</a:t>
              </a:r>
            </a:p>
          </p:txBody>
        </p:sp>
        <p:sp>
          <p:nvSpPr>
            <p:cNvPr id="64" name="Rectangle 27">
              <a:extLst>
                <a:ext uri="{FF2B5EF4-FFF2-40B4-BE49-F238E27FC236}">
                  <a16:creationId xmlns:a16="http://schemas.microsoft.com/office/drawing/2014/main" id="{90519180-C80F-5CD4-1D77-B876941B1CE4}"/>
                </a:ext>
              </a:extLst>
            </p:cNvPr>
            <p:cNvSpPr/>
            <p:nvPr/>
          </p:nvSpPr>
          <p:spPr>
            <a:xfrm>
              <a:off x="6553200" y="381000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65" name="TextBox 28">
              <a:extLst>
                <a:ext uri="{FF2B5EF4-FFF2-40B4-BE49-F238E27FC236}">
                  <a16:creationId xmlns:a16="http://schemas.microsoft.com/office/drawing/2014/main" id="{0194490C-36A0-57CD-66C0-0AEDA3F9FCC8}"/>
                </a:ext>
              </a:extLst>
            </p:cNvPr>
            <p:cNvSpPr txBox="1"/>
            <p:nvPr/>
          </p:nvSpPr>
          <p:spPr>
            <a:xfrm>
              <a:off x="6718935" y="3783806"/>
              <a:ext cx="40864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第 3 步 · 机器人栈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 产出：MuJoCo 里机械臂抓取仿真跑起来</a:t>
              </a:r>
            </a:p>
          </p:txBody>
        </p:sp>
        <p:sp>
          <p:nvSpPr>
            <p:cNvPr id="66" name="Rectangle 29">
              <a:extLst>
                <a:ext uri="{FF2B5EF4-FFF2-40B4-BE49-F238E27FC236}">
                  <a16:creationId xmlns:a16="http://schemas.microsoft.com/office/drawing/2014/main" id="{2360F62D-9BD9-9E64-4C64-A86D91E70158}"/>
                </a:ext>
              </a:extLst>
            </p:cNvPr>
            <p:cNvSpPr/>
            <p:nvPr/>
          </p:nvSpPr>
          <p:spPr>
            <a:xfrm>
              <a:off x="6553200" y="41338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67" name="TextBox 30">
              <a:extLst>
                <a:ext uri="{FF2B5EF4-FFF2-40B4-BE49-F238E27FC236}">
                  <a16:creationId xmlns:a16="http://schemas.microsoft.com/office/drawing/2014/main" id="{36CBDFC9-EBAA-9CC3-5DD5-A7F9DAFD4B33}"/>
                </a:ext>
              </a:extLst>
            </p:cNvPr>
            <p:cNvSpPr txBox="1"/>
            <p:nvPr/>
          </p:nvSpPr>
          <p:spPr>
            <a:xfrm>
              <a:off x="6718935" y="4107656"/>
              <a:ext cx="41049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第 4 步 · 策略学习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 产出：复现 LeRobot 模仿学习策略 Demo</a:t>
              </a:r>
            </a:p>
          </p:txBody>
        </p:sp>
        <p:sp>
          <p:nvSpPr>
            <p:cNvPr id="68" name="Rectangle 31">
              <a:extLst>
                <a:ext uri="{FF2B5EF4-FFF2-40B4-BE49-F238E27FC236}">
                  <a16:creationId xmlns:a16="http://schemas.microsoft.com/office/drawing/2014/main" id="{83E4B8E6-938B-03C1-936D-E5014A8498B0}"/>
                </a:ext>
              </a:extLst>
            </p:cNvPr>
            <p:cNvSpPr/>
            <p:nvPr/>
          </p:nvSpPr>
          <p:spPr>
            <a:xfrm>
              <a:off x="6553200" y="445770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69" name="TextBox 32">
              <a:extLst>
                <a:ext uri="{FF2B5EF4-FFF2-40B4-BE49-F238E27FC236}">
                  <a16:creationId xmlns:a16="http://schemas.microsoft.com/office/drawing/2014/main" id="{CC47751C-EAB8-50C4-FD0B-DE03B0988211}"/>
                </a:ext>
              </a:extLst>
            </p:cNvPr>
            <p:cNvSpPr txBox="1"/>
            <p:nvPr/>
          </p:nvSpPr>
          <p:spPr>
            <a:xfrm>
              <a:off x="6718935" y="4431506"/>
              <a:ext cx="44476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第 5 步 · 前沿触达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 产出：OpenVLA 小实验 + 仿真/真机迁移笔记</a:t>
              </a:r>
            </a:p>
          </p:txBody>
        </p:sp>
      </p:grpSp>
      <p:grpSp>
        <p:nvGrpSpPr>
          <p:cNvPr id="70" name="Group 37">
            <a:extLst>
              <a:ext uri="{FF2B5EF4-FFF2-40B4-BE49-F238E27FC236}">
                <a16:creationId xmlns:a16="http://schemas.microsoft.com/office/drawing/2014/main" id="{1E606C73-B485-1351-3085-6011D8CA657D}"/>
              </a:ext>
            </a:extLst>
          </p:cNvPr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71" name="TextBox 34">
              <a:extLst>
                <a:ext uri="{FF2B5EF4-FFF2-40B4-BE49-F238E27FC236}">
                  <a16:creationId xmlns:a16="http://schemas.microsoft.com/office/drawing/2014/main" id="{54BEF183-1A95-D68C-64A9-75C4B07E03E1}"/>
                </a:ext>
              </a:extLst>
            </p:cNvPr>
            <p:cNvSpPr txBox="1"/>
            <p:nvPr/>
          </p:nvSpPr>
          <p:spPr>
            <a:xfrm>
              <a:off x="604838" y="6613684"/>
              <a:ext cx="1063808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从 AI 使用者到 AI 架构师</a:t>
              </a:r>
            </a:p>
          </p:txBody>
        </p:sp>
        <p:sp>
          <p:nvSpPr>
            <p:cNvPr id="72" name="Rectangle 35">
              <a:extLst>
                <a:ext uri="{FF2B5EF4-FFF2-40B4-BE49-F238E27FC236}">
                  <a16:creationId xmlns:a16="http://schemas.microsoft.com/office/drawing/2014/main" id="{B770D665-9102-592C-9DCB-F84027B6C826}"/>
                </a:ext>
              </a:extLst>
            </p:cNvPr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73" name="TextBox 36">
              <a:extLst>
                <a:ext uri="{FF2B5EF4-FFF2-40B4-BE49-F238E27FC236}">
                  <a16:creationId xmlns:a16="http://schemas.microsoft.com/office/drawing/2014/main" id="{A4282AE9-A214-39FE-AA67-8509EA42912E}"/>
                </a:ext>
              </a:extLst>
            </p:cNvPr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23 / 27</a:t>
              </a: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3945237" cy="738854"/>
            <a:chOff x="595122" y="501491"/>
            <a:chExt cx="3945237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91904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07 · 具身 3/3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3945237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职业方向 + 与主线衔接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609600" y="1619250"/>
            <a:ext cx="5257800" cy="4191000"/>
            <a:chOff x="609600" y="1619250"/>
            <a:chExt cx="5257800" cy="4191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52578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19932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职业方向（5 类切入点）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838200" y="316230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03935" y="3136106"/>
              <a:ext cx="26775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具身算法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 感知/规划/RL 策略 · 研究向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838200" y="34861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03935" y="3459956"/>
              <a:ext cx="27410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VLA/模型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 视觉-语言-动作训练 · 前沿向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838200" y="381000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03935" y="3783806"/>
              <a:ext cx="30354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机器人软件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 ROS2 系统/驱动/控制 · 工程向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838200" y="41338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003935" y="4107656"/>
              <a:ext cx="26424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仿真与数据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 仿真平台 · 遥操作数据管线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838200" y="445770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003935" y="4431506"/>
              <a:ext cx="24238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端侧部署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 模型压缩/量化 · 真机落地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324600" y="1619250"/>
            <a:ext cx="5257800" cy="4191000"/>
            <a:chOff x="6324600" y="1619250"/>
            <a:chExt cx="5257800" cy="4191000"/>
          </a:xfrm>
        </p:grpSpPr>
        <p:sp>
          <p:nvSpPr>
            <p:cNvPr id="20" name="Rectangle 20"/>
            <p:cNvSpPr/>
            <p:nvPr/>
          </p:nvSpPr>
          <p:spPr>
            <a:xfrm>
              <a:off x="6324600" y="1619250"/>
              <a:ext cx="52578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6324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546342" y="1892618"/>
              <a:ext cx="18687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与主线衔接 + 开源入口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553200" y="316230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718935" y="3136106"/>
              <a:ext cx="30721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思维迁移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 定义任务与验收，物理系统同样适用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6553200" y="34861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718935" y="3459956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工程复用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 评估/日志/限流/护栏 → 直接迁移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553200" y="381000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718935" y="3783806"/>
              <a:ext cx="33387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开源入口</a:t>
              </a:r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 LeRobot · OpenVLA · MuJoCo · ROS2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553200" y="41338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718935" y="4107656"/>
              <a:ext cx="30130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第一步动作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 仿真跑通「语言指令抓取」Demo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553200" y="445770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718935" y="4431506"/>
              <a:ext cx="27706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风险提示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 硬件贵先仿真；安全护栏是必修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34" name="TextBox 34"/>
            <p:cNvSpPr txBox="1"/>
            <p:nvPr/>
          </p:nvSpPr>
          <p:spPr>
            <a:xfrm>
              <a:off x="604838" y="6613684"/>
              <a:ext cx="1063808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从 AI 使用者到 AI 架构师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24 / 27</a:t>
              </a: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7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34" name="TextBox 34"/>
            <p:cNvSpPr txBox="1"/>
            <p:nvPr/>
          </p:nvSpPr>
          <p:spPr>
            <a:xfrm>
              <a:off x="604838" y="6613684"/>
              <a:ext cx="1063808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从 AI 使用者到 AI 架构师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24 / 27</a:t>
              </a:r>
            </a:p>
          </p:txBody>
        </p:sp>
      </p:grpSp>
      <p:pic>
        <p:nvPicPr>
          <p:cNvPr id="1026" name="Picture 2" descr="Image 1 of 19">
            <a:extLst>
              <a:ext uri="{FF2B5EF4-FFF2-40B4-BE49-F238E27FC236}">
                <a16:creationId xmlns:a16="http://schemas.microsoft.com/office/drawing/2014/main" id="{EA722955-72EB-E6B4-7E4F-403385654F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6955" y="1521523"/>
            <a:ext cx="3455689" cy="34556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iwonder JetRover JETSON Robot Car with AI Vision Robotic Arm, Supports ROS1 &amp; ROS2, with AI Large Model (ChatGPT), SLAM Mapping/Navigation, AI Voice Interaction, Intelligent Sorting">
            <a:extLst>
              <a:ext uri="{FF2B5EF4-FFF2-40B4-BE49-F238E27FC236}">
                <a16:creationId xmlns:a16="http://schemas.microsoft.com/office/drawing/2014/main" id="{02AB2568-1C52-6DD6-DD08-45710CF95A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054" y="1521523"/>
            <a:ext cx="3455688" cy="3455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文本框 38">
            <a:extLst>
              <a:ext uri="{FF2B5EF4-FFF2-40B4-BE49-F238E27FC236}">
                <a16:creationId xmlns:a16="http://schemas.microsoft.com/office/drawing/2014/main" id="{0CBEFB28-31EF-F8CD-A5C1-F9F637DD80B2}"/>
              </a:ext>
            </a:extLst>
          </p:cNvPr>
          <p:cNvSpPr txBox="1"/>
          <p:nvPr/>
        </p:nvSpPr>
        <p:spPr>
          <a:xfrm>
            <a:off x="6797142" y="1305341"/>
            <a:ext cx="4898791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b="1" dirty="0">
                <a:effectLst/>
              </a:rPr>
              <a:t>主控兼容</a:t>
            </a:r>
            <a:r>
              <a:rPr lang="zh-CN" altLang="en-US" dirty="0">
                <a:effectLst/>
              </a:rPr>
              <a:t>：支持 </a:t>
            </a:r>
            <a:r>
              <a:rPr lang="en-US" altLang="zh-CN" dirty="0">
                <a:effectLst/>
              </a:rPr>
              <a:t>ROS1/ROS2</a:t>
            </a:r>
            <a:r>
              <a:rPr lang="zh-CN" altLang="en-US" dirty="0">
                <a:effectLst/>
              </a:rPr>
              <a:t>，可选用树莓派 </a:t>
            </a:r>
            <a:r>
              <a:rPr lang="en-US" altLang="zh-CN" dirty="0">
                <a:effectLst/>
              </a:rPr>
              <a:t>5</a:t>
            </a:r>
            <a:r>
              <a:rPr lang="zh-CN" altLang="en-US" dirty="0">
                <a:effectLst/>
              </a:rPr>
              <a:t>、</a:t>
            </a:r>
            <a:r>
              <a:rPr lang="en-US" altLang="zh-CN" dirty="0">
                <a:effectLst/>
              </a:rPr>
              <a:t>Jetson Nano</a:t>
            </a:r>
            <a:r>
              <a:rPr lang="zh-CN" altLang="en-US" dirty="0">
                <a:effectLst/>
              </a:rPr>
              <a:t>、</a:t>
            </a:r>
            <a:r>
              <a:rPr lang="en-US" altLang="zh-CN" dirty="0">
                <a:effectLst/>
              </a:rPr>
              <a:t>Jetson Orin Nano </a:t>
            </a:r>
            <a:r>
              <a:rPr lang="zh-CN" altLang="en-US" dirty="0">
                <a:effectLst/>
              </a:rPr>
              <a:t>三种主控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b="1" dirty="0">
                <a:effectLst/>
              </a:rPr>
              <a:t>ROS‑AI </a:t>
            </a:r>
            <a:r>
              <a:rPr lang="zh-CN" altLang="en-US" b="1" dirty="0">
                <a:effectLst/>
              </a:rPr>
              <a:t>开发平台</a:t>
            </a:r>
            <a:r>
              <a:rPr lang="zh-CN" altLang="en-US" dirty="0">
                <a:effectLst/>
              </a:rPr>
              <a:t>：支持深度学习、</a:t>
            </a:r>
            <a:r>
              <a:rPr lang="en-US" altLang="zh-CN" dirty="0" err="1">
                <a:effectLst/>
              </a:rPr>
              <a:t>MediaPipe</a:t>
            </a:r>
            <a:r>
              <a:rPr lang="zh-CN" altLang="en-US" dirty="0">
                <a:effectLst/>
              </a:rPr>
              <a:t>、</a:t>
            </a:r>
            <a:r>
              <a:rPr lang="en-US" altLang="zh-CN" dirty="0">
                <a:effectLst/>
              </a:rPr>
              <a:t>YOLO </a:t>
            </a:r>
            <a:r>
              <a:rPr lang="zh-CN" altLang="en-US" dirty="0">
                <a:effectLst/>
              </a:rPr>
              <a:t>模型训练，用于机器人学习开发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b="1" dirty="0">
                <a:effectLst/>
              </a:rPr>
              <a:t>SLAM </a:t>
            </a:r>
            <a:r>
              <a:rPr lang="zh-CN" altLang="en-US" b="1" dirty="0">
                <a:effectLst/>
              </a:rPr>
              <a:t>建图导航</a:t>
            </a:r>
            <a:r>
              <a:rPr lang="zh-CN" altLang="en-US" dirty="0">
                <a:effectLst/>
              </a:rPr>
              <a:t>：搭载 </a:t>
            </a:r>
            <a:r>
              <a:rPr lang="en-US" altLang="zh-CN" dirty="0">
                <a:effectLst/>
              </a:rPr>
              <a:t>3D </a:t>
            </a:r>
            <a:r>
              <a:rPr lang="zh-CN" altLang="en-US" dirty="0">
                <a:effectLst/>
              </a:rPr>
              <a:t>深度相机 </a:t>
            </a:r>
            <a:r>
              <a:rPr lang="en-US" altLang="zh-CN" dirty="0">
                <a:effectLst/>
              </a:rPr>
              <a:t>+ </a:t>
            </a:r>
            <a:r>
              <a:rPr lang="zh-CN" altLang="en-US" dirty="0">
                <a:effectLst/>
              </a:rPr>
              <a:t>激光雷达，支持 </a:t>
            </a:r>
            <a:r>
              <a:rPr lang="en-US" altLang="zh-CN" dirty="0" err="1">
                <a:effectLst/>
              </a:rPr>
              <a:t>gmapping</a:t>
            </a:r>
            <a:r>
              <a:rPr lang="zh-CN" altLang="en-US" dirty="0">
                <a:effectLst/>
              </a:rPr>
              <a:t>、</a:t>
            </a:r>
            <a:r>
              <a:rPr lang="en-US" altLang="zh-CN" dirty="0">
                <a:effectLst/>
              </a:rPr>
              <a:t>cartographer </a:t>
            </a:r>
            <a:r>
              <a:rPr lang="zh-CN" altLang="en-US" dirty="0">
                <a:effectLst/>
              </a:rPr>
              <a:t>等算法，实现建图、多点导航、路径规划、动态避障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b="1" dirty="0">
                <a:effectLst/>
              </a:rPr>
              <a:t>6 </a:t>
            </a:r>
            <a:r>
              <a:rPr lang="zh-CN" altLang="en-US" b="1" dirty="0">
                <a:effectLst/>
              </a:rPr>
              <a:t>自由度视觉机械臂</a:t>
            </a:r>
            <a:r>
              <a:rPr lang="zh-CN" altLang="en-US" dirty="0">
                <a:effectLst/>
              </a:rPr>
              <a:t>：</a:t>
            </a:r>
            <a:r>
              <a:rPr lang="en-US" altLang="zh-CN" dirty="0">
                <a:effectLst/>
              </a:rPr>
              <a:t>35KG </a:t>
            </a:r>
            <a:r>
              <a:rPr lang="zh-CN" altLang="en-US" dirty="0">
                <a:effectLst/>
              </a:rPr>
              <a:t>大扭矩总线舵机，臂端高清摄像头，支持第一视角抓取物体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b="1" dirty="0">
                <a:effectLst/>
              </a:rPr>
              <a:t>大模型人机交互</a:t>
            </a:r>
            <a:r>
              <a:rPr lang="zh-CN" altLang="en-US" dirty="0">
                <a:effectLst/>
              </a:rPr>
              <a:t>：多模态大模型（</a:t>
            </a:r>
            <a:r>
              <a:rPr lang="en-US" altLang="zh-CN" dirty="0">
                <a:effectLst/>
              </a:rPr>
              <a:t>ChatGPT </a:t>
            </a:r>
            <a:r>
              <a:rPr lang="zh-CN" altLang="en-US" dirty="0">
                <a:effectLst/>
              </a:rPr>
              <a:t>为核心），搭配 </a:t>
            </a:r>
            <a:r>
              <a:rPr lang="en-US" altLang="zh-CN" dirty="0">
                <a:effectLst/>
              </a:rPr>
              <a:t>3D </a:t>
            </a:r>
            <a:r>
              <a:rPr lang="zh-CN" altLang="en-US" dirty="0">
                <a:effectLst/>
              </a:rPr>
              <a:t>视觉与 </a:t>
            </a:r>
            <a:r>
              <a:rPr lang="en-US" altLang="zh-CN" dirty="0">
                <a:effectLst/>
              </a:rPr>
              <a:t>6 </a:t>
            </a:r>
            <a:r>
              <a:rPr lang="zh-CN" altLang="en-US" dirty="0">
                <a:effectLst/>
              </a:rPr>
              <a:t>麦阵列，具备感知推理执行能力，实现具身 </a:t>
            </a:r>
            <a:r>
              <a:rPr lang="en-US" altLang="zh-CN" dirty="0">
                <a:effectLst/>
              </a:rPr>
              <a:t>AI </a:t>
            </a:r>
            <a:r>
              <a:rPr lang="zh-CN" altLang="en-US" dirty="0">
                <a:effectLst/>
              </a:rPr>
              <a:t>交互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b="1" dirty="0">
                <a:effectLst/>
              </a:rPr>
              <a:t>多平台控制</a:t>
            </a:r>
            <a:r>
              <a:rPr lang="zh-CN" altLang="en-US" dirty="0">
                <a:effectLst/>
              </a:rPr>
              <a:t>：手机 </a:t>
            </a:r>
            <a:r>
              <a:rPr lang="en-US" altLang="zh-CN" dirty="0">
                <a:effectLst/>
              </a:rPr>
              <a:t>App</a:t>
            </a:r>
            <a:r>
              <a:rPr lang="zh-CN" altLang="en-US" dirty="0">
                <a:effectLst/>
              </a:rPr>
              <a:t>、无线手柄、</a:t>
            </a:r>
            <a:r>
              <a:rPr lang="en-US" altLang="zh-CN" dirty="0">
                <a:effectLst/>
              </a:rPr>
              <a:t>ROS</a:t>
            </a:r>
            <a:r>
              <a:rPr lang="zh-CN" altLang="en-US" dirty="0">
                <a:effectLst/>
              </a:rPr>
              <a:t>、键盘多种操控方式</a:t>
            </a:r>
          </a:p>
        </p:txBody>
      </p:sp>
    </p:spTree>
    <p:extLst>
      <p:ext uri="{BB962C8B-B14F-4D97-AF65-F5344CB8AC3E}">
        <p14:creationId xmlns:p14="http://schemas.microsoft.com/office/powerpoint/2010/main" val="30525195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730969" cy="717709"/>
            <a:chOff x="595122" y="501491"/>
            <a:chExt cx="730969" cy="717709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25049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目录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730969" cy="4385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总结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601218" y="1917382"/>
            <a:ext cx="3453188" cy="322707"/>
            <a:chOff x="601218" y="1917382"/>
            <a:chExt cx="3453188" cy="322707"/>
          </a:xfrm>
        </p:grpSpPr>
        <p:sp>
          <p:nvSpPr>
            <p:cNvPr id="6" name="TextBox 6"/>
            <p:cNvSpPr txBox="1"/>
            <p:nvPr/>
          </p:nvSpPr>
          <p:spPr>
            <a:xfrm>
              <a:off x="601218" y="191738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一句话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284351" y="1927383"/>
              <a:ext cx="277005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定义问题 · 设计系统 · 评估结果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01218" y="2450782"/>
            <a:ext cx="4172619" cy="322707"/>
            <a:chOff x="601218" y="2450782"/>
            <a:chExt cx="4172619" cy="322707"/>
          </a:xfrm>
        </p:grpSpPr>
        <p:sp>
          <p:nvSpPr>
            <p:cNvPr id="9" name="TextBox 9"/>
            <p:cNvSpPr txBox="1"/>
            <p:nvPr/>
          </p:nvSpPr>
          <p:spPr>
            <a:xfrm>
              <a:off x="601218" y="245078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一转移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284351" y="2469822"/>
              <a:ext cx="348948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2025 写代码 → 2026 编排 Agent 写代码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01218" y="2984182"/>
            <a:ext cx="3723680" cy="322707"/>
            <a:chOff x="601218" y="2984182"/>
            <a:chExt cx="3723680" cy="322707"/>
          </a:xfrm>
        </p:grpSpPr>
        <p:sp>
          <p:nvSpPr>
            <p:cNvPr id="12" name="TextBox 12"/>
            <p:cNvSpPr txBox="1"/>
            <p:nvPr/>
          </p:nvSpPr>
          <p:spPr>
            <a:xfrm>
              <a:off x="601218" y="298418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一地图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284351" y="3001832"/>
              <a:ext cx="304054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告诉 · 放手 · 审查 · 定制 · 懂原理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01218" y="3517582"/>
            <a:ext cx="3191423" cy="322707"/>
            <a:chOff x="601218" y="3517582"/>
            <a:chExt cx="3191423" cy="322707"/>
          </a:xfrm>
        </p:grpSpPr>
        <p:sp>
          <p:nvSpPr>
            <p:cNvPr id="15" name="TextBox 15"/>
            <p:cNvSpPr txBox="1"/>
            <p:nvPr/>
          </p:nvSpPr>
          <p:spPr>
            <a:xfrm>
              <a:off x="601218" y="351758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一角色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284351" y="3522699"/>
              <a:ext cx="250829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AI Infra · FDE · Applied AI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468618" y="1917382"/>
            <a:ext cx="4096948" cy="322707"/>
            <a:chOff x="6468618" y="1917382"/>
            <a:chExt cx="4096948" cy="322707"/>
          </a:xfrm>
        </p:grpSpPr>
        <p:sp>
          <p:nvSpPr>
            <p:cNvPr id="18" name="TextBox 18"/>
            <p:cNvSpPr txBox="1"/>
            <p:nvPr/>
          </p:nvSpPr>
          <p:spPr>
            <a:xfrm>
              <a:off x="6468618" y="191738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一方法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151751" y="1937241"/>
              <a:ext cx="341381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AI 私教 + 即时验证 + 架构思维 + 开源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468618" y="2450782"/>
            <a:ext cx="4459455" cy="322707"/>
            <a:chOff x="6468618" y="2450782"/>
            <a:chExt cx="4459455" cy="322707"/>
          </a:xfrm>
        </p:grpSpPr>
        <p:sp>
          <p:nvSpPr>
            <p:cNvPr id="21" name="TextBox 21"/>
            <p:cNvSpPr txBox="1"/>
            <p:nvPr/>
          </p:nvSpPr>
          <p:spPr>
            <a:xfrm>
              <a:off x="6468618" y="245078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一行动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157551" y="2484929"/>
              <a:ext cx="37705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30 天：单 Agent → RAG → 多 Agent → 发布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468618" y="2984182"/>
            <a:ext cx="3604683" cy="322707"/>
            <a:chOff x="6468618" y="2984182"/>
            <a:chExt cx="3604683" cy="322707"/>
          </a:xfrm>
        </p:grpSpPr>
        <p:sp>
          <p:nvSpPr>
            <p:cNvPr id="24" name="TextBox 24"/>
            <p:cNvSpPr txBox="1"/>
            <p:nvPr/>
          </p:nvSpPr>
          <p:spPr>
            <a:xfrm>
              <a:off x="6468618" y="298418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一延伸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151751" y="3002714"/>
              <a:ext cx="292155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具身智能方向 · 再读两门斯坦福课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27" name="TextBox 27"/>
            <p:cNvSpPr txBox="1"/>
            <p:nvPr/>
          </p:nvSpPr>
          <p:spPr>
            <a:xfrm>
              <a:off x="604838" y="6613684"/>
              <a:ext cx="1063808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从 AI 使用者到 AI 架构师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25 / 27</a:t>
              </a:r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8035688" cy="738854"/>
            <a:chOff x="595122" y="501491"/>
            <a:chExt cx="8035688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118020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08 · 延伸学习 1/2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8035688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课程一 · CS329A Self-Improving AI Agents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609600" y="1619250"/>
            <a:ext cx="5257800" cy="4476750"/>
            <a:chOff x="609600" y="1619250"/>
            <a:chExt cx="5257800" cy="447675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5257800" cy="447675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课程速览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838200" y="2981325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03935" y="2955131"/>
              <a:ext cx="35240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课程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 Stanford · Autumn 2025 · 周一/五 16:30 PT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838200" y="3305175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03935" y="3278981"/>
              <a:ext cx="338620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讲师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 Azalia Mirhoseini（AlphaCode / 调度优化）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838200" y="3629025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03935" y="3602831"/>
              <a:ext cx="34045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讲师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 Aakanksha Chowdhery（PaLM 2 / Gemma）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838200" y="3952875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003935" y="3926681"/>
              <a:ext cx="34415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嘉宾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 Reflection CEO · Google DeepMind · 机器人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838200" y="4276725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003935" y="4250531"/>
              <a:ext cx="37977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主线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 Test-time 改进 → 反馈学习 → 进化搜索 → 工程瓶颈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838200" y="4600575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03935" y="4574381"/>
              <a:ext cx="35389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作业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 HW×3(50%) · 中期展示 10% · 期末项目 35%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38200" y="4924425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03935" y="4898231"/>
              <a:ext cx="39961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为什么推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 研究向：Agent 如何自己变强，接本讲 Loop 主题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441975" y="1866900"/>
            <a:ext cx="5023049" cy="2667000"/>
            <a:chOff x="6441975" y="1866900"/>
            <a:chExt cx="5023049" cy="2667000"/>
          </a:xfrm>
        </p:grpSpPr>
        <p:pic>
          <p:nvPicPr>
            <p:cNvPr id="24" name="Image 2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41975" y="1866900"/>
              <a:ext cx="5023049" cy="2667000"/>
            </a:xfrm>
            <a:prstGeom prst="rect">
              <a:avLst/>
            </a:prstGeom>
          </p:spPr>
        </p:pic>
      </p:grpSp>
      <p:sp>
        <p:nvSpPr>
          <p:cNvPr id="26" name="TextBox 26"/>
          <p:cNvSpPr txBox="1"/>
          <p:nvPr/>
        </p:nvSpPr>
        <p:spPr>
          <a:xfrm>
            <a:off x="6319838" y="4559141"/>
            <a:ext cx="520912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课程主页截图：Autumn 2025 班次时间表与每周论文清单（Test-time / Feedback / Open-endedness）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319838" y="4744164"/>
            <a:ext cx="2131204" cy="1547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收录时间 2026-09-08 · 截图版权归课程官方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28" name="TextBox 28"/>
            <p:cNvSpPr txBox="1"/>
            <p:nvPr/>
          </p:nvSpPr>
          <p:spPr>
            <a:xfrm>
              <a:off x="604838" y="6613684"/>
              <a:ext cx="1063808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从 AI 使用者到 AI 架构师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26 / 27</a:t>
              </a: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7495811" cy="738854"/>
            <a:chOff x="595122" y="501491"/>
            <a:chExt cx="7495811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118020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08 · 延伸学习 2/2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7495811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课程二 · CS 329Z Engineering AI Agents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609600" y="1619250"/>
            <a:ext cx="5257800" cy="4476750"/>
            <a:chOff x="609600" y="1619250"/>
            <a:chExt cx="5257800" cy="447675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5257800" cy="447675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课程速览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838200" y="2981325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03935" y="2955131"/>
              <a:ext cx="32546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课程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 Stanford · Fall 2026 · 周一/三 13:30 PT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838200" y="3305175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03935" y="3278981"/>
              <a:ext cx="29923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讲师</a:t>
              </a:r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 Diyi Yang · Michael Ryan · John Yang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838200" y="3629025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03935" y="3602831"/>
              <a:ext cx="327427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范围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 单体 LLM → 复合系统 → 自治 Agent 全谱系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838200" y="3952875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003935" y="3926681"/>
              <a:ext cx="34381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动手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 HW1 从零搭 Agent（RAG/工具/循环→DSPy）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838200" y="4276725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003935" y="4250531"/>
              <a:ext cx="41243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主线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 RAG → 工具/MCP → 框架 → 记忆/多Agent → 评估 → 安全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838200" y="4600575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03935" y="4574381"/>
              <a:ext cx="35957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考核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 Project 50% · HW 20% · Quiz 15% · 视频 10%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38200" y="4924425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03935" y="4898231"/>
              <a:ext cx="36903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为什么推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 工程向：拆解→选型→评估系统化，本讲进阶版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438900" y="1866900"/>
            <a:ext cx="5029200" cy="2457450"/>
            <a:chOff x="6438900" y="1866900"/>
            <a:chExt cx="5029200" cy="2457450"/>
          </a:xfrm>
        </p:grpSpPr>
        <p:pic>
          <p:nvPicPr>
            <p:cNvPr id="24" name="Image 2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38900" y="1866900"/>
              <a:ext cx="5029200" cy="2457450"/>
            </a:xfrm>
            <a:prstGeom prst="rect">
              <a:avLst/>
            </a:prstGeom>
          </p:spPr>
        </p:pic>
      </p:grpSp>
      <p:sp>
        <p:nvSpPr>
          <p:cNvPr id="26" name="TextBox 26"/>
          <p:cNvSpPr txBox="1"/>
          <p:nvPr/>
        </p:nvSpPr>
        <p:spPr>
          <a:xfrm>
            <a:off x="6319838" y="4349591"/>
            <a:ext cx="317538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课程主页截图：Fall 2026 班次（Packard 101）与 reading 清单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319838" y="4534614"/>
            <a:ext cx="2530015" cy="1547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官网 cs329z.stanford.edu · 收录时间 2026-09-08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28" name="TextBox 28"/>
            <p:cNvSpPr txBox="1"/>
            <p:nvPr/>
          </p:nvSpPr>
          <p:spPr>
            <a:xfrm>
              <a:off x="604838" y="6613684"/>
              <a:ext cx="1063808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从 AI 使用者到 AI 架构师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27 / 27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lecture_v2">
  <a:themeElements>
    <a:clrScheme name="lecture_v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ecture_v2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ecture_v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4305</Words>
  <Application>Microsoft Office PowerPoint</Application>
  <PresentationFormat>宽屏</PresentationFormat>
  <Paragraphs>574</Paragraphs>
  <Slides>28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2" baseType="lpstr">
      <vt:lpstr>Arial</vt:lpstr>
      <vt:lpstr>Calibri</vt:lpstr>
      <vt:lpstr>Wingdings</vt:lpstr>
      <vt:lpstr>lecture_v2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辉 童</cp:lastModifiedBy>
  <cp:revision>13</cp:revision>
  <dcterms:created xsi:type="dcterms:W3CDTF">2026-09-08T03:35:37Z</dcterms:created>
  <dcterms:modified xsi:type="dcterms:W3CDTF">2026-09-08T08:54:21Z</dcterms:modified>
  <cp:category/>
  <cp:contentStatus/>
  <dc:language/>
</cp:coreProperties>
</file>