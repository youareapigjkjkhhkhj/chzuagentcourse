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3" r:id="rId26"/>
    <p:sldId id="280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6" d="100"/>
          <a:sy n="156" d="100"/>
        </p:scale>
        <p:origin x="45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cture_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ecture_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609600" y="2209800"/>
            <a:ext cx="95250" cy="1981200"/>
          </a:xfrm>
          <a:prstGeom prst="rect">
            <a:avLst/>
          </a:prstGeom>
          <a:solidFill>
            <a:srgbClr val="E30613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895350" y="2295049"/>
            <a:ext cx="7273481" cy="1760696"/>
            <a:chOff x="895350" y="2295049"/>
            <a:chExt cx="7273481" cy="1760696"/>
          </a:xfrm>
        </p:grpSpPr>
        <p:sp>
          <p:nvSpPr>
            <p:cNvPr id="3" name="TextBox 3"/>
            <p:cNvSpPr txBox="1"/>
            <p:nvPr/>
          </p:nvSpPr>
          <p:spPr>
            <a:xfrm>
              <a:off x="909447" y="2295049"/>
              <a:ext cx="27200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225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AGENTIC ERA LECTURE · 2026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895350" y="2708910"/>
              <a:ext cx="663647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06780" y="3495675"/>
              <a:ext cx="72620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Agentic 时代：AI 前沿与计算机人的职业路径 —— LLM 让每个人都成为通才，但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06780" y="376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专业知识定义差距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4266" y="5943600"/>
            <a:ext cx="10983468" cy="358711"/>
            <a:chOff x="604266" y="5943600"/>
            <a:chExt cx="10983468" cy="358711"/>
          </a:xfrm>
        </p:grpSpPr>
        <p:sp>
          <p:nvSpPr>
            <p:cNvPr id="8" name="Line 8"/>
            <p:cNvSpPr/>
            <p:nvPr/>
          </p:nvSpPr>
          <p:spPr>
            <a:xfrm>
              <a:off x="609600" y="59436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4266" y="6096952"/>
              <a:ext cx="20127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计算机学院 · Agentic 职业讲座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032865" y="60969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2026-09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328904" cy="738854"/>
            <a:chOff x="595122" y="501491"/>
            <a:chExt cx="432890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25049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目录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32890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本讲框架 · 一条成长主线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01218" y="1707832"/>
            <a:ext cx="3488036" cy="755571"/>
            <a:chOff x="601218" y="1707832"/>
            <a:chExt cx="3488036" cy="755571"/>
          </a:xfrm>
        </p:grpSpPr>
        <p:sp>
          <p:nvSpPr>
            <p:cNvPr id="6" name="TextBox 6"/>
            <p:cNvSpPr txBox="1"/>
            <p:nvPr/>
          </p:nvSpPr>
          <p:spPr>
            <a:xfrm>
              <a:off x="601218" y="1707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35761" y="1732121"/>
              <a:ext cx="2953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范式转移：从写代码到编排 Agent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38238" y="2051447"/>
              <a:ext cx="196461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命题 · 价值迁移 · 趋势 · 六大趋势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8238" y="2280047"/>
              <a:ext cx="914306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格局 · 模型选型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1218" y="2660332"/>
            <a:ext cx="3611916" cy="755571"/>
            <a:chOff x="601218" y="2660332"/>
            <a:chExt cx="3611916" cy="755571"/>
          </a:xfrm>
        </p:grpSpPr>
        <p:sp>
          <p:nvSpPr>
            <p:cNvPr id="11" name="TextBox 11"/>
            <p:cNvSpPr txBox="1"/>
            <p:nvPr/>
          </p:nvSpPr>
          <p:spPr>
            <a:xfrm>
              <a:off x="601218" y="2660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5761" y="2684621"/>
              <a:ext cx="30773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核心技术栈：Agentic Engineering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8238" y="3003947"/>
              <a:ext cx="254044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演进 · RAG 到 Agent · 架构 · 四要素与治理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8238" y="3232547"/>
              <a:ext cx="161398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技能 · Coding Agent 五技能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1218" y="3612832"/>
            <a:ext cx="2628174" cy="755571"/>
            <a:chOff x="601218" y="3612832"/>
            <a:chExt cx="2628174" cy="755571"/>
          </a:xfrm>
        </p:grpSpPr>
        <p:sp>
          <p:nvSpPr>
            <p:cNvPr id="16" name="TextBox 16"/>
            <p:cNvSpPr txBox="1"/>
            <p:nvPr/>
          </p:nvSpPr>
          <p:spPr>
            <a:xfrm>
              <a:off x="601218" y="3612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5761" y="3637121"/>
              <a:ext cx="19657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职业路径：角色 · 进阶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38238" y="3956447"/>
              <a:ext cx="209115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角色 · 三类工程师 · 对比 · 能力矩阵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38238" y="4185047"/>
              <a:ext cx="209115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路径 · 推荐成长 · 洞察 · 专业护城河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1218" y="4565332"/>
            <a:ext cx="2866203" cy="755571"/>
            <a:chOff x="601218" y="4565332"/>
            <a:chExt cx="2866203" cy="755571"/>
          </a:xfrm>
        </p:grpSpPr>
        <p:sp>
          <p:nvSpPr>
            <p:cNvPr id="21" name="TextBox 21"/>
            <p:cNvSpPr txBox="1"/>
            <p:nvPr/>
          </p:nvSpPr>
          <p:spPr>
            <a:xfrm>
              <a:off x="601218" y="4565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5761" y="45896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实践方法论：成为超级个体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38238" y="4908947"/>
              <a:ext cx="232918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实践 · AI Coding 三级 · 学习 · 新学习栈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38238" y="5137547"/>
              <a:ext cx="221769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反直觉 · 基础更重要 · 思维 · 架构设计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468618" y="1707832"/>
            <a:ext cx="2651785" cy="755571"/>
            <a:chOff x="6468618" y="1707832"/>
            <a:chExt cx="2651785" cy="755571"/>
          </a:xfrm>
        </p:grpSpPr>
        <p:sp>
          <p:nvSpPr>
            <p:cNvPr id="26" name="TextBox 26"/>
            <p:cNvSpPr txBox="1"/>
            <p:nvPr/>
          </p:nvSpPr>
          <p:spPr>
            <a:xfrm>
              <a:off x="6468618" y="1707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03161" y="1732121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跨界与开源：不止于代码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05638" y="2051447"/>
              <a:ext cx="116739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跨界 · 从软件到现实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05638" y="2280047"/>
              <a:ext cx="123436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开源 · GitHub 即证据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468618" y="2660332"/>
            <a:ext cx="2552248" cy="755571"/>
            <a:chOff x="6468618" y="2660332"/>
            <a:chExt cx="2552248" cy="755571"/>
          </a:xfrm>
        </p:grpSpPr>
        <p:sp>
          <p:nvSpPr>
            <p:cNvPr id="31" name="TextBox 31"/>
            <p:cNvSpPr txBox="1"/>
            <p:nvPr/>
          </p:nvSpPr>
          <p:spPr>
            <a:xfrm>
              <a:off x="6468618" y="26603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03161" y="2684621"/>
              <a:ext cx="15026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总结与 30 天行动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005638" y="3003947"/>
              <a:ext cx="2015228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金句 · 三句总结 · 行动 · 30 天清单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05638" y="3232547"/>
              <a:ext cx="1293934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号召 · 使用者到架构师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468618" y="3612832"/>
            <a:ext cx="3073772" cy="755571"/>
            <a:chOff x="6468618" y="3612832"/>
            <a:chExt cx="3073772" cy="755571"/>
          </a:xfrm>
        </p:grpSpPr>
        <p:sp>
          <p:nvSpPr>
            <p:cNvPr id="36" name="TextBox 36"/>
            <p:cNvSpPr txBox="1"/>
            <p:nvPr/>
          </p:nvSpPr>
          <p:spPr>
            <a:xfrm>
              <a:off x="6468618" y="3612832"/>
              <a:ext cx="2733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07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03161" y="3637121"/>
              <a:ext cx="25392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延伸方向：具身智能 &amp; 两门课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05638" y="3956447"/>
              <a:ext cx="125298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具身 · 物理世界的 AI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05638" y="4185047"/>
              <a:ext cx="116739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4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课程 · 斯坦福两门课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1" name="TextBox 41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 / 27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400294" cy="738854"/>
            <a:chOff x="595122" y="501491"/>
            <a:chExt cx="540029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命题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开发者价值迁移：从实现到编排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1047750" y="1905000"/>
            <a:ext cx="10096500" cy="4019550"/>
            <a:chOff x="1047750" y="1905000"/>
            <a:chExt cx="10096500" cy="40195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481214" y="2039302"/>
              <a:ext cx="3229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核心命题：从「写代码」到「编排 Agent 写代码」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57450"/>
              <a:ext cx="10096500" cy="876300"/>
            </a:xfrm>
            <a:prstGeom prst="roundRect">
              <a:avLst>
                <a:gd name="adj" fmla="val 3261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574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662393" y="2611279"/>
              <a:ext cx="486721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2025 年你写代码 —— 2026 年你编排 Agent 写代码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26380" y="3037999"/>
              <a:ext cx="41392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开发者的价值从「实现」转向「定义约束 · 评估输出 · 设计反馈循环」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340686" y="37266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价值上移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97976" y="409384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定义约束与验收标准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070362" y="4360545"/>
              <a:ext cx="115517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评估 Agent 输出质量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97976" y="462724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设计反馈与迭代闭环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4386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386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640556" y="372665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使用 ≠ 信任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91595" y="4093845"/>
              <a:ext cx="14945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84% 使用或计划用 AI 工具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401037" y="4360545"/>
              <a:ext cx="12756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仅 29% 信任输出准确性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570658" y="4627245"/>
              <a:ext cx="9363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2024 年还是 40%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29550" y="3543300"/>
              <a:ext cx="3200400" cy="1600200"/>
            </a:xfrm>
            <a:prstGeom prst="roundRect">
              <a:avLst>
                <a:gd name="adj" fmla="val 1786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29550" y="3543300"/>
              <a:ext cx="3200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20937" y="37266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几乎对，但不完全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64766" y="4093845"/>
              <a:ext cx="17299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66%：最大挫败是 almost right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01697" y="4360545"/>
              <a:ext cx="14561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45%：调试 AI 代码更耗时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52427" y="4627245"/>
              <a:ext cx="7546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会用 ≠ 会验收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47750" y="5334000"/>
              <a:ext cx="10096500" cy="590550"/>
            </a:xfrm>
            <a:prstGeom prst="roundRect">
              <a:avLst>
                <a:gd name="adj" fmla="val 4839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536187" y="5449252"/>
              <a:ext cx="51196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差距不在「用没用 AI」，而在是否把它当作协作者：能定义、会评估、懂约束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80765" y="5702141"/>
              <a:ext cx="34304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来源：Stack Overflow Developer Survey 2025（n≈4.9 万开发者）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3 / 27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636430" cy="738854"/>
            <a:chOff x="595122" y="501491"/>
            <a:chExt cx="563643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趋势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6364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2026 AI 全景：六大结构性趋势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2000250"/>
            <a:chOff x="609600" y="1619250"/>
            <a:chExt cx="3429000" cy="20002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337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自主多步 Agent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7888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从问答到任务执行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726531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长时程 · 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74181"/>
              <a:ext cx="14371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软件工程 Agent 最热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2000250"/>
            <a:chOff x="4381500" y="1619250"/>
            <a:chExt cx="3429000" cy="200025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599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MCP 成为事实标准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78881"/>
              <a:ext cx="19931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Anthropic 发起 → Linux AAIF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726531"/>
              <a:ext cx="2193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OpenAI/Google/微软/AWS 采纳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74181"/>
              <a:ext cx="1508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月 SDK 下载近 1 亿次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2000250"/>
            <a:chOff x="8153400" y="1619250"/>
            <a:chExt cx="3429000" cy="200025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多模态深度融合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78881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文本 + 图像 + 语音 + 视频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7265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跨模态理解成默认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741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端侧小模型兴起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3810000"/>
            <a:ext cx="3429000" cy="2000250"/>
            <a:chOff x="609600" y="3810000"/>
            <a:chExt cx="34290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342" y="4083368"/>
              <a:ext cx="21563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原生 IDE / Agent 工具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485" y="4669631"/>
              <a:ext cx="2129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Cursor · Claude Code · Codex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485" y="4917281"/>
              <a:ext cx="18882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Gemini CLI · Copilot Agent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2485" y="5164931"/>
              <a:ext cx="15567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IDE 从编辑器变工作台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81500" y="3810000"/>
            <a:ext cx="3429000" cy="2000250"/>
            <a:chOff x="4381500" y="3810000"/>
            <a:chExt cx="3429000" cy="2000250"/>
          </a:xfrm>
        </p:grpSpPr>
        <p:sp>
          <p:nvSpPr>
            <p:cNvPr id="34" name="Rectangle 34"/>
            <p:cNvSpPr/>
            <p:nvPr/>
          </p:nvSpPr>
          <p:spPr>
            <a:xfrm>
              <a:off x="43815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3815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03242" y="40833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开发者角色转向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04385" y="46696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从「写代码」到「指挥与审查」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04385" y="4917281"/>
              <a:ext cx="14371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监督 Agent 成新技能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04385" y="51649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评估比生成更关键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153400" y="3810000"/>
            <a:ext cx="3429000" cy="2000250"/>
            <a:chOff x="8153400" y="3810000"/>
            <a:chExt cx="34290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81534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534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75142" y="4083368"/>
              <a:ext cx="1323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 / 本地追赶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6285" y="4669631"/>
              <a:ext cx="1844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DeepSeek · Qwen · Llama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76285" y="49172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与闭源差距快速收窄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76285" y="51649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部署与定制更自由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4 / 27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783961" cy="738854"/>
            <a:chOff x="595122" y="501491"/>
            <a:chExt cx="5783961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01 · 格局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7839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模型选型：先定义任务，再选模型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2000250"/>
            <a:chOff x="609600" y="1619250"/>
            <a:chExt cx="3429000" cy="20002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复杂推理 / 长程规划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78881"/>
              <a:ext cx="1195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强推理旗舰模型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726531"/>
              <a:ext cx="16453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Agentic · 多步工具调用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7418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慢而准，重推理预算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2000250"/>
            <a:chOff x="4381500" y="1619250"/>
            <a:chExt cx="3429000" cy="200025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6143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日常 Coding / 高频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7888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高性价比主力模型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726531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短任务 · 吞吐优先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74181"/>
              <a:ext cx="12854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覆盖 80% 日常开发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2000250"/>
            <a:chOff x="8153400" y="1619250"/>
            <a:chExt cx="3429000" cy="200025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本地部署 / 隐私合规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78881"/>
              <a:ext cx="1345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开源可自托管模型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726531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数据不出域 · 可微调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74181"/>
              <a:ext cx="2043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DeepSeek · Qwen · Llama 系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3810000"/>
            <a:ext cx="3429000" cy="2000250"/>
            <a:chOff x="609600" y="3810000"/>
            <a:chExt cx="34290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342" y="408336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高并发 / 成本敏感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485" y="46696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小模型 + 推理优化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485" y="4917281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更低延迟 · 更低 token 成本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2485" y="5164931"/>
              <a:ext cx="1089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蒸馏 / 量化部署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81500" y="3810000"/>
            <a:ext cx="3429000" cy="2000250"/>
            <a:chOff x="4381500" y="3810000"/>
            <a:chExt cx="3429000" cy="2000250"/>
          </a:xfrm>
        </p:grpSpPr>
        <p:sp>
          <p:nvSpPr>
            <p:cNvPr id="34" name="Rectangle 34"/>
            <p:cNvSpPr/>
            <p:nvPr/>
          </p:nvSpPr>
          <p:spPr>
            <a:xfrm>
              <a:off x="4381500" y="3810000"/>
              <a:ext cx="3429000" cy="20002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3815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03242" y="4083368"/>
              <a:ext cx="1323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多模态 / 富文档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04385" y="4669631"/>
              <a:ext cx="893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多模态模型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04385" y="4917281"/>
              <a:ext cx="1644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图 · 表 · PDF 同时理解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04385" y="51649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按任务边界选型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153400" y="3810000"/>
            <a:ext cx="3429000" cy="2000250"/>
            <a:chOff x="8153400" y="3810000"/>
            <a:chExt cx="34290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8153400" y="3810000"/>
              <a:ext cx="34290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53400" y="381000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75142" y="4083368"/>
              <a:ext cx="98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选型心法 ★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6285" y="466963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没有最好的模型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76285" y="491728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只有最适合任务的模型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76285" y="516493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先定义任务，再选模型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5 / 27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747847" cy="738854"/>
            <a:chOff x="595122" y="501491"/>
            <a:chExt cx="774784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演进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74784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从 RAG 到 Agent：被问题逼出来的技术演进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50" name="Group 50"/>
          <p:cNvGrpSpPr/>
          <p:nvPr/>
        </p:nvGrpSpPr>
        <p:grpSpPr>
          <a:xfrm>
            <a:off x="1047750" y="1866900"/>
            <a:ext cx="10096500" cy="4057650"/>
            <a:chOff x="1047750" y="1866900"/>
            <a:chExt cx="10096500" cy="40576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661389" y="2001202"/>
              <a:ext cx="48692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案例主线：企业招聘 Agent —— 每一层，都是被上一个「真实问题」逼出来的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00300"/>
              <a:ext cx="1943100" cy="203835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15648" y="2595801"/>
              <a:ext cx="100730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① RAG 检索增强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439" y="2848689"/>
              <a:ext cx="1285723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痛点：答不出公司内部制度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200150" y="308610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69102" y="3221593"/>
              <a:ext cx="130039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连私有知识 · 显著减幻觉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09331" y="34882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上下文可控可溯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086100" y="2400300"/>
              <a:ext cx="1943100" cy="203835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0861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564706" y="2595801"/>
              <a:ext cx="98588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② Graph 结构化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61614" y="2848689"/>
              <a:ext cx="1392072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痛点：知识与流程关系理不清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238500" y="308610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89795" y="32215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知识图谱推理路径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23225" y="3488293"/>
              <a:ext cx="106885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关系清晰 · 更可解释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124450" y="2400300"/>
              <a:ext cx="1943100" cy="203835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1244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572562" y="2595801"/>
              <a:ext cx="1046877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③ Loop 反馈循环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9488" y="2848689"/>
              <a:ext cx="1073023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痛点：做错了没人纠正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5276850" y="308610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686031" y="32215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自我纠错与迭代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43918" y="34882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评估驱动改进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162800" y="2400300"/>
              <a:ext cx="1943100" cy="203835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1628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571178" y="2595801"/>
              <a:ext cx="112634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④ Harness / 安全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38314" y="2848689"/>
              <a:ext cx="1392072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痛点：能执行了，怕越权乱来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7315200" y="308610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49129" y="3221593"/>
              <a:ext cx="97044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护栏 · 沙箱 · 评估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49129" y="3488293"/>
              <a:ext cx="97044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对齐 · 合规 · 审计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9201150" y="2400300"/>
              <a:ext cx="1943100" cy="203835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011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099" y="2595801"/>
              <a:ext cx="1029202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⑤ 多 Agent 协作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94785" y="2848689"/>
              <a:ext cx="1355829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痛点：一个 Agent 忙不过来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9353550" y="308610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762731" y="32215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角色分工与编排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62731" y="34882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竞争与协同机制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47750" y="4629150"/>
              <a:ext cx="10096500" cy="552450"/>
            </a:xfrm>
            <a:prstGeom prst="roundRect">
              <a:avLst>
                <a:gd name="adj" fmla="val 5172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47750" y="46291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3705358" y="4755356"/>
              <a:ext cx="4781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 RAG 到 Agent：先答得准 → 再想得清 → 后干得稳 —— 最后才谈协作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600994" y="5016341"/>
              <a:ext cx="299001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每一层都解决上一层的短板：先稳准，再自主，后协作与可控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047750" y="5334000"/>
              <a:ext cx="10096500" cy="590550"/>
            </a:xfrm>
            <a:prstGeom prst="roundRect">
              <a:avLst>
                <a:gd name="adj" fmla="val 4839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125364" y="5472351"/>
              <a:ext cx="5941272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工程落地顺序：RAG 把答案喂准 → Loop 让它自己纠错 → Harness 兜住安全合规 → 再谈多 Agent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581520" y="5711666"/>
              <a:ext cx="302896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别跳级：多数失败的 Agent 项目，是连 RAG 的召回都没做稳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51" name="TextBox 51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6 / 27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525770" cy="738854"/>
            <a:chOff x="595122" y="501491"/>
            <a:chExt cx="552577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架构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52577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Agentic Engineering 核心架构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1047750" y="1866900"/>
            <a:ext cx="10096500" cy="4076700"/>
            <a:chOff x="1047750" y="1866900"/>
            <a:chExt cx="10096500" cy="407670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19100"/>
            </a:xfrm>
            <a:prstGeom prst="roundRect">
              <a:avLst>
                <a:gd name="adj" fmla="val 6818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419105" y="2039302"/>
              <a:ext cx="53537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内核公式：Agent = LLM 推理 + 工具 + 记忆 + 规划 —— 能力四要素，先让内核稳定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952457" y="2629852"/>
              <a:ext cx="14290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Tool Calling 工具调用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59780" y="2935843"/>
              <a:ext cx="121444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调用 API · 查询数据库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32575" y="3183493"/>
              <a:ext cx="106885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执行代码 · 读写文件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88523" y="3431143"/>
              <a:ext cx="155695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MCP 统一接入（2026 标准）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476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76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05660" y="2629852"/>
              <a:ext cx="11806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Memory 记忆分层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619462" y="2935843"/>
              <a:ext cx="95307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短期 = 上下文窗口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52892" y="3183493"/>
              <a:ext cx="10862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长期 = 向量库 / 文件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86031" y="343114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分层记忆最实用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905750" y="2438400"/>
              <a:ext cx="3238500" cy="1333500"/>
            </a:xfrm>
            <a:prstGeom prst="roundRect">
              <a:avLst>
                <a:gd name="adj" fmla="val 214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905750" y="24384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431" y="2629852"/>
              <a:ext cx="9231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Planning 规划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93442" y="2935843"/>
              <a:ext cx="1063116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ReAct · CoT 思维链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32689" y="3183493"/>
              <a:ext cx="1184623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子目标分解 · 多步推理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99258" y="3431143"/>
              <a:ext cx="105148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先想再做、步步留痕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47750" y="3962400"/>
              <a:ext cx="10096500" cy="476250"/>
            </a:xfrm>
            <a:prstGeom prst="roundRect">
              <a:avLst>
                <a:gd name="adj" fmla="val 60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47750" y="396240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71230" y="4152424"/>
              <a:ext cx="50495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内核可观察：工具调用留日志 · 记忆可查 · 规划可见 —— 稳定，是一切上层能力的前提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47750" y="4591050"/>
              <a:ext cx="10096500" cy="7239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211105" y="4744402"/>
              <a:ext cx="57697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为了让企业级 Agent 可控，还需要 Human-in-the-Loop —— 治理层，不是第五个必要组件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20290" y="5012293"/>
              <a:ext cx="475142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关键节点人工审核 · 可打断 · 可接管 · 可回滚 —— 按风险分级引入，不是每个 Agent 都必须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47750" y="5467350"/>
              <a:ext cx="10096500" cy="47625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999999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636225" y="5664041"/>
              <a:ext cx="291954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参考：LangGraph / Claude Agent SDK / MCP 文档 · 2026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5" name="TextBox 35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7 / 27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134556" cy="738854"/>
            <a:chOff x="595122" y="501491"/>
            <a:chExt cx="7134556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地图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13455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Engineering Skills Map：本讲路线图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42" name="Group 42"/>
          <p:cNvGrpSpPr/>
          <p:nvPr/>
        </p:nvGrpSpPr>
        <p:grpSpPr>
          <a:xfrm>
            <a:off x="1047750" y="1905000"/>
            <a:ext cx="10096500" cy="4267200"/>
            <a:chOff x="1047750" y="1905000"/>
            <a:chExt cx="10096500" cy="426720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381000"/>
            </a:xfrm>
            <a:prstGeom prst="roundRect">
              <a:avLst>
                <a:gd name="adj" fmla="val 75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824017" y="2033826"/>
              <a:ext cx="454396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Building &amp; deploying AI applications —— 应用构建与部署（最外层能力）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381250"/>
              <a:ext cx="2667000" cy="3143250"/>
            </a:xfrm>
            <a:prstGeom prst="roundRect">
              <a:avLst>
                <a:gd name="adj" fmla="val 10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381250"/>
              <a:ext cx="2667000" cy="57150"/>
            </a:xfrm>
            <a:prstGeom prst="rect">
              <a:avLst/>
            </a:prstGeom>
            <a:solidFill>
              <a:srgbClr val="99999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650353" y="2618899"/>
              <a:ext cx="146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Software engineering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55223" y="2809399"/>
              <a:ext cx="16520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fundamentals（CS 底座）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43348" y="3217545"/>
              <a:ext cx="8758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数据结构 · 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91945" y="3503295"/>
              <a:ext cx="13786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操作系统 · 网络 · 数据库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13103" y="3789045"/>
              <a:ext cx="11362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测试 · 调试 · 工程化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52434" y="4074795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架构与代码阅读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13395" y="442174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这是不变的核心：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78007" y="4650343"/>
              <a:ext cx="1006485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越快，越需要它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905250" y="2381250"/>
              <a:ext cx="4667250" cy="3143250"/>
            </a:xfrm>
            <a:prstGeom prst="roundRect">
              <a:avLst>
                <a:gd name="adj" fmla="val 909"/>
              </a:avLst>
            </a:prstGeom>
            <a:solidFill>
              <a:srgbClr val="FFFFFF"/>
            </a:solidFill>
            <a:ln w="19050">
              <a:solidFill>
                <a:srgbClr val="E3061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905250" y="2381250"/>
              <a:ext cx="466725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968338" y="2556510"/>
              <a:ext cx="25410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Using coding agents ★ 本讲重点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171950" y="2933700"/>
              <a:ext cx="4133850" cy="361950"/>
            </a:xfrm>
            <a:prstGeom prst="roundRect">
              <a:avLst>
                <a:gd name="adj" fmla="val 7895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329112" y="3069193"/>
              <a:ext cx="317430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① Directing the workflow 引导：精准 Prompt · 验收标准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171950" y="3371850"/>
              <a:ext cx="4133850" cy="361950"/>
            </a:xfrm>
            <a:prstGeom prst="roundRect">
              <a:avLst>
                <a:gd name="adj" fmla="val 7895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329112" y="3507343"/>
              <a:ext cx="301120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② Enabling agent autonomy 授权：决策空间 · 反馈闭环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171950" y="3810000"/>
              <a:ext cx="4133850" cy="361950"/>
            </a:xfrm>
            <a:prstGeom prst="roundRect">
              <a:avLst>
                <a:gd name="adj" fmla="val 7895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329112" y="3945493"/>
              <a:ext cx="27697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③ Reviewing the work 审查：输出≠正确 · 评估框架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171950" y="4248150"/>
              <a:ext cx="4133850" cy="361950"/>
            </a:xfrm>
            <a:prstGeom prst="roundRect">
              <a:avLst>
                <a:gd name="adj" fmla="val 7895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329112" y="4383643"/>
              <a:ext cx="265410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④ Customizing &amp; env 定制：MCP · 工具链 · 权限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171950" y="4686300"/>
              <a:ext cx="4133850" cy="361950"/>
            </a:xfrm>
            <a:prstGeom prst="roundRect">
              <a:avLst>
                <a:gd name="adj" fmla="val 7895"/>
              </a:avLst>
            </a:prstGeom>
            <a:solidFill>
              <a:srgbClr val="F5F5F5"/>
            </a:solidFill>
            <a:ln w="9525">
              <a:solidFill>
                <a:srgbClr val="DDDDDD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329112" y="4821793"/>
              <a:ext cx="318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⑤ Coding agent foundations 原理：Token · 上下文 · 采样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763000" y="2381250"/>
              <a:ext cx="2381250" cy="3143250"/>
            </a:xfrm>
            <a:prstGeom prst="roundRect">
              <a:avLst>
                <a:gd name="adj" fmla="val 1200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763000" y="2381250"/>
              <a:ext cx="238125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44928" y="2610802"/>
              <a:ext cx="12173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Shaping the build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64230" y="2817495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（架构设计思维）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85388" y="3236595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把大问题切分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24810" y="3522345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定义接口与约束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94565" y="3808095"/>
              <a:ext cx="11181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权衡取舍 · 设计权衡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543656" y="442174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决定「做什么、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659430" y="463129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不做什么」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047750" y="5715000"/>
              <a:ext cx="1009650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537225" y="5843826"/>
              <a:ext cx="5117550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1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你的 CS 底座已具备 → 本讲主线：学会 Using coding agents（五大技能逐层展开）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3" name="TextBox 43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8 / 27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09888" cy="738854"/>
            <a:chOff x="595122" y="501491"/>
            <a:chExt cx="650988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02 · 技能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098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Coding Agent 五大核心技能（展开）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61" name="Group 61"/>
          <p:cNvGrpSpPr/>
          <p:nvPr/>
        </p:nvGrpSpPr>
        <p:grpSpPr>
          <a:xfrm>
            <a:off x="1047750" y="1866900"/>
            <a:ext cx="10096500" cy="4019550"/>
            <a:chOff x="1047750" y="1866900"/>
            <a:chExt cx="10096500" cy="40195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182958" y="2001202"/>
              <a:ext cx="38260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五大技能 × 人话翻译 —— 用一句大白话说清每个技能在干什么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08997" y="2580799"/>
              <a:ext cx="14206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① Directing workflow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793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告诉 AI 到底要做什么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2001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83464" y="3259693"/>
              <a:ext cx="127167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Prompt 更精准而非更长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1930" y="3564493"/>
              <a:ext cx="91474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写清验收标准 AC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514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先讲清「要什么」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8616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08610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0861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381954" y="2580799"/>
              <a:ext cx="13513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② Enabling autonomy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41628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让 AI 自己决定怎么做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323850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564062" y="3259693"/>
              <a:ext cx="987175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给 Agent 决策空间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05568" y="35644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构建反馈闭环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47681" y="38692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让它越用越聪明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08610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89999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1244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1244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385551" y="2580799"/>
              <a:ext cx="142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③ Reviewing the work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21485" y="2832497"/>
              <a:ext cx="1149031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判断 AI 做得对不对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52768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611194" y="3259693"/>
              <a:ext cx="96961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输出 ≠ 正确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743918" y="3564493"/>
              <a:ext cx="704164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建立评估框架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6281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失败要能定位归因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1244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383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16280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16280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75702" y="2580799"/>
              <a:ext cx="1317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④ Customizing &amp; env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92982" y="2832497"/>
              <a:ext cx="1282737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给 AI 接上真正的工具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731520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735085" y="3259693"/>
              <a:ext cx="79853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配置 MCP 服务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66495" y="35644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接入自定义工具链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40154" y="3869293"/>
              <a:ext cx="58839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权限最小化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16280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97669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9201150" y="2400300"/>
              <a:ext cx="1943100" cy="2667000"/>
            </a:xfrm>
            <a:prstGeom prst="roundRect">
              <a:avLst>
                <a:gd name="adj" fmla="val 14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01150" y="2400300"/>
              <a:ext cx="19431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551293" y="2580799"/>
              <a:ext cx="12428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⑤ Foundations 原理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64479" y="2832497"/>
              <a:ext cx="1416442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知道 AI 为什么会这样做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9353550" y="3105150"/>
              <a:ext cx="1638300" cy="9525"/>
            </a:xfrm>
            <a:custGeom>
              <a:avLst/>
              <a:gdLst/>
              <a:ahLst/>
              <a:cxnLst/>
              <a:rect l="l" t="t" r="r" b="b"/>
              <a:pathLst>
                <a:path w="1638300" h="9525">
                  <a:moveTo>
                    <a:pt x="0" y="0"/>
                  </a:moveTo>
                  <a:lnTo>
                    <a:pt x="16383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696675" y="3259693"/>
              <a:ext cx="952050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Token 与成本意识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62731" y="3564493"/>
              <a:ext cx="81993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上下文窗口边界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704845" y="3869293"/>
              <a:ext cx="93571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知道模型能力极限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201150" y="4572000"/>
              <a:ext cx="1943100" cy="381000"/>
            </a:xfrm>
            <a:prstGeom prst="roundRect">
              <a:avLst>
                <a:gd name="adj" fmla="val 7500"/>
              </a:avLst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015041" y="4704874"/>
              <a:ext cx="3153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做 对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47750" y="5257800"/>
              <a:ext cx="10096500" cy="62865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659034" y="5403056"/>
              <a:ext cx="4873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以前程序员最重要的是写得出来；以后程序员最重要的是让 AI 做得对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253271" y="5664041"/>
              <a:ext cx="36854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五技能闭环：告诉 → 授权 → 审查 → 定制 → 懂原理 —— 缺「审查」，等于裸奔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62" name="TextBox 6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0978421" y="6613684"/>
              <a:ext cx="265841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9 / 27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023753" cy="738854"/>
            <a:chOff x="595122" y="501491"/>
            <a:chExt cx="602375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角色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02375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新兴职业角色：2026 最抢手的人才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1047750" y="1866900"/>
            <a:ext cx="10096500" cy="4057650"/>
            <a:chOff x="1047750" y="1866900"/>
            <a:chExt cx="10096500" cy="40576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3776270" y="2001202"/>
              <a:ext cx="4639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需求侧最抢手：从「会写代码」到「会交付 AI 系统」—— 三种典型角色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069581" y="2708910"/>
              <a:ext cx="1194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Infra 工程师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56448" y="3160395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连接算法与算力的桥梁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35379" y="3484245"/>
              <a:ext cx="186324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推理加速 · 分布式训练 · 显存优化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67544" y="3808095"/>
              <a:ext cx="159891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技术栈：K8s · CUDA · vLLM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56537" y="4131945"/>
              <a:ext cx="16209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雇主：云 · 芯片 · 大模型厂商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476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476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983498" y="2708910"/>
              <a:ext cx="22250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Forward Deployed Engineer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303710" y="316039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驻场交付：客户现场快速落地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03710" y="348424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写生产代码，直接对结果负责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78392" y="3808095"/>
              <a:ext cx="18352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美区 base 中位 ≈ $185K（2026）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39931" y="4131945"/>
              <a:ext cx="171213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雇主：AI 产品公司 · 企业客户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905750" y="2457450"/>
              <a:ext cx="3238500" cy="2819400"/>
            </a:xfrm>
            <a:prstGeom prst="roundRect">
              <a:avLst>
                <a:gd name="adj" fmla="val 1014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905750" y="245745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49740" y="2708910"/>
              <a:ext cx="1550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Applied AI Engineer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975026" y="316039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把模型变成可用产品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3958" y="3484245"/>
              <a:ext cx="17420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需求拆解 · 模型选型 · 评测护栏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53236" y="3808095"/>
              <a:ext cx="194352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技术栈：LangGraph · RAG · Agent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15362" y="4131945"/>
              <a:ext cx="12192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雇主：各行业 AI 团队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47750" y="5467350"/>
              <a:ext cx="10096500" cy="457200"/>
            </a:xfrm>
            <a:prstGeom prst="roundRect">
              <a:avLst>
                <a:gd name="adj" fmla="val 625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1047750" y="54673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861769" y="5619274"/>
              <a:ext cx="44684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共同底座：工程能力 + AI 应用 + 领域/客户理解 —— 分工不同，底座相同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3" name="TextBox 33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10 / 27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699993" cy="738854"/>
            <a:chOff x="595122" y="501491"/>
            <a:chExt cx="469999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对比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6999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三种 AI 工程师：能力对照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609600" y="1619250"/>
            <a:ext cx="10972800" cy="4200525"/>
            <a:chOff x="609600" y="1619250"/>
            <a:chExt cx="10972800" cy="4200525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10972800" cy="4191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10972800" cy="3810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0466" y="1753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维度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41631" y="1753552"/>
              <a:ext cx="5655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AI Infra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32890" y="1753552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FDE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65223" y="1753552"/>
              <a:ext cx="6911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Applied AI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609600" y="2000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0847" y="24188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核心能力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1842" y="2418874"/>
              <a:ext cx="10851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系统优化 + 分布式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859078" y="2418874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全栈原型 + 客户沟通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02278" y="2418874"/>
              <a:ext cx="12170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模型应用 + 产品设计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" y="2952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0847" y="337137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29917" y="3371374"/>
              <a:ext cx="1188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K8s · CUDA · vLLM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20004" y="3371374"/>
              <a:ext cx="16951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Cursor / Claude Code + API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22016" y="3371374"/>
              <a:ext cx="1577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LangGraph · RAG · Agent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609600" y="3905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0847" y="43238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典型雇主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40020" y="4323874"/>
              <a:ext cx="13687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云 · 芯片 · 大模型厂商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44762" y="4323874"/>
              <a:ext cx="14456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产品公司 · 企业客户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756297" y="4323874"/>
              <a:ext cx="9090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各行业 AI 团队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09600" y="4857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0847" y="527637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适合背景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71947" y="5276374"/>
              <a:ext cx="11049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后端 · 运维 · 系统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91006" y="5276374"/>
              <a:ext cx="9531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全栈 / 方案架构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46143" y="5276374"/>
              <a:ext cx="15293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ML 工程 / 全栈 · 产品感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09600" y="58102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DDDDD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11 / 27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8626137" cy="738854"/>
            <a:chOff x="595122" y="501491"/>
            <a:chExt cx="862613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路径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862613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从「码农」到「AI 架构师」：一条推荐成长路线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26494" y="3188018"/>
            <a:ext cx="10928291" cy="1456943"/>
            <a:chOff x="626494" y="3188018"/>
            <a:chExt cx="10928291" cy="1456943"/>
          </a:xfrm>
        </p:grpSpPr>
        <p:sp>
          <p:nvSpPr>
            <p:cNvPr id="6" name="Line 6"/>
            <p:cNvSpPr/>
            <p:nvPr/>
          </p:nvSpPr>
          <p:spPr>
            <a:xfrm>
              <a:off x="1371600" y="3810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19050">
              <a:solidFill>
                <a:srgbClr val="999999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2858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6280" y="3188018"/>
              <a:ext cx="1030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1 打底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39162" y="4020502"/>
              <a:ext cx="14648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GenAI 基础 · 工具调用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26494" y="4230052"/>
              <a:ext cx="14902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完成首个单 Agent 项目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7090" y="4439602"/>
              <a:ext cx="14090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会 Prompt · 会用 API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60102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580680" y="3188018"/>
              <a:ext cx="1030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2 纵深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61615" y="4020502"/>
              <a:ext cx="14687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复杂 Agent · 评估框架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18582" y="4230052"/>
              <a:ext cx="13548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外部服务集成 / MCP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95938" y="443960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以工程标准交付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107346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212926" y="3188018"/>
              <a:ext cx="12149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Year 3 系统化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86015" y="4020502"/>
              <a:ext cx="14687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多 Agent · 分布式推理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168385" y="423005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领域专精 + 开源作品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09736" y="4439602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能架构 · 能带人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23" name="Rectangle 23"/>
            <p:cNvSpPr/>
            <p:nvPr/>
          </p:nvSpPr>
          <p:spPr>
            <a:xfrm>
              <a:off x="609600" y="5715000"/>
              <a:ext cx="10972800" cy="571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9638" y="6017895"/>
              <a:ext cx="46438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不是硬性三年制，而是能力进阶的参考节奏：每年 1–2 个完整项目，比堆课程更有效。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6" name="TextBox 26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12 / 27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400294" cy="738854"/>
            <a:chOff x="595122" y="501491"/>
            <a:chExt cx="540029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03 · 洞察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4002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关键洞察：专业知识才是护城河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047750" y="1905000"/>
            <a:ext cx="10096500" cy="3867150"/>
            <a:chOff x="1047750" y="1905000"/>
            <a:chExt cx="10096500" cy="38671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959858" y="20393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同一个模型，为什么有人用出差距？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57450"/>
              <a:ext cx="10096500" cy="933450"/>
            </a:xfrm>
            <a:prstGeom prst="roundRect">
              <a:avLst>
                <a:gd name="adj" fmla="val 3061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574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211041" y="2624614"/>
              <a:ext cx="57699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「LLM 让每个人都更像通才：不懂 CSS 也能写，陌生领域也能先做出来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81266" y="2967514"/>
              <a:ext cx="42294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—— 但真正把同一个模型用出差距的，还是专业知识。」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638550"/>
              <a:ext cx="4914900" cy="1257300"/>
            </a:xfrm>
            <a:prstGeom prst="roundRect">
              <a:avLst>
                <a:gd name="adj" fmla="val 227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638550"/>
              <a:ext cx="49149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619261" y="3806904"/>
              <a:ext cx="1771879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同样用前沿模型：医疗专家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62197" y="4170045"/>
              <a:ext cx="14860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能设计更精准的诊断 Agent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34158" y="4436745"/>
              <a:ext cx="174208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懂病理 · 懂数据 · 懂误诊的代价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153150" y="3638550"/>
              <a:ext cx="4914900" cy="1257300"/>
            </a:xfrm>
            <a:prstGeom prst="roundRect">
              <a:avLst>
                <a:gd name="adj" fmla="val 2273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153150" y="3638550"/>
              <a:ext cx="49149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38236" y="3806904"/>
              <a:ext cx="744728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硬件工程师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02537" y="4170045"/>
              <a:ext cx="16161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能指导 AI 画 PCB / 做结构件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18310" y="4436745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能判断布局、公差与可制造性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47750" y="5143500"/>
              <a:ext cx="10096500" cy="628650"/>
            </a:xfrm>
            <a:prstGeom prst="roundRect">
              <a:avLst>
                <a:gd name="adj" fmla="val 4545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047750" y="514350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46266" y="5237321"/>
              <a:ext cx="28994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+ 行业 Expertise ＞ AI Alone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37342" y="5541645"/>
              <a:ext cx="29173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通用能力被拉平的时代，领域深度决定你的不可替代性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7" name="TextBox 27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13 / 27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655946" cy="738854"/>
            <a:chOff x="595122" y="501491"/>
            <a:chExt cx="7655946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实践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65594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Coding 三级：从 Assistants 到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047750" y="1905000"/>
            <a:ext cx="10191750" cy="4133850"/>
            <a:chOff x="1047750" y="1905000"/>
            <a:chExt cx="10191750" cy="413385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542676" y="2039302"/>
              <a:ext cx="31066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Coding 实践三级：从 Assistants 到 Agents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143000" y="25908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5908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22654" y="27470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0235" y="2755106"/>
              <a:ext cx="25549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辅助编码（GitHub Copilot 模式）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81188" y="3050143"/>
              <a:ext cx="2333727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自动补全 · 即时建议 —— 人写代码，AI 补全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857500" y="36957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57500" y="36957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37154" y="38519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94735" y="3860006"/>
              <a:ext cx="24098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结对编程（Cursor Chat 模式）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95688" y="4155043"/>
              <a:ext cx="2841381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对话式开发：解释 · 重构 · 试错 —— 人主导，AI 协作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72000" y="4800600"/>
              <a:ext cx="6667500" cy="876300"/>
            </a:xfrm>
            <a:prstGeom prst="roundRect">
              <a:avLst>
                <a:gd name="adj" fmla="val 326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572000" y="4800600"/>
              <a:ext cx="76200" cy="8763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851654" y="49568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L3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09235" y="4964906"/>
              <a:ext cx="2927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Agent 自主执行（Claude Code / Codex）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10188" y="5259943"/>
              <a:ext cx="3471362" cy="169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6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给定任务：规划 → 执行 → 测试 → 修复 —— AI 主导，人定义与验收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4095750" y="3467100"/>
              <a:ext cx="390525" cy="9525"/>
            </a:xfrm>
            <a:custGeom>
              <a:avLst/>
              <a:gdLst/>
              <a:ahLst/>
              <a:cxnLst/>
              <a:rect l="l" t="t" r="r" b="b"/>
              <a:pathLst>
                <a:path w="390525" h="9525">
                  <a:moveTo>
                    <a:pt x="0" y="0"/>
                  </a:moveTo>
                  <a:lnTo>
                    <a:pt x="390525" y="0"/>
                  </a:lnTo>
                </a:path>
              </a:pathLst>
            </a:custGeom>
            <a:noFill/>
            <a:ln w="17145">
              <a:solidFill>
                <a:srgbClr val="E30613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4492942" y="3434715"/>
              <a:ext cx="79058" cy="64770"/>
            </a:xfrm>
            <a:custGeom>
              <a:avLst/>
              <a:gdLst/>
              <a:ahLst/>
              <a:cxnLst/>
              <a:rect l="l" t="t" r="r" b="b"/>
              <a:pathLst>
                <a:path w="79058" h="64770">
                  <a:moveTo>
                    <a:pt x="79058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5810250" y="4572000"/>
              <a:ext cx="485775" cy="9525"/>
            </a:xfrm>
            <a:custGeom>
              <a:avLst/>
              <a:gdLst/>
              <a:ahLst/>
              <a:cxnLst/>
              <a:rect l="l" t="t" r="r" b="b"/>
              <a:pathLst>
                <a:path w="485775" h="9525">
                  <a:moveTo>
                    <a:pt x="0" y="0"/>
                  </a:moveTo>
                  <a:lnTo>
                    <a:pt x="485775" y="0"/>
                  </a:lnTo>
                </a:path>
              </a:pathLst>
            </a:custGeom>
            <a:noFill/>
            <a:ln w="17145">
              <a:solidFill>
                <a:srgbClr val="E30613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6302692" y="4539615"/>
              <a:ext cx="79057" cy="64770"/>
            </a:xfrm>
            <a:custGeom>
              <a:avLst/>
              <a:gdLst/>
              <a:ahLst/>
              <a:cxnLst/>
              <a:rect l="l" t="t" r="r" b="b"/>
              <a:pathLst>
                <a:path w="79057" h="64770">
                  <a:moveTo>
                    <a:pt x="79057" y="32385"/>
                  </a:moveTo>
                  <a:lnTo>
                    <a:pt x="0" y="647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0613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47750" y="5619750"/>
              <a:ext cx="10096500" cy="41910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700618" y="5785247"/>
              <a:ext cx="4790763" cy="1833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4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机会窗口：SO 2025 仅 14% 每天在工作中用 AI Agent —— 先掌握 L3，先吃到红利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14 / 27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728212" cy="738854"/>
            <a:chOff x="595122" y="501491"/>
            <a:chExt cx="7728212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学习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72821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技术变了，学的方式也该变 —— AI 新学习栈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旧路径（慢）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3242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3298031"/>
              <a:ext cx="1104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读 500 页教科书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6480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621881"/>
              <a:ext cx="1021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看 40 小时视频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9719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9457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复制粘贴不求甚解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42957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42695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学完即忘难迁移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18" name="Rectangle 18"/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46342" y="1892618"/>
              <a:ext cx="17629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2026 新学习栈（快）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553200" y="33242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18935" y="3298031"/>
              <a:ext cx="2600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用 AI 当 24/7 私教：多问「为什么」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36480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18935" y="3621881"/>
              <a:ext cx="2590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游戏化闯关：bibabo · freeCodeCamp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39719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18935" y="3945731"/>
              <a:ext cx="2561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即时验证：让 AI 出 Demo 几分钟见效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53200" y="42957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18935" y="4269581"/>
              <a:ext cx="2632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小黄鸭调试：向 AI 逐行解释暴露漏洞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15 / 27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193833" cy="738854"/>
            <a:chOff x="595122" y="501491"/>
            <a:chExt cx="619383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74283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反直觉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19383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有了 AI，为什么基础知识更重要？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反直觉真相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1309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越强，判断越贵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底层知识是校验依据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7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生成 ≠ 正确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没有基础 → 盲区一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无法判断输出对错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1655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无法设计约束与 Prompt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被「看起来对」带偏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没有基础 → 盲区二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125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遇 Bug 束手无策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628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反复出错时只能干等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排障 = 判断力的体现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64022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降低了「写出来」的门槛，却提高了「判断对不对」的门槛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32985"/>
              <a:ext cx="51584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用 AI 加速基础学习，但不能跳过基础理解 —— 基础决定你能走多高。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8304" y="5061585"/>
              <a:ext cx="5115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三个盲区 = 判断 · 约束 · 排障：这正是 AI 越强、判断越贵的本质。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16 / 27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99217" cy="738854"/>
            <a:chOff x="595122" y="501491"/>
            <a:chExt cx="659921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04 · 思维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99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架构设计思维：AI 时代最稀缺的能力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47" name="Group 47"/>
          <p:cNvGrpSpPr/>
          <p:nvPr/>
        </p:nvGrpSpPr>
        <p:grpSpPr>
          <a:xfrm>
            <a:off x="1047750" y="1866900"/>
            <a:ext cx="10096500" cy="4057650"/>
            <a:chOff x="1047750" y="1866900"/>
            <a:chExt cx="10096500" cy="4057650"/>
          </a:xfrm>
        </p:grpSpPr>
        <p:sp>
          <p:nvSpPr>
            <p:cNvPr id="6" name="Rectangle 6"/>
            <p:cNvSpPr/>
            <p:nvPr/>
          </p:nvSpPr>
          <p:spPr>
            <a:xfrm>
              <a:off x="1047750" y="18669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4097617" y="2001202"/>
              <a:ext cx="39967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先把角色说清：使用者 / 工程师 / 架构师 —— 责任半径逐级变大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326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使用者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48147" y="2867739"/>
              <a:ext cx="103770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告诉 AI：帮我写代码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28758" y="28041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→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476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476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755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工程师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04106" y="2867739"/>
              <a:ext cx="118378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让 AI 稳定完成一个任务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57758" y="28041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→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905750" y="2400300"/>
              <a:ext cx="3238500" cy="990600"/>
            </a:xfrm>
            <a:prstGeom prst="roundRect">
              <a:avLst>
                <a:gd name="adj" fmla="val 2885"/>
              </a:avLst>
            </a:prstGeom>
            <a:solidFill>
              <a:srgbClr val="1A1A1A"/>
            </a:solidFill>
            <a:ln w="15240">
              <a:solidFill>
                <a:srgbClr val="E3061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905750" y="2400300"/>
              <a:ext cx="3238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84139" y="2583656"/>
              <a:ext cx="6817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架构师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706662" y="2867739"/>
              <a:ext cx="1636677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设计：谁做 · 怎么协作 · 怎么验证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80512" y="3077289"/>
              <a:ext cx="1088975" cy="1547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9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失败怎么办 · 成本多少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047750" y="35433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047750" y="35433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236214" y="36966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系统分解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26857" y="3968591"/>
              <a:ext cx="159478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复杂问题 → Agent 可执行子任务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14461" y="4178141"/>
              <a:ext cx="10195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依赖清晰 · 边界明确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35433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35433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79714" y="36966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接口设计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72674" y="3968591"/>
              <a:ext cx="17901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定义 Agent↔Agent、Agent↔人 协议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84099" y="4178141"/>
              <a:ext cx="1367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消息 · 工具 · 上下文的约定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47750" y="44196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47750" y="44196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236214" y="45729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容错设计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62665" y="4844891"/>
              <a:ext cx="17231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会失败：重试 · 降级 · 接管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12351" y="5054441"/>
              <a:ext cx="122379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验证不可省，防幻觉扩散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91250" y="4419600"/>
              <a:ext cx="4953000" cy="8001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1430">
              <a:solidFill>
                <a:srgbClr val="999999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191250" y="4419600"/>
              <a:ext cx="4953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9038" y="45729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成本与评估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48535" y="4844891"/>
              <a:ext cx="16384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多 Agent 循环快速消耗 API 费用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17866" y="5054441"/>
              <a:ext cx="14997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监控 token 成本 · 先小步试跑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47750" y="5353050"/>
              <a:ext cx="10096500" cy="571500"/>
            </a:xfrm>
            <a:prstGeom prst="roundRect">
              <a:avLst>
                <a:gd name="adj" fmla="val 5000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47750" y="5353050"/>
              <a:ext cx="100965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005727" y="5483304"/>
              <a:ext cx="4180547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从「实现」到「设计」：把问题切对 · 把边界定清 · 把失败兜住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197377" y="5730716"/>
              <a:ext cx="37972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定义角色、设计接口、评估结果 —— 这是 AI 架构师在 Agent 时代真正的落点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8" name="TextBox 4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17 / 27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6599217" cy="738854"/>
            <a:chOff x="595122" y="501491"/>
            <a:chExt cx="659921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05 · 跨界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659921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不止于代码：从软件走向现实世界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2057400" cy="1905000"/>
            <a:chOff x="609600" y="1619250"/>
            <a:chExt cx="20574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0877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Code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9339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Agent 写程序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1529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Cursor · Claude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942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Code · 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838450" y="1619250"/>
            <a:ext cx="2057400" cy="1905000"/>
            <a:chOff x="2838450" y="1619250"/>
            <a:chExt cx="20574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283845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3845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60192" y="1892618"/>
              <a:ext cx="1182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Image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61335" y="2431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文生图已成熟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61335" y="2678906"/>
              <a:ext cx="12775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Midjourney · 即梦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61335" y="2926556"/>
              <a:ext cx="430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rgbClr val="555555"/>
                </a:buClr>
                <a:buSzTx/>
                <a:buFontTx/>
                <a:buChar char="•"/>
              </a:pP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Flux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067300" y="1619250"/>
            <a:ext cx="2057400" cy="1905000"/>
            <a:chOff x="5067300" y="1619250"/>
            <a:chExt cx="20574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50673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673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89042" y="1892618"/>
              <a:ext cx="11440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Video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90185" y="24312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文生视频可用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90185" y="2678906"/>
              <a:ext cx="9766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Sora · Veo 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90185" y="2926556"/>
              <a:ext cx="4338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0904" indent="-120904" algn="l">
                <a:buClr>
                  <a:srgbClr val="555555"/>
                </a:buClr>
                <a:buSzTx/>
                <a:buFontTx/>
                <a:buChar char="•"/>
              </a:pP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可灵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296150" y="1619250"/>
            <a:ext cx="2057400" cy="1905000"/>
            <a:chOff x="7296150" y="1619250"/>
            <a:chExt cx="2057400" cy="1905000"/>
          </a:xfrm>
        </p:grpSpPr>
        <p:sp>
          <p:nvSpPr>
            <p:cNvPr id="27" name="Rectangle 27"/>
            <p:cNvSpPr/>
            <p:nvPr/>
          </p:nvSpPr>
          <p:spPr>
            <a:xfrm>
              <a:off x="729615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29615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17892" y="1892618"/>
              <a:ext cx="8821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3D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19035" y="2431256"/>
              <a:ext cx="496931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Blender</a:t>
              </a:r>
              <a:endParaRPr lang="zh-CN" sz="1120" dirty="0">
                <a:solidFill>
                  <a:srgbClr val="555555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19035" y="2678906"/>
              <a:ext cx="512961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Unity3D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19035" y="2926556"/>
              <a:ext cx="408766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buClr>
                  <a:srgbClr val="555555"/>
                </a:buClr>
                <a:buSzTx/>
              </a:pP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C</a:t>
              </a:r>
              <a:r>
                <a:rPr lang="en-US" altLang="zh-CN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ocos</a:t>
              </a:r>
              <a:endParaRPr lang="en-US" sz="1120" dirty="0">
                <a:solidFill>
                  <a:srgbClr val="555555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525000" y="1619250"/>
            <a:ext cx="2057400" cy="1905000"/>
            <a:chOff x="9525000" y="1619250"/>
            <a:chExt cx="2057400" cy="1905000"/>
          </a:xfrm>
        </p:grpSpPr>
        <p:sp>
          <p:nvSpPr>
            <p:cNvPr id="34" name="Rectangle 34"/>
            <p:cNvSpPr/>
            <p:nvPr/>
          </p:nvSpPr>
          <p:spPr>
            <a:xfrm>
              <a:off x="9525000" y="1619250"/>
              <a:ext cx="20574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525000" y="1619250"/>
              <a:ext cx="20574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746742" y="1892618"/>
              <a:ext cx="15450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Text → Hardware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47885" y="2431256"/>
              <a:ext cx="1485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AI 画 PCB / 硬件制造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47885" y="267890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概念 → 原理图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747885" y="2926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→ 可制造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41" name="Rectangle 41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06018" y="4050982"/>
              <a:ext cx="55681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边界正在消失，但工程约束没有消失 —— 能生成 ≠ 能制造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8304" y="4947285"/>
              <a:ext cx="81400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Text-to-3D ≠ Text-to-CAD：尺寸 / 公差 / DFM / 安全仍需工程师把关。生成只是起点，工程判断才是终点。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45" name="TextBox 45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18 / 27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4249293" cy="738854"/>
            <a:chOff x="595122" y="501491"/>
            <a:chExt cx="4249293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05 · 开源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424929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开源社区：建立个人品牌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为什么开源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真实项目 = 最好的简历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1447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GitHub 历史可被看见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社区反馈加速成长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平台双轨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1094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GitHub（国际）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1002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Gitee（国内）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双平台同步维护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项目建议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238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自动化研究 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5667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客服 / 退款处理 Agent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111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个人知识库 RAG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36349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没有工作经历？—— GitHub 就是证据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32985"/>
              <a:ext cx="3753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2–3 个解决真实问题的 Agent 项目 ＞ 一堆课程证书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08304" y="5061585"/>
              <a:ext cx="37331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把过程写进 README：会解决问题的人自带证据。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19 / 27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2330958" cy="738854"/>
            <a:chOff x="595122" y="501491"/>
            <a:chExt cx="233095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06 · 金句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233095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三句核心总结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047750" y="1905000"/>
            <a:ext cx="10096500" cy="4152900"/>
            <a:chOff x="1047750" y="1905000"/>
            <a:chExt cx="10096500" cy="4152900"/>
          </a:xfrm>
        </p:grpSpPr>
        <p:sp>
          <p:nvSpPr>
            <p:cNvPr id="6" name="Rectangle 6"/>
            <p:cNvSpPr/>
            <p:nvPr/>
          </p:nvSpPr>
          <p:spPr>
            <a:xfrm>
              <a:off x="1047750" y="1905000"/>
              <a:ext cx="10096500" cy="400050"/>
            </a:xfrm>
            <a:prstGeom prst="roundRect">
              <a:avLst>
                <a:gd name="adj" fmla="val 7143"/>
              </a:avLst>
            </a:prstGeom>
            <a:solidFill>
              <a:srgbClr val="F5F5F5"/>
            </a:solidFill>
            <a:ln w="9525">
              <a:solidFill>
                <a:srgbClr val="999999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383911" y="20393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三句值得贴在工位的话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47750" y="25527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047750" y="25527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21130" y="28860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84273" y="2910364"/>
              <a:ext cx="5871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你的价值不由代码行数衡量，而由你定义问题的清晰度、评估输出的质量衡量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47750" y="35433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047750" y="35433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21130" y="38766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84273" y="3900964"/>
              <a:ext cx="29638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让入门变容易，但让精通变更重要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047750" y="4533900"/>
              <a:ext cx="10096500" cy="819150"/>
            </a:xfrm>
            <a:prstGeom prst="roundRect">
              <a:avLst>
                <a:gd name="adj" fmla="val 3488"/>
              </a:avLst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47750" y="4533900"/>
              <a:ext cx="76200" cy="819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21130" y="486727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E30613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84273" y="489156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最好的学习方式是构建，最好的构建方式是开源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047750" y="5562600"/>
              <a:ext cx="10096500" cy="495300"/>
            </a:xfrm>
            <a:prstGeom prst="roundRect">
              <a:avLst>
                <a:gd name="adj" fmla="val 5769"/>
              </a:avLst>
            </a:prstGeom>
            <a:solidFill>
              <a:srgbClr val="FFFFFF"/>
            </a:solidFill>
            <a:ln w="11430">
              <a:solidFill>
                <a:srgbClr val="E3061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975053" y="5715952"/>
              <a:ext cx="22418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下一页：把总结变成 30 天行动清单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3" name="TextBox 23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20 / 27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5196950" cy="738854"/>
            <a:chOff x="595122" y="501491"/>
            <a:chExt cx="5196950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612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06 · 行动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519695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30 天行动清单（从今天开始）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662526" y="3188018"/>
            <a:ext cx="10872250" cy="1456943"/>
            <a:chOff x="662526" y="3188018"/>
            <a:chExt cx="10872250" cy="1456943"/>
          </a:xfrm>
        </p:grpSpPr>
        <p:sp>
          <p:nvSpPr>
            <p:cNvPr id="6" name="Line 6"/>
            <p:cNvSpPr/>
            <p:nvPr/>
          </p:nvSpPr>
          <p:spPr>
            <a:xfrm>
              <a:off x="1371600" y="3810000"/>
              <a:ext cx="9448800" cy="9525"/>
            </a:xfrm>
            <a:custGeom>
              <a:avLst/>
              <a:gdLst/>
              <a:ahLst/>
              <a:cxnLst/>
              <a:rect l="l" t="t" r="r" b="b"/>
              <a:pathLst>
                <a:path w="9448800" h="9525">
                  <a:moveTo>
                    <a:pt x="0" y="0"/>
                  </a:moveTo>
                  <a:lnTo>
                    <a:pt x="9448800" y="0"/>
                  </a:lnTo>
                </a:path>
              </a:pathLst>
            </a:custGeom>
            <a:noFill/>
            <a:ln w="19050">
              <a:solidFill>
                <a:srgbClr val="999999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12858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2526" y="3188018"/>
              <a:ext cx="14181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1 · 搭骨架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08690" y="4020502"/>
              <a:ext cx="1325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选框架 · 建单 Agent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79659" y="4230052"/>
              <a:ext cx="11838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任务 → 工具 → 输出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42912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88722" y="3188018"/>
              <a:ext cx="14522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2 · 接 RAG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84170" y="4020502"/>
              <a:ext cx="10613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给 Agent 加检索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85463" y="42300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连上私有知识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42791" y="4439602"/>
              <a:ext cx="9441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对比 RAG 效果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581900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66396" y="3188018"/>
              <a:ext cx="16024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3 · 协作评估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38238" y="40205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设计协作流程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38238" y="42300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加评估与日志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38238" y="44396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盯成本与质量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734675" y="3724275"/>
              <a:ext cx="171450" cy="171450"/>
            </a:xfrm>
            <a:prstGeom prst="ellipse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203480" y="3188018"/>
              <a:ext cx="12338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Week 4 · 发布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61689" y="40205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部署到云端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06024" y="4230052"/>
              <a:ext cx="1428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写 README · 录 Demo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91013" y="44396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开源分享作品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5715000"/>
            <a:ext cx="10972800" cy="571500"/>
            <a:chOff x="609600" y="5715000"/>
            <a:chExt cx="10972800" cy="571500"/>
          </a:xfrm>
        </p:grpSpPr>
        <p:sp>
          <p:nvSpPr>
            <p:cNvPr id="27" name="Rectangle 27"/>
            <p:cNvSpPr/>
            <p:nvPr/>
          </p:nvSpPr>
          <p:spPr>
            <a:xfrm>
              <a:off x="609600" y="5715000"/>
              <a:ext cx="10972800" cy="571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9638" y="6017895"/>
              <a:ext cx="533329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30 天后不要求成为 AI 专家 —— 但至少要有一个真正属于你的 Agent：能演示 · 有代码 · 有文档。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0" name="TextBox 30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21 / 27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494102" cy="738854"/>
            <a:chOff x="595122" y="501491"/>
            <a:chExt cx="7494102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1/3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49410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具身智能：有身体的 AI（概念 × 技术栈）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619250"/>
            <a:ext cx="3429000" cy="1905000"/>
            <a:chOff x="609600" y="1619250"/>
            <a:chExt cx="3429000" cy="1905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2485" y="2431256"/>
              <a:ext cx="21063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纯文本 LLM：只在屏幕上思考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2678906"/>
              <a:ext cx="22202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具身：真实世界→感知→决策→动作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485" y="2926556"/>
              <a:ext cx="2353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形成感知-行动闭环、能动手的 AI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81500" y="1619250"/>
            <a:ext cx="3429000" cy="1905000"/>
            <a:chOff x="4381500" y="1619250"/>
            <a:chExt cx="3429000" cy="1905000"/>
          </a:xfrm>
        </p:grpSpPr>
        <p:sp>
          <p:nvSpPr>
            <p:cNvPr id="13" name="Rectangle 13"/>
            <p:cNvSpPr/>
            <p:nvPr/>
          </p:nvSpPr>
          <p:spPr>
            <a:xfrm>
              <a:off x="43815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032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为什么是现在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04385" y="243125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大模型给机器人「常识」与指令理解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04385" y="2678906"/>
              <a:ext cx="25559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仿真成熟：MuJoCo / Isaac / Gazebo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04385" y="29265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数据飞轮：开源数据集持续增长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153400" y="1619250"/>
            <a:ext cx="3429000" cy="1905000"/>
            <a:chOff x="8153400" y="1619250"/>
            <a:chExt cx="3429000" cy="1905000"/>
          </a:xfrm>
        </p:grpSpPr>
        <p:sp>
          <p:nvSpPr>
            <p:cNvPr id="20" name="Rectangle 20"/>
            <p:cNvSpPr/>
            <p:nvPr/>
          </p:nvSpPr>
          <p:spPr>
            <a:xfrm>
              <a:off x="8153400" y="1619250"/>
              <a:ext cx="3429000" cy="1905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153400" y="1619250"/>
              <a:ext cx="34290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75142" y="1892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技术栈三句话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76285" y="2431256"/>
              <a:ext cx="1918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感知：视觉/点云/触觉/本体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6285" y="2678906"/>
              <a:ext cx="19311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决策：VLA · 世界模型 · RL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76285" y="2926556"/>
              <a:ext cx="2353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平台：ROS2 · 仿真 · 遥操作数据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3810000"/>
            <a:ext cx="10972800" cy="2000250"/>
            <a:chOff x="609600" y="3810000"/>
            <a:chExt cx="10972800" cy="2000250"/>
          </a:xfrm>
        </p:grpSpPr>
        <p:sp>
          <p:nvSpPr>
            <p:cNvPr id="27" name="Rectangle 27"/>
            <p:cNvSpPr/>
            <p:nvPr/>
          </p:nvSpPr>
          <p:spPr>
            <a:xfrm>
              <a:off x="609600" y="3810000"/>
              <a:ext cx="10972800" cy="200025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6018" y="4050982"/>
              <a:ext cx="65966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具身智能 = 大模型给的『大脑』 × 物理世界的『身体』 × 反馈闭环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8304" y="4880610"/>
              <a:ext cx="6974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CCCCC"/>
                  </a:solidFill>
                  <a:latin typeface="Arial"/>
                  <a:ea typeface="Microsoft YaHei"/>
                  <a:cs typeface="Arial"/>
                </a:rPr>
                <a:t>对计算机学生：不必先买硬件 —— 仿真（MuJoCo / Isaac / LeRobot）就能跑通 80% 的入门学习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2" name="TextBox 32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22 / 27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094184" cy="738854"/>
            <a:chOff x="595122" y="501491"/>
            <a:chExt cx="7094184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2/3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09418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要学什么 + 怎么学：知识地图 → 学习路线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知识地图：学什么（按优先级）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3136106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数学地基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线代(变换/位姿) · 概率 · 优化 · 几何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459956"/>
              <a:ext cx="3166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CS 工程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Python/C++ · Linux · Git · PyTorch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783806"/>
              <a:ext cx="35778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ML/DL + CV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Transformer · CNN · 检测/分割/位姿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4107656"/>
              <a:ext cx="3059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机器人学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运动学/动力学 · PID/MPC · ROS2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431506"/>
              <a:ext cx="29245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具身专精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RL(PPO/SAC) · 模仿学习 · VLA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20" name="Rectangle 20"/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46342" y="18926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学习路线：五步走（仿真优先）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18935" y="3136106"/>
              <a:ext cx="37942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1 步 · CS 底子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Python · PyTorch · Linux 够用即走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18935" y="3459956"/>
              <a:ext cx="3654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2 步 · 感知入门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OpenCV + 目标检测 + RGB-D 点云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53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18935" y="3783806"/>
              <a:ext cx="40153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3 步 · 机器人栈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ROS2 + URDF/Rviz + MuJoCo 抓取仿真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553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18935" y="4107656"/>
              <a:ext cx="38206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4 步 · 策略学习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复现 LeRobot 模仿学习 Demo → PPO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553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18935" y="4431506"/>
              <a:ext cx="39132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 5 步 · 前沿触达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OpenVLA 微调 · Sim2Real · 世界模型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23 / 27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3945237" cy="738854"/>
            <a:chOff x="595122" y="501491"/>
            <a:chExt cx="3945237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91904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07 · 具身 3/3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394523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职业方向 + 与主线衔接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609600" y="1619250"/>
            <a:ext cx="5257800" cy="4191000"/>
            <a:chOff x="609600" y="1619250"/>
            <a:chExt cx="5257800" cy="419100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19932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职业方向（5 类切入点）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3136106"/>
              <a:ext cx="26775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具身算法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感知/规划/RL 策略 · 研究向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459956"/>
              <a:ext cx="2741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VLA/模型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视觉-语言-动作训练 · 前沿向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783806"/>
              <a:ext cx="30354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机器人软件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ROS2 系统/驱动/控制 · 工程向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4107656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仿真与数据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仿真平台 · 遥操作数据管线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43150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端侧部署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模型压缩/量化 · 真机落地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324600" y="1619250"/>
            <a:ext cx="5257800" cy="4191000"/>
            <a:chOff x="6324600" y="1619250"/>
            <a:chExt cx="5257800" cy="4191000"/>
          </a:xfrm>
        </p:grpSpPr>
        <p:sp>
          <p:nvSpPr>
            <p:cNvPr id="20" name="Rectangle 20"/>
            <p:cNvSpPr/>
            <p:nvPr/>
          </p:nvSpPr>
          <p:spPr>
            <a:xfrm>
              <a:off x="6324600" y="1619250"/>
              <a:ext cx="5257800" cy="419100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324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46342" y="1892618"/>
              <a:ext cx="18687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与主线衔接 + 开源入口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553200" y="31623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18935" y="313610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思维迁移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定义任务与验收，物理系统同样适用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553200" y="34861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18935" y="3459956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工程复用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评估/日志/限流/护栏 → 直接迁移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553200" y="38100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18935" y="3783806"/>
              <a:ext cx="33387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开源入口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LeRobot · OpenVLA · MuJoCo · ROS2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553200" y="41338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18935" y="4107656"/>
              <a:ext cx="3013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第一步动作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仿真跑通「语言指令抓取」Demo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553200" y="445770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18935" y="4431506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风险提示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硬件贵先仿真；安全护栏是必修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24 / 27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7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34" name="TextBox 34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24 / 27</a:t>
              </a:r>
            </a:p>
          </p:txBody>
        </p:sp>
      </p:grpSp>
      <p:pic>
        <p:nvPicPr>
          <p:cNvPr id="1026" name="Picture 2" descr="Image 1 of 19">
            <a:extLst>
              <a:ext uri="{FF2B5EF4-FFF2-40B4-BE49-F238E27FC236}">
                <a16:creationId xmlns:a16="http://schemas.microsoft.com/office/drawing/2014/main" id="{EA722955-72EB-E6B4-7E4F-403385654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955" y="1521523"/>
            <a:ext cx="3455689" cy="3455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iwonder JetRover JETSON Robot Car with AI Vision Robotic Arm, Supports ROS1 &amp; ROS2, with AI Large Model (ChatGPT), SLAM Mapping/Navigation, AI Voice Interaction, Intelligent Sorting">
            <a:extLst>
              <a:ext uri="{FF2B5EF4-FFF2-40B4-BE49-F238E27FC236}">
                <a16:creationId xmlns:a16="http://schemas.microsoft.com/office/drawing/2014/main" id="{02AB2568-1C52-6DD6-DD08-45710CF95A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054" y="1521523"/>
            <a:ext cx="3455688" cy="3455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文本框 38">
            <a:extLst>
              <a:ext uri="{FF2B5EF4-FFF2-40B4-BE49-F238E27FC236}">
                <a16:creationId xmlns:a16="http://schemas.microsoft.com/office/drawing/2014/main" id="{0CBEFB28-31EF-F8CD-A5C1-F9F637DD80B2}"/>
              </a:ext>
            </a:extLst>
          </p:cNvPr>
          <p:cNvSpPr txBox="1"/>
          <p:nvPr/>
        </p:nvSpPr>
        <p:spPr>
          <a:xfrm>
            <a:off x="6797142" y="1305341"/>
            <a:ext cx="48987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主控兼容</a:t>
            </a:r>
            <a:r>
              <a:rPr lang="zh-CN" altLang="en-US" dirty="0">
                <a:effectLst/>
              </a:rPr>
              <a:t>：支持 </a:t>
            </a:r>
            <a:r>
              <a:rPr lang="en-US" altLang="zh-CN" dirty="0">
                <a:effectLst/>
              </a:rPr>
              <a:t>ROS1/ROS2</a:t>
            </a:r>
            <a:r>
              <a:rPr lang="zh-CN" altLang="en-US" dirty="0">
                <a:effectLst/>
              </a:rPr>
              <a:t>，可选用树莓派 </a:t>
            </a:r>
            <a:r>
              <a:rPr lang="en-US" altLang="zh-CN" dirty="0">
                <a:effectLst/>
              </a:rPr>
              <a:t>5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Jetson Nano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Jetson Orin Nano </a:t>
            </a:r>
            <a:r>
              <a:rPr lang="zh-CN" altLang="en-US" dirty="0">
                <a:effectLst/>
              </a:rPr>
              <a:t>三种主控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ROS‑AI </a:t>
            </a:r>
            <a:r>
              <a:rPr lang="zh-CN" altLang="en-US" b="1" dirty="0">
                <a:effectLst/>
              </a:rPr>
              <a:t>开发平台</a:t>
            </a:r>
            <a:r>
              <a:rPr lang="zh-CN" altLang="en-US" dirty="0">
                <a:effectLst/>
              </a:rPr>
              <a:t>：支持深度学习、</a:t>
            </a:r>
            <a:r>
              <a:rPr lang="en-US" altLang="zh-CN" dirty="0" err="1">
                <a:effectLst/>
              </a:rPr>
              <a:t>MediaPipe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YOLO </a:t>
            </a:r>
            <a:r>
              <a:rPr lang="zh-CN" altLang="en-US" dirty="0">
                <a:effectLst/>
              </a:rPr>
              <a:t>模型训练，用于机器人学习开发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SLAM </a:t>
            </a:r>
            <a:r>
              <a:rPr lang="zh-CN" altLang="en-US" b="1" dirty="0">
                <a:effectLst/>
              </a:rPr>
              <a:t>建图导航</a:t>
            </a:r>
            <a:r>
              <a:rPr lang="zh-CN" altLang="en-US" dirty="0">
                <a:effectLst/>
              </a:rPr>
              <a:t>：搭载 </a:t>
            </a:r>
            <a:r>
              <a:rPr lang="en-US" altLang="zh-CN" dirty="0">
                <a:effectLst/>
              </a:rPr>
              <a:t>3D </a:t>
            </a:r>
            <a:r>
              <a:rPr lang="zh-CN" altLang="en-US" dirty="0">
                <a:effectLst/>
              </a:rPr>
              <a:t>深度相机 </a:t>
            </a:r>
            <a:r>
              <a:rPr lang="en-US" altLang="zh-CN" dirty="0">
                <a:effectLst/>
              </a:rPr>
              <a:t>+ </a:t>
            </a:r>
            <a:r>
              <a:rPr lang="zh-CN" altLang="en-US" dirty="0">
                <a:effectLst/>
              </a:rPr>
              <a:t>激光雷达，支持 </a:t>
            </a:r>
            <a:r>
              <a:rPr lang="en-US" altLang="zh-CN" dirty="0" err="1">
                <a:effectLst/>
              </a:rPr>
              <a:t>gmapping</a:t>
            </a:r>
            <a:r>
              <a:rPr lang="zh-CN" altLang="en-US" dirty="0">
                <a:effectLst/>
              </a:rPr>
              <a:t>、</a:t>
            </a:r>
            <a:r>
              <a:rPr lang="en-US" altLang="zh-CN" dirty="0">
                <a:effectLst/>
              </a:rPr>
              <a:t>cartographer </a:t>
            </a:r>
            <a:r>
              <a:rPr lang="zh-CN" altLang="en-US" dirty="0">
                <a:effectLst/>
              </a:rPr>
              <a:t>等算法，实现建图、多点导航、路径规划、动态避障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>
                <a:effectLst/>
              </a:rPr>
              <a:t>6 </a:t>
            </a:r>
            <a:r>
              <a:rPr lang="zh-CN" altLang="en-US" b="1" dirty="0">
                <a:effectLst/>
              </a:rPr>
              <a:t>自由度视觉机械臂</a:t>
            </a:r>
            <a:r>
              <a:rPr lang="zh-CN" altLang="en-US" dirty="0">
                <a:effectLst/>
              </a:rPr>
              <a:t>：</a:t>
            </a:r>
            <a:r>
              <a:rPr lang="en-US" altLang="zh-CN" dirty="0">
                <a:effectLst/>
              </a:rPr>
              <a:t>35KG </a:t>
            </a:r>
            <a:r>
              <a:rPr lang="zh-CN" altLang="en-US" dirty="0">
                <a:effectLst/>
              </a:rPr>
              <a:t>大扭矩总线舵机，臂端高清摄像头，支持第一视角抓取物体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大模型人机交互</a:t>
            </a:r>
            <a:r>
              <a:rPr lang="zh-CN" altLang="en-US" dirty="0">
                <a:effectLst/>
              </a:rPr>
              <a:t>：多模态大模型（</a:t>
            </a:r>
            <a:r>
              <a:rPr lang="en-US" altLang="zh-CN" dirty="0">
                <a:effectLst/>
              </a:rPr>
              <a:t>ChatGPT </a:t>
            </a:r>
            <a:r>
              <a:rPr lang="zh-CN" altLang="en-US" dirty="0">
                <a:effectLst/>
              </a:rPr>
              <a:t>为核心），搭配 </a:t>
            </a:r>
            <a:r>
              <a:rPr lang="en-US" altLang="zh-CN" dirty="0">
                <a:effectLst/>
              </a:rPr>
              <a:t>3D </a:t>
            </a:r>
            <a:r>
              <a:rPr lang="zh-CN" altLang="en-US" dirty="0">
                <a:effectLst/>
              </a:rPr>
              <a:t>视觉与 </a:t>
            </a:r>
            <a:r>
              <a:rPr lang="en-US" altLang="zh-CN" dirty="0">
                <a:effectLst/>
              </a:rPr>
              <a:t>6 </a:t>
            </a:r>
            <a:r>
              <a:rPr lang="zh-CN" altLang="en-US" dirty="0">
                <a:effectLst/>
              </a:rPr>
              <a:t>麦阵列，具备感知推理执行能力，实现具身 </a:t>
            </a:r>
            <a:r>
              <a:rPr lang="en-US" altLang="zh-CN" dirty="0">
                <a:effectLst/>
              </a:rPr>
              <a:t>AI </a:t>
            </a:r>
            <a:r>
              <a:rPr lang="zh-CN" altLang="en-US" dirty="0">
                <a:effectLst/>
              </a:rPr>
              <a:t>交互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b="1" dirty="0">
                <a:effectLst/>
              </a:rPr>
              <a:t>多平台控制</a:t>
            </a:r>
            <a:r>
              <a:rPr lang="zh-CN" altLang="en-US" dirty="0">
                <a:effectLst/>
              </a:rPr>
              <a:t>：手机 </a:t>
            </a:r>
            <a:r>
              <a:rPr lang="en-US" altLang="zh-CN" dirty="0">
                <a:effectLst/>
              </a:rPr>
              <a:t>App</a:t>
            </a:r>
            <a:r>
              <a:rPr lang="zh-CN" altLang="en-US" dirty="0">
                <a:effectLst/>
              </a:rPr>
              <a:t>、无线手柄、</a:t>
            </a:r>
            <a:r>
              <a:rPr lang="en-US" altLang="zh-CN" dirty="0">
                <a:effectLst/>
              </a:rPr>
              <a:t>ROS</a:t>
            </a:r>
            <a:r>
              <a:rPr lang="zh-CN" altLang="en-US" dirty="0">
                <a:effectLst/>
              </a:rPr>
              <a:t>、键盘多种操控方式</a:t>
            </a:r>
          </a:p>
        </p:txBody>
      </p:sp>
    </p:spTree>
    <p:extLst>
      <p:ext uri="{BB962C8B-B14F-4D97-AF65-F5344CB8AC3E}">
        <p14:creationId xmlns:p14="http://schemas.microsoft.com/office/powerpoint/2010/main" val="3052519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30969" cy="717709"/>
            <a:chOff x="595122" y="501491"/>
            <a:chExt cx="730969" cy="717709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25049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目录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30969" cy="4385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总结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601218" y="1917382"/>
            <a:ext cx="3453188" cy="322707"/>
            <a:chOff x="601218" y="1917382"/>
            <a:chExt cx="3453188" cy="322707"/>
          </a:xfrm>
        </p:grpSpPr>
        <p:sp>
          <p:nvSpPr>
            <p:cNvPr id="6" name="TextBox 6"/>
            <p:cNvSpPr txBox="1"/>
            <p:nvPr/>
          </p:nvSpPr>
          <p:spPr>
            <a:xfrm>
              <a:off x="601218" y="19173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一句话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284351" y="1927383"/>
              <a:ext cx="27700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定义问题 · 设计系统 · 评估结果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1218" y="2450782"/>
            <a:ext cx="4172619" cy="322707"/>
            <a:chOff x="601218" y="2450782"/>
            <a:chExt cx="4172619" cy="322707"/>
          </a:xfrm>
        </p:grpSpPr>
        <p:sp>
          <p:nvSpPr>
            <p:cNvPr id="9" name="TextBox 9"/>
            <p:cNvSpPr txBox="1"/>
            <p:nvPr/>
          </p:nvSpPr>
          <p:spPr>
            <a:xfrm>
              <a:off x="60121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一转移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84351" y="2469822"/>
              <a:ext cx="3489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2025 写代码 → 2026 编排 Agent 写代码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01218" y="2984182"/>
            <a:ext cx="3723680" cy="322707"/>
            <a:chOff x="601218" y="2984182"/>
            <a:chExt cx="3723680" cy="322707"/>
          </a:xfrm>
        </p:grpSpPr>
        <p:sp>
          <p:nvSpPr>
            <p:cNvPr id="12" name="TextBox 12"/>
            <p:cNvSpPr txBox="1"/>
            <p:nvPr/>
          </p:nvSpPr>
          <p:spPr>
            <a:xfrm>
              <a:off x="601218" y="29841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一地图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4351" y="3001832"/>
              <a:ext cx="3040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告诉 · 放手 · 审查 · 定制 · 懂原理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1218" y="3517582"/>
            <a:ext cx="3191423" cy="322707"/>
            <a:chOff x="601218" y="3517582"/>
            <a:chExt cx="3191423" cy="322707"/>
          </a:xfrm>
        </p:grpSpPr>
        <p:sp>
          <p:nvSpPr>
            <p:cNvPr id="15" name="TextBox 15"/>
            <p:cNvSpPr txBox="1"/>
            <p:nvPr/>
          </p:nvSpPr>
          <p:spPr>
            <a:xfrm>
              <a:off x="601218" y="35175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一角色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4351" y="3522699"/>
              <a:ext cx="2508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AI Infra · FDE · Applied AI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468618" y="1917382"/>
            <a:ext cx="4096948" cy="322707"/>
            <a:chOff x="6468618" y="1917382"/>
            <a:chExt cx="4096948" cy="322707"/>
          </a:xfrm>
        </p:grpSpPr>
        <p:sp>
          <p:nvSpPr>
            <p:cNvPr id="18" name="TextBox 18"/>
            <p:cNvSpPr txBox="1"/>
            <p:nvPr/>
          </p:nvSpPr>
          <p:spPr>
            <a:xfrm>
              <a:off x="6468618" y="19173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51751" y="1937241"/>
              <a:ext cx="34138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AI 私教 + 即时验证 + 架构思维 + 开源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468618" y="2450782"/>
            <a:ext cx="4459455" cy="322707"/>
            <a:chOff x="6468618" y="2450782"/>
            <a:chExt cx="4459455" cy="322707"/>
          </a:xfrm>
        </p:grpSpPr>
        <p:sp>
          <p:nvSpPr>
            <p:cNvPr id="21" name="TextBox 21"/>
            <p:cNvSpPr txBox="1"/>
            <p:nvPr/>
          </p:nvSpPr>
          <p:spPr>
            <a:xfrm>
              <a:off x="6468618" y="24507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一行动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57551" y="2484929"/>
              <a:ext cx="37705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30 天：单 Agent → RAG → 多 Agent → 发布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468618" y="2984182"/>
            <a:ext cx="3604683" cy="322707"/>
            <a:chOff x="6468618" y="2984182"/>
            <a:chExt cx="3604683" cy="322707"/>
          </a:xfrm>
        </p:grpSpPr>
        <p:sp>
          <p:nvSpPr>
            <p:cNvPr id="24" name="TextBox 24"/>
            <p:cNvSpPr txBox="1"/>
            <p:nvPr/>
          </p:nvSpPr>
          <p:spPr>
            <a:xfrm>
              <a:off x="6468618" y="29841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一延伸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51751" y="3002714"/>
              <a:ext cx="29215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具身智能方向 · 再读两门斯坦福课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7" name="TextBox 27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25 / 27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8035688" cy="738854"/>
            <a:chOff x="595122" y="501491"/>
            <a:chExt cx="8035688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11802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08 · 延伸学习 1/2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803568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课程一 · CS329A Self-Improving AI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09600" y="1619250"/>
            <a:ext cx="5257800" cy="4476750"/>
            <a:chOff x="609600" y="1619250"/>
            <a:chExt cx="5257800" cy="44767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4767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课程速览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9813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2955131"/>
              <a:ext cx="3524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Stanford · Autumn 2025 · 周一/五 16:30 PT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3051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278981"/>
              <a:ext cx="3386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Azalia Mirhoseini（AlphaCode / 调度优化）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6290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602831"/>
              <a:ext cx="3404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Aakanksha Chowdhery（PaLM 2 / Gemma）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9528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3926681"/>
              <a:ext cx="34415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嘉宾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Reflection CEO · Google DeepMind · 机器人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2767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250531"/>
              <a:ext cx="3797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主线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Test-time 改进 → 反馈学习 → 进化搜索 → 工程瓶颈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6005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3935" y="4574381"/>
              <a:ext cx="35389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作业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HW×3(50%) · 中期展示 10% · 期末项目 35%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38200" y="49244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03935" y="4898231"/>
              <a:ext cx="39961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研究向：Agent 如何自己变强，接本讲 Loop 主题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41975" y="1866900"/>
            <a:ext cx="5023049" cy="2667000"/>
            <a:chOff x="6441975" y="1866900"/>
            <a:chExt cx="5023049" cy="266700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41975" y="1866900"/>
              <a:ext cx="5023049" cy="2667000"/>
            </a:xfrm>
            <a:prstGeom prst="rect">
              <a:avLst/>
            </a:prstGeom>
          </p:spPr>
        </p:pic>
      </p:grpSp>
      <p:sp>
        <p:nvSpPr>
          <p:cNvPr id="26" name="TextBox 26"/>
          <p:cNvSpPr txBox="1"/>
          <p:nvPr/>
        </p:nvSpPr>
        <p:spPr>
          <a:xfrm>
            <a:off x="6319838" y="4559141"/>
            <a:ext cx="52091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课程主页截图：Autumn 2025 班次时间表与每周论文清单（Test-time / Feedback / Open-endedness）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19838" y="4744164"/>
            <a:ext cx="2131204" cy="1547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收录时间 2026-09-08 · 截图版权归课程官方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8" name="TextBox 2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26 / 27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5122" y="501491"/>
            <a:ext cx="7495811" cy="738854"/>
            <a:chOff x="595122" y="501491"/>
            <a:chExt cx="7495811" cy="738854"/>
          </a:xfrm>
        </p:grpSpPr>
        <p:sp>
          <p:nvSpPr>
            <p:cNvPr id="2" name="TextBox 2"/>
            <p:cNvSpPr txBox="1"/>
            <p:nvPr/>
          </p:nvSpPr>
          <p:spPr>
            <a:xfrm>
              <a:off x="604838" y="501491"/>
              <a:ext cx="118020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spc="150" dirty="0">
                  <a:solidFill>
                    <a:srgbClr val="E30613"/>
                  </a:solidFill>
                  <a:latin typeface="Arial"/>
                  <a:ea typeface="Microsoft YaHei"/>
                  <a:cs typeface="Arial"/>
                </a:rPr>
                <a:t>08 · 延伸学习 2/2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682942"/>
              <a:ext cx="749581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课程二 · CS 329Z Engineering AI Agents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181100"/>
              <a:ext cx="609600" cy="381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09600" y="1619250"/>
            <a:ext cx="5257800" cy="4476750"/>
            <a:chOff x="609600" y="1619250"/>
            <a:chExt cx="5257800" cy="4476750"/>
          </a:xfrm>
        </p:grpSpPr>
        <p:sp>
          <p:nvSpPr>
            <p:cNvPr id="6" name="Rectangle 6"/>
            <p:cNvSpPr/>
            <p:nvPr/>
          </p:nvSpPr>
          <p:spPr>
            <a:xfrm>
              <a:off x="609600" y="1619250"/>
              <a:ext cx="5257800" cy="447675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619250"/>
              <a:ext cx="5257800" cy="5715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342" y="1892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课程速览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29813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3935" y="2955131"/>
              <a:ext cx="32546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课程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Stanford · Fall 2026 · 周一/三 13:30 PT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38200" y="33051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03935" y="3278981"/>
              <a:ext cx="29923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讲师</a:t>
              </a:r>
              <a:r>
                <a:rPr lang="en-US" sz="1120" dirty="0">
                  <a:solidFill>
                    <a:srgbClr val="555555"/>
                  </a:solidFill>
                  <a:latin typeface="Arial"/>
                  <a:ea typeface="Arial"/>
                  <a:cs typeface="Arial"/>
                </a:rPr>
                <a:t> Diyi Yang · Michael Ryan · John Yang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36290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03935" y="3602831"/>
              <a:ext cx="3274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范围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单体 LLM → 复合系统 → 自治 Agent 全谱系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8200" y="39528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3935" y="3926681"/>
              <a:ext cx="3438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动手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HW1 从零搭 Agent（RAG/工具/循环→DSPy）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8200" y="42767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3935" y="4250531"/>
              <a:ext cx="41243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主线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RAG → 工具/MCP → 框架 → 记忆/多Agent → 评估 → 安全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8200" y="460057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3935" y="4574381"/>
              <a:ext cx="35957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考核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Project 50% · HW 20% · Quiz 15% · 视频 10%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38200" y="4924425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03935" y="4898231"/>
              <a:ext cx="36903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为什么推</a:t>
              </a:r>
              <a:r>
                <a:rPr lang="zh-CN" sz="1120" dirty="0">
                  <a:solidFill>
                    <a:srgbClr val="555555"/>
                  </a:solidFill>
                  <a:latin typeface="Arial"/>
                  <a:ea typeface="Microsoft YaHei"/>
                  <a:cs typeface="Arial"/>
                </a:rPr>
                <a:t> 工程向：拆解→选型→评估系统化，本讲进阶版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438900" y="1866900"/>
            <a:ext cx="5029200" cy="2457450"/>
            <a:chOff x="6438900" y="1866900"/>
            <a:chExt cx="5029200" cy="2457450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38900" y="1866900"/>
              <a:ext cx="5029200" cy="2457450"/>
            </a:xfrm>
            <a:prstGeom prst="rect">
              <a:avLst/>
            </a:prstGeom>
          </p:spPr>
        </p:pic>
      </p:grpSp>
      <p:sp>
        <p:nvSpPr>
          <p:cNvPr id="26" name="TextBox 26"/>
          <p:cNvSpPr txBox="1"/>
          <p:nvPr/>
        </p:nvSpPr>
        <p:spPr>
          <a:xfrm>
            <a:off x="6319838" y="4349591"/>
            <a:ext cx="31753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课程主页截图：Fall 2026 班次（Packard 101）与 reading 清单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19838" y="4534614"/>
            <a:ext cx="2530015" cy="1547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官网 cs329z.stanford.edu · 收录时间 2026-09-08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604838" y="6610350"/>
            <a:ext cx="10787062" cy="136684"/>
            <a:chOff x="604838" y="6610350"/>
            <a:chExt cx="10787062" cy="136684"/>
          </a:xfrm>
        </p:grpSpPr>
        <p:sp>
          <p:nvSpPr>
            <p:cNvPr id="28" name="TextBox 28"/>
            <p:cNvSpPr txBox="1"/>
            <p:nvPr/>
          </p:nvSpPr>
          <p:spPr>
            <a:xfrm>
              <a:off x="604838" y="6613684"/>
              <a:ext cx="1063808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80" dirty="0">
                  <a:solidFill>
                    <a:srgbClr val="999999"/>
                  </a:solidFill>
                  <a:latin typeface="Arial"/>
                  <a:ea typeface="Microsoft YaHei"/>
                  <a:cs typeface="Arial"/>
                </a:rPr>
                <a:t>从 AI 使用者到 AI 架构师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1315700" y="6610350"/>
              <a:ext cx="76200" cy="76200"/>
            </a:xfrm>
            <a:prstGeom prst="rect">
              <a:avLst/>
            </a:prstGeom>
            <a:solidFill>
              <a:srgbClr val="E3061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928073" y="6613684"/>
              <a:ext cx="316189" cy="133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680" dirty="0">
                  <a:solidFill>
                    <a:srgbClr val="999999"/>
                  </a:solidFill>
                  <a:latin typeface="Arial"/>
                  <a:ea typeface="Arial"/>
                  <a:cs typeface="Arial"/>
                </a:rPr>
                <a:t>27 / 27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lecture_v2">
  <a:themeElements>
    <a:clrScheme name="lecture_v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ecture_v2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cture_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4167</Words>
  <Application>Microsoft Office PowerPoint</Application>
  <PresentationFormat>宽屏</PresentationFormat>
  <Paragraphs>563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Arial</vt:lpstr>
      <vt:lpstr>Calibri</vt:lpstr>
      <vt:lpstr>Wingdings</vt:lpstr>
      <vt:lpstr>lecture_v2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辉 童</cp:lastModifiedBy>
  <cp:revision>7</cp:revision>
  <dcterms:created xsi:type="dcterms:W3CDTF">2026-09-08T03:35:37Z</dcterms:created>
  <dcterms:modified xsi:type="dcterms:W3CDTF">2026-09-08T04:36:17Z</dcterms:modified>
  <cp:category/>
  <cp:contentStatus/>
  <dc:language/>
</cp:coreProperties>
</file>