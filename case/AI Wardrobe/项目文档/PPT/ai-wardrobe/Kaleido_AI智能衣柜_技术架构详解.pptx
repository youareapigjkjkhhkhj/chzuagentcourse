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ai_wardrobe_v1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ai_wardrobe_v1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2209800"/>
            <a:ext cx="95250" cy="1981200"/>
          </a:xfrm>
          <a:prstGeom prst="rect">
            <a:avLst/>
          </a:prstGeom>
          <a:solidFill>
            <a:srgbClr val="E30613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895350" y="2295049"/>
            <a:ext cx="6702457" cy="1760696"/>
            <a:chOff x="895350" y="2295049"/>
            <a:chExt cx="6702457" cy="1760696"/>
          </a:xfrm>
        </p:grpSpPr>
        <p:sp>
          <p:nvSpPr>
            <p:cNvPr id="3" name="TextBox 3"/>
            <p:cNvSpPr txBox="1"/>
            <p:nvPr/>
          </p:nvSpPr>
          <p:spPr>
            <a:xfrm>
              <a:off x="909447" y="2295049"/>
              <a:ext cx="39440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225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PROJECT BRIEF · 微服务 × AI × DDD · 2026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95350" y="2708910"/>
              <a:ext cx="5245791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Kaleido AI 智能衣柜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06780" y="3495675"/>
              <a:ext cx="66910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技术架构详解：15 个服务 · 21 个公共 starter · DDD+CQRS 微服务样板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06780" y="3762375"/>
              <a:ext cx="63558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所有版本与调用关系以 pom.xml / doc/nacos 源码为准 —— 无宣传口径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4266" y="5943600"/>
            <a:ext cx="10983468" cy="358711"/>
            <a:chOff x="604266" y="5943600"/>
            <a:chExt cx="10983468" cy="358711"/>
          </a:xfrm>
        </p:grpSpPr>
        <p:sp>
          <p:nvSpPr>
            <p:cNvPr id="8" name="Line 8"/>
            <p:cNvSpPr/>
            <p:nvPr/>
          </p:nvSpPr>
          <p:spPr>
            <a:xfrm>
              <a:off x="609600" y="5943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04266" y="6096952"/>
              <a:ext cx="14665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ai-wardrobe 技术简报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032865" y="6096952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2026-09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1563624" cy="738854"/>
            <a:chOff x="595122" y="501491"/>
            <a:chExt cx="1563624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25049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目录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15636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本讲框架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601218" y="1707832"/>
            <a:ext cx="2248546" cy="755571"/>
            <a:chOff x="601218" y="1707832"/>
            <a:chExt cx="2248546" cy="755571"/>
          </a:xfrm>
        </p:grpSpPr>
        <p:sp>
          <p:nvSpPr>
            <p:cNvPr id="6" name="TextBox 6"/>
            <p:cNvSpPr txBox="1"/>
            <p:nvPr/>
          </p:nvSpPr>
          <p:spPr>
            <a:xfrm>
              <a:off x="601218" y="17078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35761" y="1732121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背景与总览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38238" y="2051447"/>
              <a:ext cx="171152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定位 · 为什么做 · 功能 · 全景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38238" y="2280047"/>
              <a:ext cx="98390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地图 · 业务→服务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01218" y="2660332"/>
            <a:ext cx="2886393" cy="755571"/>
            <a:chOff x="601218" y="2660332"/>
            <a:chExt cx="2886393" cy="755571"/>
          </a:xfrm>
        </p:grpSpPr>
        <p:sp>
          <p:nvSpPr>
            <p:cNvPr id="11" name="TextBox 11"/>
            <p:cNvSpPr txBox="1"/>
            <p:nvPr/>
          </p:nvSpPr>
          <p:spPr>
            <a:xfrm>
              <a:off x="601218" y="26603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35761" y="268462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总体架构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8238" y="3003947"/>
              <a:ext cx="188868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分层 · 系统架构 · 拓扑 · 15 服务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38238" y="3232547"/>
              <a:ext cx="234937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风格 · DDD+CQRS · 旅程 · 一次 AI 推荐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1218" y="3612832"/>
            <a:ext cx="2628174" cy="755571"/>
            <a:chOff x="601218" y="3612832"/>
            <a:chExt cx="2628174" cy="755571"/>
          </a:xfrm>
        </p:grpSpPr>
        <p:sp>
          <p:nvSpPr>
            <p:cNvPr id="16" name="TextBox 16"/>
            <p:cNvSpPr txBox="1"/>
            <p:nvPr/>
          </p:nvSpPr>
          <p:spPr>
            <a:xfrm>
              <a:off x="601218" y="36128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35761" y="3637121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技术栈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38238" y="3956447"/>
              <a:ext cx="209115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矩阵 · 版本真相 · 框架 · 核心四件套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38238" y="4185047"/>
              <a:ext cx="78776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选型 · 为什么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01218" y="4565332"/>
            <a:ext cx="3080584" cy="755571"/>
            <a:chOff x="601218" y="4565332"/>
            <a:chExt cx="3080584" cy="755571"/>
          </a:xfrm>
        </p:grpSpPr>
        <p:sp>
          <p:nvSpPr>
            <p:cNvPr id="21" name="TextBox 21"/>
            <p:cNvSpPr txBox="1"/>
            <p:nvPr/>
          </p:nvSpPr>
          <p:spPr>
            <a:xfrm>
              <a:off x="601218" y="45653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35761" y="458962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基础设施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38238" y="4908947"/>
              <a:ext cx="254356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公共 · 21 starters · Nacos · 网关 · Dubbo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38238" y="5137547"/>
              <a:ext cx="189477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MQ · 缓存 · 锁 · 数据层 · 存储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468618" y="1707832"/>
            <a:ext cx="2757597" cy="755571"/>
            <a:chOff x="6468618" y="1707832"/>
            <a:chExt cx="2757597" cy="755571"/>
          </a:xfrm>
        </p:grpSpPr>
        <p:sp>
          <p:nvSpPr>
            <p:cNvPr id="26" name="TextBox 26"/>
            <p:cNvSpPr txBox="1"/>
            <p:nvPr/>
          </p:nvSpPr>
          <p:spPr>
            <a:xfrm>
              <a:off x="6468618" y="17078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003161" y="1732121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稳定性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005638" y="2051447"/>
              <a:ext cx="154702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四道防线 · 限流原理与实现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005638" y="2280047"/>
              <a:ext cx="222057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熔断降级 · Sentinel · 幂等 · 可靠消息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468618" y="2660332"/>
            <a:ext cx="2619746" cy="755571"/>
            <a:chOff x="6468618" y="2660332"/>
            <a:chExt cx="2619746" cy="755571"/>
          </a:xfrm>
        </p:grpSpPr>
        <p:sp>
          <p:nvSpPr>
            <p:cNvPr id="31" name="TextBox 31"/>
            <p:cNvSpPr txBox="1"/>
            <p:nvPr/>
          </p:nvSpPr>
          <p:spPr>
            <a:xfrm>
              <a:off x="6468618" y="26603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06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003161" y="2684621"/>
              <a:ext cx="106629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业务域与 AI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005638" y="3003947"/>
              <a:ext cx="208272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服装域 · 图片链 · 向量同步 · Agent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005638" y="3232547"/>
              <a:ext cx="138669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 推荐链路 · 实验模块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468618" y="3612832"/>
            <a:ext cx="1975285" cy="755571"/>
            <a:chOff x="6468618" y="3612832"/>
            <a:chExt cx="1975285" cy="755571"/>
          </a:xfrm>
        </p:grpSpPr>
        <p:sp>
          <p:nvSpPr>
            <p:cNvPr id="36" name="TextBox 36"/>
            <p:cNvSpPr txBox="1"/>
            <p:nvPr/>
          </p:nvSpPr>
          <p:spPr>
            <a:xfrm>
              <a:off x="6468618" y="36128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07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003161" y="3637121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现状与路线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005638" y="3956447"/>
              <a:ext cx="143826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诚实现状盘点 · Roadmap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005638" y="4185047"/>
              <a:ext cx="51569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总结收束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1" name="TextBox 41"/>
            <p:cNvSpPr txBox="1"/>
            <p:nvPr/>
          </p:nvSpPr>
          <p:spPr>
            <a:xfrm>
              <a:off x="604838" y="6613684"/>
              <a:ext cx="149716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Kaleido AI 智能衣柜 · 技术架构详解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 / 39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765714" cy="738854"/>
            <a:chOff x="595122" y="501491"/>
            <a:chExt cx="5765714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01 · 定位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76571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为什么做 Kaleido：两个事实对照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609600" y="1619250"/>
            <a:ext cx="5257800" cy="4191000"/>
            <a:chOff x="609600" y="1619250"/>
            <a:chExt cx="52578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传统衣柜管理软件的三个天花板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38200" y="34861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3935" y="3459956"/>
              <a:ext cx="29666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止于记录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录入 · 分类 · 查询，数据只是台账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38200" y="38100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3935" y="3783806"/>
              <a:ext cx="27706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搭配靠人脑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换季穿搭没有数据与审美依据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38200" y="41338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03935" y="4107656"/>
              <a:ext cx="27706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无留存无闭环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缺少激励、助手与反馈回路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324600" y="1619250"/>
            <a:ext cx="5257800" cy="4191000"/>
            <a:chOff x="6324600" y="1619250"/>
            <a:chExt cx="5257800" cy="4191000"/>
          </a:xfrm>
        </p:grpSpPr>
        <p:sp>
          <p:nvSpPr>
            <p:cNvPr id="16" name="Rectangle 16"/>
            <p:cNvSpPr/>
            <p:nvPr/>
          </p:nvSpPr>
          <p:spPr>
            <a:xfrm>
              <a:off x="6324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546342" y="1892618"/>
              <a:ext cx="25498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AI 时代把问题重新定义为机会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553200" y="34861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718935" y="3459956"/>
              <a:ext cx="27035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LLM 会对话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把穿搭建议变成会话式服务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553200" y="38100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18935" y="3783806"/>
              <a:ext cx="30721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向量库会检索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按语义从衣橱召回「合身」单品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553200" y="41338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18935" y="4107656"/>
              <a:ext cx="32419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工程栈已成熟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微服务 × AI 全家桶可组装成系统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6" name="TextBox 26"/>
            <p:cNvSpPr txBox="1"/>
            <p:nvPr/>
          </p:nvSpPr>
          <p:spPr>
            <a:xfrm>
              <a:off x="604838" y="6613684"/>
              <a:ext cx="149716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Kaleido AI 智能衣柜 · 技术架构详解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3 / 39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4632960" cy="738854"/>
            <a:chOff x="595122" y="501491"/>
            <a:chExt cx="4632960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01 · 功能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463296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核心功能全景（三根支柱）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3429000" cy="1905000"/>
            <a:chOff x="609600" y="1619250"/>
            <a:chExt cx="34290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服装资产数字化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431256"/>
              <a:ext cx="19187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服装/穿搭/位置/品牌四聚合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678906"/>
              <a:ext cx="1391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图片入库 + 元数据化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92655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标签体系多维组织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381500" y="1619250"/>
            <a:ext cx="3429000" cy="1905000"/>
            <a:chOff x="4381500" y="1619250"/>
            <a:chExt cx="3429000" cy="1905000"/>
          </a:xfrm>
        </p:grpSpPr>
        <p:sp>
          <p:nvSpPr>
            <p:cNvPr id="13" name="Rectangle 13"/>
            <p:cNvSpPr/>
            <p:nvPr/>
          </p:nvSpPr>
          <p:spPr>
            <a:xfrm>
              <a:off x="43815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03242" y="1892618"/>
              <a:ext cx="10136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AI 智能搭配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04385" y="2431256"/>
              <a:ext cx="1541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推荐记录 + 异步工作流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04385" y="267890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向量检索召回衣橱单品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04385" y="2926556"/>
              <a:ext cx="18198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LLM 生成方案落地 Outfit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153400" y="1619250"/>
            <a:ext cx="3429000" cy="1905000"/>
            <a:chOff x="8153400" y="1619250"/>
            <a:chExt cx="3429000" cy="1905000"/>
          </a:xfrm>
        </p:grpSpPr>
        <p:sp>
          <p:nvSpPr>
            <p:cNvPr id="20" name="Rectangle 20"/>
            <p:cNvSpPr/>
            <p:nvPr/>
          </p:nvSpPr>
          <p:spPr>
            <a:xfrm>
              <a:off x="81534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75142" y="1892618"/>
              <a:ext cx="13235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激励体系 + 助手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76285" y="2431256"/>
              <a:ext cx="1391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金币账本 + 邀请返利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76285" y="267890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按行为扣费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76285" y="2926556"/>
              <a:ext cx="11504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AI 会话穿搭咨询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27" name="Rectangle 27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06018" y="4050982"/>
              <a:ext cx="53477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核心价值：把衣柜管理升级为智能、个性化的穿搭体验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8304" y="4947285"/>
              <a:ext cx="72363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一次真实请求 = 网关 × 认证 × RPC × 事件 × 向量 × LLM 的完整协作（对应 README.md:26-47）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1" name="TextBox 31"/>
            <p:cNvSpPr txBox="1"/>
            <p:nvPr/>
          </p:nvSpPr>
          <p:spPr>
            <a:xfrm>
              <a:off x="604838" y="6613684"/>
              <a:ext cx="149716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Kaleido AI 智能衣柜 · 技术架构详解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4 / 39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4328904" cy="738854"/>
            <a:chOff x="595122" y="501491"/>
            <a:chExt cx="4328904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01 · 地图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432890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业务功能 ↔ 服务模块映射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60" name="Group 60"/>
          <p:cNvGrpSpPr/>
          <p:nvPr/>
        </p:nvGrpSpPr>
        <p:grpSpPr>
          <a:xfrm>
            <a:off x="947738" y="1809750"/>
            <a:ext cx="10291762" cy="4282916"/>
            <a:chOff x="947738" y="1809750"/>
            <a:chExt cx="10291762" cy="4282916"/>
          </a:xfrm>
        </p:grpSpPr>
        <p:sp>
          <p:nvSpPr>
            <p:cNvPr id="6" name="Rectangle 6"/>
            <p:cNvSpPr/>
            <p:nvPr/>
          </p:nvSpPr>
          <p:spPr>
            <a:xfrm>
              <a:off x="952500" y="1809750"/>
              <a:ext cx="4381500" cy="381000"/>
            </a:xfrm>
            <a:prstGeom prst="roundRect">
              <a:avLst>
                <a:gd name="adj" fmla="val 7500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2039419" y="1944052"/>
              <a:ext cx="22076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业务功能（App 用户端 / 管理端）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905500" y="1809750"/>
              <a:ext cx="5334000" cy="381000"/>
            </a:xfrm>
            <a:prstGeom prst="roundRect">
              <a:avLst>
                <a:gd name="adj" fmla="val 7500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679128" y="1944052"/>
              <a:ext cx="17867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微服务落点（kaleido-biz）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52500" y="2343150"/>
              <a:ext cx="4381500" cy="419100"/>
            </a:xfrm>
            <a:prstGeom prst="roundRect">
              <a:avLst>
                <a:gd name="adj" fmla="val 6818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00138" y="2489597"/>
              <a:ext cx="173335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服装管理 · 衣橱 · 穿搭 · 位置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905500" y="2343150"/>
              <a:ext cx="5334000" cy="419100"/>
            </a:xfrm>
            <a:prstGeom prst="roundRect">
              <a:avLst>
                <a:gd name="adj" fmla="val 6818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905500" y="2343150"/>
              <a:ext cx="53340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053138" y="2493645"/>
              <a:ext cx="34811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kaleido-wardrobe（Clothing/Outfit/Location/Brand 聚合）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5334000" y="2552700"/>
              <a:ext cx="485775" cy="9525"/>
            </a:xfrm>
            <a:custGeom>
              <a:avLst/>
              <a:gdLst/>
              <a:ahLst/>
              <a:cxnLst/>
              <a:rect l="l" t="t" r="r" b="b"/>
              <a:pathLst>
                <a:path w="485775" h="9525">
                  <a:moveTo>
                    <a:pt x="0" y="0"/>
                  </a:moveTo>
                  <a:lnTo>
                    <a:pt x="485775" y="0"/>
                  </a:lnTo>
                </a:path>
              </a:pathLst>
            </a:custGeom>
            <a:noFill/>
            <a:ln w="15240">
              <a:solidFill>
                <a:srgbClr val="E30613"/>
              </a:solidFill>
            </a:ln>
          </p:spPr>
        </p:sp>
        <p:sp>
          <p:nvSpPr>
            <p:cNvPr id="16" name="Polygon 16"/>
            <p:cNvSpPr/>
            <p:nvPr/>
          </p:nvSpPr>
          <p:spPr>
            <a:xfrm>
              <a:off x="5826442" y="252031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952500" y="2857500"/>
              <a:ext cx="4381500" cy="419100"/>
            </a:xfrm>
            <a:prstGeom prst="roundRect">
              <a:avLst>
                <a:gd name="adj" fmla="val 6818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100138" y="3003947"/>
              <a:ext cx="183093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AI 搭配 · 穿搭建议 · 会话咨询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905500" y="2857500"/>
              <a:ext cx="5334000" cy="419100"/>
            </a:xfrm>
            <a:prstGeom prst="roundRect">
              <a:avLst>
                <a:gd name="adj" fmla="val 6818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905500" y="2857500"/>
              <a:ext cx="53340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053138" y="3007995"/>
              <a:ext cx="248450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kaleido-ai（Agent 装配 + Chat + 向量检索）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5334000" y="3067050"/>
              <a:ext cx="485775" cy="9525"/>
            </a:xfrm>
            <a:custGeom>
              <a:avLst/>
              <a:gdLst/>
              <a:ahLst/>
              <a:cxnLst/>
              <a:rect l="l" t="t" r="r" b="b"/>
              <a:pathLst>
                <a:path w="485775" h="9525">
                  <a:moveTo>
                    <a:pt x="0" y="0"/>
                  </a:moveTo>
                  <a:lnTo>
                    <a:pt x="485775" y="0"/>
                  </a:lnTo>
                </a:path>
              </a:pathLst>
            </a:custGeom>
            <a:noFill/>
            <a:ln w="15240">
              <a:solidFill>
                <a:srgbClr val="E30613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5826442" y="303466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952500" y="3371850"/>
              <a:ext cx="4381500" cy="419100"/>
            </a:xfrm>
            <a:prstGeom prst="roundRect">
              <a:avLst>
                <a:gd name="adj" fmla="val 6818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100138" y="3518297"/>
              <a:ext cx="142775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搭配方案下单 · 记录编排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905500" y="3371850"/>
              <a:ext cx="5334000" cy="419100"/>
            </a:xfrm>
            <a:prstGeom prst="roundRect">
              <a:avLst>
                <a:gd name="adj" fmla="val 6818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905500" y="3371850"/>
              <a:ext cx="53340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053138" y="3522345"/>
              <a:ext cx="25515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kaleido-recommend（记录 + 异步 AI 工作流）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5334000" y="3581400"/>
              <a:ext cx="485775" cy="9525"/>
            </a:xfrm>
            <a:custGeom>
              <a:avLst/>
              <a:gdLst/>
              <a:ahLst/>
              <a:cxnLst/>
              <a:rect l="l" t="t" r="r" b="b"/>
              <a:pathLst>
                <a:path w="485775" h="9525">
                  <a:moveTo>
                    <a:pt x="0" y="0"/>
                  </a:moveTo>
                  <a:lnTo>
                    <a:pt x="485775" y="0"/>
                  </a:lnTo>
                </a:path>
              </a:pathLst>
            </a:custGeom>
            <a:noFill/>
            <a:ln w="15240">
              <a:solidFill>
                <a:srgbClr val="E30613"/>
              </a:solidFill>
            </a:ln>
          </p:spPr>
        </p:sp>
        <p:sp>
          <p:nvSpPr>
            <p:cNvPr id="30" name="Polygon 30"/>
            <p:cNvSpPr/>
            <p:nvPr/>
          </p:nvSpPr>
          <p:spPr>
            <a:xfrm>
              <a:off x="5826442" y="354901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952500" y="3886200"/>
              <a:ext cx="4381500" cy="419100"/>
            </a:xfrm>
            <a:prstGeom prst="roundRect">
              <a:avLst>
                <a:gd name="adj" fmla="val 6818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100138" y="4032647"/>
              <a:ext cx="158055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金币 · 邀请返利 · 行为扣费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905500" y="3886200"/>
              <a:ext cx="5334000" cy="419100"/>
            </a:xfrm>
            <a:prstGeom prst="roundRect">
              <a:avLst>
                <a:gd name="adj" fmla="val 6818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905500" y="3886200"/>
              <a:ext cx="53340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053138" y="4036695"/>
              <a:ext cx="20692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kaleido-coin（账户账本 + 幂等流水）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5334000" y="4095750"/>
              <a:ext cx="485775" cy="9525"/>
            </a:xfrm>
            <a:custGeom>
              <a:avLst/>
              <a:gdLst/>
              <a:ahLst/>
              <a:cxnLst/>
              <a:rect l="l" t="t" r="r" b="b"/>
              <a:pathLst>
                <a:path w="485775" h="9525">
                  <a:moveTo>
                    <a:pt x="0" y="0"/>
                  </a:moveTo>
                  <a:lnTo>
                    <a:pt x="485775" y="0"/>
                  </a:lnTo>
                </a:path>
              </a:pathLst>
            </a:custGeom>
            <a:noFill/>
            <a:ln w="15240">
              <a:solidFill>
                <a:srgbClr val="E30613"/>
              </a:solidFill>
            </a:ln>
          </p:spPr>
        </p:sp>
        <p:sp>
          <p:nvSpPr>
            <p:cNvPr id="37" name="Polygon 37"/>
            <p:cNvSpPr/>
            <p:nvPr/>
          </p:nvSpPr>
          <p:spPr>
            <a:xfrm>
              <a:off x="5826442" y="406336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952500" y="4400550"/>
              <a:ext cx="4381500" cy="419100"/>
            </a:xfrm>
            <a:prstGeom prst="roundRect">
              <a:avLst>
                <a:gd name="adj" fmla="val 6818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100138" y="4546997"/>
              <a:ext cx="120092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注册 / 登录 / 验证码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905500" y="4400550"/>
              <a:ext cx="5334000" cy="419100"/>
            </a:xfrm>
            <a:prstGeom prst="roundRect">
              <a:avLst>
                <a:gd name="adj" fmla="val 6818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905500" y="4400550"/>
              <a:ext cx="53340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053138" y="4551045"/>
              <a:ext cx="244182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kaleido-auth（短信码 + Sa-Token 双体系）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5334000" y="4610100"/>
              <a:ext cx="485775" cy="9525"/>
            </a:xfrm>
            <a:custGeom>
              <a:avLst/>
              <a:gdLst/>
              <a:ahLst/>
              <a:cxnLst/>
              <a:rect l="l" t="t" r="r" b="b"/>
              <a:pathLst>
                <a:path w="485775" h="9525">
                  <a:moveTo>
                    <a:pt x="0" y="0"/>
                  </a:moveTo>
                  <a:lnTo>
                    <a:pt x="485775" y="0"/>
                  </a:lnTo>
                </a:path>
              </a:pathLst>
            </a:custGeom>
            <a:noFill/>
            <a:ln w="15240">
              <a:solidFill>
                <a:srgbClr val="E30613"/>
              </a:solidFill>
            </a:ln>
          </p:spPr>
        </p:sp>
        <p:sp>
          <p:nvSpPr>
            <p:cNvPr id="44" name="Polygon 44"/>
            <p:cNvSpPr/>
            <p:nvPr/>
          </p:nvSpPr>
          <p:spPr>
            <a:xfrm>
              <a:off x="5826442" y="457771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952500" y="4914900"/>
              <a:ext cx="4381500" cy="419100"/>
            </a:xfrm>
            <a:prstGeom prst="roundRect">
              <a:avLst>
                <a:gd name="adj" fmla="val 6818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100138" y="5061347"/>
              <a:ext cx="173153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RBAC · 字典 · AI Agent 管理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905500" y="4914900"/>
              <a:ext cx="5334000" cy="419100"/>
            </a:xfrm>
            <a:prstGeom prst="roundRect">
              <a:avLst>
                <a:gd name="adj" fmla="val 6818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5905500" y="4914900"/>
              <a:ext cx="53340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053138" y="5065395"/>
              <a:ext cx="243382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kaleido-admin（权限三级 + Dubbo 转发 ai）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5334000" y="5124450"/>
              <a:ext cx="485775" cy="9525"/>
            </a:xfrm>
            <a:custGeom>
              <a:avLst/>
              <a:gdLst/>
              <a:ahLst/>
              <a:cxnLst/>
              <a:rect l="l" t="t" r="r" b="b"/>
              <a:pathLst>
                <a:path w="485775" h="9525">
                  <a:moveTo>
                    <a:pt x="0" y="0"/>
                  </a:moveTo>
                  <a:lnTo>
                    <a:pt x="485775" y="0"/>
                  </a:lnTo>
                </a:path>
              </a:pathLst>
            </a:custGeom>
            <a:noFill/>
            <a:ln w="15240">
              <a:solidFill>
                <a:srgbClr val="E30613"/>
              </a:solidFill>
            </a:ln>
          </p:spPr>
        </p:sp>
        <p:sp>
          <p:nvSpPr>
            <p:cNvPr id="51" name="Polygon 51"/>
            <p:cNvSpPr/>
            <p:nvPr/>
          </p:nvSpPr>
          <p:spPr>
            <a:xfrm>
              <a:off x="5826442" y="509206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952500" y="5429250"/>
              <a:ext cx="4381500" cy="419100"/>
            </a:xfrm>
            <a:prstGeom prst="roundRect">
              <a:avLst>
                <a:gd name="adj" fmla="val 6818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100138" y="5575697"/>
              <a:ext cx="167419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标签体系（服装/穿搭/位置）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905500" y="5429250"/>
              <a:ext cx="5334000" cy="419100"/>
            </a:xfrm>
            <a:prstGeom prst="roundRect">
              <a:avLst>
                <a:gd name="adj" fmla="val 6818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5905500" y="5429250"/>
              <a:ext cx="53340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053138" y="5579745"/>
              <a:ext cx="222065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kaleido-tag（类型×实体匹配 + 多对多）</a:t>
              </a:r>
            </a:p>
          </p:txBody>
        </p:sp>
        <p:sp>
          <p:nvSpPr>
            <p:cNvPr id="57" name="Line 57"/>
            <p:cNvSpPr/>
            <p:nvPr/>
          </p:nvSpPr>
          <p:spPr>
            <a:xfrm>
              <a:off x="5334000" y="5638800"/>
              <a:ext cx="485775" cy="9525"/>
            </a:xfrm>
            <a:custGeom>
              <a:avLst/>
              <a:gdLst/>
              <a:ahLst/>
              <a:cxnLst/>
              <a:rect l="l" t="t" r="r" b="b"/>
              <a:pathLst>
                <a:path w="485775" h="9525">
                  <a:moveTo>
                    <a:pt x="0" y="0"/>
                  </a:moveTo>
                  <a:lnTo>
                    <a:pt x="485775" y="0"/>
                  </a:lnTo>
                </a:path>
              </a:pathLst>
            </a:custGeom>
            <a:noFill/>
            <a:ln w="15240">
              <a:solidFill>
                <a:srgbClr val="E30613"/>
              </a:solidFill>
            </a:ln>
          </p:spPr>
        </p:sp>
        <p:sp>
          <p:nvSpPr>
            <p:cNvPr id="58" name="Polygon 58"/>
            <p:cNvSpPr/>
            <p:nvPr/>
          </p:nvSpPr>
          <p:spPr>
            <a:xfrm>
              <a:off x="5826442" y="560641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47738" y="5930741"/>
              <a:ext cx="52376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注：两端同源功能描述对应 README.md:28-41；服务落点对应 kaleido-biz/pom.xml:17-29 模块清单。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61" name="TextBox 61"/>
            <p:cNvSpPr txBox="1"/>
            <p:nvPr/>
          </p:nvSpPr>
          <p:spPr>
            <a:xfrm>
              <a:off x="604838" y="6613684"/>
              <a:ext cx="149716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Kaleido AI 智能衣柜 · 技术架构详解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5 / 39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3098292" cy="738854"/>
            <a:chOff x="595122" y="501491"/>
            <a:chExt cx="3098292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02 · 架构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309829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系统架构分层总览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71" name="Group 71"/>
          <p:cNvGrpSpPr/>
          <p:nvPr/>
        </p:nvGrpSpPr>
        <p:grpSpPr>
          <a:xfrm>
            <a:off x="947738" y="1714500"/>
            <a:ext cx="10291762" cy="3390900"/>
            <a:chOff x="947738" y="1714500"/>
            <a:chExt cx="10291762" cy="3390900"/>
          </a:xfrm>
        </p:grpSpPr>
        <p:sp>
          <p:nvSpPr>
            <p:cNvPr id="6" name="Rectangle 6"/>
            <p:cNvSpPr/>
            <p:nvPr/>
          </p:nvSpPr>
          <p:spPr>
            <a:xfrm>
              <a:off x="952500" y="1714500"/>
              <a:ext cx="10287000" cy="285750"/>
            </a:xfrm>
            <a:prstGeom prst="roundRect">
              <a:avLst>
                <a:gd name="adj" fmla="val 10000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2666799" y="1803797"/>
              <a:ext cx="685840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4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接入层：kaleido-admin-frontend（Vue3 · Element Plus · Vite6）＋ kaleido-interview/fronted（SSE 演示端）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952500" y="2038350"/>
              <a:ext cx="10287000" cy="285750"/>
            </a:xfrm>
            <a:prstGeom prst="roundRect">
              <a:avLst>
                <a:gd name="adj" fmla="val 10000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52500" y="2038350"/>
              <a:ext cx="10287000" cy="285750"/>
            </a:xfrm>
            <a:prstGeom prst="roundRect">
              <a:avLst>
                <a:gd name="adj" fmla="val 10000"/>
              </a:avLst>
            </a:prstGeom>
            <a:noFill/>
            <a:ln w="9525">
              <a:solidFill>
                <a:srgbClr val="E30613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952500" y="2038350"/>
              <a:ext cx="102870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902798" y="2131695"/>
              <a:ext cx="638640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API 网关 kaleido-gateway :9010 ｜ Spring Cloud Gateway(WebFlux) + Sa-Token 双端鉴权 ｜ 9 条 lb:// 路由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952500" y="2362200"/>
              <a:ext cx="10287000" cy="1162050"/>
            </a:xfrm>
            <a:prstGeom prst="roundRect">
              <a:avLst>
                <a:gd name="adj" fmla="val 2459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066800" y="2419350"/>
              <a:ext cx="2400300" cy="190500"/>
            </a:xfrm>
            <a:prstGeom prst="roundRect">
              <a:avLst>
                <a:gd name="adj" fmla="val 15000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848221" y="2467689"/>
              <a:ext cx="837458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认证 / 平台（3）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066800" y="2647950"/>
              <a:ext cx="2400300" cy="819150"/>
            </a:xfrm>
            <a:prstGeom prst="roundRect">
              <a:avLst>
                <a:gd name="adj" fmla="val 348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1066800" y="2647950"/>
              <a:ext cx="2400300" cy="819150"/>
            </a:xfrm>
            <a:prstGeom prst="roundRect">
              <a:avLst>
                <a:gd name="adj" fmla="val 3488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1143000" y="2724150"/>
              <a:ext cx="1104900" cy="161925"/>
            </a:xfrm>
            <a:prstGeom prst="roundRect">
              <a:avLst>
                <a:gd name="adj" fmla="val 17647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427909" y="2769632"/>
              <a:ext cx="535081" cy="1262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64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kaleido-auth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324100" y="2724150"/>
              <a:ext cx="1104900" cy="161925"/>
            </a:xfrm>
            <a:prstGeom prst="roundRect">
              <a:avLst>
                <a:gd name="adj" fmla="val 17647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587470" y="2769632"/>
              <a:ext cx="578160" cy="1262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64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kaleido-admin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143000" y="2924175"/>
              <a:ext cx="1104900" cy="161925"/>
            </a:xfrm>
            <a:prstGeom prst="roundRect">
              <a:avLst>
                <a:gd name="adj" fmla="val 17647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391293" y="2969657"/>
              <a:ext cx="608315" cy="1262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64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kaleido-notice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600450" y="2419350"/>
              <a:ext cx="2400300" cy="190500"/>
            </a:xfrm>
            <a:prstGeom prst="roundRect">
              <a:avLst>
                <a:gd name="adj" fmla="val 15000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446080" y="2467689"/>
              <a:ext cx="709041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衣柜业务（5）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600450" y="2647950"/>
              <a:ext cx="2400300" cy="819150"/>
            </a:xfrm>
            <a:prstGeom prst="roundRect">
              <a:avLst>
                <a:gd name="adj" fmla="val 348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3600450" y="2647950"/>
              <a:ext cx="2400300" cy="819150"/>
            </a:xfrm>
            <a:prstGeom prst="roundRect">
              <a:avLst>
                <a:gd name="adj" fmla="val 3488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3676650" y="2724150"/>
              <a:ext cx="1104900" cy="161925"/>
            </a:xfrm>
            <a:prstGeom prst="roundRect">
              <a:avLst>
                <a:gd name="adj" fmla="val 17647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961559" y="2769632"/>
              <a:ext cx="535081" cy="1262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64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kaleido-user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857750" y="2724150"/>
              <a:ext cx="1104900" cy="161925"/>
            </a:xfrm>
            <a:prstGeom prst="roundRect">
              <a:avLst>
                <a:gd name="adj" fmla="val 17647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039271" y="2769632"/>
              <a:ext cx="741858" cy="1262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64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kaleido-wardrobe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676650" y="2924175"/>
              <a:ext cx="1104900" cy="161925"/>
            </a:xfrm>
            <a:prstGeom prst="roundRect">
              <a:avLst>
                <a:gd name="adj" fmla="val 17647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985252" y="2969657"/>
              <a:ext cx="487695" cy="1262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64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kaleido-tag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857750" y="2924175"/>
              <a:ext cx="1104900" cy="161925"/>
            </a:xfrm>
            <a:prstGeom prst="roundRect">
              <a:avLst>
                <a:gd name="adj" fmla="val 17647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153429" y="2969657"/>
              <a:ext cx="513542" cy="1262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64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kaleido-coin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676650" y="3124200"/>
              <a:ext cx="1104900" cy="161925"/>
            </a:xfrm>
            <a:prstGeom prst="roundRect">
              <a:avLst>
                <a:gd name="adj" fmla="val 17647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881864" y="3169682"/>
              <a:ext cx="694472" cy="1262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64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kaleido-message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134100" y="2419350"/>
              <a:ext cx="2400300" cy="190500"/>
            </a:xfrm>
            <a:prstGeom prst="roundRect">
              <a:avLst>
                <a:gd name="adj" fmla="val 15000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004458" y="2467689"/>
              <a:ext cx="659583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AI 智能（3）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134100" y="2647950"/>
              <a:ext cx="2400300" cy="819150"/>
            </a:xfrm>
            <a:prstGeom prst="roundRect">
              <a:avLst>
                <a:gd name="adj" fmla="val 348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134100" y="2647950"/>
              <a:ext cx="2400300" cy="819150"/>
            </a:xfrm>
            <a:prstGeom prst="roundRect">
              <a:avLst>
                <a:gd name="adj" fmla="val 3488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210300" y="2724150"/>
              <a:ext cx="1104900" cy="161925"/>
            </a:xfrm>
            <a:prstGeom prst="roundRect">
              <a:avLst>
                <a:gd name="adj" fmla="val 17647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53365" y="2769632"/>
              <a:ext cx="418770" cy="1262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64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kaleido-ai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391400" y="2724150"/>
              <a:ext cx="1104900" cy="161925"/>
            </a:xfrm>
            <a:prstGeom prst="roundRect">
              <a:avLst>
                <a:gd name="adj" fmla="val 17647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691387" y="2769632"/>
              <a:ext cx="504927" cy="1262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64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kaleido-mcp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210300" y="2924175"/>
              <a:ext cx="1104900" cy="161925"/>
            </a:xfrm>
            <a:prstGeom prst="roundRect">
              <a:avLst>
                <a:gd name="adj" fmla="val 17647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59512" y="2969657"/>
              <a:ext cx="806475" cy="1262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64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kaleido-recommend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8667750" y="2419350"/>
              <a:ext cx="2400300" cy="190500"/>
            </a:xfrm>
            <a:prstGeom prst="roundRect">
              <a:avLst>
                <a:gd name="adj" fmla="val 15000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449171" y="2467689"/>
              <a:ext cx="837458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对照 / 实验（3）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8667750" y="2647950"/>
              <a:ext cx="2400300" cy="819150"/>
            </a:xfrm>
            <a:prstGeom prst="roundRect">
              <a:avLst>
                <a:gd name="adj" fmla="val 348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8667750" y="2647950"/>
              <a:ext cx="2400300" cy="819150"/>
            </a:xfrm>
            <a:prstGeom prst="roundRect">
              <a:avLst>
                <a:gd name="adj" fmla="val 3488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8743950" y="2724150"/>
              <a:ext cx="1104900" cy="161925"/>
            </a:xfrm>
            <a:prstGeom prst="roundRect">
              <a:avLst>
                <a:gd name="adj" fmla="val 17647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003012" y="2769632"/>
              <a:ext cx="586776" cy="1262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64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ai-langchain4j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9925050" y="2724150"/>
              <a:ext cx="1104900" cy="161925"/>
            </a:xfrm>
            <a:prstGeom prst="roundRect">
              <a:avLst>
                <a:gd name="adj" fmla="val 17647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0117341" y="2769632"/>
              <a:ext cx="720319" cy="1262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64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langchain4j-demo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8743950" y="2924175"/>
              <a:ext cx="1104900" cy="161925"/>
            </a:xfrm>
            <a:prstGeom prst="roundRect">
              <a:avLst>
                <a:gd name="adj" fmla="val 17647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923317" y="2969657"/>
              <a:ext cx="746166" cy="1262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64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kaleido-interview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952500" y="3581400"/>
              <a:ext cx="10287000" cy="514350"/>
            </a:xfrm>
            <a:prstGeom prst="roundRect">
              <a:avLst>
                <a:gd name="adj" fmla="val 5556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3364850" y="3674745"/>
              <a:ext cx="54623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公共支撑层 kaleido-common：21 个 starter（Web / 数据 / 分布式协作 / 高可用 / 认证与工具）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2554938" y="3919538"/>
              <a:ext cx="708212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web·aop ｜ ds·cache·file ｜ nacos·rpc·mq·distribute ｜ lock·limiter·sentinel·seata·dynamic-tp·job ｜ sa-token ｜ base·api·doc·sms·monitor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952500" y="4191000"/>
              <a:ext cx="10287000" cy="914400"/>
            </a:xfrm>
            <a:prstGeom prst="roundRect">
              <a:avLst>
                <a:gd name="adj" fmla="val 3125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848921" y="426529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基础设施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62038" y="4471988"/>
              <a:ext cx="194673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MySQL 8.4（ShardingSphere 2 库 4 表）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3538538" y="4471988"/>
              <a:ext cx="1378966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MongoDB 7+（AI 会话/记忆）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015038" y="4471988"/>
              <a:ext cx="156886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Milvus 2.4+（服装向量 1536 维）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491538" y="4471988"/>
              <a:ext cx="112132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MinIO（图片对象存储）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62038" y="4681538"/>
              <a:ext cx="1740877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Redis 6+（缓存/锁/限流）+ Caffeine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3538538" y="4681538"/>
              <a:ext cx="1411796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RabbitMQ 3.13+（事件总线）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015038" y="4681538"/>
              <a:ext cx="121950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Nacos 2.3（注册 + 配置）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491538" y="4681538"/>
              <a:ext cx="1361122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XXL-Job 3.3.2（定时重试）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47738" y="4948238"/>
              <a:ext cx="364426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端口/上下文见 doc/nacos/*-dev.yml；分片与表结构见 doc/sql/kaleido.sql。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72" name="TextBox 72"/>
            <p:cNvSpPr txBox="1"/>
            <p:nvPr/>
          </p:nvSpPr>
          <p:spPr>
            <a:xfrm>
              <a:off x="604838" y="6613684"/>
              <a:ext cx="149716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Kaleido AI 智能衣柜 · 技术架构详解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6 / 39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7791046" cy="738854"/>
            <a:chOff x="595122" y="501491"/>
            <a:chExt cx="7791046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02 · 拓扑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779104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服务拓扑与三类通信（RPC / 事件 / 会话）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55" name="Group 55"/>
          <p:cNvGrpSpPr/>
          <p:nvPr/>
        </p:nvGrpSpPr>
        <p:grpSpPr>
          <a:xfrm>
            <a:off x="952500" y="1771650"/>
            <a:ext cx="10287000" cy="3962400"/>
            <a:chOff x="952500" y="1771650"/>
            <a:chExt cx="10287000" cy="3962400"/>
          </a:xfrm>
        </p:grpSpPr>
        <p:sp>
          <p:nvSpPr>
            <p:cNvPr id="6" name="Rectangle 6"/>
            <p:cNvSpPr/>
            <p:nvPr/>
          </p:nvSpPr>
          <p:spPr>
            <a:xfrm>
              <a:off x="952500" y="1771650"/>
              <a:ext cx="10287000" cy="323850"/>
            </a:xfrm>
            <a:prstGeom prst="roundRect">
              <a:avLst>
                <a:gd name="adj" fmla="val 8824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3650731" y="1881426"/>
              <a:ext cx="4890538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1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服务拓扑：注册发现（Nacos）× 同步调用（Dubbo）× 异步事件（RabbitMQ）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952500" y="2286000"/>
              <a:ext cx="3238500" cy="1143000"/>
            </a:xfrm>
            <a:prstGeom prst="roundRect">
              <a:avLst>
                <a:gd name="adj" fmla="val 2500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52500" y="2286000"/>
              <a:ext cx="32385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105050" y="239029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平台与入口服务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123950" y="260032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252538" y="2573893"/>
              <a:ext cx="1719317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gateway 9010（WebFlux 网关）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123950" y="2800350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252538" y="2773918"/>
              <a:ext cx="1364071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auth 9011（短信码登录）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123950" y="300037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252538" y="2973943"/>
              <a:ext cx="1516834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admin 9013（RBAC 管理端）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123950" y="3200400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252538" y="3173968"/>
              <a:ext cx="1410381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notice 9014（通知/重试）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381500" y="2286000"/>
              <a:ext cx="3238500" cy="1143000"/>
            </a:xfrm>
            <a:prstGeom prst="roundRect">
              <a:avLst>
                <a:gd name="adj" fmla="val 2500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381500" y="2286000"/>
              <a:ext cx="32385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600014" y="239029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衣柜业务服务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552950" y="260032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681538" y="2573893"/>
              <a:ext cx="1508788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6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user 9012 · wardrobe 9017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552950" y="280987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681538" y="2783443"/>
              <a:ext cx="1138314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6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tag 9019 · coin 9018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552950" y="301942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1538" y="2992993"/>
              <a:ext cx="1462479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message 9030（消息留痕）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810500" y="2286000"/>
              <a:ext cx="3429000" cy="1143000"/>
            </a:xfrm>
            <a:prstGeom prst="roundRect">
              <a:avLst>
                <a:gd name="adj" fmla="val 2500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810500" y="2286000"/>
              <a:ext cx="34290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296492" y="2390299"/>
              <a:ext cx="4570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AI 服务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981950" y="260032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110538" y="2573893"/>
              <a:ext cx="1678633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ai 9020（Spring AI 装配/RAG）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981950" y="280987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110538" y="2783443"/>
              <a:ext cx="1612984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recommend 9029（推荐编排）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981950" y="301942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110538" y="2992993"/>
              <a:ext cx="1401425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mcp 9021（MCP Server）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952500" y="3695700"/>
              <a:ext cx="4953000" cy="876300"/>
            </a:xfrm>
            <a:prstGeom prst="roundRect">
              <a:avLst>
                <a:gd name="adj" fmla="val 326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952500" y="3695700"/>
              <a:ext cx="4953000" cy="876300"/>
            </a:xfrm>
            <a:prstGeom prst="roundRect">
              <a:avLst>
                <a:gd name="adj" fmla="val 3261"/>
              </a:avLst>
            </a:prstGeom>
            <a:noFill/>
            <a:ln w="13335">
              <a:solidFill>
                <a:srgbClr val="1A1A1A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466303" y="3815001"/>
              <a:ext cx="1925394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1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Nacos 2.3 —— 注册 + 配置中心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38238" y="4059793"/>
              <a:ext cx="3110882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namespace：kaleido（主配置/发现）· dubbo（RPC 分组）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38238" y="4269343"/>
              <a:ext cx="3067685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服务心跳注册 · 配置动态下发（${NACOS_HOST} 注入）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286500" y="3695700"/>
              <a:ext cx="4953000" cy="876300"/>
            </a:xfrm>
            <a:prstGeom prst="roundRect">
              <a:avLst>
                <a:gd name="adj" fmla="val 326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286500" y="3695700"/>
              <a:ext cx="4953000" cy="876300"/>
            </a:xfrm>
            <a:prstGeom prst="roundRect">
              <a:avLst>
                <a:gd name="adj" fmla="val 3261"/>
              </a:avLst>
            </a:prstGeom>
            <a:noFill/>
            <a:ln w="13335">
              <a:solidFill>
                <a:srgbClr val="1A1A1A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835328" y="3815001"/>
              <a:ext cx="1855344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1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RabbitMQ —— 4 条事件 topic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72238" y="4059793"/>
              <a:ext cx="1769278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6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auth-change · user-registered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72238" y="4269343"/>
              <a:ext cx="2643365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6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outfit-recommend-completed · clothing-event</a:t>
              </a:r>
            </a:p>
          </p:txBody>
        </p:sp>
        <p:sp>
          <p:nvSpPr>
            <p:cNvPr id="47" name="Line 47"/>
            <p:cNvSpPr/>
            <p:nvPr/>
          </p:nvSpPr>
          <p:spPr>
            <a:xfrm>
              <a:off x="1714500" y="33147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38100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999999"/>
              </a:solidFill>
              <a:custDash>
                <a:ds d="400000" sp="300000"/>
              </a:custDash>
            </a:ln>
          </p:spPr>
        </p:sp>
        <p:sp>
          <p:nvSpPr>
            <p:cNvPr id="48" name="Line 48"/>
            <p:cNvSpPr/>
            <p:nvPr/>
          </p:nvSpPr>
          <p:spPr>
            <a:xfrm>
              <a:off x="4762500" y="33147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38100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999999"/>
              </a:solidFill>
              <a:custDash>
                <a:ds d="400000" sp="300000"/>
              </a:custDash>
            </a:ln>
          </p:spPr>
        </p:sp>
        <p:sp>
          <p:nvSpPr>
            <p:cNvPr id="49" name="Line 49"/>
            <p:cNvSpPr/>
            <p:nvPr/>
          </p:nvSpPr>
          <p:spPr>
            <a:xfrm>
              <a:off x="8096250" y="33147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38100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999999"/>
              </a:solidFill>
              <a:custDash>
                <a:ds d="400000" sp="300000"/>
              </a:custDash>
            </a:ln>
          </p:spPr>
        </p:sp>
        <p:sp>
          <p:nvSpPr>
            <p:cNvPr id="50" name="Rectangle 50"/>
            <p:cNvSpPr/>
            <p:nvPr/>
          </p:nvSpPr>
          <p:spPr>
            <a:xfrm>
              <a:off x="952500" y="4876800"/>
              <a:ext cx="10287000" cy="419100"/>
            </a:xfrm>
            <a:prstGeom prst="roundRect">
              <a:avLst>
                <a:gd name="adj" fmla="val 6818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2400682" y="5032772"/>
              <a:ext cx="739063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4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数据与中间件：MySQL（分片 2 库 4 表）｜ MongoDB（会话）｜ Milvus（向量）｜ Redis（缓存/锁/限流）｜ MinIO（图片）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952500" y="5410200"/>
              <a:ext cx="10287000" cy="323850"/>
            </a:xfrm>
            <a:prstGeom prst="roundRect">
              <a:avLst>
                <a:gd name="adj" fmla="val 882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952500" y="5410200"/>
              <a:ext cx="10287000" cy="323850"/>
            </a:xfrm>
            <a:prstGeom prst="roundRect">
              <a:avLst>
                <a:gd name="adj" fmla="val 8824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769197" y="5513070"/>
              <a:ext cx="86536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通信规则：服务间同步 = Dubbo RPC（30+ 注解，registry=nacos group=dubbo）｜ 跨服务解耦 = RabbitMQ 事件 ｜ 无 OpenFeign / HTTP 直连（全仓未见）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56" name="TextBox 56"/>
            <p:cNvSpPr txBox="1"/>
            <p:nvPr/>
          </p:nvSpPr>
          <p:spPr>
            <a:xfrm>
              <a:off x="604838" y="6613684"/>
              <a:ext cx="149716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Kaleido AI 智能衣柜 · 技术架构详解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7 / 39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3865626" cy="738854"/>
            <a:chOff x="595122" y="501491"/>
            <a:chExt cx="3865626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02 · 结构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386562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工程规模：目录即架构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3429000" cy="1905000"/>
            <a:chOff x="609600" y="1619250"/>
            <a:chExt cx="34290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4285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可运行应用 15 个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431256"/>
              <a:ext cx="18282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网关/认证/通知/管理端 ×4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678906"/>
              <a:ext cx="21461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业务服务 ×11（含 AI 三件套）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926556"/>
              <a:ext cx="11045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端口 9010-9030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381500" y="1619250"/>
            <a:ext cx="3429000" cy="1905000"/>
            <a:chOff x="4381500" y="1619250"/>
            <a:chExt cx="3429000" cy="1905000"/>
          </a:xfrm>
        </p:grpSpPr>
        <p:sp>
          <p:nvSpPr>
            <p:cNvPr id="13" name="Rectangle 13"/>
            <p:cNvSpPr/>
            <p:nvPr/>
          </p:nvSpPr>
          <p:spPr>
            <a:xfrm>
              <a:off x="43815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03242" y="1892618"/>
              <a:ext cx="16752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公共 starter 21 个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04385" y="2431256"/>
              <a:ext cx="20161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Web/数据/分布式/认证/工具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04385" y="267890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高可用组件全覆盖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04385" y="2926556"/>
              <a:ext cx="17797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纯依赖壳 3 个（见 P37）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153400" y="1619250"/>
            <a:ext cx="3429000" cy="1905000"/>
            <a:chOff x="8153400" y="1619250"/>
            <a:chExt cx="3429000" cy="1905000"/>
          </a:xfrm>
        </p:grpSpPr>
        <p:sp>
          <p:nvSpPr>
            <p:cNvPr id="20" name="Rectangle 20"/>
            <p:cNvSpPr/>
            <p:nvPr/>
          </p:nvSpPr>
          <p:spPr>
            <a:xfrm>
              <a:off x="81534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75142" y="1892618"/>
              <a:ext cx="14068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RPC 契约库 1 个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76285" y="2431256"/>
              <a:ext cx="1836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kaleido-api 128 接口/DTO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76285" y="2678906"/>
              <a:ext cx="22202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admin 29 · wardrobe 26 · ai 23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76285" y="292655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服务间只依赖契约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27" name="Rectangle 27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06018" y="4050982"/>
              <a:ext cx="54121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规模口径全部以 pom.xml &lt;modules&gt; 与源码统计为准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8304" y="4947285"/>
              <a:ext cx="97290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顶层 6 模块（pom.xml:21-28）｜ biz 11 个（kaleido-biz/pom.xml:17-29）｜ common 21 个（kaleido-common/pom.xml:16-38）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1" name="TextBox 31"/>
            <p:cNvSpPr txBox="1"/>
            <p:nvPr/>
          </p:nvSpPr>
          <p:spPr>
            <a:xfrm>
              <a:off x="604838" y="6613684"/>
              <a:ext cx="149716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Kaleido AI 智能衣柜 · 技术架构详解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8 / 39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6380310" cy="738854"/>
            <a:chOff x="595122" y="501491"/>
            <a:chExt cx="6380310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02 · 风格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638031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架构风格：DDD + CQRS + 整洁架构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609600" y="1619250"/>
            <a:ext cx="5257800" cy="4191000"/>
            <a:chOff x="609600" y="1619250"/>
            <a:chExt cx="52578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24026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四层结构（wardrobe 实例）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38200" y="332422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3935" y="3298031"/>
              <a:ext cx="36571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trigger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controller / rpc / listener / job —— 接口层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38200" y="364807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3935" y="3621881"/>
              <a:ext cx="32358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application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command 与 query 分离（CQRS）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38200" y="397192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03935" y="3945731"/>
              <a:ext cx="34208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domain</a:t>
              </a:r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 xml:space="preserve"> aggregate / entity / service / adapter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38200" y="429577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03935" y="4269581"/>
              <a:ext cx="40329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infrastructure</a:t>
              </a:r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 xml:space="preserve"> dao / repository / component / config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324600" y="1619250"/>
            <a:ext cx="5257800" cy="4191000"/>
            <a:chOff x="6324600" y="1619250"/>
            <a:chExt cx="5257800" cy="4191000"/>
          </a:xfrm>
        </p:grpSpPr>
        <p:sp>
          <p:nvSpPr>
            <p:cNvPr id="18" name="Rectangle 18"/>
            <p:cNvSpPr/>
            <p:nvPr/>
          </p:nvSpPr>
          <p:spPr>
            <a:xfrm>
              <a:off x="6324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546342" y="18926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为什么值得这样做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553200" y="332422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18935" y="3298031"/>
              <a:ext cx="29213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依赖倒置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领域不依赖技术实现，只依赖接口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553200" y="364807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18935" y="3621881"/>
              <a:ext cx="3155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命令查询分离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读模型/写模型可独立演进与测试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553200" y="397192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18935" y="3945731"/>
              <a:ext cx="2333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代价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文件多样板多——以模块化换取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553200" y="429577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18935" y="4269581"/>
              <a:ext cx="32983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仓库实证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wardrobe 114 / admin 95 / ai 90 文件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0" name="TextBox 30"/>
            <p:cNvSpPr txBox="1"/>
            <p:nvPr/>
          </p:nvSpPr>
          <p:spPr>
            <a:xfrm>
              <a:off x="604838" y="6613684"/>
              <a:ext cx="149716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Kaleido AI 智能衣柜 · 技术架构详解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9 / 39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8220753" cy="738854"/>
            <a:chOff x="595122" y="501491"/>
            <a:chExt cx="8220753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02 · 旅程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822075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端到端旅程：一次「AI 推荐穿搭」的七个节点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77" name="Group 77"/>
          <p:cNvGrpSpPr/>
          <p:nvPr/>
        </p:nvGrpSpPr>
        <p:grpSpPr>
          <a:xfrm>
            <a:off x="947738" y="2286000"/>
            <a:ext cx="8746326" cy="2930366"/>
            <a:chOff x="947738" y="2286000"/>
            <a:chExt cx="8746326" cy="2930366"/>
          </a:xfrm>
        </p:grpSpPr>
        <p:sp>
          <p:nvSpPr>
            <p:cNvPr id="6" name="Rectangle 6"/>
            <p:cNvSpPr/>
            <p:nvPr/>
          </p:nvSpPr>
          <p:spPr>
            <a:xfrm>
              <a:off x="952500" y="2286000"/>
              <a:ext cx="1238250" cy="1123950"/>
            </a:xfrm>
            <a:prstGeom prst="roundRect">
              <a:avLst>
                <a:gd name="adj" fmla="val 2542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952500" y="2286000"/>
              <a:ext cx="1238250" cy="1123950"/>
            </a:xfrm>
            <a:prstGeom prst="roundRect">
              <a:avLst>
                <a:gd name="adj" fmla="val 2542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952500" y="2286000"/>
              <a:ext cx="123825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43944" y="2428399"/>
              <a:ext cx="6553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① 用户请求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23938" y="2707243"/>
              <a:ext cx="1022515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6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POST /recommend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23938" y="2878693"/>
              <a:ext cx="819937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携带穿搭提示词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009650" y="3086100"/>
              <a:ext cx="1123950" cy="266700"/>
            </a:xfrm>
            <a:prstGeom prst="roundRect">
              <a:avLst>
                <a:gd name="adj" fmla="val 1071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009650" y="3086100"/>
              <a:ext cx="1123950" cy="266700"/>
            </a:xfrm>
            <a:prstGeom prst="roundRect">
              <a:avLst>
                <a:gd name="adj" fmla="val 10714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62038" y="3182064"/>
              <a:ext cx="1653545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Sentinel 流控 @SentinelResource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2190750" y="2857500"/>
              <a:ext cx="85725" cy="9525"/>
            </a:xfrm>
            <a:custGeom>
              <a:avLst/>
              <a:gdLst/>
              <a:ahLst/>
              <a:cxnLst/>
              <a:rect l="l" t="t" r="r" b="b"/>
              <a:pathLst>
                <a:path w="85725" h="9525">
                  <a:moveTo>
                    <a:pt x="0" y="0"/>
                  </a:moveTo>
                  <a:lnTo>
                    <a:pt x="8572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16" name="Polygon 16"/>
            <p:cNvSpPr/>
            <p:nvPr/>
          </p:nvSpPr>
          <p:spPr>
            <a:xfrm>
              <a:off x="2283142" y="2825115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2362200" y="2286000"/>
              <a:ext cx="1238250" cy="1123950"/>
            </a:xfrm>
            <a:prstGeom prst="roundRect">
              <a:avLst>
                <a:gd name="adj" fmla="val 2542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2362200" y="2286000"/>
              <a:ext cx="1238250" cy="1123950"/>
            </a:xfrm>
            <a:prstGeom prst="roundRect">
              <a:avLst>
                <a:gd name="adj" fmla="val 2542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615550" y="2428399"/>
              <a:ext cx="7315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② 校验+扣费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433638" y="2707243"/>
              <a:ext cx="1155680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recommend 调 coin：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433638" y="2878693"/>
              <a:ext cx="837303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余额校验 + 扣费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2419350" y="3086100"/>
              <a:ext cx="1123950" cy="266700"/>
            </a:xfrm>
            <a:prstGeom prst="roundRect">
              <a:avLst>
                <a:gd name="adj" fmla="val 1071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2419350" y="3086100"/>
              <a:ext cx="1123950" cy="266700"/>
            </a:xfrm>
            <a:prstGeom prst="roundRect">
              <a:avLst>
                <a:gd name="adj" fmla="val 10714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471738" y="3182064"/>
              <a:ext cx="961376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分布式锁 bizId 幂等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3600450" y="2857500"/>
              <a:ext cx="85725" cy="9525"/>
            </a:xfrm>
            <a:custGeom>
              <a:avLst/>
              <a:gdLst/>
              <a:ahLst/>
              <a:cxnLst/>
              <a:rect l="l" t="t" r="r" b="b"/>
              <a:pathLst>
                <a:path w="85725" h="9525">
                  <a:moveTo>
                    <a:pt x="0" y="0"/>
                  </a:moveTo>
                  <a:lnTo>
                    <a:pt x="8572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6" name="Polygon 26"/>
            <p:cNvSpPr/>
            <p:nvPr/>
          </p:nvSpPr>
          <p:spPr>
            <a:xfrm>
              <a:off x="3692842" y="2825115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3771900" y="2286000"/>
              <a:ext cx="1238250" cy="1123950"/>
            </a:xfrm>
            <a:prstGeom prst="roundRect">
              <a:avLst>
                <a:gd name="adj" fmla="val 2542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3771900" y="2286000"/>
              <a:ext cx="1238250" cy="1123950"/>
            </a:xfrm>
            <a:prstGeom prst="roundRect">
              <a:avLst>
                <a:gd name="adj" fmla="val 2542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100312" y="2428399"/>
              <a:ext cx="5814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③ 调起 AI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843338" y="2707243"/>
              <a:ext cx="493869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6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Dubbo→ai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843338" y="2878693"/>
              <a:ext cx="1988810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6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executeOutfitRecommendWorkflow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3829050" y="3086100"/>
              <a:ext cx="1123950" cy="266700"/>
            </a:xfrm>
            <a:prstGeom prst="roundRect">
              <a:avLst>
                <a:gd name="adj" fmla="val 1071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3829050" y="3086100"/>
              <a:ext cx="1123950" cy="266700"/>
            </a:xfrm>
            <a:prstGeom prst="roundRect">
              <a:avLst>
                <a:gd name="adj" fmla="val 10714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881438" y="3182064"/>
              <a:ext cx="1692724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工作流 code OUTFIT_RECOMMEND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5010150" y="2857500"/>
              <a:ext cx="85725" cy="9525"/>
            </a:xfrm>
            <a:custGeom>
              <a:avLst/>
              <a:gdLst/>
              <a:ahLst/>
              <a:cxnLst/>
              <a:rect l="l" t="t" r="r" b="b"/>
              <a:pathLst>
                <a:path w="85725" h="9525">
                  <a:moveTo>
                    <a:pt x="0" y="0"/>
                  </a:moveTo>
                  <a:lnTo>
                    <a:pt x="8572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36" name="Polygon 36"/>
            <p:cNvSpPr/>
            <p:nvPr/>
          </p:nvSpPr>
          <p:spPr>
            <a:xfrm>
              <a:off x="5102542" y="282511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181600" y="2286000"/>
              <a:ext cx="1238250" cy="1123950"/>
            </a:xfrm>
            <a:prstGeom prst="roundRect">
              <a:avLst>
                <a:gd name="adj" fmla="val 2542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181600" y="2286000"/>
              <a:ext cx="1238250" cy="1123950"/>
            </a:xfrm>
            <a:prstGeom prst="roundRect">
              <a:avLst>
                <a:gd name="adj" fmla="val 2542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510012" y="2428399"/>
              <a:ext cx="5814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④ AI 生成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253038" y="2707243"/>
              <a:ext cx="865810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向量检索 + LLM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253038" y="2878693"/>
              <a:ext cx="829112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返回搭配 JSON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238750" y="3086100"/>
              <a:ext cx="1123950" cy="266700"/>
            </a:xfrm>
            <a:prstGeom prst="roundRect">
              <a:avLst>
                <a:gd name="adj" fmla="val 1071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238750" y="3086100"/>
              <a:ext cx="1123950" cy="266700"/>
            </a:xfrm>
            <a:prstGeom prst="roundRect">
              <a:avLst>
                <a:gd name="adj" fmla="val 10714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291138" y="3182064"/>
              <a:ext cx="1273110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Milvus topK BGE-M3 向量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6419850" y="2857500"/>
              <a:ext cx="276225" cy="9525"/>
            </a:xfrm>
            <a:custGeom>
              <a:avLst/>
              <a:gdLst/>
              <a:ahLst/>
              <a:cxnLst/>
              <a:rect l="l" t="t" r="r" b="b"/>
              <a:pathLst>
                <a:path w="276225" h="9525">
                  <a:moveTo>
                    <a:pt x="0" y="0"/>
                  </a:moveTo>
                  <a:lnTo>
                    <a:pt x="27622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46" name="Polygon 46"/>
            <p:cNvSpPr/>
            <p:nvPr/>
          </p:nvSpPr>
          <p:spPr>
            <a:xfrm>
              <a:off x="6702742" y="282511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952500" y="3619500"/>
              <a:ext cx="1238250" cy="1123950"/>
            </a:xfrm>
            <a:prstGeom prst="roundRect">
              <a:avLst>
                <a:gd name="adj" fmla="val 2542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952500" y="3619500"/>
              <a:ext cx="1238250" cy="1123950"/>
            </a:xfrm>
            <a:prstGeom prst="roundRect">
              <a:avLst>
                <a:gd name="adj" fmla="val 2542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952500" y="3619500"/>
              <a:ext cx="123825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375872" y="3761899"/>
              <a:ext cx="3915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⑦ 终态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23938" y="4040743"/>
              <a:ext cx="945322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记录 COMPLETED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23938" y="4212193"/>
              <a:ext cx="356845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可查询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009650" y="4419600"/>
              <a:ext cx="1123950" cy="266700"/>
            </a:xfrm>
            <a:prstGeom prst="roundRect">
              <a:avLst>
                <a:gd name="adj" fmla="val 1071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1009650" y="4419600"/>
              <a:ext cx="1123950" cy="266700"/>
            </a:xfrm>
            <a:prstGeom prst="roundRect">
              <a:avLst>
                <a:gd name="adj" fmla="val 10714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062038" y="4515564"/>
              <a:ext cx="998578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异步闭环 失败可重试</a:t>
              </a:r>
            </a:p>
          </p:txBody>
        </p:sp>
        <p:sp>
          <p:nvSpPr>
            <p:cNvPr id="56" name="Line 56"/>
            <p:cNvSpPr/>
            <p:nvPr/>
          </p:nvSpPr>
          <p:spPr>
            <a:xfrm>
              <a:off x="2190750" y="4191000"/>
              <a:ext cx="85725" cy="9525"/>
            </a:xfrm>
            <a:custGeom>
              <a:avLst/>
              <a:gdLst/>
              <a:ahLst/>
              <a:cxnLst/>
              <a:rect l="l" t="t" r="r" b="b"/>
              <a:pathLst>
                <a:path w="85725" h="9525">
                  <a:moveTo>
                    <a:pt x="0" y="0"/>
                  </a:moveTo>
                  <a:lnTo>
                    <a:pt x="8572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57" name="Polygon 57"/>
            <p:cNvSpPr/>
            <p:nvPr/>
          </p:nvSpPr>
          <p:spPr>
            <a:xfrm>
              <a:off x="2283142" y="4158615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2362200" y="3619500"/>
              <a:ext cx="1238250" cy="1123950"/>
            </a:xfrm>
            <a:prstGeom prst="roundRect">
              <a:avLst>
                <a:gd name="adj" fmla="val 2542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2362200" y="3619500"/>
              <a:ext cx="1238250" cy="1123950"/>
            </a:xfrm>
            <a:prstGeom prst="roundRect">
              <a:avLst>
                <a:gd name="adj" fmla="val 2542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2719608" y="3761899"/>
              <a:ext cx="5234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⑥ 落穿搭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2433638" y="4040743"/>
              <a:ext cx="1225144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6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recommend→wardrobe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2433638" y="4212193"/>
              <a:ext cx="658128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创建 Outfit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2419350" y="4419600"/>
              <a:ext cx="1123950" cy="266700"/>
            </a:xfrm>
            <a:prstGeom prst="roundRect">
              <a:avLst>
                <a:gd name="adj" fmla="val 1071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2419350" y="4419600"/>
              <a:ext cx="1123950" cy="266700"/>
            </a:xfrm>
            <a:prstGeom prst="roundRect">
              <a:avLst>
                <a:gd name="adj" fmla="val 10714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2471738" y="4515564"/>
              <a:ext cx="1032088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RPC + 领域 聚合封装</a:t>
              </a:r>
            </a:p>
          </p:txBody>
        </p:sp>
        <p:sp>
          <p:nvSpPr>
            <p:cNvPr id="66" name="Line 66"/>
            <p:cNvSpPr/>
            <p:nvPr/>
          </p:nvSpPr>
          <p:spPr>
            <a:xfrm>
              <a:off x="3600450" y="4191000"/>
              <a:ext cx="85725" cy="9525"/>
            </a:xfrm>
            <a:custGeom>
              <a:avLst/>
              <a:gdLst/>
              <a:ahLst/>
              <a:cxnLst/>
              <a:rect l="l" t="t" r="r" b="b"/>
              <a:pathLst>
                <a:path w="85725" h="9525">
                  <a:moveTo>
                    <a:pt x="0" y="0"/>
                  </a:moveTo>
                  <a:lnTo>
                    <a:pt x="8572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67" name="Polygon 67"/>
            <p:cNvSpPr/>
            <p:nvPr/>
          </p:nvSpPr>
          <p:spPr>
            <a:xfrm>
              <a:off x="3692842" y="4158615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3771900" y="3619500"/>
              <a:ext cx="1238250" cy="1123950"/>
            </a:xfrm>
            <a:prstGeom prst="roundRect">
              <a:avLst>
                <a:gd name="adj" fmla="val 2542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3771900" y="3619500"/>
              <a:ext cx="1238250" cy="1123950"/>
            </a:xfrm>
            <a:prstGeom prst="roundRect">
              <a:avLst>
                <a:gd name="adj" fmla="val 2542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4063344" y="3761899"/>
              <a:ext cx="6553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⑤ 完成回执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3843338" y="4040743"/>
              <a:ext cx="193015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6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MQ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3843338" y="4212193"/>
              <a:ext cx="1676659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6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outfit-recommend-completed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3829050" y="4419600"/>
              <a:ext cx="1123950" cy="266700"/>
            </a:xfrm>
            <a:prstGeom prst="roundRect">
              <a:avLst>
                <a:gd name="adj" fmla="val 1071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3829050" y="4419600"/>
              <a:ext cx="1123950" cy="266700"/>
            </a:xfrm>
            <a:prstGeom prst="roundRect">
              <a:avLst>
                <a:gd name="adj" fmla="val 10714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3881438" y="4515564"/>
              <a:ext cx="785879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可靠消息 状态机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47738" y="5054441"/>
              <a:ext cx="87463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泳道事实：RecommendCommandService.java:77-113（校验→RPC→落记录→扣费）；OutfitRecommendCompletedEventListener.java:53（MQ 回执→Dubbo 建穿搭→终态）。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78" name="TextBox 78"/>
            <p:cNvSpPr txBox="1"/>
            <p:nvPr/>
          </p:nvSpPr>
          <p:spPr>
            <a:xfrm>
              <a:off x="604838" y="6613684"/>
              <a:ext cx="149716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Kaleido AI 智能衣柜 · 技术架构详解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10 / 39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6628028" cy="738854"/>
            <a:chOff x="595122" y="501491"/>
            <a:chExt cx="6628028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74283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03 · 技术栈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662802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版本真相：一份依赖矩阵（pom.xml）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60" name="Group 60"/>
          <p:cNvGrpSpPr/>
          <p:nvPr/>
        </p:nvGrpSpPr>
        <p:grpSpPr>
          <a:xfrm>
            <a:off x="609600" y="1619250"/>
            <a:ext cx="10972800" cy="4200525"/>
            <a:chOff x="609600" y="1619250"/>
            <a:chExt cx="10972800" cy="4200525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10972800" cy="419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10972800" cy="3810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80466" y="17535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技术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722623" y="1753552"/>
              <a:ext cx="7467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版本 / 出处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253538" y="175355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在项目里的角色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609600" y="2000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80847" y="2095024"/>
              <a:ext cx="4915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Java 21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121379" y="2095024"/>
              <a:ext cx="19492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编译目标 21（pom.xml:31-32）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042881" y="2095024"/>
              <a:ext cx="14214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Boot 3.5.6 全家桶基础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609600" y="23145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80847" y="2418874"/>
              <a:ext cx="14160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Spring Cloud 2025.0.0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718352" y="2418874"/>
              <a:ext cx="7552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pom.xml:35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003256" y="2418874"/>
              <a:ext cx="15006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gateway / loadbalancer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09600" y="2628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80847" y="2733199"/>
              <a:ext cx="20474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Spring Cloud Alibaba 2025.0.0.0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718352" y="2733199"/>
              <a:ext cx="7552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pom.xml:36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825154" y="27331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nacos / sentinel / seata 组件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609600" y="29527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80847" y="3047524"/>
              <a:ext cx="9866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Spring AI 1.1.2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718352" y="3047524"/>
              <a:ext cx="7552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pom.xml:38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217638" y="3047524"/>
              <a:ext cx="10719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kaleido-ai 主实现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09600" y="32670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0847" y="3371374"/>
              <a:ext cx="783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Dubbo 3.3.0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718352" y="3371374"/>
              <a:ext cx="7552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pom.xml:65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264249" y="3371374"/>
              <a:ext cx="9787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服务间同步 RPC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609600" y="3581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80847" y="3685699"/>
              <a:ext cx="93329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Sentinel 1.8.7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422323" y="3685699"/>
              <a:ext cx="13473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pom.xml（SCA 管理）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277006" y="3685699"/>
              <a:ext cx="9531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流控 + 熔断降级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609600" y="3905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80847" y="4000024"/>
              <a:ext cx="783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Seata 1.8.0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815741" y="4000024"/>
              <a:ext cx="5605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SCA 管理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089009" y="4000024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分布式事务（未激活）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609600" y="42195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80847" y="4323874"/>
              <a:ext cx="1262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MyBatis-Plus 3.5.9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718352" y="4323874"/>
              <a:ext cx="7552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pom.xml:46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316522" y="4323874"/>
              <a:ext cx="87415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ORM + 拦截器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609600" y="4533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80847" y="4638199"/>
              <a:ext cx="14063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ShardingSphere 5.5.2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718352" y="4638199"/>
              <a:ext cx="7552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pom.xml:74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352864" y="463819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2 库 4 表分片</a:t>
              </a:r>
            </a:p>
          </p:txBody>
        </p:sp>
        <p:sp>
          <p:nvSpPr>
            <p:cNvPr id="47" name="Line 47"/>
            <p:cNvSpPr/>
            <p:nvPr/>
          </p:nvSpPr>
          <p:spPr>
            <a:xfrm>
              <a:off x="609600" y="48577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80847" y="4952524"/>
              <a:ext cx="20431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Redisson 3.52 / JetCache 2.7.8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609511" y="4952524"/>
              <a:ext cx="9729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pom.xml:42,44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346268" y="4952524"/>
              <a:ext cx="8146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缓存/锁/限流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609600" y="51720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80847" y="5276374"/>
              <a:ext cx="16340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MongoDB 7+ / Milvus 2.4+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352252" y="5276374"/>
              <a:ext cx="14874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docker-compose 中间件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145078" y="5276374"/>
              <a:ext cx="12170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会话记忆 / 服装向量</a:t>
              </a:r>
            </a:p>
          </p:txBody>
        </p:sp>
        <p:sp>
          <p:nvSpPr>
            <p:cNvPr id="55" name="Line 55"/>
            <p:cNvSpPr/>
            <p:nvPr/>
          </p:nvSpPr>
          <p:spPr>
            <a:xfrm>
              <a:off x="609600" y="5486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80847" y="5590699"/>
              <a:ext cx="34270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Sa-Token 1.44 / MapStruct 1.6.3 / Smart-doc 2.7.7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609511" y="5590699"/>
              <a:ext cx="9729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pom.xml:67-69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201147" y="5590699"/>
              <a:ext cx="11049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认证 / 映射 / 文档</a:t>
              </a:r>
            </a:p>
          </p:txBody>
        </p:sp>
        <p:sp>
          <p:nvSpPr>
            <p:cNvPr id="59" name="Line 59"/>
            <p:cNvSpPr/>
            <p:nvPr/>
          </p:nvSpPr>
          <p:spPr>
            <a:xfrm>
              <a:off x="609600" y="5810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</p:grpSp>
      <p:grpSp>
        <p:nvGrpSpPr>
          <p:cNvPr id="64" name="Group 64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61" name="TextBox 61"/>
            <p:cNvSpPr txBox="1"/>
            <p:nvPr/>
          </p:nvSpPr>
          <p:spPr>
            <a:xfrm>
              <a:off x="604838" y="6613684"/>
              <a:ext cx="149716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Kaleido AI 智能衣柜 · 技术架构详解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11 / 39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783961" cy="738854"/>
            <a:chOff x="595122" y="501491"/>
            <a:chExt cx="5783961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03 · 框架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78396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核心框架：技术全家桶的四块基石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2524125" cy="1905000"/>
            <a:chOff x="609600" y="1619250"/>
            <a:chExt cx="2524125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2524125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2524125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7104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Java 21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431256"/>
              <a:ext cx="8256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编译目标 21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678906"/>
              <a:ext cx="17302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record/switch 等新语法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926556"/>
              <a:ext cx="9593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LTS 长期支持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419475" y="1619250"/>
            <a:ext cx="2524125" cy="1905000"/>
            <a:chOff x="3419475" y="1619250"/>
            <a:chExt cx="2524125" cy="1905000"/>
          </a:xfrm>
        </p:grpSpPr>
        <p:sp>
          <p:nvSpPr>
            <p:cNvPr id="13" name="Rectangle 13"/>
            <p:cNvSpPr/>
            <p:nvPr/>
          </p:nvSpPr>
          <p:spPr>
            <a:xfrm>
              <a:off x="3419475" y="1619250"/>
              <a:ext cx="2524125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3419475" y="1619250"/>
              <a:ext cx="2524125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641217" y="1892618"/>
              <a:ext cx="16733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Spring Boot 3.5.6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642360" y="24312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应用骨架与自动配置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642360" y="2678906"/>
              <a:ext cx="17981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starter 体系贯穿 21 模块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642360" y="2926556"/>
              <a:ext cx="1722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webflux/webmvc 双形态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238875" y="1619250"/>
            <a:ext cx="2524125" cy="1905000"/>
            <a:chOff x="6238875" y="1619250"/>
            <a:chExt cx="2524125" cy="1905000"/>
          </a:xfrm>
        </p:grpSpPr>
        <p:sp>
          <p:nvSpPr>
            <p:cNvPr id="20" name="Rectangle 20"/>
            <p:cNvSpPr/>
            <p:nvPr/>
          </p:nvSpPr>
          <p:spPr>
            <a:xfrm>
              <a:off x="6238875" y="1619250"/>
              <a:ext cx="2524125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238875" y="1619250"/>
              <a:ext cx="2524125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60617" y="1892618"/>
              <a:ext cx="15442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Cloud + SCA 2025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61760" y="2431256"/>
              <a:ext cx="10819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注册/配置/网关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61760" y="2678906"/>
              <a:ext cx="15945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sentinel/seata 数据源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61760" y="292655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命名空间化管理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048750" y="1619250"/>
            <a:ext cx="2524125" cy="1905000"/>
            <a:chOff x="9048750" y="1619250"/>
            <a:chExt cx="2524125" cy="1905000"/>
          </a:xfrm>
        </p:grpSpPr>
        <p:sp>
          <p:nvSpPr>
            <p:cNvPr id="27" name="Rectangle 27"/>
            <p:cNvSpPr/>
            <p:nvPr/>
          </p:nvSpPr>
          <p:spPr>
            <a:xfrm>
              <a:off x="9048750" y="1619250"/>
              <a:ext cx="2524125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9048750" y="1619250"/>
              <a:ext cx="2524125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270492" y="1892618"/>
              <a:ext cx="14265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Spring AI 1.1.2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271635" y="2431256"/>
              <a:ext cx="11245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ChatClient 装配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271635" y="2678906"/>
              <a:ext cx="12779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向量库/MCP/记忆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271635" y="2926556"/>
              <a:ext cx="10269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OpenAI 兼容层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34" name="Rectangle 34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06018" y="4050982"/>
              <a:ext cx="65133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关系图：Boot 是底座，Cloud/SCA 管分布式，Spring AI 接智能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08304" y="4880610"/>
              <a:ext cx="60369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AI 通过标准 OpenAI 兼容 API 对接（base-url/api-key 由环境变量注入，见 P33）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09638" y="5541645"/>
              <a:ext cx="13786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版本源：pom.xml:35-38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9" name="TextBox 39"/>
            <p:cNvSpPr txBox="1"/>
            <p:nvPr/>
          </p:nvSpPr>
          <p:spPr>
            <a:xfrm>
              <a:off x="604838" y="6613684"/>
              <a:ext cx="149716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Kaleido AI 智能衣柜 · 技术架构详解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12 / 39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4632960" cy="738854"/>
            <a:chOff x="595122" y="501491"/>
            <a:chExt cx="4632960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03 · 选型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463296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为什么选它：关键选型对照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609600" y="1619250"/>
            <a:ext cx="10972800" cy="4200525"/>
            <a:chOff x="609600" y="1619250"/>
            <a:chExt cx="10972800" cy="4200525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10972800" cy="419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10972800" cy="3810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80466" y="175355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关注点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49315" y="17535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选型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238872" y="1753552"/>
              <a:ext cx="10294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替代方案 &amp; 取舍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609600" y="2000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80847" y="2256949"/>
              <a:ext cx="52566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API 网关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023678" y="2256949"/>
              <a:ext cx="21446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Spring Cloud Gateway（WebFlux）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177439" y="2256949"/>
              <a:ext cx="31523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Zuul 已停维；WebFlux 适配 Sa-Token Reactor 鉴权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609600" y="2628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80847" y="2895124"/>
              <a:ext cx="6101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注册/配置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777507" y="2895124"/>
              <a:ext cx="6369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Nacos 2.3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63683" y="2895124"/>
              <a:ext cx="33798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Eureka 无配置中心；双 namespace 隔离主配置与 Dubbo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09600" y="32670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80847" y="3523774"/>
              <a:ext cx="6999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服务间 RPC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310533" y="3523774"/>
              <a:ext cx="15709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Dubbo 3.3（契约库优先）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971447" y="3523774"/>
              <a:ext cx="35643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全仓无 OpenFeign/HTTP 直连 —— kaleido-api 契约独立演进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609600" y="3905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80847" y="416194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缓存策略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210937" y="4161949"/>
              <a:ext cx="17701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JetCache：Caffeine + Redis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41186" y="4161949"/>
              <a:ext cx="24248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纯 Redis 网络开销高；两级缓存保热点读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09600" y="4533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0847" y="4800124"/>
              <a:ext cx="6101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限流/熔断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254932" y="4800124"/>
              <a:ext cx="16821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Sentinel + 自研 @RateLimit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54396" y="4800124"/>
              <a:ext cx="2798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规则可 Nacos 下发；注解细粒度到用户/手机号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609600" y="51720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80847" y="5428774"/>
              <a:ext cx="44900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AI 接入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602658" y="5428774"/>
              <a:ext cx="9866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Spring AI 1.1.2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505229" y="5428774"/>
              <a:ext cx="24967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仓库另留 langchain4j-demo 做双实现对照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609600" y="5810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7" name="TextBox 37"/>
            <p:cNvSpPr txBox="1"/>
            <p:nvPr/>
          </p:nvSpPr>
          <p:spPr>
            <a:xfrm>
              <a:off x="604838" y="6613684"/>
              <a:ext cx="149716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Kaleido AI 智能衣柜 · 技术架构详解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13 / 39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7749295" cy="738854"/>
            <a:chOff x="595122" y="501491"/>
            <a:chExt cx="7749295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04 · 公共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774929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kaleido-common：21 个 starter 五类盘点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609600" y="1619250"/>
            <a:ext cx="11207299" cy="4200525"/>
            <a:chOff x="609600" y="1619250"/>
            <a:chExt cx="11207299" cy="4200525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10972800" cy="419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10972800" cy="3810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80466" y="17535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分类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641347" y="1753552"/>
              <a:ext cx="9093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starter 模块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380223" y="1753552"/>
              <a:ext cx="7467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封装 / 职责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609600" y="2000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80847" y="2323624"/>
              <a:ext cx="5677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Web 横切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784315" y="2323624"/>
              <a:ext cx="6233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web · aop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72119" y="2323624"/>
              <a:ext cx="27629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全局异常/JACKSON；AOP 代理与空返回检查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609600" y="2762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80847" y="308562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数据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573231" y="3085624"/>
              <a:ext cx="10455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ds · cache · file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847503" y="3085624"/>
              <a:ext cx="38121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MP+ShardingSphere 分片；Redis/Redisson/JetCache；MinIO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09600" y="3524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80847" y="384762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分布式协作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563337" y="3847624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nacos · rpc · mq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35213" y="3847624"/>
              <a:ext cx="30367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注册配置壳；Dubbo 开关+异常过滤；MQ 事件抽象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609600" y="4286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80847" y="460962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高可用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02374" y="4523899"/>
              <a:ext cx="33872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lock · limiter · sentinel · seata · distribute · dynam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757930" y="4695349"/>
              <a:ext cx="6761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ic-tp · job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723692" y="4609624"/>
              <a:ext cx="40598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锁/限流注解；Sentinel/Seata 壳；雪花 ID；动态线程池；XXL-Job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609600" y="5048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80847" y="537162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认证与工具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702509" y="5371624"/>
              <a:ext cx="27869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sa-token · base · api · doc · sms · monitor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90300" y="5285899"/>
              <a:ext cx="41265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双 StpLogic；Result/异常；128 契约接口；smart-doc；短信桩；M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425424" y="5457349"/>
              <a:ext cx="65635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icrometer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609600" y="5810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5" name="TextBox 35"/>
            <p:cNvSpPr txBox="1"/>
            <p:nvPr/>
          </p:nvSpPr>
          <p:spPr>
            <a:xfrm>
              <a:off x="604838" y="6613684"/>
              <a:ext cx="149716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Kaleido AI 智能衣柜 · 技术架构详解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14 / 39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109952" cy="738854"/>
            <a:chOff x="595122" y="501491"/>
            <a:chExt cx="5109952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8734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04 · 基础设施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10995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Nacos：服务注册 + 配置中心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952500" y="2190750"/>
            <a:ext cx="10287000" cy="2555557"/>
            <a:chOff x="952500" y="2190750"/>
            <a:chExt cx="10287000" cy="2555557"/>
          </a:xfrm>
        </p:grpSpPr>
        <p:sp>
          <p:nvSpPr>
            <p:cNvPr id="6" name="Rectangle 6"/>
            <p:cNvSpPr/>
            <p:nvPr/>
          </p:nvSpPr>
          <p:spPr>
            <a:xfrm>
              <a:off x="4095750" y="2190750"/>
              <a:ext cx="4000500" cy="142875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4095750" y="2190750"/>
              <a:ext cx="4000500" cy="1428750"/>
            </a:xfrm>
            <a:prstGeom prst="roundRect">
              <a:avLst>
                <a:gd name="adj" fmla="val 2000"/>
              </a:avLst>
            </a:prstGeom>
            <a:noFill/>
            <a:ln w="15240">
              <a:solidFill>
                <a:srgbClr val="1A1A1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330939" y="2338864"/>
              <a:ext cx="15301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Nacos Server 2.3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300538" y="2684145"/>
              <a:ext cx="13422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服务注册表（实例列表）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300538" y="2893695"/>
              <a:ext cx="220248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配置存储（kaleido/dubbo namespace）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300538" y="3103245"/>
              <a:ext cx="16027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配置变更推送 · 心跳健康检查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952500" y="2286000"/>
              <a:ext cx="2190750" cy="857250"/>
            </a:xfrm>
            <a:prstGeom prst="roundRect">
              <a:avLst>
                <a:gd name="adj" fmla="val 3333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952500" y="2286000"/>
              <a:ext cx="219075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567622" y="2439352"/>
              <a:ext cx="9605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Provider 服务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00138" y="2707243"/>
              <a:ext cx="819937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启动时注册实例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00138" y="2916793"/>
              <a:ext cx="1335019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暴露 Dubbo/HTTP 元数据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9048750" y="2286000"/>
              <a:ext cx="2190750" cy="857250"/>
            </a:xfrm>
            <a:prstGeom prst="roundRect">
              <a:avLst>
                <a:gd name="adj" fmla="val 3333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9048750" y="2286000"/>
              <a:ext cx="219075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630242" y="2439352"/>
              <a:ext cx="10277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Consumer 服务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196388" y="2707243"/>
              <a:ext cx="704164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订阅服务列表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196388" y="2916793"/>
              <a:ext cx="588391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配置热更新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3143250" y="2627948"/>
              <a:ext cx="866775" cy="86678"/>
            </a:xfrm>
            <a:custGeom>
              <a:avLst/>
              <a:gdLst/>
              <a:ahLst/>
              <a:cxnLst/>
              <a:rect l="l" t="t" r="r" b="b"/>
              <a:pathLst>
                <a:path w="866775" h="86678">
                  <a:moveTo>
                    <a:pt x="0" y="86678"/>
                  </a:moveTo>
                  <a:lnTo>
                    <a:pt x="866775" y="0"/>
                  </a:lnTo>
                </a:path>
              </a:pathLst>
            </a:custGeom>
            <a:noFill/>
            <a:ln w="17145">
              <a:solidFill>
                <a:srgbClr val="E30613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4013835" y="2595562"/>
              <a:ext cx="81915" cy="63817"/>
            </a:xfrm>
            <a:custGeom>
              <a:avLst/>
              <a:gdLst/>
              <a:ahLst/>
              <a:cxnLst/>
              <a:rect l="l" t="t" r="r" b="b"/>
              <a:pathLst>
                <a:path w="81915" h="63817">
                  <a:moveTo>
                    <a:pt x="81915" y="23812"/>
                  </a:moveTo>
                  <a:lnTo>
                    <a:pt x="5715" y="638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24" name="Line 24"/>
            <p:cNvSpPr/>
            <p:nvPr/>
          </p:nvSpPr>
          <p:spPr>
            <a:xfrm>
              <a:off x="8096250" y="2619375"/>
              <a:ext cx="866775" cy="86678"/>
            </a:xfrm>
            <a:custGeom>
              <a:avLst/>
              <a:gdLst/>
              <a:ahLst/>
              <a:cxnLst/>
              <a:rect l="l" t="t" r="r" b="b"/>
              <a:pathLst>
                <a:path w="866775" h="86678">
                  <a:moveTo>
                    <a:pt x="0" y="0"/>
                  </a:moveTo>
                  <a:lnTo>
                    <a:pt x="866775" y="86678"/>
                  </a:lnTo>
                </a:path>
              </a:pathLst>
            </a:custGeom>
            <a:noFill/>
            <a:ln w="17145">
              <a:solidFill>
                <a:srgbClr val="E30613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8966835" y="2674620"/>
              <a:ext cx="81915" cy="63817"/>
            </a:xfrm>
            <a:custGeom>
              <a:avLst/>
              <a:gdLst/>
              <a:ahLst/>
              <a:cxnLst/>
              <a:rect l="l" t="t" r="r" b="b"/>
              <a:pathLst>
                <a:path w="81915" h="63817">
                  <a:moveTo>
                    <a:pt x="81915" y="40005"/>
                  </a:moveTo>
                  <a:lnTo>
                    <a:pt x="0" y="63817"/>
                  </a:lnTo>
                  <a:lnTo>
                    <a:pt x="5715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26" name="Line 26"/>
            <p:cNvSpPr/>
            <p:nvPr/>
          </p:nvSpPr>
          <p:spPr>
            <a:xfrm>
              <a:off x="3143250" y="2809875"/>
              <a:ext cx="952500" cy="95250"/>
            </a:xfrm>
            <a:custGeom>
              <a:avLst/>
              <a:gdLst/>
              <a:ahLst/>
              <a:cxnLst/>
              <a:rect l="l" t="t" r="r" b="b"/>
              <a:pathLst>
                <a:path w="952500" h="95250">
                  <a:moveTo>
                    <a:pt x="0" y="95250"/>
                  </a:moveTo>
                  <a:lnTo>
                    <a:pt x="952500" y="0"/>
                  </a:lnTo>
                </a:path>
              </a:pathLst>
            </a:custGeom>
            <a:noFill/>
            <a:ln w="9525">
              <a:solidFill>
                <a:srgbClr val="999999"/>
              </a:solidFill>
              <a:custDash>
                <a:ds d="400000" sp="300000"/>
              </a:custDash>
            </a:ln>
          </p:spPr>
        </p:sp>
        <p:sp>
          <p:nvSpPr>
            <p:cNvPr id="27" name="Line 27"/>
            <p:cNvSpPr/>
            <p:nvPr/>
          </p:nvSpPr>
          <p:spPr>
            <a:xfrm>
              <a:off x="8096250" y="2809875"/>
              <a:ext cx="952500" cy="95250"/>
            </a:xfrm>
            <a:custGeom>
              <a:avLst/>
              <a:gdLst/>
              <a:ahLst/>
              <a:cxnLst/>
              <a:rect l="l" t="t" r="r" b="b"/>
              <a:pathLst>
                <a:path w="952500" h="95250">
                  <a:moveTo>
                    <a:pt x="0" y="0"/>
                  </a:moveTo>
                  <a:lnTo>
                    <a:pt x="952500" y="95250"/>
                  </a:lnTo>
                </a:path>
              </a:pathLst>
            </a:custGeom>
            <a:noFill/>
            <a:ln w="9525">
              <a:solidFill>
                <a:srgbClr val="999999"/>
              </a:solidFill>
              <a:custDash>
                <a:ds d="400000" sp="300000"/>
              </a:custDash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822437" y="3267789"/>
              <a:ext cx="450877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9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register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698011" y="3267789"/>
              <a:ext cx="892228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9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subscribe/config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952500" y="402907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81088" y="3998595"/>
              <a:ext cx="100681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接入：bootstrap.yml 以 classpath:nacos.yml 引入（server-addr=${NACOS_HOST}:${NACOS_PORT}、双 namespace）——kaleido-nacos/src/main/resources/nacos.yml:4-13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952500" y="431482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81088" y="4284345"/>
              <a:ext cx="614578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配置：每服务 xxx-dev.yml 独立 dataId（doc/nacos/）；网关 9 条路由、Sentinel 规则 JSON 均经 Nacos 下发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952500" y="460057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81088" y="4570095"/>
              <a:ext cx="536325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RPC 分组：Dubbo 独立 namespace=dubbo、group=dubbo —— doc/nacos/kaleido-rpc.yml:16-22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7" name="TextBox 37"/>
            <p:cNvSpPr txBox="1"/>
            <p:nvPr/>
          </p:nvSpPr>
          <p:spPr>
            <a:xfrm>
              <a:off x="604838" y="6613684"/>
              <a:ext cx="149716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Kaleido AI 智能衣柜 · 技术架构详解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15 / 39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10325782" cy="738854"/>
            <a:chOff x="595122" y="501491"/>
            <a:chExt cx="10325782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8734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04 · 基础设施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1032578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Spring Cloud Gateway + Sa-Token：一次请求的鉴权路径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67" name="Group 67"/>
          <p:cNvGrpSpPr/>
          <p:nvPr/>
        </p:nvGrpSpPr>
        <p:grpSpPr>
          <a:xfrm>
            <a:off x="952500" y="1905000"/>
            <a:ext cx="10287000" cy="3295412"/>
            <a:chOff x="952500" y="1905000"/>
            <a:chExt cx="10287000" cy="3295412"/>
          </a:xfrm>
        </p:grpSpPr>
        <p:sp>
          <p:nvSpPr>
            <p:cNvPr id="6" name="Rectangle 6"/>
            <p:cNvSpPr/>
            <p:nvPr/>
          </p:nvSpPr>
          <p:spPr>
            <a:xfrm>
              <a:off x="952500" y="1905000"/>
              <a:ext cx="2286000" cy="1238250"/>
            </a:xfrm>
            <a:prstGeom prst="roundRect">
              <a:avLst>
                <a:gd name="adj" fmla="val 2308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952500" y="1905000"/>
              <a:ext cx="22860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36788" y="205835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客户端请求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00138" y="2326243"/>
              <a:ext cx="773628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管理端 token: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00138" y="2516743"/>
              <a:ext cx="1155680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6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kaleido-admin-token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00138" y="2726293"/>
              <a:ext cx="773628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用户端 token: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00138" y="2916793"/>
              <a:ext cx="1097793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6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kaleido-user-token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429000" y="1905000"/>
              <a:ext cx="2286000" cy="1238250"/>
            </a:xfrm>
            <a:prstGeom prst="roundRect">
              <a:avLst>
                <a:gd name="adj" fmla="val 2308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985033" y="2058352"/>
              <a:ext cx="1173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SaReactorFilter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595688" y="2326243"/>
              <a:ext cx="1039917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60" dirty="0">
                  <a:solidFill>
                    <a:srgbClr val="CCCCCC"/>
                  </a:solidFill>
                  <a:latin typeface="Arial"/>
                  <a:ea typeface="Arial"/>
                  <a:cs typeface="Arial"/>
                </a:rPr>
                <a:t>addInclude('/**')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595688" y="2535793"/>
              <a:ext cx="1682448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放行 /kaleido-admin/public/**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595688" y="2745343"/>
              <a:ext cx="1059909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setAuth → 策略工厂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905500" y="1905000"/>
              <a:ext cx="2667000" cy="1238250"/>
            </a:xfrm>
            <a:prstGeom prst="roundRect">
              <a:avLst>
                <a:gd name="adj" fmla="val 2308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905500" y="1905000"/>
              <a:ext cx="26670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32542" y="2058352"/>
              <a:ext cx="18129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DynamicStrategyFactory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53138" y="2326243"/>
              <a:ext cx="1439090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AntPathMatcher 按序匹配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053138" y="2535793"/>
              <a:ext cx="1327019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路径→策略 Caffeine 缓存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053138" y="2745343"/>
              <a:ext cx="1375699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default: PUBLIC（放行）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763000" y="1905000"/>
              <a:ext cx="2476500" cy="1238250"/>
            </a:xfrm>
            <a:prstGeom prst="roundRect">
              <a:avLst>
                <a:gd name="adj" fmla="val 230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8763000" y="1905000"/>
              <a:ext cx="2476500" cy="1238250"/>
            </a:xfrm>
            <a:prstGeom prst="roundRect">
              <a:avLst>
                <a:gd name="adj" fmla="val 2308"/>
              </a:avLst>
            </a:prstGeom>
            <a:noFill/>
            <a:ln w="13335">
              <a:solidFill>
                <a:srgbClr val="1A1A1A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713214" y="20583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策略实现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934450" y="229552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063038" y="2273141"/>
              <a:ext cx="90263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PublicPath：放行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8934450" y="2476500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063038" y="2454116"/>
              <a:ext cx="129096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UserPath：checkLogin +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934450" y="265747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063038" y="2635091"/>
              <a:ext cx="133918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用户状态 ACTIVE/FROZEN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934450" y="2838450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063038" y="2816066"/>
              <a:ext cx="125135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AdminPath：checkLogin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3238500" y="2524125"/>
              <a:ext cx="104775" cy="9525"/>
            </a:xfrm>
            <a:custGeom>
              <a:avLst/>
              <a:gdLst/>
              <a:ahLst/>
              <a:cxnLst/>
              <a:rect l="l" t="t" r="r" b="b"/>
              <a:pathLst>
                <a:path w="104775" h="9525">
                  <a:moveTo>
                    <a:pt x="0" y="0"/>
                  </a:moveTo>
                  <a:lnTo>
                    <a:pt x="104775" y="0"/>
                  </a:lnTo>
                </a:path>
              </a:pathLst>
            </a:custGeom>
            <a:noFill/>
            <a:ln w="17145">
              <a:solidFill>
                <a:srgbClr val="E30613"/>
              </a:solidFill>
            </a:ln>
          </p:spPr>
        </p:sp>
        <p:sp>
          <p:nvSpPr>
            <p:cNvPr id="36" name="Polygon 36"/>
            <p:cNvSpPr/>
            <p:nvPr/>
          </p:nvSpPr>
          <p:spPr>
            <a:xfrm>
              <a:off x="3349942" y="2491740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37" name="Line 37"/>
            <p:cNvSpPr/>
            <p:nvPr/>
          </p:nvSpPr>
          <p:spPr>
            <a:xfrm>
              <a:off x="5715000" y="2524125"/>
              <a:ext cx="104775" cy="9525"/>
            </a:xfrm>
            <a:custGeom>
              <a:avLst/>
              <a:gdLst/>
              <a:ahLst/>
              <a:cxnLst/>
              <a:rect l="l" t="t" r="r" b="b"/>
              <a:pathLst>
                <a:path w="104775" h="9525">
                  <a:moveTo>
                    <a:pt x="0" y="0"/>
                  </a:moveTo>
                  <a:lnTo>
                    <a:pt x="104775" y="0"/>
                  </a:lnTo>
                </a:path>
              </a:pathLst>
            </a:custGeom>
            <a:noFill/>
            <a:ln w="17145">
              <a:solidFill>
                <a:srgbClr val="E30613"/>
              </a:solidFill>
            </a:ln>
          </p:spPr>
        </p:sp>
        <p:sp>
          <p:nvSpPr>
            <p:cNvPr id="38" name="Polygon 38"/>
            <p:cNvSpPr/>
            <p:nvPr/>
          </p:nvSpPr>
          <p:spPr>
            <a:xfrm>
              <a:off x="5826442" y="2491740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39" name="Line 39"/>
            <p:cNvSpPr/>
            <p:nvPr/>
          </p:nvSpPr>
          <p:spPr>
            <a:xfrm>
              <a:off x="8572500" y="2524125"/>
              <a:ext cx="104775" cy="9525"/>
            </a:xfrm>
            <a:custGeom>
              <a:avLst/>
              <a:gdLst/>
              <a:ahLst/>
              <a:cxnLst/>
              <a:rect l="l" t="t" r="r" b="b"/>
              <a:pathLst>
                <a:path w="104775" h="9525">
                  <a:moveTo>
                    <a:pt x="0" y="0"/>
                  </a:moveTo>
                  <a:lnTo>
                    <a:pt x="104775" y="0"/>
                  </a:lnTo>
                </a:path>
              </a:pathLst>
            </a:custGeom>
            <a:noFill/>
            <a:ln w="17145">
              <a:solidFill>
                <a:srgbClr val="E30613"/>
              </a:solidFill>
            </a:ln>
          </p:spPr>
        </p:sp>
        <p:sp>
          <p:nvSpPr>
            <p:cNvPr id="40" name="Polygon 40"/>
            <p:cNvSpPr/>
            <p:nvPr/>
          </p:nvSpPr>
          <p:spPr>
            <a:xfrm>
              <a:off x="8683942" y="2491740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952500" y="3429000"/>
              <a:ext cx="10287000" cy="1428750"/>
            </a:xfrm>
            <a:prstGeom prst="roundRect">
              <a:avLst>
                <a:gd name="adj" fmla="val 2000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590948" y="3567351"/>
              <a:ext cx="5010104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1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网关路由（doc/nacos/kaleido-gateway-dev.yml:20-71）—— 9 条 lb:// 路由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143000" y="3867150"/>
              <a:ext cx="1809750" cy="28575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1143000" y="3867150"/>
              <a:ext cx="1809750" cy="285750"/>
            </a:xfrm>
            <a:prstGeom prst="roundRect">
              <a:avLst>
                <a:gd name="adj" fmla="val 10000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467141" y="3964543"/>
              <a:ext cx="1161468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kaleido-auth-server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3048000" y="3867150"/>
              <a:ext cx="1809750" cy="28575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3048000" y="3867150"/>
              <a:ext cx="1809750" cy="285750"/>
            </a:xfrm>
            <a:prstGeom prst="roundRect">
              <a:avLst>
                <a:gd name="adj" fmla="val 10000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595004" y="3964543"/>
              <a:ext cx="715742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kaleido-user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4953000" y="3867150"/>
              <a:ext cx="1809750" cy="28575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4953000" y="3867150"/>
              <a:ext cx="1809750" cy="285750"/>
            </a:xfrm>
            <a:prstGeom prst="roundRect">
              <a:avLst>
                <a:gd name="adj" fmla="val 10000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450801" y="3964543"/>
              <a:ext cx="814149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kaleido-notice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858000" y="3867150"/>
              <a:ext cx="1809750" cy="28575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858000" y="3867150"/>
              <a:ext cx="1809750" cy="285750"/>
            </a:xfrm>
            <a:prstGeom prst="roundRect">
              <a:avLst>
                <a:gd name="adj" fmla="val 10000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376061" y="3964543"/>
              <a:ext cx="773628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kaleido-admin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8763000" y="3867150"/>
              <a:ext cx="1809750" cy="28575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8763000" y="3867150"/>
              <a:ext cx="1809750" cy="285750"/>
            </a:xfrm>
            <a:prstGeom prst="roundRect">
              <a:avLst>
                <a:gd name="adj" fmla="val 10000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171076" y="3964543"/>
              <a:ext cx="993597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kaleido-wardrobe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1143000" y="3867150"/>
              <a:ext cx="1809750" cy="28575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1143000" y="3867150"/>
              <a:ext cx="1809750" cy="285750"/>
            </a:xfrm>
            <a:prstGeom prst="roundRect">
              <a:avLst>
                <a:gd name="adj" fmla="val 10000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721842" y="3964543"/>
              <a:ext cx="652066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kaleido-tag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38238" y="4220289"/>
              <a:ext cx="2720482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AI/interview/demo 不在网关路由表（独立上下文访问）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952500" y="460057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081088" y="4574143"/>
              <a:ext cx="9970320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校验实现：UserPathStrategy.checkAuth = checkLogin + checkPermissionOr(ACTIVE, FROZEN)（user/.../UserPathStrategy.java:25-32）；AdminPathStrategy = checkLogin（:2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81088" y="4802743"/>
              <a:ext cx="379999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4-29）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952500" y="505777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1081088" y="5031343"/>
              <a:ext cx="5141682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跨域：globalcors allowedOrigins/Methods/Headers='*'（kaleido-gateway-dev.yml:10-17）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68" name="TextBox 68"/>
            <p:cNvSpPr txBox="1"/>
            <p:nvPr/>
          </p:nvSpPr>
          <p:spPr>
            <a:xfrm>
              <a:off x="604838" y="6613684"/>
              <a:ext cx="149716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Kaleido AI 智能衣柜 · 技术架构详解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16 / 39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7663024" cy="738854"/>
            <a:chOff x="595122" y="501491"/>
            <a:chExt cx="7663024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8734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04 · 基础设施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76630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Dubbo RPC：契约库 + 注册发现 + 统一异常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952500" y="2000250"/>
            <a:ext cx="10287000" cy="3355657"/>
            <a:chOff x="952500" y="2000250"/>
            <a:chExt cx="10287000" cy="3355657"/>
          </a:xfrm>
        </p:grpSpPr>
        <p:sp>
          <p:nvSpPr>
            <p:cNvPr id="6" name="Rectangle 6"/>
            <p:cNvSpPr/>
            <p:nvPr/>
          </p:nvSpPr>
          <p:spPr>
            <a:xfrm>
              <a:off x="952500" y="2000250"/>
              <a:ext cx="2857500" cy="1428750"/>
            </a:xfrm>
            <a:prstGeom prst="roundRect">
              <a:avLst>
                <a:gd name="adj" fmla="val 2000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952500" y="2000250"/>
              <a:ext cx="28575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605085" y="2153602"/>
              <a:ext cx="15523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Consumer（业务服务）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38238" y="2455545"/>
              <a:ext cx="101716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@DubboReference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38238" y="2669143"/>
              <a:ext cx="935711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6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(version=1.0.0)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38238" y="2878693"/>
              <a:ext cx="1271453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调 kaleido-api 契约接口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667250" y="2000250"/>
              <a:ext cx="2857500" cy="142875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4667250" y="2000250"/>
              <a:ext cx="2857500" cy="1428750"/>
            </a:xfrm>
            <a:prstGeom prst="roundRect">
              <a:avLst>
                <a:gd name="adj" fmla="val 2000"/>
              </a:avLst>
            </a:prstGeom>
            <a:noFill/>
            <a:ln w="15240">
              <a:solidFill>
                <a:srgbClr val="1A1A1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473950" y="2156460"/>
              <a:ext cx="12441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Nacos Registry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872038" y="2497693"/>
              <a:ext cx="1821376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6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namespace=dubbo · group=dubbo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872038" y="2707243"/>
              <a:ext cx="767839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服务发现/路由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872038" y="2916793"/>
              <a:ext cx="2135229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6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provider.filter=dubboExceptionFilter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382000" y="2000250"/>
              <a:ext cx="2857500" cy="1428750"/>
            </a:xfrm>
            <a:prstGeom prst="roundRect">
              <a:avLst>
                <a:gd name="adj" fmla="val 2000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8382000" y="2000250"/>
              <a:ext cx="28575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068215" y="2153602"/>
              <a:ext cx="14850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Provider（服务实现）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567738" y="2455545"/>
              <a:ext cx="85340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@DubboService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567738" y="2669143"/>
              <a:ext cx="1340917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30+ 处（接口/实现注解）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567738" y="2886789"/>
              <a:ext cx="2297117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如 RpcUserServiceImpl / RpcClothingServiceI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567738" y="3039189"/>
              <a:ext cx="179685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9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mpl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3810000" y="2714625"/>
              <a:ext cx="771525" cy="9525"/>
            </a:xfrm>
            <a:custGeom>
              <a:avLst/>
              <a:gdLst/>
              <a:ahLst/>
              <a:cxnLst/>
              <a:rect l="l" t="t" r="r" b="b"/>
              <a:pathLst>
                <a:path w="771525" h="9525">
                  <a:moveTo>
                    <a:pt x="0" y="0"/>
                  </a:moveTo>
                  <a:lnTo>
                    <a:pt x="771525" y="0"/>
                  </a:lnTo>
                </a:path>
              </a:pathLst>
            </a:custGeom>
            <a:noFill/>
            <a:ln w="17145">
              <a:solidFill>
                <a:srgbClr val="E30613"/>
              </a:solidFill>
            </a:ln>
          </p:spPr>
        </p:sp>
        <p:sp>
          <p:nvSpPr>
            <p:cNvPr id="26" name="Polygon 26"/>
            <p:cNvSpPr/>
            <p:nvPr/>
          </p:nvSpPr>
          <p:spPr>
            <a:xfrm>
              <a:off x="4588192" y="2682240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27" name="Line 27"/>
            <p:cNvSpPr/>
            <p:nvPr/>
          </p:nvSpPr>
          <p:spPr>
            <a:xfrm>
              <a:off x="7524750" y="2714625"/>
              <a:ext cx="771525" cy="9525"/>
            </a:xfrm>
            <a:custGeom>
              <a:avLst/>
              <a:gdLst/>
              <a:ahLst/>
              <a:cxnLst/>
              <a:rect l="l" t="t" r="r" b="b"/>
              <a:pathLst>
                <a:path w="771525" h="9525">
                  <a:moveTo>
                    <a:pt x="0" y="0"/>
                  </a:moveTo>
                  <a:lnTo>
                    <a:pt x="771525" y="0"/>
                  </a:lnTo>
                </a:path>
              </a:pathLst>
            </a:custGeom>
            <a:noFill/>
            <a:ln w="17145">
              <a:solidFill>
                <a:srgbClr val="E30613"/>
              </a:solidFill>
            </a:ln>
          </p:spPr>
        </p:sp>
        <p:sp>
          <p:nvSpPr>
            <p:cNvPr id="28" name="Polygon 28"/>
            <p:cNvSpPr/>
            <p:nvPr/>
          </p:nvSpPr>
          <p:spPr>
            <a:xfrm>
              <a:off x="8302942" y="2682240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29" name="Line 29"/>
            <p:cNvSpPr/>
            <p:nvPr/>
          </p:nvSpPr>
          <p:spPr>
            <a:xfrm>
              <a:off x="3810000" y="3048000"/>
              <a:ext cx="2286000" cy="285750"/>
            </a:xfrm>
            <a:custGeom>
              <a:avLst/>
              <a:gdLst/>
              <a:ahLst/>
              <a:cxnLst/>
              <a:rect l="l" t="t" r="r" b="b"/>
              <a:pathLst>
                <a:path w="2286000" h="285750">
                  <a:moveTo>
                    <a:pt x="0" y="0"/>
                  </a:moveTo>
                  <a:lnTo>
                    <a:pt x="2286000" y="285750"/>
                  </a:lnTo>
                </a:path>
              </a:pathLst>
            </a:custGeom>
            <a:noFill/>
            <a:ln w="9525">
              <a:solidFill>
                <a:srgbClr val="999999"/>
              </a:solidFill>
              <a:custDash>
                <a:ds d="400000" sp="300000"/>
              </a:custDash>
            </a:ln>
          </p:spPr>
        </p:sp>
        <p:sp>
          <p:nvSpPr>
            <p:cNvPr id="30" name="Line 30"/>
            <p:cNvSpPr/>
            <p:nvPr/>
          </p:nvSpPr>
          <p:spPr>
            <a:xfrm>
              <a:off x="6096000" y="3048000"/>
              <a:ext cx="2286000" cy="285750"/>
            </a:xfrm>
            <a:custGeom>
              <a:avLst/>
              <a:gdLst/>
              <a:ahLst/>
              <a:cxnLst/>
              <a:rect l="l" t="t" r="r" b="b"/>
              <a:pathLst>
                <a:path w="2286000" h="285750">
                  <a:moveTo>
                    <a:pt x="2286000" y="0"/>
                  </a:moveTo>
                  <a:lnTo>
                    <a:pt x="0" y="285750"/>
                  </a:lnTo>
                </a:path>
              </a:pathLst>
            </a:custGeom>
            <a:noFill/>
            <a:ln w="9525">
              <a:solidFill>
                <a:srgbClr val="999999"/>
              </a:solidFill>
              <a:custDash>
                <a:ds d="400000" sp="300000"/>
              </a:custDash>
            </a:ln>
          </p:spPr>
        </p:sp>
        <p:sp>
          <p:nvSpPr>
            <p:cNvPr id="31" name="Rectangle 31"/>
            <p:cNvSpPr/>
            <p:nvPr/>
          </p:nvSpPr>
          <p:spPr>
            <a:xfrm>
              <a:off x="952500" y="3810000"/>
              <a:ext cx="10287000" cy="419100"/>
            </a:xfrm>
            <a:prstGeom prst="roundRect">
              <a:avLst>
                <a:gd name="adj" fmla="val 6818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2975643" y="3957876"/>
              <a:ext cx="6240713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1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契约优先：kaleido-api 契约库（128 个接口/DTO）独立于实现 —— 服务间只依赖契约，不依赖实现类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952500" y="441007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81088" y="4379595"/>
              <a:ext cx="982027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接口示例：IRpcNoticeService（@DubboService，api/notice/IRpcNoticeService.java:23）；实现示例：RpcUserServiceImpl.java:30、RpcCoinServiceImpl.java:28、RpcNoti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81088" y="4646295"/>
              <a:ext cx="13206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ceServiceImpl.java:35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952500" y="494347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81088" y="4912995"/>
              <a:ext cx="92255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异常契约：DubboExceptionFilter（provider，order=-10000）把服务端异常转统一 Result，避免跨服务序列化失败 —— rpc/filter/DubboExceptionFilter.java:22-24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952500" y="521017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81088" y="5179695"/>
              <a:ext cx="45895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配置：超时默认 20s（RpcConstants.java:24）；qos 端口 22230 起（nacos yml）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1" name="TextBox 41"/>
            <p:cNvSpPr txBox="1"/>
            <p:nvPr/>
          </p:nvSpPr>
          <p:spPr>
            <a:xfrm>
              <a:off x="604838" y="6613684"/>
              <a:ext cx="149716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Kaleido AI 智能衣柜 · 技术架构详解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17 / 39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8200924" cy="738854"/>
            <a:chOff x="595122" y="501491"/>
            <a:chExt cx="8200924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8734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04 · 基础设施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82009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RabbitMQ 事件总线：4 条 topic × 4 个消费者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75" name="Group 75"/>
          <p:cNvGrpSpPr/>
          <p:nvPr/>
        </p:nvGrpSpPr>
        <p:grpSpPr>
          <a:xfrm>
            <a:off x="947738" y="1866900"/>
            <a:ext cx="10291762" cy="3368516"/>
            <a:chOff x="947738" y="1866900"/>
            <a:chExt cx="10291762" cy="3368516"/>
          </a:xfrm>
        </p:grpSpPr>
        <p:sp>
          <p:nvSpPr>
            <p:cNvPr id="6" name="Rectangle 6"/>
            <p:cNvSpPr/>
            <p:nvPr/>
          </p:nvSpPr>
          <p:spPr>
            <a:xfrm>
              <a:off x="952500" y="1866900"/>
              <a:ext cx="10287000" cy="342900"/>
            </a:xfrm>
            <a:prstGeom prst="roundRect">
              <a:avLst>
                <a:gd name="adj" fmla="val 8333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4971855" y="1976676"/>
              <a:ext cx="2248291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1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事件信封与发送抽象（kaleido-mq）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00138" y="2307193"/>
              <a:ext cx="7490383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EventPublisher.publish(topic, event)：rabbitTemplate.convertAndSend —— 默认交换机、routingKey=topic（EventPublisher.java:25）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00138" y="2535793"/>
              <a:ext cx="8415833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BaseEvent&lt; T &gt;：topic() 抽象 + EventMessage{id, timestamp, data} 信封（BaseEvent.java:18-32）｜ 业务事件继承它（如 ClothingEvent.java:25-27）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52500" y="2914650"/>
              <a:ext cx="3619500" cy="323850"/>
            </a:xfrm>
            <a:prstGeom prst="roundRect">
              <a:avLst>
                <a:gd name="adj" fmla="val 8824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952500" y="2914650"/>
              <a:ext cx="3619500" cy="323850"/>
            </a:xfrm>
            <a:prstGeom prst="roundRect">
              <a:avLst>
                <a:gd name="adj" fmla="val 8824"/>
              </a:avLst>
            </a:prstGeom>
            <a:noFill/>
            <a:ln w="9525">
              <a:solidFill>
                <a:srgbClr val="E30613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952500" y="2914650"/>
              <a:ext cx="36195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295573" y="3027045"/>
              <a:ext cx="93335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topic（发布方）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762500" y="2914650"/>
              <a:ext cx="2476500" cy="323850"/>
            </a:xfrm>
            <a:prstGeom prst="roundRect">
              <a:avLst>
                <a:gd name="adj" fmla="val 8824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4762500" y="2914650"/>
              <a:ext cx="2476500" cy="323850"/>
            </a:xfrm>
            <a:prstGeom prst="roundRect">
              <a:avLst>
                <a:gd name="adj" fmla="val 8824"/>
              </a:avLst>
            </a:prstGeom>
            <a:noFill/>
            <a:ln w="9525">
              <a:solidFill>
                <a:srgbClr val="E30613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762500" y="2914650"/>
              <a:ext cx="24765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693092" y="3027045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消费方服务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429500" y="2914650"/>
              <a:ext cx="3810000" cy="323850"/>
            </a:xfrm>
            <a:prstGeom prst="roundRect">
              <a:avLst>
                <a:gd name="adj" fmla="val 8824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429500" y="2914650"/>
              <a:ext cx="3810000" cy="323850"/>
            </a:xfrm>
            <a:prstGeom prst="roundRect">
              <a:avLst>
                <a:gd name="adj" fmla="val 8824"/>
              </a:avLst>
            </a:prstGeom>
            <a:noFill/>
            <a:ln w="9525">
              <a:solidFill>
                <a:srgbClr val="E30613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7429500" y="2914650"/>
              <a:ext cx="38100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87422" y="30270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业务动作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952500" y="3314700"/>
              <a:ext cx="3619500" cy="381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952500" y="3314700"/>
              <a:ext cx="3619500" cy="381000"/>
            </a:xfrm>
            <a:prstGeom prst="roundRect">
              <a:avLst>
                <a:gd name="adj" fmla="val 7500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355556" y="3451622"/>
              <a:ext cx="813388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auth-change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762500" y="3314700"/>
              <a:ext cx="2476500" cy="381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762500" y="3314700"/>
              <a:ext cx="2476500" cy="381000"/>
            </a:xfrm>
            <a:prstGeom prst="roundRect">
              <a:avLst>
                <a:gd name="adj" fmla="val 7500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596166" y="3455670"/>
              <a:ext cx="80916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kaleido-admin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429500" y="3314700"/>
              <a:ext cx="3810000" cy="381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429500" y="3314700"/>
              <a:ext cx="3810000" cy="381000"/>
            </a:xfrm>
            <a:prstGeom prst="roundRect">
              <a:avLst>
                <a:gd name="adj" fmla="val 7500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577138" y="3459718"/>
              <a:ext cx="2107259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AuthChangeCustomer 清角色/权限缓存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4572000" y="3505200"/>
              <a:ext cx="104775" cy="9525"/>
            </a:xfrm>
            <a:custGeom>
              <a:avLst/>
              <a:gdLst/>
              <a:ahLst/>
              <a:cxnLst/>
              <a:rect l="l" t="t" r="r" b="b"/>
              <a:pathLst>
                <a:path w="104775" h="9525">
                  <a:moveTo>
                    <a:pt x="0" y="0"/>
                  </a:moveTo>
                  <a:lnTo>
                    <a:pt x="104775" y="0"/>
                  </a:lnTo>
                </a:path>
              </a:pathLst>
            </a:custGeom>
            <a:noFill/>
            <a:ln w="15240">
              <a:solidFill>
                <a:srgbClr val="E30613"/>
              </a:solidFill>
            </a:ln>
          </p:spPr>
        </p:sp>
        <p:sp>
          <p:nvSpPr>
            <p:cNvPr id="32" name="Polygon 32"/>
            <p:cNvSpPr/>
            <p:nvPr/>
          </p:nvSpPr>
          <p:spPr>
            <a:xfrm>
              <a:off x="4683442" y="3472815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33" name="Line 33"/>
            <p:cNvSpPr/>
            <p:nvPr/>
          </p:nvSpPr>
          <p:spPr>
            <a:xfrm>
              <a:off x="7239000" y="3505200"/>
              <a:ext cx="104775" cy="9525"/>
            </a:xfrm>
            <a:custGeom>
              <a:avLst/>
              <a:gdLst/>
              <a:ahLst/>
              <a:cxnLst/>
              <a:rect l="l" t="t" r="r" b="b"/>
              <a:pathLst>
                <a:path w="104775" h="9525">
                  <a:moveTo>
                    <a:pt x="0" y="0"/>
                  </a:moveTo>
                  <a:lnTo>
                    <a:pt x="104775" y="0"/>
                  </a:lnTo>
                </a:path>
              </a:pathLst>
            </a:custGeom>
            <a:noFill/>
            <a:ln w="13335">
              <a:solidFill>
                <a:srgbClr val="1A1A1A"/>
              </a:solidFill>
            </a:ln>
          </p:spPr>
        </p:sp>
        <p:sp>
          <p:nvSpPr>
            <p:cNvPr id="34" name="Polygon 34"/>
            <p:cNvSpPr/>
            <p:nvPr/>
          </p:nvSpPr>
          <p:spPr>
            <a:xfrm>
              <a:off x="7350442" y="347281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952500" y="3752850"/>
              <a:ext cx="3619500" cy="381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952500" y="3752850"/>
              <a:ext cx="3619500" cy="381000"/>
            </a:xfrm>
            <a:prstGeom prst="roundRect">
              <a:avLst>
                <a:gd name="adj" fmla="val 7500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2226008" y="3889772"/>
              <a:ext cx="107248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user-registered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4762500" y="3752850"/>
              <a:ext cx="2476500" cy="381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4762500" y="3752850"/>
              <a:ext cx="2476500" cy="381000"/>
            </a:xfrm>
            <a:prstGeom prst="roundRect">
              <a:avLst>
                <a:gd name="adj" fmla="val 7500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626456" y="3893820"/>
              <a:ext cx="7485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kaleido-user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7429500" y="3752850"/>
              <a:ext cx="3810000" cy="381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7429500" y="3752850"/>
              <a:ext cx="3810000" cy="381000"/>
            </a:xfrm>
            <a:prstGeom prst="roundRect">
              <a:avLst>
                <a:gd name="adj" fmla="val 7500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577138" y="3897868"/>
              <a:ext cx="2742209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UserRegisteredCoinListener 初始化账户+邀请奖励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4572000" y="3943350"/>
              <a:ext cx="104775" cy="9525"/>
            </a:xfrm>
            <a:custGeom>
              <a:avLst/>
              <a:gdLst/>
              <a:ahLst/>
              <a:cxnLst/>
              <a:rect l="l" t="t" r="r" b="b"/>
              <a:pathLst>
                <a:path w="104775" h="9525">
                  <a:moveTo>
                    <a:pt x="0" y="0"/>
                  </a:moveTo>
                  <a:lnTo>
                    <a:pt x="104775" y="0"/>
                  </a:lnTo>
                </a:path>
              </a:pathLst>
            </a:custGeom>
            <a:noFill/>
            <a:ln w="15240">
              <a:solidFill>
                <a:srgbClr val="E30613"/>
              </a:solidFill>
            </a:ln>
          </p:spPr>
        </p:sp>
        <p:sp>
          <p:nvSpPr>
            <p:cNvPr id="45" name="Polygon 45"/>
            <p:cNvSpPr/>
            <p:nvPr/>
          </p:nvSpPr>
          <p:spPr>
            <a:xfrm>
              <a:off x="4683442" y="3910965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46" name="Line 46"/>
            <p:cNvSpPr/>
            <p:nvPr/>
          </p:nvSpPr>
          <p:spPr>
            <a:xfrm>
              <a:off x="7239000" y="3943350"/>
              <a:ext cx="104775" cy="9525"/>
            </a:xfrm>
            <a:custGeom>
              <a:avLst/>
              <a:gdLst/>
              <a:ahLst/>
              <a:cxnLst/>
              <a:rect l="l" t="t" r="r" b="b"/>
              <a:pathLst>
                <a:path w="104775" h="9525">
                  <a:moveTo>
                    <a:pt x="0" y="0"/>
                  </a:moveTo>
                  <a:lnTo>
                    <a:pt x="104775" y="0"/>
                  </a:lnTo>
                </a:path>
              </a:pathLst>
            </a:custGeom>
            <a:noFill/>
            <a:ln w="13335">
              <a:solidFill>
                <a:srgbClr val="1A1A1A"/>
              </a:solidFill>
            </a:ln>
          </p:spPr>
        </p:sp>
        <p:sp>
          <p:nvSpPr>
            <p:cNvPr id="47" name="Polygon 47"/>
            <p:cNvSpPr/>
            <p:nvPr/>
          </p:nvSpPr>
          <p:spPr>
            <a:xfrm>
              <a:off x="7350442" y="391096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952500" y="4191000"/>
              <a:ext cx="3619500" cy="381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952500" y="4191000"/>
              <a:ext cx="3619500" cy="381000"/>
            </a:xfrm>
            <a:prstGeom prst="roundRect">
              <a:avLst>
                <a:gd name="adj" fmla="val 7500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2279156" y="4327922"/>
              <a:ext cx="966189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clothing-event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4762500" y="4191000"/>
              <a:ext cx="2476500" cy="381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4762500" y="4191000"/>
              <a:ext cx="2476500" cy="381000"/>
            </a:xfrm>
            <a:prstGeom prst="roundRect">
              <a:avLst>
                <a:gd name="adj" fmla="val 7500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481066" y="4331970"/>
              <a:ext cx="103936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kaleido-wardrobe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7429500" y="4191000"/>
              <a:ext cx="3810000" cy="381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7429500" y="4191000"/>
              <a:ext cx="3810000" cy="381000"/>
            </a:xfrm>
            <a:prstGeom prst="roundRect">
              <a:avLst>
                <a:gd name="adj" fmla="val 7500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577138" y="4336018"/>
              <a:ext cx="2355383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ClothingEventListener 服装向量库增量同步</a:t>
              </a:r>
            </a:p>
          </p:txBody>
        </p:sp>
        <p:sp>
          <p:nvSpPr>
            <p:cNvPr id="57" name="Line 57"/>
            <p:cNvSpPr/>
            <p:nvPr/>
          </p:nvSpPr>
          <p:spPr>
            <a:xfrm>
              <a:off x="4572000" y="4381500"/>
              <a:ext cx="104775" cy="9525"/>
            </a:xfrm>
            <a:custGeom>
              <a:avLst/>
              <a:gdLst/>
              <a:ahLst/>
              <a:cxnLst/>
              <a:rect l="l" t="t" r="r" b="b"/>
              <a:pathLst>
                <a:path w="104775" h="9525">
                  <a:moveTo>
                    <a:pt x="0" y="0"/>
                  </a:moveTo>
                  <a:lnTo>
                    <a:pt x="104775" y="0"/>
                  </a:lnTo>
                </a:path>
              </a:pathLst>
            </a:custGeom>
            <a:noFill/>
            <a:ln w="15240">
              <a:solidFill>
                <a:srgbClr val="E30613"/>
              </a:solidFill>
            </a:ln>
          </p:spPr>
        </p:sp>
        <p:sp>
          <p:nvSpPr>
            <p:cNvPr id="58" name="Polygon 58"/>
            <p:cNvSpPr/>
            <p:nvPr/>
          </p:nvSpPr>
          <p:spPr>
            <a:xfrm>
              <a:off x="4683442" y="4349115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59" name="Line 59"/>
            <p:cNvSpPr/>
            <p:nvPr/>
          </p:nvSpPr>
          <p:spPr>
            <a:xfrm>
              <a:off x="7239000" y="4381500"/>
              <a:ext cx="104775" cy="9525"/>
            </a:xfrm>
            <a:custGeom>
              <a:avLst/>
              <a:gdLst/>
              <a:ahLst/>
              <a:cxnLst/>
              <a:rect l="l" t="t" r="r" b="b"/>
              <a:pathLst>
                <a:path w="104775" h="9525">
                  <a:moveTo>
                    <a:pt x="0" y="0"/>
                  </a:moveTo>
                  <a:lnTo>
                    <a:pt x="104775" y="0"/>
                  </a:lnTo>
                </a:path>
              </a:pathLst>
            </a:custGeom>
            <a:noFill/>
            <a:ln w="13335">
              <a:solidFill>
                <a:srgbClr val="1A1A1A"/>
              </a:solidFill>
            </a:ln>
          </p:spPr>
        </p:sp>
        <p:sp>
          <p:nvSpPr>
            <p:cNvPr id="60" name="Polygon 60"/>
            <p:cNvSpPr/>
            <p:nvPr/>
          </p:nvSpPr>
          <p:spPr>
            <a:xfrm>
              <a:off x="7350442" y="434911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952500" y="4629150"/>
              <a:ext cx="3619500" cy="381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952500" y="4629150"/>
              <a:ext cx="3619500" cy="381000"/>
            </a:xfrm>
            <a:prstGeom prst="roundRect">
              <a:avLst>
                <a:gd name="adj" fmla="val 7500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800824" y="4766072"/>
              <a:ext cx="1922852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outfit-recommend-completed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4762500" y="4629150"/>
              <a:ext cx="2476500" cy="381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4762500" y="4629150"/>
              <a:ext cx="2476500" cy="381000"/>
            </a:xfrm>
            <a:prstGeom prst="roundRect">
              <a:avLst>
                <a:gd name="adj" fmla="val 7500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708237" y="4770120"/>
              <a:ext cx="58502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kaleido-ai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7429500" y="4629150"/>
              <a:ext cx="3810000" cy="381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7429500" y="4629150"/>
              <a:ext cx="3810000" cy="381000"/>
            </a:xfrm>
            <a:prstGeom prst="roundRect">
              <a:avLst>
                <a:gd name="adj" fmla="val 7500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577138" y="4774168"/>
              <a:ext cx="1595618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推荐完成回执 → 创建穿搭/终态</a:t>
              </a:r>
            </a:p>
          </p:txBody>
        </p:sp>
        <p:sp>
          <p:nvSpPr>
            <p:cNvPr id="70" name="Line 70"/>
            <p:cNvSpPr/>
            <p:nvPr/>
          </p:nvSpPr>
          <p:spPr>
            <a:xfrm>
              <a:off x="4572000" y="4819650"/>
              <a:ext cx="104775" cy="9525"/>
            </a:xfrm>
            <a:custGeom>
              <a:avLst/>
              <a:gdLst/>
              <a:ahLst/>
              <a:cxnLst/>
              <a:rect l="l" t="t" r="r" b="b"/>
              <a:pathLst>
                <a:path w="104775" h="9525">
                  <a:moveTo>
                    <a:pt x="0" y="0"/>
                  </a:moveTo>
                  <a:lnTo>
                    <a:pt x="104775" y="0"/>
                  </a:lnTo>
                </a:path>
              </a:pathLst>
            </a:custGeom>
            <a:noFill/>
            <a:ln w="15240">
              <a:solidFill>
                <a:srgbClr val="E30613"/>
              </a:solidFill>
            </a:ln>
          </p:spPr>
        </p:sp>
        <p:sp>
          <p:nvSpPr>
            <p:cNvPr id="71" name="Polygon 71"/>
            <p:cNvSpPr/>
            <p:nvPr/>
          </p:nvSpPr>
          <p:spPr>
            <a:xfrm>
              <a:off x="4683442" y="4787265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72" name="Line 72"/>
            <p:cNvSpPr/>
            <p:nvPr/>
          </p:nvSpPr>
          <p:spPr>
            <a:xfrm>
              <a:off x="7239000" y="4819650"/>
              <a:ext cx="104775" cy="9525"/>
            </a:xfrm>
            <a:custGeom>
              <a:avLst/>
              <a:gdLst/>
              <a:ahLst/>
              <a:cxnLst/>
              <a:rect l="l" t="t" r="r" b="b"/>
              <a:pathLst>
                <a:path w="104775" h="9525">
                  <a:moveTo>
                    <a:pt x="0" y="0"/>
                  </a:moveTo>
                  <a:lnTo>
                    <a:pt x="104775" y="0"/>
                  </a:lnTo>
                </a:path>
              </a:pathLst>
            </a:custGeom>
            <a:noFill/>
            <a:ln w="13335">
              <a:solidFill>
                <a:srgbClr val="1A1A1A"/>
              </a:solidFill>
            </a:ln>
          </p:spPr>
        </p:sp>
        <p:sp>
          <p:nvSpPr>
            <p:cNvPr id="73" name="Polygon 73"/>
            <p:cNvSpPr/>
            <p:nvPr/>
          </p:nvSpPr>
          <p:spPr>
            <a:xfrm>
              <a:off x="7350442" y="478726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947738" y="5073491"/>
              <a:ext cx="518902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topic→队列名映射在 Nacos：doc/nacos/kaleido-mq.yml:11-15；消息可靠性/重试见稳定性专题 P28。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76" name="TextBox 76"/>
            <p:cNvSpPr txBox="1"/>
            <p:nvPr/>
          </p:nvSpPr>
          <p:spPr>
            <a:xfrm>
              <a:off x="604838" y="6613684"/>
              <a:ext cx="149716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Kaleido AI 智能衣柜 · 技术架构详解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18 / 39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8993310" cy="738854"/>
            <a:chOff x="595122" y="501491"/>
            <a:chExt cx="8993310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8734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04 · 基础设施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899331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多级缓存：Caffeine(L1) + Redis(L2) + 延迟删除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947738" y="1905000"/>
            <a:ext cx="10291762" cy="2933462"/>
            <a:chOff x="947738" y="1905000"/>
            <a:chExt cx="10291762" cy="2933462"/>
          </a:xfrm>
        </p:grpSpPr>
        <p:sp>
          <p:nvSpPr>
            <p:cNvPr id="6" name="Rectangle 6"/>
            <p:cNvSpPr/>
            <p:nvPr/>
          </p:nvSpPr>
          <p:spPr>
            <a:xfrm>
              <a:off x="952500" y="1905000"/>
              <a:ext cx="2286000" cy="419100"/>
            </a:xfrm>
            <a:prstGeom prst="roundRect">
              <a:avLst>
                <a:gd name="adj" fmla="val 6818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952500" y="1905000"/>
              <a:ext cx="22860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26692" y="20569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业务查询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952500" y="2571750"/>
              <a:ext cx="2286000" cy="419100"/>
            </a:xfrm>
            <a:prstGeom prst="roundRect">
              <a:avLst>
                <a:gd name="adj" fmla="val 6818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952500" y="2571750"/>
              <a:ext cx="22860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413094" y="2723674"/>
              <a:ext cx="13648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L1 Caffeine 本地缓存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952500" y="3238500"/>
              <a:ext cx="2286000" cy="419100"/>
            </a:xfrm>
            <a:prstGeom prst="roundRect">
              <a:avLst>
                <a:gd name="adj" fmla="val 6818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952500" y="3238500"/>
              <a:ext cx="22860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372314" y="3390424"/>
              <a:ext cx="14463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L2 Redis（JetCache）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952500" y="3905250"/>
              <a:ext cx="2286000" cy="419100"/>
            </a:xfrm>
            <a:prstGeom prst="roundRect">
              <a:avLst>
                <a:gd name="adj" fmla="val 681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952500" y="3905250"/>
              <a:ext cx="2286000" cy="419100"/>
            </a:xfrm>
            <a:prstGeom prst="roundRect">
              <a:avLst>
                <a:gd name="adj" fmla="val 6818"/>
              </a:avLst>
            </a:prstGeom>
            <a:noFill/>
            <a:ln w="13335">
              <a:solidFill>
                <a:srgbClr val="1A1A1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493113" y="4057174"/>
              <a:ext cx="12047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MySQL / MongoDB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3238500" y="2114550"/>
              <a:ext cx="9525" cy="371475"/>
            </a:xfrm>
            <a:custGeom>
              <a:avLst/>
              <a:gdLst/>
              <a:ahLst/>
              <a:cxnLst/>
              <a:rect l="l" t="t" r="r" b="b"/>
              <a:pathLst>
                <a:path w="9525" h="371475">
                  <a:moveTo>
                    <a:pt x="0" y="0"/>
                  </a:moveTo>
                  <a:lnTo>
                    <a:pt x="0" y="371475"/>
                  </a:lnTo>
                </a:path>
              </a:pathLst>
            </a:custGeom>
            <a:noFill/>
            <a:ln w="15240">
              <a:solidFill>
                <a:srgbClr val="1A1A1A"/>
              </a:solidFill>
            </a:ln>
          </p:spPr>
        </p:sp>
        <p:sp>
          <p:nvSpPr>
            <p:cNvPr id="19" name="Polygon 19"/>
            <p:cNvSpPr/>
            <p:nvPr/>
          </p:nvSpPr>
          <p:spPr>
            <a:xfrm>
              <a:off x="3206115" y="2492692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79058"/>
                  </a:moveTo>
                  <a:lnTo>
                    <a:pt x="0" y="0"/>
                  </a:lnTo>
                  <a:lnTo>
                    <a:pt x="6477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0" name="Line 20"/>
            <p:cNvSpPr/>
            <p:nvPr/>
          </p:nvSpPr>
          <p:spPr>
            <a:xfrm>
              <a:off x="3238500" y="2781300"/>
              <a:ext cx="9525" cy="371475"/>
            </a:xfrm>
            <a:custGeom>
              <a:avLst/>
              <a:gdLst/>
              <a:ahLst/>
              <a:cxnLst/>
              <a:rect l="l" t="t" r="r" b="b"/>
              <a:pathLst>
                <a:path w="9525" h="371475">
                  <a:moveTo>
                    <a:pt x="0" y="0"/>
                  </a:moveTo>
                  <a:lnTo>
                    <a:pt x="0" y="371475"/>
                  </a:lnTo>
                </a:path>
              </a:pathLst>
            </a:custGeom>
            <a:noFill/>
            <a:ln w="15240">
              <a:solidFill>
                <a:srgbClr val="1A1A1A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3206115" y="3159442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79058"/>
                  </a:moveTo>
                  <a:lnTo>
                    <a:pt x="0" y="0"/>
                  </a:lnTo>
                  <a:lnTo>
                    <a:pt x="6477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2" name="Line 22"/>
            <p:cNvSpPr/>
            <p:nvPr/>
          </p:nvSpPr>
          <p:spPr>
            <a:xfrm>
              <a:off x="3238500" y="3448050"/>
              <a:ext cx="9525" cy="371475"/>
            </a:xfrm>
            <a:custGeom>
              <a:avLst/>
              <a:gdLst/>
              <a:ahLst/>
              <a:cxnLst/>
              <a:rect l="l" t="t" r="r" b="b"/>
              <a:pathLst>
                <a:path w="9525" h="371475">
                  <a:moveTo>
                    <a:pt x="0" y="0"/>
                  </a:moveTo>
                  <a:lnTo>
                    <a:pt x="0" y="371475"/>
                  </a:lnTo>
                </a:path>
              </a:pathLst>
            </a:custGeom>
            <a:noFill/>
            <a:ln w="15240">
              <a:solidFill>
                <a:srgbClr val="1A1A1A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3206115" y="3826192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79058"/>
                  </a:moveTo>
                  <a:lnTo>
                    <a:pt x="0" y="0"/>
                  </a:lnTo>
                  <a:lnTo>
                    <a:pt x="6477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4" name="Line 24"/>
            <p:cNvSpPr/>
            <p:nvPr/>
          </p:nvSpPr>
          <p:spPr>
            <a:xfrm>
              <a:off x="3238500" y="3990975"/>
              <a:ext cx="9525" cy="123825"/>
            </a:xfrm>
            <a:custGeom>
              <a:avLst/>
              <a:gdLst/>
              <a:ahLst/>
              <a:cxnLst/>
              <a:rect l="l" t="t" r="r" b="b"/>
              <a:pathLst>
                <a:path w="9525" h="123825">
                  <a:moveTo>
                    <a:pt x="0" y="12382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E30613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3206115" y="3905250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0"/>
                  </a:moveTo>
                  <a:lnTo>
                    <a:pt x="64770" y="79058"/>
                  </a:lnTo>
                  <a:lnTo>
                    <a:pt x="0" y="79058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386138" y="2054066"/>
              <a:ext cx="133418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未命中下探；回填两级缓存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386138" y="2768441"/>
              <a:ext cx="114053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@Cached 方法缓存开启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386138" y="3454241"/>
              <a:ext cx="174253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Redis database 11（nacos 配置）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858000" y="1905000"/>
              <a:ext cx="4381500" cy="419100"/>
            </a:xfrm>
            <a:prstGeom prst="roundRect">
              <a:avLst>
                <a:gd name="adj" fmla="val 6818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866953" y="2056924"/>
              <a:ext cx="23635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写路径：DB 先写 → 删缓存 → 延迟删除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858000" y="2571750"/>
              <a:ext cx="4381500" cy="1238250"/>
            </a:xfrm>
            <a:prstGeom prst="roundRect">
              <a:avLst>
                <a:gd name="adj" fmla="val 2308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048500" y="275272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177088" y="2726293"/>
              <a:ext cx="3751548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DelayDeleteService：默认 2s 后删 JetCache 键（DelayDeleteService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177088" y="2945368"/>
              <a:ext cx="1144102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.java:29-31），规避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048500" y="319087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177088" y="3164443"/>
              <a:ext cx="1398803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写后瞬间读旧值的窗口问题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048500" y="3409950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177088" y="3383518"/>
              <a:ext cx="2937018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RedissonService 能力：bucket / queue / map / lock /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048500" y="362902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177088" y="3602593"/>
              <a:ext cx="3774060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semaphore / bloomFilter / setNx 统一封装（RedissonService.java:1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177088" y="3821668"/>
              <a:ext cx="188973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4）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858000" y="3962400"/>
              <a:ext cx="4381500" cy="419100"/>
            </a:xfrm>
            <a:prstGeom prst="roundRect">
              <a:avLst>
                <a:gd name="adj" fmla="val 681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858000" y="3962400"/>
              <a:ext cx="4381500" cy="419100"/>
            </a:xfrm>
            <a:prstGeom prst="roundRect">
              <a:avLst>
                <a:gd name="adj" fmla="val 6818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910388" y="4029789"/>
              <a:ext cx="3537128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入口注解：@EnableMethodCache(basePackages='com.xiaoo.kaleido')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910388" y="4220289"/>
              <a:ext cx="2198583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注册见 RedisAutoConfiguration.java:15-18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47738" y="4669393"/>
              <a:ext cx="6871735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为什么两级：热点读走 Caffeine（微秒级、进程内），跨进程一致性交给 Redis；JetCache 负责方法级缓存声明与 Redisson 存储。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8" name="TextBox 48"/>
            <p:cNvSpPr txBox="1"/>
            <p:nvPr/>
          </p:nvSpPr>
          <p:spPr>
            <a:xfrm>
              <a:off x="604838" y="6613684"/>
              <a:ext cx="149716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Kaleido AI 智能衣柜 · 技术架构详解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19 / 39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9148415" cy="738854"/>
            <a:chOff x="595122" y="501491"/>
            <a:chExt cx="9148415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8734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04 · 基础设施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914841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分布式锁：自研注解 @DistributedLock + Redisson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952500" y="2000250"/>
            <a:ext cx="10287000" cy="2679382"/>
            <a:chOff x="952500" y="2000250"/>
            <a:chExt cx="10287000" cy="2679382"/>
          </a:xfrm>
        </p:grpSpPr>
        <p:sp>
          <p:nvSpPr>
            <p:cNvPr id="6" name="Rectangle 6"/>
            <p:cNvSpPr/>
            <p:nvPr/>
          </p:nvSpPr>
          <p:spPr>
            <a:xfrm>
              <a:off x="952500" y="2000250"/>
              <a:ext cx="2381250" cy="438150"/>
            </a:xfrm>
            <a:prstGeom prst="roundRect">
              <a:avLst>
                <a:gd name="adj" fmla="val 6522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952500" y="2000250"/>
              <a:ext cx="238125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41037" y="2157651"/>
              <a:ext cx="1204175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1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@DistributedLock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42988" y="2391489"/>
              <a:ext cx="1132258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9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key(SpEL) · waitTime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42988" y="2562939"/>
              <a:ext cx="1251398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9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leaseTime=30 · lockType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3333750" y="2219325"/>
              <a:ext cx="581025" cy="9525"/>
            </a:xfrm>
            <a:custGeom>
              <a:avLst/>
              <a:gdLst/>
              <a:ahLst/>
              <a:cxnLst/>
              <a:rect l="l" t="t" r="r" b="b"/>
              <a:pathLst>
                <a:path w="581025" h="9525">
                  <a:moveTo>
                    <a:pt x="0" y="0"/>
                  </a:moveTo>
                  <a:lnTo>
                    <a:pt x="581025" y="0"/>
                  </a:lnTo>
                </a:path>
              </a:pathLst>
            </a:custGeom>
            <a:noFill/>
            <a:ln w="17145">
              <a:solidFill>
                <a:srgbClr val="E30613"/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3921442" y="2186940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4000500" y="2000250"/>
              <a:ext cx="2381250" cy="438150"/>
            </a:xfrm>
            <a:prstGeom prst="roundRect">
              <a:avLst>
                <a:gd name="adj" fmla="val 6522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000500" y="2000250"/>
              <a:ext cx="238125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390829" y="2157651"/>
              <a:ext cx="1600591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1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DistributedLockAspect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090988" y="2391489"/>
              <a:ext cx="1366048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@Around 加锁 / finally 解锁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090988" y="2562939"/>
              <a:ext cx="1429295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键前缀 kaleido:lock:（:55）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6381750" y="2219325"/>
              <a:ext cx="581025" cy="9525"/>
            </a:xfrm>
            <a:custGeom>
              <a:avLst/>
              <a:gdLst/>
              <a:ahLst/>
              <a:cxnLst/>
              <a:rect l="l" t="t" r="r" b="b"/>
              <a:pathLst>
                <a:path w="581025" h="9525">
                  <a:moveTo>
                    <a:pt x="0" y="0"/>
                  </a:moveTo>
                  <a:lnTo>
                    <a:pt x="581025" y="0"/>
                  </a:lnTo>
                </a:path>
              </a:pathLst>
            </a:custGeom>
            <a:noFill/>
            <a:ln w="17145">
              <a:solidFill>
                <a:srgbClr val="E30613"/>
              </a:solidFill>
            </a:ln>
          </p:spPr>
        </p:sp>
        <p:sp>
          <p:nvSpPr>
            <p:cNvPr id="19" name="Polygon 19"/>
            <p:cNvSpPr/>
            <p:nvPr/>
          </p:nvSpPr>
          <p:spPr>
            <a:xfrm>
              <a:off x="6969442" y="2186940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048500" y="2000250"/>
              <a:ext cx="2381250" cy="438150"/>
            </a:xfrm>
            <a:prstGeom prst="roundRect">
              <a:avLst>
                <a:gd name="adj" fmla="val 6522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048500" y="2000250"/>
              <a:ext cx="238125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417539" y="2157651"/>
              <a:ext cx="1643171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1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DistributedLockService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38988" y="2391489"/>
              <a:ext cx="1248523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Redisson RLock 家族映射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138988" y="2562939"/>
              <a:ext cx="1886097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9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REENTRANT/FAIR/READ/WRITE/MULTI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9429750" y="2219325"/>
              <a:ext cx="390525" cy="9525"/>
            </a:xfrm>
            <a:custGeom>
              <a:avLst/>
              <a:gdLst/>
              <a:ahLst/>
              <a:cxnLst/>
              <a:rect l="l" t="t" r="r" b="b"/>
              <a:pathLst>
                <a:path w="390525" h="9525">
                  <a:moveTo>
                    <a:pt x="0" y="0"/>
                  </a:moveTo>
                  <a:lnTo>
                    <a:pt x="390525" y="0"/>
                  </a:lnTo>
                </a:path>
              </a:pathLst>
            </a:custGeom>
            <a:noFill/>
            <a:ln w="17145">
              <a:solidFill>
                <a:srgbClr val="E30613"/>
              </a:solidFill>
            </a:ln>
          </p:spPr>
        </p:sp>
        <p:sp>
          <p:nvSpPr>
            <p:cNvPr id="26" name="Polygon 26"/>
            <p:cNvSpPr/>
            <p:nvPr/>
          </p:nvSpPr>
          <p:spPr>
            <a:xfrm>
              <a:off x="9826942" y="2186940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9906000" y="2000250"/>
              <a:ext cx="1333500" cy="438150"/>
            </a:xfrm>
            <a:prstGeom prst="roundRect">
              <a:avLst>
                <a:gd name="adj" fmla="val 6522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9906000" y="2000250"/>
              <a:ext cx="1333500" cy="438150"/>
            </a:xfrm>
            <a:prstGeom prst="roundRect">
              <a:avLst>
                <a:gd name="adj" fmla="val 6522"/>
              </a:avLst>
            </a:prstGeom>
            <a:noFill/>
            <a:ln w="13335">
              <a:solidFill>
                <a:srgbClr val="1A1A1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392682" y="2161699"/>
              <a:ext cx="3601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Redis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952500" y="3143250"/>
              <a:ext cx="10287000" cy="419100"/>
            </a:xfrm>
            <a:prstGeom prst="roundRect">
              <a:avLst>
                <a:gd name="adj" fmla="val 6818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278688" y="3299222"/>
              <a:ext cx="963462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4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锁类型映射（DistributedLockService.java:33-50）：getLock / getFairLock / readWriteLock().read/writeLock｜MULTI 需自行扩展（当前回退 getLock）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952500" y="376237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81088" y="3731895"/>
              <a:ext cx="992799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实际使用 8 处：kaleido-coin CoinCommandService 7 处（key='coin:stream:'+#userId，覆盖 init/reward/扣费/提现等：35,54,73,92,111,137,164）+ recommend 1 处（'rec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81088" y="3989070"/>
              <a:ext cx="180900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ommend:user:'+#userId：76）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952500" y="427672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81088" y="4246245"/>
              <a:ext cx="660102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为什么锁+账本配套：CoinStream 流水以 bizType+bizId 幂等唯一，锁保证同用户并发扣费串行化（不超扣/不重复返利）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952500" y="4533900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081088" y="4503420"/>
              <a:ext cx="675779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看门狗续期由 Redisson 提供（默认 leaseTime 30s，临近过期自动续约），避免锁因业务超时提前释放 —— 框架能力，非自研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0" name="TextBox 40"/>
            <p:cNvSpPr txBox="1"/>
            <p:nvPr/>
          </p:nvSpPr>
          <p:spPr>
            <a:xfrm>
              <a:off x="604838" y="6613684"/>
              <a:ext cx="149716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Kaleido AI 智能衣柜 · 技术架构详解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20 / 39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9325685" cy="738854"/>
            <a:chOff x="595122" y="501491"/>
            <a:chExt cx="9325685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8734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04 · 基础设施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932568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数据访问层：MyBatis-Plus × ShardingSphere 分片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952500" y="1952625"/>
            <a:ext cx="10287000" cy="2241232"/>
            <a:chOff x="952500" y="1952625"/>
            <a:chExt cx="10287000" cy="2241232"/>
          </a:xfrm>
        </p:grpSpPr>
        <p:sp>
          <p:nvSpPr>
            <p:cNvPr id="6" name="Rectangle 6"/>
            <p:cNvSpPr/>
            <p:nvPr/>
          </p:nvSpPr>
          <p:spPr>
            <a:xfrm>
              <a:off x="952500" y="1952625"/>
              <a:ext cx="2857500" cy="1238250"/>
            </a:xfrm>
            <a:prstGeom prst="roundRect">
              <a:avLst>
                <a:gd name="adj" fmla="val 2308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952500" y="1952625"/>
              <a:ext cx="28575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76486" y="2100501"/>
              <a:ext cx="2009529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1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SQL → ShardingSphere Driver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00138" y="2410539"/>
              <a:ext cx="2413030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9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jdbc:shardingsphere:classpath:sharding.yaml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00138" y="2620089"/>
              <a:ext cx="1216595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（kaleido-ds.yml:2-4）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00138" y="2821543"/>
              <a:ext cx="1155680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分片键：user_id 取模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3810000" y="2571750"/>
              <a:ext cx="581025" cy="9525"/>
            </a:xfrm>
            <a:custGeom>
              <a:avLst/>
              <a:gdLst/>
              <a:ahLst/>
              <a:cxnLst/>
              <a:rect l="l" t="t" r="r" b="b"/>
              <a:pathLst>
                <a:path w="581025" h="9525">
                  <a:moveTo>
                    <a:pt x="0" y="0"/>
                  </a:moveTo>
                  <a:lnTo>
                    <a:pt x="581025" y="0"/>
                  </a:lnTo>
                </a:path>
              </a:pathLst>
            </a:custGeom>
            <a:noFill/>
            <a:ln w="17145">
              <a:solidFill>
                <a:srgbClr val="E30613"/>
              </a:solidFill>
            </a:ln>
          </p:spPr>
        </p:sp>
        <p:sp>
          <p:nvSpPr>
            <p:cNvPr id="13" name="Polygon 13"/>
            <p:cNvSpPr/>
            <p:nvPr/>
          </p:nvSpPr>
          <p:spPr>
            <a:xfrm>
              <a:off x="4397692" y="2539365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476750" y="1952625"/>
              <a:ext cx="3143250" cy="1238250"/>
            </a:xfrm>
            <a:prstGeom prst="roundRect">
              <a:avLst>
                <a:gd name="adj" fmla="val 2308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4476750" y="1952625"/>
              <a:ext cx="314325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158747" y="2100501"/>
              <a:ext cx="1779255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1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CustomShardingAlgorithm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629150" y="239077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757738" y="2364343"/>
              <a:ext cx="1650327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totalTables = 8（2 库 × 4 表）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629150" y="2590800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757738" y="2564368"/>
              <a:ext cx="1196200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库索引 = value % 8 / 4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629150" y="279082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757738" y="2764393"/>
              <a:ext cx="1219355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表后缀 = value % 8 % 4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629150" y="2990850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757738" y="2964418"/>
              <a:ext cx="1271453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→ ds_{库}.{表}_{后缀}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7620000" y="2571750"/>
              <a:ext cx="581025" cy="9525"/>
            </a:xfrm>
            <a:custGeom>
              <a:avLst/>
              <a:gdLst/>
              <a:ahLst/>
              <a:cxnLst/>
              <a:rect l="l" t="t" r="r" b="b"/>
              <a:pathLst>
                <a:path w="581025" h="9525">
                  <a:moveTo>
                    <a:pt x="0" y="0"/>
                  </a:moveTo>
                  <a:lnTo>
                    <a:pt x="581025" y="0"/>
                  </a:lnTo>
                </a:path>
              </a:pathLst>
            </a:custGeom>
            <a:noFill/>
            <a:ln w="17145">
              <a:solidFill>
                <a:srgbClr val="E30613"/>
              </a:solidFill>
            </a:ln>
          </p:spPr>
        </p:sp>
        <p:sp>
          <p:nvSpPr>
            <p:cNvPr id="26" name="Polygon 26"/>
            <p:cNvSpPr/>
            <p:nvPr/>
          </p:nvSpPr>
          <p:spPr>
            <a:xfrm>
              <a:off x="8207692" y="253936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8286750" y="1952625"/>
              <a:ext cx="2952750" cy="1238250"/>
            </a:xfrm>
            <a:prstGeom prst="roundRect">
              <a:avLst>
                <a:gd name="adj" fmla="val 230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8286750" y="1952625"/>
              <a:ext cx="2952750" cy="1238250"/>
            </a:xfrm>
            <a:prstGeom prst="roundRect">
              <a:avLst>
                <a:gd name="adj" fmla="val 2308"/>
              </a:avLst>
            </a:prstGeom>
            <a:noFill/>
            <a:ln w="13335">
              <a:solidFill>
                <a:srgbClr val="1A1A1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141740" y="2085499"/>
              <a:ext cx="12427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ds0 · ds1 × t0..t3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434388" y="2311241"/>
              <a:ext cx="127899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kaleido_0：ds_0.t0..t3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34388" y="2539841"/>
              <a:ext cx="127899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kaleido_1：ds_1.t0..t3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34388" y="2772489"/>
              <a:ext cx="1774932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双库见 doc/sql/kaleido.sql:2,1213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952500" y="355282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81088" y="3522345"/>
              <a:ext cx="683583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MyBatis-Plus 三拦截器：乐观锁（version）＋ 防全表更新 ＋ MySQL 分页（DataSourceAutoConfiguration.java:49-63）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952500" y="380047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81088" y="3769995"/>
              <a:ext cx="775737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BasePO 审计字段（createTime/updateTime/…）由 MyMetaObjectHandler 自动填充；@MapperScan 扫 *.infrastructure.dao（:32-35）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952500" y="404812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081088" y="4017645"/>
              <a:ext cx="8626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连接池 Druid 1.2.24；表结构：doc/sql/kaleido.sql 双库共 39 张业务表（含 AI 表 t_ai_agent / t_ai_agent_tool / t_ai_workflow / t_ai_conversation）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0" name="TextBox 40"/>
            <p:cNvSpPr txBox="1"/>
            <p:nvPr/>
          </p:nvSpPr>
          <p:spPr>
            <a:xfrm>
              <a:off x="604838" y="6613684"/>
              <a:ext cx="149716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Kaleido AI 智能衣柜 · 技术架构详解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21 / 39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016627" cy="738854"/>
            <a:chOff x="595122" y="501491"/>
            <a:chExt cx="5016627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04 · 存储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01662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存储矩阵：什么数据放在哪里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609600" y="1619250"/>
            <a:ext cx="10972800" cy="4200525"/>
            <a:chOff x="609600" y="1619250"/>
            <a:chExt cx="10972800" cy="4200525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10972800" cy="419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10972800" cy="3810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80466" y="17535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存储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878640" y="175355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存什么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309548" y="1753552"/>
              <a:ext cx="8881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接入点 / 要点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609600" y="2000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80847" y="2256949"/>
              <a:ext cx="7132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MySQL 8.4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497373" y="225694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业务主数据（分片）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575380" y="2256949"/>
              <a:ext cx="235643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ShardingSphere 2 库 4 表；Druid；MP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609600" y="2628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80847" y="2895124"/>
              <a:ext cx="7463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MongoDB 7+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512557" y="2895124"/>
              <a:ext cx="11668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AI 会话 / 对话记忆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401679" y="2895124"/>
              <a:ext cx="27038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MongoChatMemoryRepository（ai 会话域）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09600" y="32670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80847" y="3523774"/>
              <a:ext cx="7423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Milvus 2.4+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332463" y="3523774"/>
              <a:ext cx="15270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服装文档向量（1536 维）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159406" y="3523774"/>
              <a:ext cx="31883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MilvusVectorStore；collection=kaleido_collection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609600" y="3905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80847" y="4161949"/>
              <a:ext cx="5302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Redis 6+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193939" y="4161949"/>
              <a:ext cx="180412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缓存 / 锁 / 限流 / 布隆 / 会话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34189" y="4161949"/>
              <a:ext cx="24388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JetCache + Redisson + sa-token-redis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09600" y="4533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0847" y="4800124"/>
              <a:ext cx="5612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Caffeine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629300" y="4800124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进程内一级缓存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088396" y="4800124"/>
              <a:ext cx="13304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@Cached 注解的 L1 层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609600" y="51720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80847" y="5428774"/>
              <a:ext cx="3713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MinIO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247706" y="5428774"/>
              <a:ext cx="16965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图片 / 文件（预签名 URL）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467383" y="5428774"/>
              <a:ext cx="25724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IMinIOService putObject / uploadObject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609600" y="5810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7" name="TextBox 37"/>
            <p:cNvSpPr txBox="1"/>
            <p:nvPr/>
          </p:nvSpPr>
          <p:spPr>
            <a:xfrm>
              <a:off x="604838" y="6613684"/>
              <a:ext cx="149716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Kaleido AI 智能衣柜 · 技术架构详解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22 / 39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3481959" cy="738854"/>
            <a:chOff x="595122" y="501491"/>
            <a:chExt cx="3481959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74283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05 · 稳定性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348195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稳定性四道防线总览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609600" y="1619250"/>
            <a:ext cx="2524125" cy="1905000"/>
            <a:chOff x="609600" y="1619250"/>
            <a:chExt cx="2524125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2524125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2524125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9028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防线① 限流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307431"/>
              <a:ext cx="17120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Sentinel 流控（服务级）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555081"/>
              <a:ext cx="19579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@RateLimit（用户/手机号级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80273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2485" y="3050381"/>
              <a:ext cx="11321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规则 Nacos 下发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419475" y="1619250"/>
            <a:ext cx="2524125" cy="1905000"/>
            <a:chOff x="3419475" y="1619250"/>
            <a:chExt cx="2524125" cy="1905000"/>
          </a:xfrm>
        </p:grpSpPr>
        <p:sp>
          <p:nvSpPr>
            <p:cNvPr id="14" name="Rectangle 14"/>
            <p:cNvSpPr/>
            <p:nvPr/>
          </p:nvSpPr>
          <p:spPr>
            <a:xfrm>
              <a:off x="3419475" y="1619250"/>
              <a:ext cx="2524125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3419475" y="1619250"/>
              <a:ext cx="2524125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641217" y="1892618"/>
              <a:ext cx="12663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防线② 熔断降级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642360" y="2431256"/>
              <a:ext cx="1229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Sentinel degrade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642360" y="2678906"/>
              <a:ext cx="11497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慢调用/异常比例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642360" y="2926556"/>
              <a:ext cx="15868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blockHandler 本地降级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238875" y="1619250"/>
            <a:ext cx="2524125" cy="1905000"/>
            <a:chOff x="6238875" y="1619250"/>
            <a:chExt cx="2524125" cy="1905000"/>
          </a:xfrm>
        </p:grpSpPr>
        <p:sp>
          <p:nvSpPr>
            <p:cNvPr id="21" name="Rectangle 21"/>
            <p:cNvSpPr/>
            <p:nvPr/>
          </p:nvSpPr>
          <p:spPr>
            <a:xfrm>
              <a:off x="6238875" y="1619250"/>
              <a:ext cx="2524125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238875" y="1619250"/>
              <a:ext cx="2524125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60617" y="1892618"/>
              <a:ext cx="13040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防线③ 幂等 + 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61760" y="2431256"/>
              <a:ext cx="14849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@DistributedLock ×8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61760" y="2678906"/>
              <a:ext cx="13355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bizType+bizId 幂等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61760" y="29265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账本流水留痕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048750" y="1619250"/>
            <a:ext cx="2524125" cy="1905000"/>
            <a:chOff x="9048750" y="1619250"/>
            <a:chExt cx="2524125" cy="1905000"/>
          </a:xfrm>
        </p:grpSpPr>
        <p:sp>
          <p:nvSpPr>
            <p:cNvPr id="28" name="Rectangle 28"/>
            <p:cNvSpPr/>
            <p:nvPr/>
          </p:nvSpPr>
          <p:spPr>
            <a:xfrm>
              <a:off x="9048750" y="1619250"/>
              <a:ext cx="2524125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9048750" y="1619250"/>
              <a:ext cx="2524125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270492" y="1892618"/>
              <a:ext cx="12663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防线④ 可靠消息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271635" y="2431256"/>
              <a:ext cx="935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MQ 事件解耦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271635" y="2678906"/>
              <a:ext cx="9386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状态机 + 落库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271635" y="2926556"/>
              <a:ext cx="12866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XXL-Job 定时重试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35" name="Rectangle 35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06018" y="4050982"/>
              <a:ext cx="61534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每一道防线都有「注解/配置 + 代码落点」，不是 PPT 口号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08304" y="4947285"/>
              <a:ext cx="48170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分别见 P24-P29：原理、实现与真实用例，全部可回到源码验证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9" name="TextBox 39"/>
            <p:cNvSpPr txBox="1"/>
            <p:nvPr/>
          </p:nvSpPr>
          <p:spPr>
            <a:xfrm>
              <a:off x="604838" y="6613684"/>
              <a:ext cx="149716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Kaleido AI 智能衣柜 · 技术架构详解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23 / 39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6326850" cy="738854"/>
            <a:chOff x="595122" y="501491"/>
            <a:chExt cx="6326850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05 · 原理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632685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限流原理：令牌桶 / 漏桶 / 滑动窗口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56" name="Group 56"/>
          <p:cNvGrpSpPr/>
          <p:nvPr/>
        </p:nvGrpSpPr>
        <p:grpSpPr>
          <a:xfrm>
            <a:off x="947738" y="1809750"/>
            <a:ext cx="10291762" cy="3597116"/>
            <a:chOff x="947738" y="1809750"/>
            <a:chExt cx="10291762" cy="3597116"/>
          </a:xfrm>
        </p:grpSpPr>
        <p:sp>
          <p:nvSpPr>
            <p:cNvPr id="6" name="Rectangle 6"/>
            <p:cNvSpPr/>
            <p:nvPr/>
          </p:nvSpPr>
          <p:spPr>
            <a:xfrm>
              <a:off x="952500" y="1809750"/>
              <a:ext cx="10287000" cy="342900"/>
            </a:xfrm>
            <a:prstGeom prst="roundRect">
              <a:avLst>
                <a:gd name="adj" fmla="val 8333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4677156" y="1915478"/>
              <a:ext cx="28376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三种限流模型对照（篇幅所限只讲核心差异）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952500" y="2324100"/>
              <a:ext cx="3238500" cy="1619250"/>
            </a:xfrm>
            <a:prstGeom prst="roundRect">
              <a:avLst>
                <a:gd name="adj" fmla="val 1765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52500" y="2324100"/>
              <a:ext cx="32385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536145" y="2470547"/>
              <a:ext cx="207121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4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令牌桶（本项目 @RateLimit 采用）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104900" y="271462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233488" y="2692241"/>
              <a:ext cx="197485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以固定速率向桶内放令牌，容量上限 B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104900" y="290512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233488" y="2882741"/>
              <a:ext cx="207378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每个请求取 1 枚令牌，无令牌则拒绝/等待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104900" y="309562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233488" y="3073241"/>
              <a:ext cx="14445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允许突发（桶满时积压令牌）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104900" y="328612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233488" y="3263741"/>
              <a:ext cx="14664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Redisson RRateLimiter 实现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952500" y="4076700"/>
              <a:ext cx="3238500" cy="266700"/>
            </a:xfrm>
            <a:prstGeom prst="roundRect">
              <a:avLst>
                <a:gd name="adj" fmla="val 1071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952500" y="4076700"/>
              <a:ext cx="3238500" cy="266700"/>
            </a:xfrm>
            <a:prstGeom prst="roundRect">
              <a:avLst>
                <a:gd name="adj" fmla="val 10714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235822" y="4168616"/>
              <a:ext cx="67185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允许短时突发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476750" y="2324100"/>
              <a:ext cx="3238500" cy="1619250"/>
            </a:xfrm>
            <a:prstGeom prst="roundRect">
              <a:avLst>
                <a:gd name="adj" fmla="val 1765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4476750" y="2324100"/>
              <a:ext cx="32385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409344" y="2470547"/>
              <a:ext cx="137331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4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漏桶（Leaky Bucket）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629150" y="271462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757738" y="2692241"/>
              <a:ext cx="14445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请求先入桶，以固定速率流出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629150" y="290512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757738" y="2882741"/>
              <a:ext cx="100302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桶满则新请求被丢弃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29150" y="309562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757738" y="3073241"/>
              <a:ext cx="111340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输出完全平滑，无突发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629150" y="328612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757738" y="3263741"/>
              <a:ext cx="133418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适合保护下游恒定速率场景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476750" y="4076700"/>
              <a:ext cx="3238500" cy="266700"/>
            </a:xfrm>
            <a:prstGeom prst="roundRect">
              <a:avLst>
                <a:gd name="adj" fmla="val 1071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4476750" y="4076700"/>
              <a:ext cx="3238500" cy="266700"/>
            </a:xfrm>
            <a:prstGeom prst="roundRect">
              <a:avLst>
                <a:gd name="adj" fmla="val 10714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760072" y="4168616"/>
              <a:ext cx="67185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输出绝对平滑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001000" y="2324100"/>
              <a:ext cx="3238500" cy="1619250"/>
            </a:xfrm>
            <a:prstGeom prst="roundRect">
              <a:avLst>
                <a:gd name="adj" fmla="val 1765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8001000" y="2324100"/>
              <a:ext cx="32385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442419" y="2470547"/>
              <a:ext cx="2355661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4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滑动窗口（Sentinel 默认计数模型之一）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153400" y="271462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281988" y="2692241"/>
              <a:ext cx="177657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把时间窗切成 N 个格子，滚动统计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8153400" y="290512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281988" y="2882741"/>
              <a:ext cx="124035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窗口内计数 ≥ 阈值则限流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8153400" y="309562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281988" y="3073241"/>
              <a:ext cx="155496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比固定窗口更平滑、无边界毛刺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153400" y="328612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281988" y="3263741"/>
              <a:ext cx="141867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Sentinel 流控按 qps/线程数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8001000" y="4076700"/>
              <a:ext cx="3238500" cy="266700"/>
            </a:xfrm>
            <a:prstGeom prst="roundRect">
              <a:avLst>
                <a:gd name="adj" fmla="val 1071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8001000" y="4076700"/>
              <a:ext cx="3238500" cy="266700"/>
            </a:xfrm>
            <a:prstGeom prst="roundRect">
              <a:avLst>
                <a:gd name="adj" fmla="val 10714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339516" y="4168616"/>
              <a:ext cx="5614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细粒度统计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952500" y="4552950"/>
              <a:ext cx="10287000" cy="590550"/>
            </a:xfrm>
            <a:prstGeom prst="roundRect">
              <a:avLst>
                <a:gd name="adj" fmla="val 4839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1123950" y="469582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252538" y="4665345"/>
              <a:ext cx="773085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本项目双落地：Sentinel 流控规则（集群/服务级，Nacos 下发，见 P26）＋ 自研 @RateLimit（单键精确令牌桶，基于 Redisson，见 P25）。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123950" y="492442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252538" y="4893945"/>
              <a:ext cx="65409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取舍：Sentinel 负责入口与核心资源的通用限流；@RateLimit 用 SpEL 键做到「每个用户/手机号一个桶」，语义更细。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47738" y="5244941"/>
              <a:ext cx="463709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补充概念：Sentinel 还支持并发线程数限流与排队等待模式；熔断/降级同框架实现（P26）。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57" name="TextBox 57"/>
            <p:cNvSpPr txBox="1"/>
            <p:nvPr/>
          </p:nvSpPr>
          <p:spPr>
            <a:xfrm>
              <a:off x="604838" y="6613684"/>
              <a:ext cx="149716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Kaleido AI 智能衣柜 · 技术架构详解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24 / 39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8195339" cy="738854"/>
            <a:chOff x="595122" y="501491"/>
            <a:chExt cx="8195339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05 · 实现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819533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自研注解 @RateLimit：从注解到 Redis 令牌桶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947738" y="2381250"/>
            <a:ext cx="10958512" cy="2952750"/>
            <a:chOff x="947738" y="2381250"/>
            <a:chExt cx="10958512" cy="2952750"/>
          </a:xfrm>
        </p:grpSpPr>
        <p:sp>
          <p:nvSpPr>
            <p:cNvPr id="6" name="Rectangle 6"/>
            <p:cNvSpPr/>
            <p:nvPr/>
          </p:nvSpPr>
          <p:spPr>
            <a:xfrm>
              <a:off x="952500" y="2381250"/>
              <a:ext cx="2381250" cy="876300"/>
            </a:xfrm>
            <a:prstGeom prst="roundRect">
              <a:avLst>
                <a:gd name="adj" fmla="val 3261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952500" y="2381250"/>
              <a:ext cx="238125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66049" y="2538651"/>
              <a:ext cx="554152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1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业务方法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2038" y="2776538"/>
              <a:ext cx="3022182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@RateLimit(key='sms:mobile:'+#mobile, limit=1, window=60)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3333750" y="2819400"/>
              <a:ext cx="200025" cy="9525"/>
            </a:xfrm>
            <a:custGeom>
              <a:avLst/>
              <a:gdLst/>
              <a:ahLst/>
              <a:cxnLst/>
              <a:rect l="l" t="t" r="r" b="b"/>
              <a:pathLst>
                <a:path w="200025" h="9525">
                  <a:moveTo>
                    <a:pt x="0" y="0"/>
                  </a:moveTo>
                  <a:lnTo>
                    <a:pt x="200025" y="0"/>
                  </a:lnTo>
                </a:path>
              </a:pathLst>
            </a:custGeom>
            <a:noFill/>
            <a:ln w="17145">
              <a:solidFill>
                <a:srgbClr val="E30613"/>
              </a:solidFill>
            </a:ln>
          </p:spPr>
        </p:sp>
        <p:sp>
          <p:nvSpPr>
            <p:cNvPr id="11" name="Polygon 11"/>
            <p:cNvSpPr/>
            <p:nvPr/>
          </p:nvSpPr>
          <p:spPr>
            <a:xfrm>
              <a:off x="3540442" y="2787015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3810000" y="2381250"/>
              <a:ext cx="2381250" cy="876300"/>
            </a:xfrm>
            <a:prstGeom prst="roundRect">
              <a:avLst>
                <a:gd name="adj" fmla="val 3261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421568" y="2538651"/>
              <a:ext cx="1158114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1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RateLimitAspect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919538" y="2776538"/>
              <a:ext cx="233157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@Around 解析 SpEL 键 → 前缀 kaleido:rate:limit: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6191250" y="2819400"/>
              <a:ext cx="200025" cy="9525"/>
            </a:xfrm>
            <a:custGeom>
              <a:avLst/>
              <a:gdLst/>
              <a:ahLst/>
              <a:cxnLst/>
              <a:rect l="l" t="t" r="r" b="b"/>
              <a:pathLst>
                <a:path w="200025" h="9525">
                  <a:moveTo>
                    <a:pt x="0" y="0"/>
                  </a:moveTo>
                  <a:lnTo>
                    <a:pt x="200025" y="0"/>
                  </a:lnTo>
                </a:path>
              </a:pathLst>
            </a:custGeom>
            <a:noFill/>
            <a:ln w="17145">
              <a:solidFill>
                <a:srgbClr val="E30613"/>
              </a:solidFill>
            </a:ln>
          </p:spPr>
        </p:sp>
        <p:sp>
          <p:nvSpPr>
            <p:cNvPr id="16" name="Polygon 16"/>
            <p:cNvSpPr/>
            <p:nvPr/>
          </p:nvSpPr>
          <p:spPr>
            <a:xfrm>
              <a:off x="6397942" y="278701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667500" y="2381250"/>
              <a:ext cx="2381250" cy="876300"/>
            </a:xfrm>
            <a:prstGeom prst="roundRect">
              <a:avLst>
                <a:gd name="adj" fmla="val 3261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257828" y="2538651"/>
              <a:ext cx="1200595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1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RateLimitService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777038" y="2776538"/>
              <a:ext cx="342137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redisson.getRateLimiter(key) → trySetRate(OVERALL,limit,window)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9048750" y="2819400"/>
              <a:ext cx="200025" cy="9525"/>
            </a:xfrm>
            <a:custGeom>
              <a:avLst/>
              <a:gdLst/>
              <a:ahLst/>
              <a:cxnLst/>
              <a:rect l="l" t="t" r="r" b="b"/>
              <a:pathLst>
                <a:path w="200025" h="9525">
                  <a:moveTo>
                    <a:pt x="0" y="0"/>
                  </a:moveTo>
                  <a:lnTo>
                    <a:pt x="200025" y="0"/>
                  </a:lnTo>
                </a:path>
              </a:pathLst>
            </a:custGeom>
            <a:noFill/>
            <a:ln w="17145">
              <a:solidFill>
                <a:srgbClr val="E30613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9255442" y="278701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9525000" y="2381250"/>
              <a:ext cx="2381250" cy="876300"/>
            </a:xfrm>
            <a:prstGeom prst="roundRect">
              <a:avLst>
                <a:gd name="adj" fmla="val 326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9525000" y="2381250"/>
              <a:ext cx="2381250" cy="876300"/>
            </a:xfrm>
            <a:prstGeom prst="roundRect">
              <a:avLst>
                <a:gd name="adj" fmla="val 3261"/>
              </a:avLst>
            </a:prstGeom>
            <a:noFill/>
            <a:ln w="9525">
              <a:solidFill>
                <a:srgbClr val="1A1A1A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302090" y="2538651"/>
              <a:ext cx="827069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1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Redis 令牌桶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634538" y="2776538"/>
              <a:ext cx="203463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rateLimiter.tryAcquire() 成功才放行业务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7738" y="3518297"/>
              <a:ext cx="642239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实现要点：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52500" y="378142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81088" y="3750945"/>
              <a:ext cx="697047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RateLimit 注解（limiter/annotation/RateLimit.java:11-35）：key 支持 SpEL、limit 次数、window 秒、message 拒绝提示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952500" y="4019550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81088" y="3989070"/>
              <a:ext cx="703975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切面 @Around("@annotation(rateLimit)")：Redis 键 = kaleido:rate:limit:{SpEL 解析值}（RateLimitAspect.java:43-68）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952500" y="425767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81088" y="4227195"/>
              <a:ext cx="74849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底层即 Redisson RRateLimiter 令牌桶：RateType.OVERALL（全局速率）+ tryAcquire 非阻塞获取（RateLimitService.java:33-38）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952500" y="4762500"/>
              <a:ext cx="10287000" cy="571500"/>
            </a:xfrm>
            <a:prstGeom prst="roundRect">
              <a:avLst>
                <a:gd name="adj" fmla="val 5000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695264" y="488584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两个真实用例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328738" y="5126593"/>
              <a:ext cx="5686517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短信验证码：limit=1 / 60s（auth/SmsController.java:46）＋ 叠 @SentinelResource + @DistributedLock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281738" y="5126593"/>
              <a:ext cx="4234896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创建推荐：limit=5 / 60s（recommend/RecommendCommandService.java:75）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8" name="TextBox 38"/>
            <p:cNvSpPr txBox="1"/>
            <p:nvPr/>
          </p:nvSpPr>
          <p:spPr>
            <a:xfrm>
              <a:off x="604838" y="6613684"/>
              <a:ext cx="149716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Kaleido AI 智能衣柜 · 技术架构详解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25 / 39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7487087" cy="738854"/>
            <a:chOff x="595122" y="501491"/>
            <a:chExt cx="7487087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05 · 实现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748708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Sentinel：流控与熔断降级原理 + 项目接线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952500" y="1809750"/>
            <a:ext cx="10287000" cy="3485912"/>
            <a:chOff x="952500" y="1809750"/>
            <a:chExt cx="10287000" cy="3485912"/>
          </a:xfrm>
        </p:grpSpPr>
        <p:sp>
          <p:nvSpPr>
            <p:cNvPr id="6" name="Rectangle 6"/>
            <p:cNvSpPr/>
            <p:nvPr/>
          </p:nvSpPr>
          <p:spPr>
            <a:xfrm>
              <a:off x="952500" y="1809750"/>
              <a:ext cx="4953000" cy="1428750"/>
            </a:xfrm>
            <a:prstGeom prst="roundRect">
              <a:avLst>
                <a:gd name="adj" fmla="val 2000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952500" y="1809750"/>
              <a:ext cx="49530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443880" y="1948101"/>
              <a:ext cx="1970240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1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工作模型：资源 → 规则 → 插槽链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1143000" y="221932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71588" y="2192893"/>
              <a:ext cx="3165786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埋点：@SentinelResource(value, blockHandler, fallback)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143000" y="2419350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271588" y="2392918"/>
              <a:ext cx="2309944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规则：流控 flow / 熔断 degrade，经 Nacos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143000" y="261937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271588" y="2592943"/>
              <a:ext cx="2903855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数据源：${app}-sentinel-flow.json / -degrade.json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143000" y="2819400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271588" y="2792968"/>
              <a:ext cx="3031206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dashboard：控制台可视化（kaleido-sentinel.yml:4-6）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096000" y="1809750"/>
              <a:ext cx="5143500" cy="1428750"/>
            </a:xfrm>
            <a:prstGeom prst="roundRect">
              <a:avLst>
                <a:gd name="adj" fmla="val 2000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6096000" y="1809750"/>
              <a:ext cx="51435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574877" y="1948101"/>
              <a:ext cx="2185746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1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熔断状态机（限流之外的降级保护）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281738" y="2230993"/>
              <a:ext cx="2798567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CLOSED →(慢调用/异常比例/异常数超阈值)→ OPEN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281738" y="2459593"/>
              <a:ext cx="3110499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OPEN →(熔断窗口结束)→ HALF_OPEN（放少量探测流量）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281738" y="2688193"/>
              <a:ext cx="3037103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HALF_OPEN →(探测成功)→ CLOSED ｜ 失败则回到 OPEN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281738" y="2920841"/>
              <a:ext cx="326046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粒度可到：慢调用比例 / 异常比例 / 异常数（degrade 规则类型）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952500" y="3486150"/>
              <a:ext cx="10287000" cy="342900"/>
            </a:xfrm>
            <a:prstGeom prst="roundRect">
              <a:avLst>
                <a:gd name="adj" fmla="val 8333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344532" y="3595926"/>
              <a:ext cx="5502935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1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本项目接入点：3 处 @SentinelResource（均含 blockHandler/fallback 本地降级方法）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952500" y="4038600"/>
              <a:ext cx="3238500" cy="62865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952500" y="4038600"/>
              <a:ext cx="3238500" cy="628650"/>
            </a:xfrm>
            <a:prstGeom prst="roundRect">
              <a:avLst>
                <a:gd name="adj" fmla="val 4545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913866" y="4150995"/>
              <a:ext cx="131576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auth / SmsController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00138" y="4391739"/>
              <a:ext cx="2250209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sendSmsCode（SmsController.java:40-45）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4381500" y="4038600"/>
              <a:ext cx="3238500" cy="62865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381500" y="4038600"/>
              <a:ext cx="3238500" cy="628650"/>
            </a:xfrm>
            <a:prstGeom prst="roundRect">
              <a:avLst>
                <a:gd name="adj" fmla="val 4545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060074" y="4150995"/>
              <a:ext cx="18813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wardrobe / ClothingController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529138" y="4391739"/>
              <a:ext cx="2563275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createClothing（ClothingController.java:46-51）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810500" y="4038600"/>
              <a:ext cx="3429000" cy="62865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810500" y="4038600"/>
              <a:ext cx="3429000" cy="628650"/>
            </a:xfrm>
            <a:prstGeom prst="roundRect">
              <a:avLst>
                <a:gd name="adj" fmla="val 4545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260511" y="4150995"/>
              <a:ext cx="252897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recommend / RecommendCommandService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958138" y="4391739"/>
              <a:ext cx="1853949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createRecommendRecord（:69-74）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952500" y="494347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81088" y="4917043"/>
              <a:ext cx="6284432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依赖壳：kaleido-sentinel 引入 spring-cloud-starter-alibaba-sentinel + nacos 数据源（sentinel/pom.xml:22-42）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952500" y="515302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81088" y="5126593"/>
              <a:ext cx="6246542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降级兜底：GlobalExceptionHandler 反射识别 BlockException 统一处理（web/GlobalExceptionHandler.java:79-88）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3" name="TextBox 43"/>
            <p:cNvSpPr txBox="1"/>
            <p:nvPr/>
          </p:nvSpPr>
          <p:spPr>
            <a:xfrm>
              <a:off x="604838" y="6613684"/>
              <a:ext cx="149716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Kaleido AI 智能衣柜 · 技术架构详解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26 / 39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698088" cy="738854"/>
            <a:chOff x="595122" y="501491"/>
            <a:chExt cx="5698088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05 · 幂等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69808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账本安全：Coin 的锁 + 幂等设计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609600" y="1619250"/>
            <a:ext cx="5257800" cy="4191000"/>
            <a:chOff x="609600" y="1619250"/>
            <a:chExt cx="52578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9241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CoinAccount 账本模型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38200" y="332422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3935" y="3298031"/>
              <a:ext cx="28608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账户聚合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balance + CoinStream 流水列表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38200" y="364807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3935" y="3621881"/>
              <a:ext cx="27909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流水幂等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每笔流水以 bizType+bizId 唯一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38200" y="397192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03935" y="3945731"/>
              <a:ext cx="32509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实时配置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金额实时读 admin 字典 COIN_CONFIG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38200" y="429577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03935" y="4269581"/>
              <a:ext cx="30041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入账场景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注册 INITIAL=100 / 邀请奖励 100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324600" y="1619250"/>
            <a:ext cx="5257800" cy="4191000"/>
            <a:chOff x="6324600" y="1619250"/>
            <a:chExt cx="5257800" cy="4191000"/>
          </a:xfrm>
        </p:grpSpPr>
        <p:sp>
          <p:nvSpPr>
            <p:cNvPr id="18" name="Rectangle 18"/>
            <p:cNvSpPr/>
            <p:nvPr/>
          </p:nvSpPr>
          <p:spPr>
            <a:xfrm>
              <a:off x="6324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546342" y="18926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锁如何保护账本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553200" y="332422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18935" y="3298031"/>
              <a:ext cx="43969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并发串行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@DistributedLock('coin:stream:'+#userId) 共 7 处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553200" y="364807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18935" y="3621881"/>
              <a:ext cx="33435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覆盖动作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init / reward / 位置 / 穿搭 / 推荐扣费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553200" y="397192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18935" y="3945731"/>
              <a:ext cx="27706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失败语义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异常回滚且流水不落，金额不丢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553200" y="429577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18935" y="4269581"/>
              <a:ext cx="26198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对账抓手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每笔流水留痕，可追溯可对账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0" name="TextBox 30"/>
            <p:cNvSpPr txBox="1"/>
            <p:nvPr/>
          </p:nvSpPr>
          <p:spPr>
            <a:xfrm>
              <a:off x="604838" y="6613684"/>
              <a:ext cx="149716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Kaleido AI 智能衣柜 · 技术架构详解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27 / 39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6630906" cy="738854"/>
            <a:chOff x="595122" y="501491"/>
            <a:chExt cx="6630906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8734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05 · 可靠消息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663090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消息留痕 + 定时重试：可靠消息两条腿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609600" y="1619250"/>
            <a:ext cx="5257800" cy="4191000"/>
            <a:chOff x="609600" y="1619250"/>
            <a:chExt cx="52578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29855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kaleido-message：MQ 消息状态机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38200" y="332422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3935" y="3298031"/>
              <a:ext cx="3047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记录维度</a:t>
              </a:r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 xml:space="preserve"> userId / message / topic / state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38200" y="364807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3935" y="3621881"/>
              <a:ext cx="27418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状态机</a:t>
              </a:r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 xml:space="preserve"> CREATE → COMPLETED / FAILED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38200" y="397192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03935" y="3945731"/>
              <a:ext cx="28289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暴露方式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RPC 写 + HTTP 查询（按用户）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38200" y="429577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03935" y="4269581"/>
              <a:ext cx="31776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诚实标注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当前无业务方引用 —— 轨道已铺待接线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324600" y="1619250"/>
            <a:ext cx="5257800" cy="4191000"/>
            <a:chOff x="6324600" y="1619250"/>
            <a:chExt cx="5257800" cy="4191000"/>
          </a:xfrm>
        </p:grpSpPr>
        <p:sp>
          <p:nvSpPr>
            <p:cNvPr id="18" name="Rectangle 18"/>
            <p:cNvSpPr/>
            <p:nvPr/>
          </p:nvSpPr>
          <p:spPr>
            <a:xfrm>
              <a:off x="6324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546342" y="1892618"/>
              <a:ext cx="33864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kaleido-notice：重试闭环（XXL-Job）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553200" y="332422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18935" y="3298031"/>
              <a:ext cx="28987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发送链路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验证码/通知 → 适配器分发 → 落库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553200" y="364807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18935" y="3621881"/>
              <a:ext cx="27586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失败重试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NoticeRetryJob 定时捞取重发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553200" y="397192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18935" y="3945731"/>
              <a:ext cx="26192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并行执行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Dynamic-TP 动态线程池并发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553200" y="429577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18935" y="4269581"/>
              <a:ext cx="31370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诚实标注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Email/WeChat 适配器为 TODO 占位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0" name="TextBox 30"/>
            <p:cNvSpPr txBox="1"/>
            <p:nvPr/>
          </p:nvSpPr>
          <p:spPr>
            <a:xfrm>
              <a:off x="604838" y="6613684"/>
              <a:ext cx="149716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Kaleido AI 智能衣柜 · 技术架构详解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28 / 39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6551295" cy="738854"/>
            <a:chOff x="595122" y="501491"/>
            <a:chExt cx="6551295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05 · 复盘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655129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端到端可靠性复盘：四道防线如何叠加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57" name="Group 57"/>
          <p:cNvGrpSpPr/>
          <p:nvPr/>
        </p:nvGrpSpPr>
        <p:grpSpPr>
          <a:xfrm>
            <a:off x="952500" y="1809750"/>
            <a:ext cx="10287000" cy="3810000"/>
            <a:chOff x="952500" y="1809750"/>
            <a:chExt cx="10287000" cy="3810000"/>
          </a:xfrm>
        </p:grpSpPr>
        <p:sp>
          <p:nvSpPr>
            <p:cNvPr id="6" name="Rectangle 6"/>
            <p:cNvSpPr/>
            <p:nvPr/>
          </p:nvSpPr>
          <p:spPr>
            <a:xfrm>
              <a:off x="952500" y="1809750"/>
              <a:ext cx="10287000" cy="342900"/>
            </a:xfrm>
            <a:prstGeom prst="roundRect">
              <a:avLst>
                <a:gd name="adj" fmla="val 8333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4581651" y="1915478"/>
              <a:ext cx="30286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一次「AI 推荐」全旅程的四道可靠性防线叠加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952500" y="2381250"/>
              <a:ext cx="2381250" cy="1428750"/>
            </a:xfrm>
            <a:prstGeom prst="roundRect">
              <a:avLst>
                <a:gd name="adj" fmla="val 2000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52500" y="2381250"/>
              <a:ext cx="238125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735793" y="2523649"/>
              <a:ext cx="8146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阶段 1 · 入口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3789" y="2783443"/>
              <a:ext cx="1538672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Sentinel 流控 + @RateLimit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047750" y="3028950"/>
              <a:ext cx="2190750" cy="647700"/>
            </a:xfrm>
            <a:prstGeom prst="roundRect">
              <a:avLst>
                <a:gd name="adj" fmla="val 4412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047750" y="3028950"/>
              <a:ext cx="2190750" cy="647700"/>
            </a:xfrm>
            <a:prstGeom prst="roundRect">
              <a:avLst>
                <a:gd name="adj" fmla="val 4412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19188" y="3153489"/>
              <a:ext cx="1105229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QPS 超限→本地 blockH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19188" y="3324939"/>
              <a:ext cx="791196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andler 降级返回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19188" y="3504486"/>
              <a:ext cx="1495797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1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auth/wardrobe/recommend 埋点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3333750" y="3095625"/>
              <a:ext cx="104775" cy="9525"/>
            </a:xfrm>
            <a:custGeom>
              <a:avLst/>
              <a:gdLst/>
              <a:ahLst/>
              <a:cxnLst/>
              <a:rect l="l" t="t" r="r" b="b"/>
              <a:pathLst>
                <a:path w="104775" h="9525">
                  <a:moveTo>
                    <a:pt x="0" y="0"/>
                  </a:moveTo>
                  <a:lnTo>
                    <a:pt x="104775" y="0"/>
                  </a:lnTo>
                </a:path>
              </a:pathLst>
            </a:custGeom>
            <a:noFill/>
            <a:ln w="17145">
              <a:solidFill>
                <a:srgbClr val="E30613"/>
              </a:solidFill>
            </a:ln>
          </p:spPr>
        </p:sp>
        <p:sp>
          <p:nvSpPr>
            <p:cNvPr id="18" name="Polygon 18"/>
            <p:cNvSpPr/>
            <p:nvPr/>
          </p:nvSpPr>
          <p:spPr>
            <a:xfrm>
              <a:off x="3445192" y="3063240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3524250" y="2381250"/>
              <a:ext cx="2381250" cy="1428750"/>
            </a:xfrm>
            <a:prstGeom prst="roundRect">
              <a:avLst>
                <a:gd name="adj" fmla="val 2000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3524250" y="2381250"/>
              <a:ext cx="238125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307543" y="2523649"/>
              <a:ext cx="8146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阶段 2 · 扣费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857792" y="2783443"/>
              <a:ext cx="1714165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@DistributedLock + bizId 幂等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619500" y="3028950"/>
              <a:ext cx="2190750" cy="647700"/>
            </a:xfrm>
            <a:prstGeom prst="roundRect">
              <a:avLst>
                <a:gd name="adj" fmla="val 4412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3619500" y="3028950"/>
              <a:ext cx="2190750" cy="647700"/>
            </a:xfrm>
            <a:prstGeom prst="roundRect">
              <a:avLst>
                <a:gd name="adj" fmla="val 4412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690938" y="3153489"/>
              <a:ext cx="1711122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并发扣费串行化；重复流水被幂等拦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690938" y="3324939"/>
              <a:ext cx="115875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690938" y="3504486"/>
              <a:ext cx="716818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1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coin 账本 7 处锁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5905500" y="3095625"/>
              <a:ext cx="104775" cy="9525"/>
            </a:xfrm>
            <a:custGeom>
              <a:avLst/>
              <a:gdLst/>
              <a:ahLst/>
              <a:cxnLst/>
              <a:rect l="l" t="t" r="r" b="b"/>
              <a:pathLst>
                <a:path w="104775" h="9525">
                  <a:moveTo>
                    <a:pt x="0" y="0"/>
                  </a:moveTo>
                  <a:lnTo>
                    <a:pt x="104775" y="0"/>
                  </a:lnTo>
                </a:path>
              </a:pathLst>
            </a:custGeom>
            <a:noFill/>
            <a:ln w="17145">
              <a:solidFill>
                <a:srgbClr val="E30613"/>
              </a:solidFill>
            </a:ln>
          </p:spPr>
        </p:sp>
        <p:sp>
          <p:nvSpPr>
            <p:cNvPr id="29" name="Polygon 29"/>
            <p:cNvSpPr/>
            <p:nvPr/>
          </p:nvSpPr>
          <p:spPr>
            <a:xfrm>
              <a:off x="6016942" y="3063240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096000" y="2381250"/>
              <a:ext cx="2381250" cy="1428750"/>
            </a:xfrm>
            <a:prstGeom prst="roundRect">
              <a:avLst>
                <a:gd name="adj" fmla="val 2000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096000" y="2381250"/>
              <a:ext cx="238125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72357" y="2523649"/>
              <a:ext cx="10285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阶段 3 · AI 异步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82488" y="2783443"/>
              <a:ext cx="1408274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MQ 解耦：recommend→ai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191250" y="3028950"/>
              <a:ext cx="2190750" cy="647700"/>
            </a:xfrm>
            <a:prstGeom prst="roundRect">
              <a:avLst>
                <a:gd name="adj" fmla="val 4412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191250" y="3028950"/>
              <a:ext cx="2190750" cy="647700"/>
            </a:xfrm>
            <a:prstGeom prst="roundRect">
              <a:avLst>
                <a:gd name="adj" fmla="val 4412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262688" y="3153489"/>
              <a:ext cx="1498422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工作流长时执行不阻塞用户请求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62688" y="3504486"/>
              <a:ext cx="1180382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1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outfit-recommend 工作流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8477250" y="3095625"/>
              <a:ext cx="104775" cy="9525"/>
            </a:xfrm>
            <a:custGeom>
              <a:avLst/>
              <a:gdLst/>
              <a:ahLst/>
              <a:cxnLst/>
              <a:rect l="l" t="t" r="r" b="b"/>
              <a:pathLst>
                <a:path w="104775" h="9525">
                  <a:moveTo>
                    <a:pt x="0" y="0"/>
                  </a:moveTo>
                  <a:lnTo>
                    <a:pt x="104775" y="0"/>
                  </a:lnTo>
                </a:path>
              </a:pathLst>
            </a:custGeom>
            <a:noFill/>
            <a:ln w="17145">
              <a:solidFill>
                <a:srgbClr val="E30613"/>
              </a:solidFill>
            </a:ln>
          </p:spPr>
        </p:sp>
        <p:sp>
          <p:nvSpPr>
            <p:cNvPr id="39" name="Polygon 39"/>
            <p:cNvSpPr/>
            <p:nvPr/>
          </p:nvSpPr>
          <p:spPr>
            <a:xfrm>
              <a:off x="8588692" y="3063240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8667750" y="2381250"/>
              <a:ext cx="2381250" cy="1428750"/>
            </a:xfrm>
            <a:prstGeom prst="roundRect">
              <a:avLst>
                <a:gd name="adj" fmla="val 2000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8667750" y="2381250"/>
              <a:ext cx="238125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253151" y="2523649"/>
              <a:ext cx="12104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阶段 4 · 回执与重试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045207" y="2783443"/>
              <a:ext cx="1626336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消息落库 + 状态机 + XXL-Job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763000" y="3028950"/>
              <a:ext cx="2190750" cy="647700"/>
            </a:xfrm>
            <a:prstGeom prst="roundRect">
              <a:avLst>
                <a:gd name="adj" fmla="val 4412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8763000" y="3028950"/>
              <a:ext cx="2190750" cy="647700"/>
            </a:xfrm>
            <a:prstGeom prst="roundRect">
              <a:avLst>
                <a:gd name="adj" fmla="val 4412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834438" y="3153489"/>
              <a:ext cx="1346723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失败进 FAILED/重试队列，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834438" y="3324939"/>
              <a:ext cx="647624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避免消息丢失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834438" y="3504486"/>
              <a:ext cx="1146214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1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NoticeRetryJob 同款机制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952500" y="408622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81088" y="4055745"/>
              <a:ext cx="521337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单点不阻塞：AI 生成耗时（向量检索+LLM）被 MQ 拆到异步侧，用户请求只等「提交成功」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952500" y="433387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081088" y="4303395"/>
              <a:ext cx="88647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失败可定位：recommend 记录状态机 PROCESSING→COMPLETED/FAILED（RecommendRecordStatusEnum.isFinalStatus:43）；消息侧 message 模块同款留痕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952500" y="458152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081088" y="4551045"/>
              <a:ext cx="51173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最终一致：扣费成功但生成失败 → 回执 FAILED → 可退费/重试 —— 由幂等流水保证不会双扣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952500" y="5238750"/>
              <a:ext cx="10287000" cy="381000"/>
            </a:xfrm>
            <a:prstGeom prst="roundRect">
              <a:avLst>
                <a:gd name="adj" fmla="val 7500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2807534" y="5371624"/>
              <a:ext cx="65769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结论：事件驱动 + 状态机 + 幂等 + 重试，把「长任务」做成「可靠异步编排」——这是本仓库最有价值的工程模式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58" name="TextBox 58"/>
            <p:cNvSpPr txBox="1"/>
            <p:nvPr/>
          </p:nvSpPr>
          <p:spPr>
            <a:xfrm>
              <a:off x="604838" y="6613684"/>
              <a:ext cx="149716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Kaleido AI 智能衣柜 · 技术架构详解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29 / 39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783961" cy="738854"/>
            <a:chOff x="595122" y="501491"/>
            <a:chExt cx="5783961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74283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06 · 服装域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78396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服装域领域模型：四大聚合与分层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49" name="Group 49"/>
          <p:cNvGrpSpPr/>
          <p:nvPr/>
        </p:nvGrpSpPr>
        <p:grpSpPr>
          <a:xfrm>
            <a:off x="947738" y="1866900"/>
            <a:ext cx="10291762" cy="3085862"/>
            <a:chOff x="947738" y="1866900"/>
            <a:chExt cx="10291762" cy="3085862"/>
          </a:xfrm>
        </p:grpSpPr>
        <p:sp>
          <p:nvSpPr>
            <p:cNvPr id="6" name="Rectangle 6"/>
            <p:cNvSpPr/>
            <p:nvPr/>
          </p:nvSpPr>
          <p:spPr>
            <a:xfrm>
              <a:off x="952500" y="1866900"/>
              <a:ext cx="3238500" cy="2000250"/>
            </a:xfrm>
            <a:prstGeom prst="roundRect">
              <a:avLst>
                <a:gd name="adj" fmla="val 1429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952500" y="1866900"/>
              <a:ext cx="32385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88488" y="2005251"/>
              <a:ext cx="1966525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1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ClothingAggregate（聚合根）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1123950" y="227647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52538" y="2250043"/>
              <a:ext cx="1960922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6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userId/name/typeCode/colorCode/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123950" y="2476500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252538" y="2450068"/>
              <a:ext cx="1998782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6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seasonCode/size/price/description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123950" y="267652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252538" y="2650093"/>
              <a:ext cx="1595181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6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brandId · currentLocationId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123950" y="2876550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252538" y="2850118"/>
              <a:ext cx="2028077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行为：changeLocation / addImages /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123950" y="307657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252538" y="3050143"/>
              <a:ext cx="1836569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6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setAsPrimaryImage / updateInfo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143000" y="3543300"/>
              <a:ext cx="2857500" cy="323850"/>
            </a:xfrm>
            <a:prstGeom prst="roundRect">
              <a:avLst>
                <a:gd name="adj" fmla="val 882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1143000" y="3543300"/>
              <a:ext cx="2857500" cy="323850"/>
            </a:xfrm>
            <a:prstGeom prst="roundRect">
              <a:avLst>
                <a:gd name="adj" fmla="val 8824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271588" y="3663791"/>
              <a:ext cx="204522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ClothingImage（1..10 张，isPrimary）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381500" y="1866900"/>
              <a:ext cx="2857500" cy="2000250"/>
            </a:xfrm>
            <a:prstGeom prst="roundRect">
              <a:avLst>
                <a:gd name="adj" fmla="val 1429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4381500" y="1866900"/>
              <a:ext cx="28575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941370" y="2005251"/>
              <a:ext cx="1737761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1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OutfitAggregate（穿搭）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552950" y="227647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681538" y="2250043"/>
              <a:ext cx="1509240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6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wearCount · lastWornDate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552950" y="2476500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681538" y="2450068"/>
              <a:ext cx="1579266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关联服装清单 OutfitClothing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552950" y="267652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681538" y="2650093"/>
              <a:ext cx="1208413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穿搭图片 OutfitImage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552950" y="2876550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681538" y="2850118"/>
              <a:ext cx="1624131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行为：recordWear / compose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552950" y="307657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1538" y="3050143"/>
              <a:ext cx="1436666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创建扣金币（Dubbo→coin）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429500" y="1866900"/>
              <a:ext cx="3810000" cy="2000250"/>
            </a:xfrm>
            <a:prstGeom prst="roundRect">
              <a:avLst>
                <a:gd name="adj" fmla="val 1429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429500" y="1866900"/>
              <a:ext cx="38100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264837" y="2005251"/>
              <a:ext cx="2139325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1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LocationAggregate（存储位置）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600950" y="227647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729538" y="2245995"/>
              <a:ext cx="220248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位置创建/挂载/标签关联；服装可换位置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600950" y="250507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729538" y="2474595"/>
              <a:ext cx="305652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BrandAggregate（品牌）由 admin 侧管理、用户端只读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7429500" y="3048000"/>
              <a:ext cx="3810000" cy="819150"/>
            </a:xfrm>
            <a:prstGeom prst="roundRect">
              <a:avLst>
                <a:gd name="adj" fmla="val 348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7429500" y="3048000"/>
              <a:ext cx="3810000" cy="819150"/>
            </a:xfrm>
            <a:prstGeom prst="roundRect">
              <a:avLst>
                <a:gd name="adj" fmla="val 3488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96188" y="3221593"/>
              <a:ext cx="2063610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领域服务层：ClothingDomainService /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596188" y="3431143"/>
              <a:ext cx="2123748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OutfitDomainService（编排聚合行为）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952500" y="4191000"/>
              <a:ext cx="10287000" cy="381000"/>
            </a:xfrm>
            <a:prstGeom prst="roundRect">
              <a:avLst>
                <a:gd name="adj" fmla="val 7500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234957" y="4323874"/>
              <a:ext cx="97220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分层骨架：trigger(controller/rpc/listener) → application(command/query) → domain(model/service/adapter) → infrastructure(dao/repository)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47738" y="4783693"/>
              <a:ext cx="9847400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事实：聚合类路径 domain/clothing|location|outfit/model/aggregate；仓储/DAO 在 infrastructure；跨域事件走 adapter/event → MQ（ClothingEvent）。全模块 114 个 Java 文件。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50" name="TextBox 50"/>
            <p:cNvSpPr txBox="1"/>
            <p:nvPr/>
          </p:nvSpPr>
          <p:spPr>
            <a:xfrm>
              <a:off x="604838" y="6613684"/>
              <a:ext cx="149716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Kaleido AI 智能衣柜 · 技术架构详解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30 / 39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7094184" cy="738854"/>
            <a:chOff x="595122" y="501491"/>
            <a:chExt cx="7094184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74283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06 · 服装域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709418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服装图片处理：模板方法 + 责任链 + 策略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45" name="Group 45"/>
          <p:cNvGrpSpPr/>
          <p:nvPr/>
        </p:nvGrpSpPr>
        <p:grpSpPr>
          <a:xfrm>
            <a:off x="952500" y="1866900"/>
            <a:ext cx="10287000" cy="3657362"/>
            <a:chOff x="952500" y="1866900"/>
            <a:chExt cx="10287000" cy="3657362"/>
          </a:xfrm>
        </p:grpSpPr>
        <p:sp>
          <p:nvSpPr>
            <p:cNvPr id="6" name="Rectangle 6"/>
            <p:cNvSpPr/>
            <p:nvPr/>
          </p:nvSpPr>
          <p:spPr>
            <a:xfrm>
              <a:off x="952500" y="1866900"/>
              <a:ext cx="10287000" cy="342900"/>
            </a:xfrm>
            <a:prstGeom prst="roundRect">
              <a:avLst>
                <a:gd name="adj" fmla="val 8333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3212842" y="1976676"/>
              <a:ext cx="5766316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1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统一图片处理链：Clothing / Location / Outfit 三类业务复用（模板方法 + 责任链 + 策略）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952500" y="2381250"/>
              <a:ext cx="2857500" cy="419100"/>
            </a:xfrm>
            <a:prstGeom prst="roundRect">
              <a:avLst>
                <a:gd name="adj" fmla="val 6818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52500" y="2381250"/>
              <a:ext cx="28575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43390" y="2541270"/>
              <a:ext cx="20757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FileService 入口（三业务各自实现）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3810000" y="2590800"/>
              <a:ext cx="390525" cy="9525"/>
            </a:xfrm>
            <a:custGeom>
              <a:avLst/>
              <a:gdLst/>
              <a:ahLst/>
              <a:cxnLst/>
              <a:rect l="l" t="t" r="r" b="b"/>
              <a:pathLst>
                <a:path w="390525" h="9525">
                  <a:moveTo>
                    <a:pt x="0" y="0"/>
                  </a:moveTo>
                  <a:lnTo>
                    <a:pt x="390525" y="0"/>
                  </a:lnTo>
                </a:path>
              </a:pathLst>
            </a:custGeom>
            <a:noFill/>
            <a:ln w="17145">
              <a:solidFill>
                <a:srgbClr val="E30613"/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4207192" y="2558415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4286250" y="2381250"/>
              <a:ext cx="2857500" cy="419100"/>
            </a:xfrm>
            <a:prstGeom prst="roundRect">
              <a:avLst>
                <a:gd name="adj" fmla="val 6818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286250" y="2381250"/>
              <a:ext cx="28575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388768" y="2541270"/>
              <a:ext cx="265246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UnifiedImageProcessingService（模板方法）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7143750" y="2590800"/>
              <a:ext cx="390525" cy="9525"/>
            </a:xfrm>
            <a:custGeom>
              <a:avLst/>
              <a:gdLst/>
              <a:ahLst/>
              <a:cxnLst/>
              <a:rect l="l" t="t" r="r" b="b"/>
              <a:pathLst>
                <a:path w="390525" h="9525">
                  <a:moveTo>
                    <a:pt x="0" y="0"/>
                  </a:moveTo>
                  <a:lnTo>
                    <a:pt x="390525" y="0"/>
                  </a:lnTo>
                </a:path>
              </a:pathLst>
            </a:custGeom>
            <a:noFill/>
            <a:ln w="17145">
              <a:solidFill>
                <a:srgbClr val="E30613"/>
              </a:solidFill>
            </a:ln>
          </p:spPr>
        </p:sp>
        <p:sp>
          <p:nvSpPr>
            <p:cNvPr id="17" name="Polygon 17"/>
            <p:cNvSpPr/>
            <p:nvPr/>
          </p:nvSpPr>
          <p:spPr>
            <a:xfrm>
              <a:off x="7540942" y="255841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620000" y="2381250"/>
              <a:ext cx="2857500" cy="419100"/>
            </a:xfrm>
            <a:prstGeom prst="roundRect">
              <a:avLst>
                <a:gd name="adj" fmla="val 681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620000" y="2381250"/>
              <a:ext cx="2857500" cy="419100"/>
            </a:xfrm>
            <a:prstGeom prst="roundRect">
              <a:avLst>
                <a:gd name="adj" fmla="val 6818"/>
              </a:avLst>
            </a:prstGeom>
            <a:noFill/>
            <a:ln w="13335">
              <a:solidFill>
                <a:srgbClr val="1A1A1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878614" y="2541270"/>
              <a:ext cx="23402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ImageProcessingChainBuilder.process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52500" y="3143250"/>
              <a:ext cx="3238500" cy="1143000"/>
            </a:xfrm>
            <a:prstGeom prst="roundRect">
              <a:avLst>
                <a:gd name="adj" fmla="val 2500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952500" y="3143250"/>
              <a:ext cx="32385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966595" y="3281601"/>
              <a:ext cx="1210309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1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ValidationHandler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19188" y="3564493"/>
              <a:ext cx="1271453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校验 path 非空、顺序≥0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19188" y="3774043"/>
              <a:ext cx="1142878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isPrimary 默认 false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191000" y="3714750"/>
              <a:ext cx="200025" cy="9525"/>
            </a:xfrm>
            <a:custGeom>
              <a:avLst/>
              <a:gdLst/>
              <a:ahLst/>
              <a:cxnLst/>
              <a:rect l="l" t="t" r="r" b="b"/>
              <a:pathLst>
                <a:path w="200025" h="9525">
                  <a:moveTo>
                    <a:pt x="0" y="0"/>
                  </a:moveTo>
                  <a:lnTo>
                    <a:pt x="200025" y="0"/>
                  </a:lnTo>
                </a:path>
              </a:pathLst>
            </a:custGeom>
            <a:noFill/>
            <a:ln w="17145">
              <a:solidFill>
                <a:srgbClr val="E30613"/>
              </a:solidFill>
            </a:ln>
          </p:spPr>
        </p:sp>
        <p:sp>
          <p:nvSpPr>
            <p:cNvPr id="27" name="Polygon 27"/>
            <p:cNvSpPr/>
            <p:nvPr/>
          </p:nvSpPr>
          <p:spPr>
            <a:xfrm>
              <a:off x="4397692" y="3682365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4476750" y="3143250"/>
              <a:ext cx="3238500" cy="1143000"/>
            </a:xfrm>
            <a:prstGeom prst="roundRect">
              <a:avLst>
                <a:gd name="adj" fmla="val 2500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124244" y="3281601"/>
              <a:ext cx="1943512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1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MetadataExtractionHandler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43438" y="3564493"/>
              <a:ext cx="1098256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6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MinIO getImageInfo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643438" y="3774043"/>
              <a:ext cx="1126736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读宽高 / 大小 / mime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7715250" y="3714750"/>
              <a:ext cx="200025" cy="9525"/>
            </a:xfrm>
            <a:custGeom>
              <a:avLst/>
              <a:gdLst/>
              <a:ahLst/>
              <a:cxnLst/>
              <a:rect l="l" t="t" r="r" b="b"/>
              <a:pathLst>
                <a:path w="200025" h="9525">
                  <a:moveTo>
                    <a:pt x="0" y="0"/>
                  </a:moveTo>
                  <a:lnTo>
                    <a:pt x="200025" y="0"/>
                  </a:lnTo>
                </a:path>
              </a:pathLst>
            </a:custGeom>
            <a:noFill/>
            <a:ln w="17145">
              <a:solidFill>
                <a:srgbClr val="E30613"/>
              </a:solidFill>
            </a:ln>
          </p:spPr>
        </p:sp>
        <p:sp>
          <p:nvSpPr>
            <p:cNvPr id="33" name="Polygon 33"/>
            <p:cNvSpPr/>
            <p:nvPr/>
          </p:nvSpPr>
          <p:spPr>
            <a:xfrm>
              <a:off x="7921942" y="368236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8001000" y="3143250"/>
              <a:ext cx="3238500" cy="11430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8001000" y="3143250"/>
              <a:ext cx="3238500" cy="1143000"/>
            </a:xfrm>
            <a:prstGeom prst="roundRect">
              <a:avLst>
                <a:gd name="adj" fmla="val 2500"/>
              </a:avLst>
            </a:prstGeom>
            <a:noFill/>
            <a:ln w="9525">
              <a:solidFill>
                <a:srgbClr val="1A1A1A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712921" y="3281601"/>
              <a:ext cx="1814659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1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ImageOptimizationHandler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167688" y="3564493"/>
              <a:ext cx="1743502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&gt;1MB 标压缩、非 webp 标转格式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167688" y="3774043"/>
              <a:ext cx="1051484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（当前为模拟估算）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952500" y="4572000"/>
              <a:ext cx="10287000" cy="381000"/>
            </a:xfrm>
            <a:prstGeom prst="roundRect">
              <a:avLst>
                <a:gd name="adj" fmla="val 7500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130598" y="4712970"/>
              <a:ext cx="793080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装配证据：ImageProcessingChainBuilder.java:56-62（add 顺序 + setNext 串链）｜ Context 携带 basic→minio→processed 三段信息 + 错误位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952500" y="515302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081088" y="5126593"/>
              <a:ext cx="8351085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收尾策略：ImageConversionContext 按 DomainType(CLOTHING/LOCATION/OUTFIT) 选择转换策略，拼装各业务 DTO；mime → ImageTypeEnums 推文件类型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952500" y="538162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081088" y="5355193"/>
              <a:ext cx="8780876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诚实标注：压缩/转格式为模拟（ImageOptimizationHandler.java:58-82，simulateCompression 系数估算）——链路已预留真实执行位，是「待接入」非「已做真压缩」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6" name="TextBox 46"/>
            <p:cNvSpPr txBox="1"/>
            <p:nvPr/>
          </p:nvSpPr>
          <p:spPr>
            <a:xfrm>
              <a:off x="604838" y="6613684"/>
              <a:ext cx="149716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Kaleido AI 智能衣柜 · 技术架构详解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31 / 39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6751281" cy="738854"/>
            <a:chOff x="595122" y="501491"/>
            <a:chExt cx="6751281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51719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spc="150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06 · AI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675128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领域事件驱动向量同步：服装 → Milvus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952500" y="2000250"/>
            <a:ext cx="10287000" cy="2343150"/>
            <a:chOff x="952500" y="2000250"/>
            <a:chExt cx="10287000" cy="2343150"/>
          </a:xfrm>
        </p:grpSpPr>
        <p:sp>
          <p:nvSpPr>
            <p:cNvPr id="6" name="Rectangle 6"/>
            <p:cNvSpPr/>
            <p:nvPr/>
          </p:nvSpPr>
          <p:spPr>
            <a:xfrm>
              <a:off x="952500" y="2000250"/>
              <a:ext cx="2857500" cy="914400"/>
            </a:xfrm>
            <a:prstGeom prst="roundRect">
              <a:avLst>
                <a:gd name="adj" fmla="val 3125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952500" y="2000250"/>
              <a:ext cx="28575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45137" y="2134552"/>
              <a:ext cx="12722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kaleido-wardrobe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00138" y="2402443"/>
              <a:ext cx="1636466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服装 CREATE/UPDATE/DELETE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00138" y="2620089"/>
              <a:ext cx="1817124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9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ClothingEventPublisherImpl:99,121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3810000" y="2457450"/>
              <a:ext cx="485775" cy="9525"/>
            </a:xfrm>
            <a:custGeom>
              <a:avLst/>
              <a:gdLst/>
              <a:ahLst/>
              <a:cxnLst/>
              <a:rect l="l" t="t" r="r" b="b"/>
              <a:pathLst>
                <a:path w="485775" h="9525">
                  <a:moveTo>
                    <a:pt x="0" y="0"/>
                  </a:moveTo>
                  <a:lnTo>
                    <a:pt x="485775" y="0"/>
                  </a:lnTo>
                </a:path>
              </a:pathLst>
            </a:custGeom>
            <a:noFill/>
            <a:ln w="17145">
              <a:solidFill>
                <a:srgbClr val="E30613"/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4302442" y="2425065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4381500" y="2000250"/>
              <a:ext cx="3048000" cy="914400"/>
            </a:xfrm>
            <a:prstGeom prst="roundRect">
              <a:avLst>
                <a:gd name="adj" fmla="val 3125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381500" y="2000250"/>
              <a:ext cx="30480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998713" y="2134552"/>
              <a:ext cx="18135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RabbitMQ clothing-event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529138" y="2402443"/>
              <a:ext cx="1740334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6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topic=${topic.clothing-event}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529138" y="2620089"/>
              <a:ext cx="1354850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（kaleido-mq.yml:11-15）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7429500" y="2457450"/>
              <a:ext cx="485775" cy="9525"/>
            </a:xfrm>
            <a:custGeom>
              <a:avLst/>
              <a:gdLst/>
              <a:ahLst/>
              <a:cxnLst/>
              <a:rect l="l" t="t" r="r" b="b"/>
              <a:pathLst>
                <a:path w="485775" h="9525">
                  <a:moveTo>
                    <a:pt x="0" y="0"/>
                  </a:moveTo>
                  <a:lnTo>
                    <a:pt x="485775" y="0"/>
                  </a:lnTo>
                </a:path>
              </a:pathLst>
            </a:custGeom>
            <a:noFill/>
            <a:ln w="17145">
              <a:solidFill>
                <a:srgbClr val="E30613"/>
              </a:solidFill>
            </a:ln>
          </p:spPr>
        </p:sp>
        <p:sp>
          <p:nvSpPr>
            <p:cNvPr id="19" name="Polygon 19"/>
            <p:cNvSpPr/>
            <p:nvPr/>
          </p:nvSpPr>
          <p:spPr>
            <a:xfrm>
              <a:off x="7921942" y="242506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8001000" y="2000250"/>
              <a:ext cx="3238500" cy="914400"/>
            </a:xfrm>
            <a:prstGeom prst="roundRect">
              <a:avLst>
                <a:gd name="adj" fmla="val 3125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001000" y="2000250"/>
              <a:ext cx="32385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432041" y="2134552"/>
              <a:ext cx="23764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kaleido-ai ClothingEventListener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148638" y="2402443"/>
              <a:ext cx="2245173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@RabbitListener（:34）→ VectorService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48638" y="2620089"/>
              <a:ext cx="2055178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handleCreate/Update/Delete（:54-63）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9620250" y="2914650"/>
              <a:ext cx="9525" cy="428625"/>
            </a:xfrm>
            <a:custGeom>
              <a:avLst/>
              <a:gdLst/>
              <a:ahLst/>
              <a:cxnLst/>
              <a:rect l="l" t="t" r="r" b="b"/>
              <a:pathLst>
                <a:path w="9525" h="428625">
                  <a:moveTo>
                    <a:pt x="0" y="0"/>
                  </a:moveTo>
                  <a:lnTo>
                    <a:pt x="0" y="428625"/>
                  </a:lnTo>
                </a:path>
              </a:pathLst>
            </a:custGeom>
            <a:noFill/>
            <a:ln w="17145">
              <a:solidFill>
                <a:srgbClr val="E30613"/>
              </a:solidFill>
            </a:ln>
          </p:spPr>
        </p:sp>
        <p:sp>
          <p:nvSpPr>
            <p:cNvPr id="26" name="Polygon 26"/>
            <p:cNvSpPr/>
            <p:nvPr/>
          </p:nvSpPr>
          <p:spPr>
            <a:xfrm>
              <a:off x="9587865" y="3349942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79058"/>
                  </a:moveTo>
                  <a:lnTo>
                    <a:pt x="0" y="0"/>
                  </a:lnTo>
                  <a:lnTo>
                    <a:pt x="6477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8001000" y="3429000"/>
              <a:ext cx="3238500" cy="914400"/>
            </a:xfrm>
            <a:prstGeom prst="roundRect">
              <a:avLst>
                <a:gd name="adj" fmla="val 3125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8001000" y="3429000"/>
              <a:ext cx="3238500" cy="914400"/>
            </a:xfrm>
            <a:prstGeom prst="roundRect">
              <a:avLst>
                <a:gd name="adj" fmla="val 3125"/>
              </a:avLst>
            </a:prstGeom>
            <a:noFill/>
            <a:ln w="13335">
              <a:solidFill>
                <a:srgbClr val="1A1A1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725933" y="3563302"/>
              <a:ext cx="1788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Milvus kaleido_collection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148638" y="3831193"/>
              <a:ext cx="2031580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6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vectorStore.add / similaritySearch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148638" y="4048839"/>
              <a:ext cx="1544649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9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dim 1536 · IVF_FLAT · COSINE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952500" y="328612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81088" y="3255645"/>
              <a:ext cx="595129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Embedding：BGE-M3（init_env.bat:23 EMBEDDING_MODEL=BAAI/bge-m3；kaleido-ai-dev.yml:23,51）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952500" y="353377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81088" y="3503295"/>
              <a:ext cx="672998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ClothingDocumentRepositoryImpl.java:32 注入 MilvusVectorStore；检索按 userId / clothingId 过滤（:91,122,152）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952500" y="378142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81088" y="3750945"/>
              <a:ext cx="564337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动机：服装入库/编辑/删除后向量库自动同步，保证「搭配检索」永远基于最新衣橱 —— 事件驱动 vs 轮询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9" name="TextBox 39"/>
            <p:cNvSpPr txBox="1"/>
            <p:nvPr/>
          </p:nvSpPr>
          <p:spPr>
            <a:xfrm>
              <a:off x="604838" y="6613684"/>
              <a:ext cx="149716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Kaleido AI 智能衣柜 · 技术架构详解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32 / 39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9322669" cy="738854"/>
            <a:chOff x="595122" y="501491"/>
            <a:chExt cx="9322669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51719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spc="150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06 · AI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932266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Agent 即配置：注册中心 + Armory 装配 ChatClient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952500" y="1866900"/>
            <a:ext cx="10287000" cy="3127057"/>
            <a:chOff x="952500" y="1866900"/>
            <a:chExt cx="10287000" cy="3127057"/>
          </a:xfrm>
        </p:grpSpPr>
        <p:sp>
          <p:nvSpPr>
            <p:cNvPr id="6" name="Rectangle 6"/>
            <p:cNvSpPr/>
            <p:nvPr/>
          </p:nvSpPr>
          <p:spPr>
            <a:xfrm>
              <a:off x="952500" y="1866900"/>
              <a:ext cx="2476500" cy="914400"/>
            </a:xfrm>
            <a:prstGeom prst="roundRect">
              <a:avLst>
                <a:gd name="adj" fmla="val 3125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952500" y="1866900"/>
              <a:ext cx="24765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50084" y="1998345"/>
              <a:ext cx="208133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DB：t_ai_agent / t_ai_agent_tool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81088" y="2258139"/>
              <a:ext cx="1684534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9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code/model_name/temperature/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81088" y="2448639"/>
              <a:ext cx="1801519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9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max_tokens/system_prompt/tools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3429000" y="2324100"/>
              <a:ext cx="485775" cy="9525"/>
            </a:xfrm>
            <a:custGeom>
              <a:avLst/>
              <a:gdLst/>
              <a:ahLst/>
              <a:cxnLst/>
              <a:rect l="l" t="t" r="r" b="b"/>
              <a:pathLst>
                <a:path w="485775" h="9525">
                  <a:moveTo>
                    <a:pt x="0" y="0"/>
                  </a:moveTo>
                  <a:lnTo>
                    <a:pt x="485775" y="0"/>
                  </a:lnTo>
                </a:path>
              </a:pathLst>
            </a:custGeom>
            <a:noFill/>
            <a:ln w="17145">
              <a:solidFill>
                <a:srgbClr val="E30613"/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3921442" y="2291715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4000500" y="1866900"/>
              <a:ext cx="2857500" cy="914400"/>
            </a:xfrm>
            <a:prstGeom prst="roundRect">
              <a:avLst>
                <a:gd name="adj" fmla="val 3125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000500" y="1866900"/>
              <a:ext cx="28575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75536" y="1990249"/>
              <a:ext cx="15074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AgentFactory 注册中心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148138" y="2258139"/>
              <a:ext cx="1621907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Caffeine 缓存 agent→ChatClient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148138" y="2448639"/>
              <a:ext cx="2136521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system_default 默认单例（:34,185-195）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6858000" y="2324100"/>
              <a:ext cx="485775" cy="9525"/>
            </a:xfrm>
            <a:custGeom>
              <a:avLst/>
              <a:gdLst/>
              <a:ahLst/>
              <a:cxnLst/>
              <a:rect l="l" t="t" r="r" b="b"/>
              <a:pathLst>
                <a:path w="485775" h="9525">
                  <a:moveTo>
                    <a:pt x="0" y="0"/>
                  </a:moveTo>
                  <a:lnTo>
                    <a:pt x="485775" y="0"/>
                  </a:lnTo>
                </a:path>
              </a:pathLst>
            </a:custGeom>
            <a:noFill/>
            <a:ln w="17145">
              <a:solidFill>
                <a:srgbClr val="E30613"/>
              </a:solidFill>
            </a:ln>
          </p:spPr>
        </p:sp>
        <p:sp>
          <p:nvSpPr>
            <p:cNvPr id="19" name="Polygon 19"/>
            <p:cNvSpPr/>
            <p:nvPr/>
          </p:nvSpPr>
          <p:spPr>
            <a:xfrm>
              <a:off x="7350442" y="229171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429500" y="1866900"/>
              <a:ext cx="3810000" cy="914400"/>
            </a:xfrm>
            <a:prstGeom prst="roundRect">
              <a:avLst>
                <a:gd name="adj" fmla="val 3125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429500" y="1866900"/>
              <a:ext cx="38100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87596" y="1990249"/>
              <a:ext cx="18938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AgentChatClientArmory 组装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77138" y="2258139"/>
              <a:ext cx="1875333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createChatClient(agent)（:64-82）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77138" y="2448639"/>
              <a:ext cx="2056759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无参时回退 spring.ai 配置 / deepseek-v3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952500" y="3048000"/>
              <a:ext cx="3238500" cy="438150"/>
            </a:xfrm>
            <a:prstGeom prst="roundRect">
              <a:avLst>
                <a:gd name="adj" fmla="val 6522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681119" y="3194447"/>
              <a:ext cx="1781261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4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ChatModel：OpenAI 兼容 API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381500" y="3048000"/>
              <a:ext cx="3238500" cy="438150"/>
            </a:xfrm>
            <a:prstGeom prst="roundRect">
              <a:avLst>
                <a:gd name="adj" fmla="val 6522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49433" y="3194447"/>
              <a:ext cx="230263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4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Advisor：记忆 / RAG（按工具自动挂）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810500" y="3048000"/>
              <a:ext cx="3429000" cy="438150"/>
            </a:xfrm>
            <a:prstGeom prst="roundRect">
              <a:avLst>
                <a:gd name="adj" fmla="val 6522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263238" y="3194447"/>
              <a:ext cx="252352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4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工具：MEMORY · VECTOR_STORE · MCP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952500" y="370522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81088" y="3674745"/>
              <a:ext cx="1008775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模型来源：base-url=${AI_BASE_URL} api-key=${AI_API_KEY} model=${CHAT_MODEL}（kaleido-ai-dev.yml:16-23）；默认环境指向硅基流动 + deepseek-ai/DeepSeek-V3（init_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81088" y="3903345"/>
              <a:ext cx="9969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env.bat:20-22）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952500" y="416242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81088" y="4131945"/>
              <a:ext cx="100503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MEMORY → MessageChatMemoryAdvisor（maxMessages 默认 200，MemoryConfig.java:20）；MCP → McpSyncClient + SyncMcpToolCallbackProvider（baseUri http://localhos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81088" y="4360545"/>
              <a:ext cx="9182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t:9021，/sse）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952500" y="461962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081088" y="4589145"/>
              <a:ext cx="859505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RAG：Agent 含 VECTOR_STORE 工具时 ChatServiceImpl 挂 RAG advisor，filter=userId==当前用户（ChatServiceImpl.java:73-99）——私有衣橱检索隔离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952500" y="484822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81088" y="4817745"/>
              <a:ext cx="79735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生命周期：admin 启停 Agent → Dubbo → AgentCommandService → agentFactory.register/unregister（AgentCommandService.java:56-58）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2" name="TextBox 42"/>
            <p:cNvSpPr txBox="1"/>
            <p:nvPr/>
          </p:nvSpPr>
          <p:spPr>
            <a:xfrm>
              <a:off x="604838" y="6613684"/>
              <a:ext cx="149716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Kaleido AI 智能衣柜 · 技术架构详解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33 / 39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6939740" cy="738854"/>
            <a:chOff x="595122" y="501491"/>
            <a:chExt cx="6939740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51719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spc="150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06 · AI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693974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智能穿搭推荐的内容链路（RAG 落地）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60" name="Group 60"/>
          <p:cNvGrpSpPr/>
          <p:nvPr/>
        </p:nvGrpSpPr>
        <p:grpSpPr>
          <a:xfrm>
            <a:off x="952500" y="1809750"/>
            <a:ext cx="10477500" cy="3371850"/>
            <a:chOff x="952500" y="1809750"/>
            <a:chExt cx="10477500" cy="3371850"/>
          </a:xfrm>
        </p:grpSpPr>
        <p:sp>
          <p:nvSpPr>
            <p:cNvPr id="6" name="Rectangle 6"/>
            <p:cNvSpPr/>
            <p:nvPr/>
          </p:nvSpPr>
          <p:spPr>
            <a:xfrm>
              <a:off x="952500" y="1809750"/>
              <a:ext cx="10287000" cy="323850"/>
            </a:xfrm>
            <a:prstGeom prst="roundRect">
              <a:avLst>
                <a:gd name="adj" fmla="val 8824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4110470" y="1919526"/>
              <a:ext cx="3971059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1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「智能穿搭推荐」的生成内容链路（P10 旅程的 AI 内部视角）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952500" y="2381250"/>
              <a:ext cx="1524000" cy="876300"/>
            </a:xfrm>
            <a:prstGeom prst="roundRect">
              <a:avLst>
                <a:gd name="adj" fmla="val 3261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52500" y="2381250"/>
              <a:ext cx="1524000" cy="876300"/>
            </a:xfrm>
            <a:prstGeom prst="roundRect">
              <a:avLst>
                <a:gd name="adj" fmla="val 3261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406842" y="2531745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提示词进入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42988" y="2772489"/>
              <a:ext cx="1120880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recommend 存 prompt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42988" y="2943939"/>
              <a:ext cx="454446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9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Dubbo→ai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2476500" y="2819400"/>
              <a:ext cx="180975" cy="9525"/>
            </a:xfrm>
            <a:custGeom>
              <a:avLst/>
              <a:gdLst/>
              <a:ahLst/>
              <a:cxnLst/>
              <a:rect l="l" t="t" r="r" b="b"/>
              <a:pathLst>
                <a:path w="180975" h="9525">
                  <a:moveTo>
                    <a:pt x="0" y="0"/>
                  </a:moveTo>
                  <a:lnTo>
                    <a:pt x="180975" y="0"/>
                  </a:lnTo>
                </a:path>
              </a:pathLst>
            </a:custGeom>
            <a:noFill/>
            <a:ln w="17145">
              <a:solidFill>
                <a:srgbClr val="E30613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2664142" y="2787015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2743200" y="2381250"/>
              <a:ext cx="1524000" cy="876300"/>
            </a:xfrm>
            <a:prstGeom prst="roundRect">
              <a:avLst>
                <a:gd name="adj" fmla="val 3261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2743200" y="2381250"/>
              <a:ext cx="1524000" cy="876300"/>
            </a:xfrm>
            <a:prstGeom prst="roundRect">
              <a:avLst>
                <a:gd name="adj" fmla="val 3261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197542" y="2531745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工作流调度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833688" y="2772489"/>
              <a:ext cx="1889596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9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OutfitRecommendWorkflowExecutor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833688" y="2943939"/>
              <a:ext cx="1353863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9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code=OUTFIT_RECOMMEND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4267200" y="2819400"/>
              <a:ext cx="180975" cy="9525"/>
            </a:xfrm>
            <a:custGeom>
              <a:avLst/>
              <a:gdLst/>
              <a:ahLst/>
              <a:cxnLst/>
              <a:rect l="l" t="t" r="r" b="b"/>
              <a:pathLst>
                <a:path w="180975" h="9525">
                  <a:moveTo>
                    <a:pt x="0" y="0"/>
                  </a:moveTo>
                  <a:lnTo>
                    <a:pt x="180975" y="0"/>
                  </a:lnTo>
                </a:path>
              </a:pathLst>
            </a:custGeom>
            <a:noFill/>
            <a:ln w="17145">
              <a:solidFill>
                <a:srgbClr val="E30613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4454842" y="2787015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533900" y="2381250"/>
              <a:ext cx="1524000" cy="876300"/>
            </a:xfrm>
            <a:prstGeom prst="roundRect">
              <a:avLst>
                <a:gd name="adj" fmla="val 3261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4533900" y="2381250"/>
              <a:ext cx="1524000" cy="876300"/>
            </a:xfrm>
            <a:prstGeom prst="roundRect">
              <a:avLst>
                <a:gd name="adj" fmla="val 3261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4533900" y="2381250"/>
              <a:ext cx="15240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048821" y="25317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向量检索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24388" y="2772489"/>
              <a:ext cx="1217462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9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Milvus similaritySearch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24388" y="2943939"/>
              <a:ext cx="1034145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topK=100 · 阈值 0.0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6057900" y="2819400"/>
              <a:ext cx="180975" cy="9525"/>
            </a:xfrm>
            <a:custGeom>
              <a:avLst/>
              <a:gdLst/>
              <a:ahLst/>
              <a:cxnLst/>
              <a:rect l="l" t="t" r="r" b="b"/>
              <a:pathLst>
                <a:path w="180975" h="9525">
                  <a:moveTo>
                    <a:pt x="0" y="0"/>
                  </a:moveTo>
                  <a:lnTo>
                    <a:pt x="180975" y="0"/>
                  </a:lnTo>
                </a:path>
              </a:pathLst>
            </a:custGeom>
            <a:noFill/>
            <a:ln w="17145">
              <a:solidFill>
                <a:srgbClr val="E30613"/>
              </a:solidFill>
            </a:ln>
          </p:spPr>
        </p:sp>
        <p:sp>
          <p:nvSpPr>
            <p:cNvPr id="29" name="Polygon 29"/>
            <p:cNvSpPr/>
            <p:nvPr/>
          </p:nvSpPr>
          <p:spPr>
            <a:xfrm>
              <a:off x="6245542" y="278701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324600" y="2381250"/>
              <a:ext cx="1524000" cy="876300"/>
            </a:xfrm>
            <a:prstGeom prst="roundRect">
              <a:avLst>
                <a:gd name="adj" fmla="val 3261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324600" y="2381250"/>
              <a:ext cx="1524000" cy="876300"/>
            </a:xfrm>
            <a:prstGeom prst="roundRect">
              <a:avLst>
                <a:gd name="adj" fmla="val 3261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324600" y="2381250"/>
              <a:ext cx="15240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809323" y="2531745"/>
              <a:ext cx="5545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LLM 生成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15088" y="2772489"/>
              <a:ext cx="1022657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DeepSeek-V3 按衣橱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15088" y="2943939"/>
              <a:ext cx="987141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产出搭配方案 JSON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7848600" y="2819400"/>
              <a:ext cx="180975" cy="9525"/>
            </a:xfrm>
            <a:custGeom>
              <a:avLst/>
              <a:gdLst/>
              <a:ahLst/>
              <a:cxnLst/>
              <a:rect l="l" t="t" r="r" b="b"/>
              <a:pathLst>
                <a:path w="180975" h="9525">
                  <a:moveTo>
                    <a:pt x="0" y="0"/>
                  </a:moveTo>
                  <a:lnTo>
                    <a:pt x="180975" y="0"/>
                  </a:lnTo>
                </a:path>
              </a:pathLst>
            </a:custGeom>
            <a:noFill/>
            <a:ln w="17145">
              <a:solidFill>
                <a:srgbClr val="E30613"/>
              </a:solidFill>
            </a:ln>
          </p:spPr>
        </p:sp>
        <p:sp>
          <p:nvSpPr>
            <p:cNvPr id="37" name="Polygon 37"/>
            <p:cNvSpPr/>
            <p:nvPr/>
          </p:nvSpPr>
          <p:spPr>
            <a:xfrm>
              <a:off x="8036242" y="278701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115300" y="2381250"/>
              <a:ext cx="1524000" cy="876300"/>
            </a:xfrm>
            <a:prstGeom prst="roundRect">
              <a:avLst>
                <a:gd name="adj" fmla="val 3261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8115300" y="2381250"/>
              <a:ext cx="1524000" cy="876300"/>
            </a:xfrm>
            <a:prstGeom prst="roundRect">
              <a:avLst>
                <a:gd name="adj" fmla="val 3261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630222" y="25317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事件回执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205788" y="2772489"/>
              <a:ext cx="647624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发布完成事件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205788" y="2943939"/>
              <a:ext cx="668894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9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→ recommend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9639300" y="2819400"/>
              <a:ext cx="180975" cy="9525"/>
            </a:xfrm>
            <a:custGeom>
              <a:avLst/>
              <a:gdLst/>
              <a:ahLst/>
              <a:cxnLst/>
              <a:rect l="l" t="t" r="r" b="b"/>
              <a:pathLst>
                <a:path w="180975" h="9525">
                  <a:moveTo>
                    <a:pt x="0" y="0"/>
                  </a:moveTo>
                  <a:lnTo>
                    <a:pt x="180975" y="0"/>
                  </a:lnTo>
                </a:path>
              </a:pathLst>
            </a:custGeom>
            <a:noFill/>
            <a:ln w="17145">
              <a:solidFill>
                <a:srgbClr val="E30613"/>
              </a:solidFill>
            </a:ln>
          </p:spPr>
        </p:sp>
        <p:sp>
          <p:nvSpPr>
            <p:cNvPr id="44" name="Polygon 44"/>
            <p:cNvSpPr/>
            <p:nvPr/>
          </p:nvSpPr>
          <p:spPr>
            <a:xfrm>
              <a:off x="9826942" y="278701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9906000" y="2381250"/>
              <a:ext cx="1524000" cy="876300"/>
            </a:xfrm>
            <a:prstGeom prst="roundRect">
              <a:avLst>
                <a:gd name="adj" fmla="val 3261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9906000" y="2381250"/>
              <a:ext cx="1524000" cy="876300"/>
            </a:xfrm>
            <a:prstGeom prst="roundRect">
              <a:avLst>
                <a:gd name="adj" fmla="val 3261"/>
              </a:avLst>
            </a:prstGeom>
            <a:noFill/>
            <a:ln w="9525">
              <a:solidFill>
                <a:srgbClr val="DDDDDD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0420922" y="25317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落库穿搭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996488" y="2772489"/>
              <a:ext cx="943497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创建 Outfit + 回写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996488" y="2943939"/>
              <a:ext cx="610702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9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COMPLETED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952500" y="351472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081088" y="3484245"/>
              <a:ext cx="91407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检索限定「我的衣橱」：Milvus 相似度搜索按 userId(+clothingId) 过滤（ClothingDocumentRepositoryImpl.java:66,94,122,152），返回服装文档再交给 LLM 组搭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952500" y="374332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081088" y="3712845"/>
              <a:ext cx="699653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参数默认：topK=100、similarityThreshold=0.0（VectorStoreConfig.java:20,32）—— 先召回后由模型精筛，而非硬阈值截断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952500" y="397192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081088" y="3941445"/>
              <a:ext cx="594488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向量数据来自服装文档（名称/类型/颜色/季节等文本段）而非图像向量 —— embedding 模型 BGE-M3 1536 维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952500" y="4200525"/>
              <a:ext cx="571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081088" y="4170045"/>
              <a:ext cx="656618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编排归属：ai 侧 WorkflowCommandService 管理工作流与执行记录（t_ai_workflow / t_ai_workflow_execution 表）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952500" y="4762500"/>
              <a:ext cx="10287000" cy="419100"/>
            </a:xfrm>
            <a:prstGeom prst="roundRect">
              <a:avLst>
                <a:gd name="adj" fmla="val 6818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2830942" y="4914424"/>
              <a:ext cx="65301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小结：RAG 是「检索增强生成」在衣橱场景的落地——先按语义找对衣服，再让 LLM 做搭配推理与文案生成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61" name="TextBox 61"/>
            <p:cNvSpPr txBox="1"/>
            <p:nvPr/>
          </p:nvSpPr>
          <p:spPr>
            <a:xfrm>
              <a:off x="604838" y="6613684"/>
              <a:ext cx="149716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Kaleido AI 智能衣柜 · 技术架构详解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34 / 39</a:t>
              </a: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2714625" cy="738854"/>
            <a:chOff x="595122" y="501491"/>
            <a:chExt cx="2714625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74283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06 · 辅助域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271462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辅助业务域速览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2524125" cy="1905000"/>
            <a:chOff x="609600" y="1619250"/>
            <a:chExt cx="2524125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2524125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2524125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1777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kaleido-user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4312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用户档案与行为流水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678906"/>
              <a:ext cx="9386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邀请码 / 冻结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92655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布隆过滤器防注册抖动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419475" y="1619250"/>
            <a:ext cx="2524125" cy="1905000"/>
            <a:chOff x="3419475" y="1619250"/>
            <a:chExt cx="2524125" cy="1905000"/>
          </a:xfrm>
        </p:grpSpPr>
        <p:sp>
          <p:nvSpPr>
            <p:cNvPr id="13" name="Rectangle 13"/>
            <p:cNvSpPr/>
            <p:nvPr/>
          </p:nvSpPr>
          <p:spPr>
            <a:xfrm>
              <a:off x="3419475" y="1619250"/>
              <a:ext cx="2524125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3419475" y="1619250"/>
              <a:ext cx="2524125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641217" y="1892618"/>
              <a:ext cx="10727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kaleido-tag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642360" y="243125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自定义标签体系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642360" y="2678906"/>
              <a:ext cx="16021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类型×实体类型匹配校验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642360" y="292655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多对多关联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238875" y="1619250"/>
            <a:ext cx="2524125" cy="1905000"/>
            <a:chOff x="6238875" y="1619250"/>
            <a:chExt cx="2524125" cy="1905000"/>
          </a:xfrm>
        </p:grpSpPr>
        <p:sp>
          <p:nvSpPr>
            <p:cNvPr id="20" name="Rectangle 20"/>
            <p:cNvSpPr/>
            <p:nvPr/>
          </p:nvSpPr>
          <p:spPr>
            <a:xfrm>
              <a:off x="6238875" y="1619250"/>
              <a:ext cx="2524125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238875" y="1619250"/>
              <a:ext cx="2524125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60617" y="1892618"/>
              <a:ext cx="13399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kaleido-notice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61760" y="2431256"/>
              <a:ext cx="1741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SMS/Email/WeChat 三类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61760" y="2678906"/>
              <a:ext cx="1391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通知模板渲染 + 落库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61760" y="29265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失败定时重试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048750" y="1619250"/>
            <a:ext cx="2524125" cy="1905000"/>
            <a:chOff x="9048750" y="1619250"/>
            <a:chExt cx="2524125" cy="1905000"/>
          </a:xfrm>
        </p:grpSpPr>
        <p:sp>
          <p:nvSpPr>
            <p:cNvPr id="27" name="Rectangle 27"/>
            <p:cNvSpPr/>
            <p:nvPr/>
          </p:nvSpPr>
          <p:spPr>
            <a:xfrm>
              <a:off x="9048750" y="1619250"/>
              <a:ext cx="2524125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9048750" y="1619250"/>
              <a:ext cx="2524125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270492" y="1892618"/>
              <a:ext cx="11300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kaleido-coin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271635" y="2431256"/>
              <a:ext cx="1089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账户 + 流水账本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271635" y="267890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邀请返利（幂等）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271635" y="292655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按行为扣费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34" name="Rectangle 34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06018" y="4050982"/>
              <a:ext cx="858311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诚实标注：SMS/Email/WeChat 适配器当前为占位实现（TODO），业务主链路已通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08304" y="4947285"/>
              <a:ext cx="73845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kaleido-sms 的 SmsService 方法体为 TODO 桩返回成功 —— 属「待接入第三方」而非「已上线渠道」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8" name="TextBox 38"/>
            <p:cNvSpPr txBox="1"/>
            <p:nvPr/>
          </p:nvSpPr>
          <p:spPr>
            <a:xfrm>
              <a:off x="604838" y="6613684"/>
              <a:ext cx="149716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Kaleido AI 智能衣柜 · 技术架构详解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35 / 39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6912005" cy="738854"/>
            <a:chOff x="595122" y="501491"/>
            <a:chExt cx="6912005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06 · 实验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691200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AI 第二路线与实验模块（langchain4j）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2524125" cy="1905000"/>
            <a:chOff x="609600" y="1619250"/>
            <a:chExt cx="2524125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2524125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2524125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5880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langchain4j-demo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431256"/>
              <a:ext cx="17679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Chat / @AiService / 流式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678906"/>
              <a:ext cx="15286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工具调用 · Redis 记忆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926556"/>
              <a:ext cx="15958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Naive/Milvus RAG 对照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419475" y="1619250"/>
            <a:ext cx="2524125" cy="1905000"/>
            <a:chOff x="3419475" y="1619250"/>
            <a:chExt cx="2524125" cy="1905000"/>
          </a:xfrm>
        </p:grpSpPr>
        <p:sp>
          <p:nvSpPr>
            <p:cNvPr id="13" name="Rectangle 13"/>
            <p:cNvSpPr/>
            <p:nvPr/>
          </p:nvSpPr>
          <p:spPr>
            <a:xfrm>
              <a:off x="3419475" y="1619250"/>
              <a:ext cx="2524125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3419475" y="1619250"/>
              <a:ext cx="2524125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641217" y="1892618"/>
              <a:ext cx="16452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kaleido-interview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642360" y="2431256"/>
              <a:ext cx="14133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AI 面试助手（SSE）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642360" y="2678906"/>
              <a:ext cx="12160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意图路由 6 Agent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642360" y="2926556"/>
              <a:ext cx="14200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Tika 简历解析 + RAG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238875" y="1619250"/>
            <a:ext cx="2524125" cy="1905000"/>
            <a:chOff x="6238875" y="1619250"/>
            <a:chExt cx="2524125" cy="1905000"/>
          </a:xfrm>
        </p:grpSpPr>
        <p:sp>
          <p:nvSpPr>
            <p:cNvPr id="20" name="Rectangle 20"/>
            <p:cNvSpPr/>
            <p:nvPr/>
          </p:nvSpPr>
          <p:spPr>
            <a:xfrm>
              <a:off x="6238875" y="1619250"/>
              <a:ext cx="2524125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238875" y="1619250"/>
              <a:ext cx="2524125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60617" y="1892618"/>
              <a:ext cx="11109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kaleido-mcp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61760" y="2431256"/>
              <a:ext cx="15466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Spring AI MCP Server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61760" y="2678906"/>
              <a:ext cx="18859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WeatherService @McpTool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61760" y="2926556"/>
              <a:ext cx="15863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被 kaleido-ai SSE 消费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048750" y="1619250"/>
            <a:ext cx="2524125" cy="1905000"/>
            <a:chOff x="9048750" y="1619250"/>
            <a:chExt cx="2524125" cy="1905000"/>
          </a:xfrm>
        </p:grpSpPr>
        <p:sp>
          <p:nvSpPr>
            <p:cNvPr id="27" name="Rectangle 27"/>
            <p:cNvSpPr/>
            <p:nvPr/>
          </p:nvSpPr>
          <p:spPr>
            <a:xfrm>
              <a:off x="9048750" y="1619250"/>
              <a:ext cx="2524125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9048750" y="1619250"/>
              <a:ext cx="2524125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270492" y="1892618"/>
              <a:ext cx="12922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ai-langchain4j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271635" y="2431256"/>
              <a:ext cx="14588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langchain4j 版服务壳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271635" y="26789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依赖齐备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271635" y="292655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业务代码待实现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34" name="Rectangle 34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06018" y="4050982"/>
              <a:ext cx="742101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一条主线（Spring AI）+ 一条对照线（langchain4j）——仓库即技术试验场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08304" y="4947285"/>
              <a:ext cx="57793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版本：langchain4j 1.11.0（pom.xml:39）；语言与工具生态细节见各模块 pom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8" name="TextBox 38"/>
            <p:cNvSpPr txBox="1"/>
            <p:nvPr/>
          </p:nvSpPr>
          <p:spPr>
            <a:xfrm>
              <a:off x="604838" y="6613684"/>
              <a:ext cx="149716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Kaleido AI 智能衣柜 · 技术架构详解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36 / 39</a:t>
              </a: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7941129" cy="738854"/>
            <a:chOff x="595122" y="501491"/>
            <a:chExt cx="7941129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07 · 现状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794112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诚实现状盘点：已实现 / 占位 / 未接线 / 规划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68" name="Group 68"/>
          <p:cNvGrpSpPr/>
          <p:nvPr/>
        </p:nvGrpSpPr>
        <p:grpSpPr>
          <a:xfrm>
            <a:off x="609600" y="1619250"/>
            <a:ext cx="10972800" cy="4200525"/>
            <a:chOff x="609600" y="1619250"/>
            <a:chExt cx="10972800" cy="4200525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10972800" cy="419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10972800" cy="3810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80466" y="1753552"/>
              <a:ext cx="7467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模块 / 能力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49315" y="17535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状态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172437" y="1753552"/>
              <a:ext cx="11623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依据（file:line）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609600" y="2000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80847" y="2075974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短信码注册登录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893156" y="207597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已实现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82860" y="2075974"/>
              <a:ext cx="27414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auth UserAuthCommandService.java:49-98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609600" y="22669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80847" y="2342674"/>
              <a:ext cx="7765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RBAC 管理端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893156" y="234267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已实现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489789" y="2342674"/>
              <a:ext cx="25276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admin：Admin/Role/Permission 三级聚合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09600" y="25431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80847" y="2618899"/>
              <a:ext cx="12104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服装/穿搭/位置聚合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893156" y="261889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已实现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419476" y="2618899"/>
              <a:ext cx="26682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wardrobe domain/clothing|outfit|location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609600" y="28098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80847" y="2895124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图片责任链骨架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893156" y="289512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已实现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446314" y="2895124"/>
              <a:ext cx="26145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ImageProcessingChainBuilder.java:56-62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09600" y="3086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0847" y="3161824"/>
              <a:ext cx="12375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AI Agent 装配 + RAG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893156" y="316182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已实现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577170" y="3161824"/>
              <a:ext cx="23528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AgentChatClientArmory.java:64-278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609600" y="3352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80847" y="343804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推荐异步闭环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893156" y="343804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已实现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450944" y="3438049"/>
              <a:ext cx="26053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RecommendCommandService.java:77-113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609600" y="36290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80847" y="370474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金币账本与返利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893156" y="370474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已实现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650387" y="3704749"/>
              <a:ext cx="22064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CoinDomainServiceImpl.java:33-96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609600" y="3905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80847" y="3980974"/>
              <a:ext cx="108394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Seata 分布式事务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629300" y="3980974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占位（未激活）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268733" y="3980974"/>
              <a:ext cx="29697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@GlobalTransactional 仅注释（Recommend:68）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609600" y="41719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80847" y="4247674"/>
              <a:ext cx="12125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SMS/Email/WeChat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631043" y="4247674"/>
              <a:ext cx="9299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占位（TODO）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602090" y="4247674"/>
              <a:ext cx="23030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kaleido-sms SmsService.java:22-26</a:t>
              </a:r>
            </a:p>
          </p:txBody>
        </p:sp>
        <p:sp>
          <p:nvSpPr>
            <p:cNvPr id="47" name="Line 47"/>
            <p:cNvSpPr/>
            <p:nvPr/>
          </p:nvSpPr>
          <p:spPr>
            <a:xfrm>
              <a:off x="609600" y="44481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80847" y="4523899"/>
              <a:ext cx="10059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图片压缩/转格式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827192" y="452389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模拟估算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530870" y="4523899"/>
              <a:ext cx="24454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ImageOptimizationHandler.java:58-82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609600" y="47148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80847" y="4800124"/>
              <a:ext cx="111150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message 模块接线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893156" y="480012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未接线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511048" y="4800124"/>
              <a:ext cx="24851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全仓未见 IRpcMqMessageService 消费方</a:t>
              </a:r>
            </a:p>
          </p:txBody>
        </p:sp>
        <p:sp>
          <p:nvSpPr>
            <p:cNvPr id="55" name="Line 55"/>
            <p:cNvSpPr/>
            <p:nvPr/>
          </p:nvSpPr>
          <p:spPr>
            <a:xfrm>
              <a:off x="609600" y="4991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80847" y="5066824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admin 前端业务页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893156" y="506682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未建设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825154" y="5066824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views 仅模板页（见前端盘点）</a:t>
              </a:r>
            </a:p>
          </p:txBody>
        </p:sp>
        <p:sp>
          <p:nvSpPr>
            <p:cNvPr id="59" name="Line 59"/>
            <p:cNvSpPr/>
            <p:nvPr/>
          </p:nvSpPr>
          <p:spPr>
            <a:xfrm>
              <a:off x="609600" y="5257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80847" y="5343049"/>
              <a:ext cx="15270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dynamic-tp/job imports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563337" y="5343049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配置错配（待修）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436403" y="5343049"/>
              <a:ext cx="26343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两个 AutoConfiguration.imports 内容交叉</a:t>
              </a:r>
            </a:p>
          </p:txBody>
        </p:sp>
        <p:sp>
          <p:nvSpPr>
            <p:cNvPr id="63" name="Line 63"/>
            <p:cNvSpPr/>
            <p:nvPr/>
          </p:nvSpPr>
          <p:spPr>
            <a:xfrm>
              <a:off x="609600" y="55340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80847" y="5609749"/>
              <a:ext cx="10986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数据看板 / App 端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5827192" y="560974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规划建议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786820" y="5609749"/>
              <a:ext cx="19335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README 愿景项，仓库暂无实现</a:t>
              </a:r>
            </a:p>
          </p:txBody>
        </p:sp>
        <p:sp>
          <p:nvSpPr>
            <p:cNvPr id="67" name="Line 67"/>
            <p:cNvSpPr/>
            <p:nvPr/>
          </p:nvSpPr>
          <p:spPr>
            <a:xfrm>
              <a:off x="609600" y="5810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</p:grpSp>
      <p:grpSp>
        <p:nvGrpSpPr>
          <p:cNvPr id="72" name="Group 72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69" name="TextBox 69"/>
            <p:cNvSpPr txBox="1"/>
            <p:nvPr/>
          </p:nvSpPr>
          <p:spPr>
            <a:xfrm>
              <a:off x="604838" y="6613684"/>
              <a:ext cx="149716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Kaleido AI 智能衣柜 · 技术架构详解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37 / 39</a:t>
              </a: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541387" cy="738854"/>
            <a:chOff x="595122" y="501491"/>
            <a:chExt cx="5541387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07 · 路线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54138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Roadmap（规划建议，非现状）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359140" y="3188018"/>
            <a:ext cx="11138678" cy="1456943"/>
            <a:chOff x="359140" y="3188018"/>
            <a:chExt cx="11138678" cy="1456943"/>
          </a:xfrm>
        </p:grpSpPr>
        <p:sp>
          <p:nvSpPr>
            <p:cNvPr id="6" name="Line 6"/>
            <p:cNvSpPr/>
            <p:nvPr/>
          </p:nvSpPr>
          <p:spPr>
            <a:xfrm>
              <a:off x="1371600" y="3810000"/>
              <a:ext cx="9448800" cy="9525"/>
            </a:xfrm>
            <a:custGeom>
              <a:avLst/>
              <a:gdLst/>
              <a:ahLst/>
              <a:cxnLst/>
              <a:rect l="l" t="t" r="r" b="b"/>
              <a:pathLst>
                <a:path w="9448800" h="9525">
                  <a:moveTo>
                    <a:pt x="0" y="0"/>
                  </a:moveTo>
                  <a:lnTo>
                    <a:pt x="9448800" y="0"/>
                  </a:lnTo>
                </a:path>
              </a:pathLst>
            </a:custGeom>
            <a:noFill/>
            <a:ln w="19050">
              <a:solidFill>
                <a:srgbClr val="999999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1285875" y="3724275"/>
              <a:ext cx="171450" cy="171450"/>
            </a:xfrm>
            <a:prstGeom prst="ellipse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37839" y="3188018"/>
              <a:ext cx="16675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阶段 1 · 工程化补全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12067" y="4020502"/>
              <a:ext cx="19190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接线 Seata 与真实渠道适配器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59140" y="4230052"/>
              <a:ext cx="20249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图片压缩真实化 · imports 修正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4775" y="4439602"/>
              <a:ext cx="14736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message 模块接入业务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4429125" y="3724275"/>
              <a:ext cx="171450" cy="171450"/>
            </a:xfrm>
            <a:prstGeom prst="ellipse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771957" y="3188018"/>
              <a:ext cx="14857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阶段 2 · 业务深化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481187" y="4020502"/>
              <a:ext cx="20673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推荐算法升级（排序/多路召回）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873437" y="423005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管理端看板与运营页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873437" y="443960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批量导入与图片增强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581900" y="3724275"/>
              <a:ext cx="171450" cy="171450"/>
            </a:xfrm>
            <a:prstGeom prst="ellipse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833864" y="3188018"/>
              <a:ext cx="16675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阶段 3 · 体验与生态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27799" y="4020502"/>
              <a:ext cx="14796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App/小程序端接入网关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203034" y="4230052"/>
              <a:ext cx="9291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MCP 工具扩充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015437" y="4439602"/>
              <a:ext cx="13043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Agent 资产化与分享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10734675" y="3724275"/>
              <a:ext cx="171450" cy="171450"/>
            </a:xfrm>
            <a:prstGeom prst="ellipse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249476" y="3188018"/>
              <a:ext cx="11418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持续 · 社区化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307269" y="4020502"/>
              <a:ext cx="10262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补测试与 CI/CD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142982" y="4230052"/>
              <a:ext cx="13548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文档与 API 示例沉淀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225126" y="4439602"/>
              <a:ext cx="11905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MIT 开源生态共建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9600" y="5715000"/>
            <a:ext cx="10972800" cy="571500"/>
            <a:chOff x="609600" y="5715000"/>
            <a:chExt cx="10972800" cy="571500"/>
          </a:xfrm>
        </p:grpSpPr>
        <p:sp>
          <p:nvSpPr>
            <p:cNvPr id="28" name="Rectangle 28"/>
            <p:cNvSpPr/>
            <p:nvPr/>
          </p:nvSpPr>
          <p:spPr>
            <a:xfrm>
              <a:off x="609600" y="5715000"/>
              <a:ext cx="10972800" cy="5715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09638" y="6017895"/>
              <a:ext cx="449237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说明：以上为基于代码现状的规划建议；每项均可在仓库找到对应的『已铺轨道』。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1" name="TextBox 31"/>
            <p:cNvSpPr txBox="1"/>
            <p:nvPr/>
          </p:nvSpPr>
          <p:spPr>
            <a:xfrm>
              <a:off x="604838" y="6613684"/>
              <a:ext cx="149716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Kaleido AI 智能衣柜 · 技术架构详解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38 / 39</a:t>
              </a: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2714625" cy="738854"/>
            <a:chOff x="595122" y="501491"/>
            <a:chExt cx="2714625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25049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目录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271462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总结与行动号召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601218" y="1917382"/>
            <a:ext cx="4903042" cy="322707"/>
            <a:chOff x="601218" y="1917382"/>
            <a:chExt cx="4903042" cy="322707"/>
          </a:xfrm>
        </p:grpSpPr>
        <p:sp>
          <p:nvSpPr>
            <p:cNvPr id="6" name="TextBox 6"/>
            <p:cNvSpPr txBox="1"/>
            <p:nvPr/>
          </p:nvSpPr>
          <p:spPr>
            <a:xfrm>
              <a:off x="601218" y="191738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一句话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35761" y="1941671"/>
              <a:ext cx="43684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Kaleido 把 AI 穿搭做成了一套可运行的微服务样板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1218" y="2450782"/>
            <a:ext cx="5264691" cy="322707"/>
            <a:chOff x="601218" y="2450782"/>
            <a:chExt cx="5264691" cy="322707"/>
          </a:xfrm>
        </p:grpSpPr>
        <p:sp>
          <p:nvSpPr>
            <p:cNvPr id="9" name="TextBox 9"/>
            <p:cNvSpPr txBox="1"/>
            <p:nvPr/>
          </p:nvSpPr>
          <p:spPr>
            <a:xfrm>
              <a:off x="601218" y="245078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一架构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35761" y="2475071"/>
              <a:ext cx="473014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网关(Sa-Token) → Dubbo/MQ → DDD 服务 → 向量/AI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01218" y="2984182"/>
            <a:ext cx="4650730" cy="322707"/>
            <a:chOff x="601218" y="2984182"/>
            <a:chExt cx="4650730" cy="322707"/>
          </a:xfrm>
        </p:grpSpPr>
        <p:sp>
          <p:nvSpPr>
            <p:cNvPr id="12" name="TextBox 12"/>
            <p:cNvSpPr txBox="1"/>
            <p:nvPr/>
          </p:nvSpPr>
          <p:spPr>
            <a:xfrm>
              <a:off x="601218" y="298418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一栈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5761" y="3008471"/>
              <a:ext cx="411618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Boot3.5/Cloud2025/SpringAI/Milvus/Redis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468618" y="1917382"/>
            <a:ext cx="4029574" cy="322707"/>
            <a:chOff x="6468618" y="1917382"/>
            <a:chExt cx="4029574" cy="322707"/>
          </a:xfrm>
        </p:grpSpPr>
        <p:sp>
          <p:nvSpPr>
            <p:cNvPr id="15" name="TextBox 15"/>
            <p:cNvSpPr txBox="1"/>
            <p:nvPr/>
          </p:nvSpPr>
          <p:spPr>
            <a:xfrm>
              <a:off x="6468618" y="191738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一专题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003161" y="1941671"/>
              <a:ext cx="349503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限流熔断幂等可靠消息 = 稳定性四道防线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468618" y="2450782"/>
            <a:ext cx="3810001" cy="322707"/>
            <a:chOff x="6468618" y="2450782"/>
            <a:chExt cx="3810001" cy="322707"/>
          </a:xfrm>
        </p:grpSpPr>
        <p:sp>
          <p:nvSpPr>
            <p:cNvPr id="18" name="TextBox 18"/>
            <p:cNvSpPr txBox="1"/>
            <p:nvPr/>
          </p:nvSpPr>
          <p:spPr>
            <a:xfrm>
              <a:off x="6468618" y="245078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一收获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03161" y="2475071"/>
              <a:ext cx="327545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DDD+CQRS 在这仓库有完整目录对应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468618" y="2984182"/>
            <a:ext cx="4341084" cy="322707"/>
            <a:chOff x="6468618" y="2984182"/>
            <a:chExt cx="4341084" cy="322707"/>
          </a:xfrm>
        </p:grpSpPr>
        <p:sp>
          <p:nvSpPr>
            <p:cNvPr id="21" name="TextBox 21"/>
            <p:cNvSpPr txBox="1"/>
            <p:nvPr/>
          </p:nvSpPr>
          <p:spPr>
            <a:xfrm>
              <a:off x="6468618" y="298418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一行动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003161" y="3008471"/>
              <a:ext cx="380654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读代码：wardrobe 服装域 + ai Agent 装配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4" name="TextBox 24"/>
            <p:cNvSpPr txBox="1"/>
            <p:nvPr/>
          </p:nvSpPr>
          <p:spPr>
            <a:xfrm>
              <a:off x="604838" y="6613684"/>
              <a:ext cx="149716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Kaleido AI 智能衣柜 · 技术架构详解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39 / 39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ai_wardrobe_v1">
  <a:themeElements>
    <a:clrScheme name="ai_wardrobe_v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i_wardrobe_v1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i_wardrobe_v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2026-09-07T15:37:30Z</dcterms:created>
  <dcterms:modified xsi:type="dcterms:W3CDTF">2026-09-07T15:37:30Z</dcterms:modified>
  <cp:category/>
  <cp:contentStatus/>
</cp:coreProperties>
</file>