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8763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PROJECT DECK · LOCAL AGENTIC CODING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57300"/>
            <a:ext cx="10972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999999"/>
                </a:solidFill>
                <a:latin typeface="Arial"/>
                <a:ea typeface="Microsoft YaHei"/>
              </a:rPr>
              <a:t>AGENTBUDDY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764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lang="zh-CN">
                <a:solidFill>
                  <a:srgbClr val="1A1A1A"/>
                </a:solidFill>
                <a:latin typeface="Arial"/>
                <a:ea typeface="Microsoft YaHei"/>
              </a:rPr>
              <a:t>本地轻量编程代理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19400"/>
            <a:ext cx="109728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lang="zh-CN">
                <a:solidFill>
                  <a:srgbClr val="1A1A1A"/>
                </a:solidFill>
                <a:latin typeface="Arial"/>
                <a:ea typeface="Microsoft YaHei"/>
              </a:rPr>
              <a:t>读码 · 改码 · 跑命令 · 调外部工具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3543300"/>
            <a:ext cx="1143000" cy="381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3829050"/>
            <a:ext cx="7239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555555"/>
                </a:solidFill>
                <a:latin typeface="Arial"/>
                <a:ea typeface="Microsoft YaHei"/>
              </a:rPr>
              <a:t>用自然语言驱动一个「可自治、可扩展、可控」的多轮编码闭环，
对标 Claude Code / Pi 能力子集，并纳入 MCP 与 Skills。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5191125"/>
            <a:ext cx="1905000" cy="6096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" y="5314950"/>
            <a:ext cx="171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Agent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5543550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at a glance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67000" y="5191125"/>
            <a:ext cx="1905000" cy="6096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7500" y="5314950"/>
            <a:ext cx="171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MCP 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7500" y="5543550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at a glance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24400" y="5191125"/>
            <a:ext cx="1905000" cy="6096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4900" y="5314950"/>
            <a:ext cx="171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4900" y="5543550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at a glance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81800" y="5191125"/>
            <a:ext cx="1905000" cy="6096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72300" y="5314950"/>
            <a:ext cx="171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权限矩阵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2300" y="5543550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at a glance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6191250"/>
            <a:ext cx="10972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63055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01 / 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49050" y="6362700"/>
            <a:ext cx="95250" cy="952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zh-CN">
                <a:solidFill>
                  <a:srgbClr val="1A1A1A"/>
                </a:solidFill>
                <a:latin typeface="Arial"/>
                <a:ea typeface="Microsoft YaHei"/>
              </a:rPr>
              <a:t>开发者面临的现实困境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38300"/>
            <a:ext cx="533400" cy="381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66900"/>
            <a:ext cx="1047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1A1A1A"/>
                </a:solidFill>
                <a:latin typeface="Arial"/>
                <a:ea typeface="Microsoft YaHei"/>
              </a:rPr>
              <a:t>coding agent 的挑战从来不是「能不能写」，而是「敢不敢让它写」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819400"/>
            <a:ext cx="3505200" cy="28575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31242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E30613"/>
                </a:solidFill>
                <a:latin typeface="Arial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44805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1A1A1A"/>
                </a:solidFill>
                <a:latin typeface="Arial"/>
                <a:ea typeface="Microsoft YaHei"/>
              </a:rPr>
              <a:t>操作不可控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" y="3810000"/>
            <a:ext cx="3810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981450"/>
            <a:ext cx="3048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黑盒执行，不知道 agent 会动哪些文件、跑什么命令，缺少可见的权限与风险边界。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819400"/>
            <a:ext cx="3505200" cy="28575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1242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E30613"/>
                </a:solidFill>
                <a:latin typeface="Arial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4805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1A1A1A"/>
                </a:solidFill>
                <a:latin typeface="Arial"/>
                <a:ea typeface="Microsoft YaHei"/>
              </a:rPr>
              <a:t>上下文易丢失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810000"/>
            <a:ext cx="3810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981450"/>
            <a:ext cx="3048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长会话下 token 超限、关键执行状态被截断，agent 越跑越偏，需要预算与压缩机制。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7200" y="2819400"/>
            <a:ext cx="3505200" cy="28575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5800" y="31242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E30613"/>
                </a:solidFill>
                <a:latin typeface="Arial"/>
                <a:ea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800" y="344805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1A1A1A"/>
                </a:solidFill>
                <a:latin typeface="Arial"/>
                <a:ea typeface="Microsoft YaHei"/>
              </a:rPr>
              <a:t>能力太封闭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05800" y="3810000"/>
            <a:ext cx="3810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5800" y="3981450"/>
            <a:ext cx="3048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只能读写本地文件，无法调用外部系统与团队知识资产，缺一套标准工具接入协议。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6191250"/>
            <a:ext cx="10972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63055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02 / 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49050" y="6362700"/>
            <a:ext cx="95250" cy="952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zh-CN">
                <a:solidFill>
                  <a:srgbClr val="1A1A1A"/>
                </a:solidFill>
                <a:latin typeface="Arial"/>
                <a:ea typeface="Microsoft YaHei"/>
              </a:rPr>
              <a:t>什么是 AgentBuddy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38300"/>
            <a:ext cx="533400" cy="381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66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999999"/>
                </a:solidFill>
                <a:latin typeface="Arial"/>
                <a:ea typeface="Microsoft YaHei"/>
              </a:rPr>
              <a:t>一个可落地的本地编码代理，而非复杂编排平台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6695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zh-CN">
                <a:solidFill>
                  <a:srgbClr val="1A1A1A"/>
                </a:solidFill>
                <a:latin typeface="Arial"/>
                <a:ea typeface="Microsoft YaHei"/>
              </a:rPr>
              <a:t>在本地项目目录上，用自然语言驱动「读码 → 改码 → 跑命令 → 调 MCP → 复用 Skills」的闭环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3048000"/>
            <a:ext cx="5334000" cy="28575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276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E30613"/>
                </a:solidFill>
                <a:latin typeface="Arial"/>
                <a:ea typeface="Microsoft YaHei"/>
              </a:rPr>
              <a:t>核心闭环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7250" y="3752850"/>
            <a:ext cx="85725" cy="8572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6800" y="36957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1A1A1A"/>
                </a:solidFill>
                <a:latin typeface="Arial"/>
                <a:ea typeface="Microsoft YaHei"/>
              </a:rPr>
              <a:t>读码  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38862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999999"/>
                </a:solidFill>
                <a:latin typeface="Arial"/>
                <a:ea typeface="Microsoft YaHe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7250" y="4210050"/>
            <a:ext cx="85725" cy="8572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6800" y="41529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1A1A1A"/>
                </a:solidFill>
                <a:latin typeface="Arial"/>
                <a:ea typeface="Microsoft YaHei"/>
              </a:rPr>
              <a:t>改码  Edit / 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50" y="43434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999999"/>
                </a:solidFill>
                <a:latin typeface="Arial"/>
                <a:ea typeface="Microsoft YaHe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7250" y="4667250"/>
            <a:ext cx="85725" cy="8572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46101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1A1A1A"/>
                </a:solidFill>
                <a:latin typeface="Arial"/>
                <a:ea typeface="Microsoft YaHei"/>
              </a:rPr>
              <a:t>跑命令  Bash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650" y="48006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999999"/>
                </a:solidFill>
                <a:latin typeface="Arial"/>
                <a:ea typeface="Microsoft YaHei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7250" y="5124450"/>
            <a:ext cx="85725" cy="8572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800" y="50673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1A1A1A"/>
                </a:solidFill>
                <a:latin typeface="Arial"/>
                <a:ea typeface="Microsoft YaHei"/>
              </a:rPr>
              <a:t>调工具  MCP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650" y="5257800"/>
            <a:ext cx="4381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999999"/>
                </a:solidFill>
                <a:latin typeface="Arial"/>
                <a:ea typeface="Microsoft YaHe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7250" y="5581650"/>
            <a:ext cx="85725" cy="8572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6800" y="55245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1A1A1A"/>
                </a:solidFill>
                <a:latin typeface="Arial"/>
                <a:ea typeface="Microsoft YaHei"/>
              </a:rPr>
              <a:t>复用技能  Skills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600" y="3048000"/>
            <a:ext cx="5257800" cy="28575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3276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E30613"/>
                </a:solidFill>
                <a:latin typeface="Arial"/>
                <a:ea typeface="Microsoft YaHei"/>
              </a:rPr>
              <a:t>三层定界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200" y="3695700"/>
            <a:ext cx="114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1A1A"/>
                </a:solidFill>
                <a:latin typeface="Arial"/>
                <a:ea typeface="Microsoft YaHei"/>
              </a:rPr>
              <a:t>能力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8100" y="3695700"/>
            <a:ext cx="3619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555555"/>
                </a:solidFill>
                <a:latin typeface="Arial"/>
                <a:ea typeface="Microsoft YaHei"/>
              </a:rPr>
              <a:t>Agent Loop + 内置 6 工具 + MCP + Skills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3200" y="4419600"/>
            <a:ext cx="114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1A1A"/>
                </a:solidFill>
                <a:latin typeface="Arial"/>
                <a:ea typeface="Microsoft YaHei"/>
              </a:rPr>
              <a:t>边界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8100" y="4419600"/>
            <a:ext cx="3619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555555"/>
                </a:solidFill>
                <a:latin typeface="Arial"/>
                <a:ea typeface="Microsoft YaHei"/>
              </a:rPr>
              <a:t>本地优先，模型 API 用户自备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3200" y="5143500"/>
            <a:ext cx="114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1A1A"/>
                </a:solidFill>
                <a:latin typeface="Arial"/>
                <a:ea typeface="Microsoft YaHei"/>
              </a:rPr>
              <a:t>原则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58100" y="5143500"/>
            <a:ext cx="3619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555555"/>
                </a:solidFill>
                <a:latin typeface="Arial"/>
                <a:ea typeface="Microsoft YaHei"/>
              </a:rPr>
              <a:t>结构专业 · 实现可落地 · 复杂度可控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6191250"/>
            <a:ext cx="10972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63055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03 / 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49050" y="6362700"/>
            <a:ext cx="95250" cy="952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zh-CN">
                <a:solidFill>
                  <a:srgbClr val="1A1A1A"/>
                </a:solidFill>
                <a:latin typeface="Arial"/>
                <a:ea typeface="Microsoft YaHei"/>
              </a:rPr>
              <a:t>五条设计目标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38300"/>
            <a:ext cx="533400" cy="381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66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999999"/>
                </a:solidFill>
                <a:latin typeface="Arial"/>
                <a:ea typeface="Microsoft YaHei"/>
              </a:rPr>
              <a:t>本地优先 · 可自治 · 可扩展 · 可控 · 可学可改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857500"/>
            <a:ext cx="1981200" cy="28575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" y="3086100"/>
            <a:ext cx="247650" cy="2476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3133725"/>
            <a:ext cx="247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486150"/>
            <a:ext cx="1600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1A1A1A"/>
                </a:solidFill>
                <a:latin typeface="Arial"/>
                <a:ea typeface="Microsoft YaHei"/>
              </a:rPr>
              <a:t>本地优先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" y="3848100"/>
            <a:ext cx="3429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4000500"/>
            <a:ext cx="16002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会话、配置、工作区全在本机；模型 API 由用户自备，数据不出设备。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14625" y="2857500"/>
            <a:ext cx="1981200" cy="28575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5125" y="3086100"/>
            <a:ext cx="247650" cy="2476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5125" y="3133725"/>
            <a:ext cx="247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5125" y="3486150"/>
            <a:ext cx="1600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1A1A1A"/>
                </a:solidFill>
                <a:latin typeface="Arial"/>
                <a:ea typeface="Microsoft YaHei"/>
              </a:rPr>
              <a:t>可自治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05125" y="3848100"/>
            <a:ext cx="3429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5125" y="4000500"/>
            <a:ext cx="16002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Agent Loop 多轮工具调用，直到任务完成或用户主动中断。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19650" y="2857500"/>
            <a:ext cx="1981200" cy="28575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10150" y="3086100"/>
            <a:ext cx="247650" cy="2476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10150" y="3133725"/>
            <a:ext cx="247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150" y="3486150"/>
            <a:ext cx="1600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1A1A1A"/>
                </a:solidFill>
                <a:latin typeface="Arial"/>
                <a:ea typeface="Microsoft YaHei"/>
              </a:rPr>
              <a:t>可扩展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10150" y="3848100"/>
            <a:ext cx="3429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0150" y="4000500"/>
            <a:ext cx="16002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Skills（提示/流程知识）+ MCP（外部工具协议）双通道扩展。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24675" y="2857500"/>
            <a:ext cx="1981200" cy="28575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15175" y="3086100"/>
            <a:ext cx="247650" cy="2476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5175" y="3133725"/>
            <a:ext cx="247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5175" y="3486150"/>
            <a:ext cx="1600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1A1A1A"/>
                </a:solidFill>
                <a:latin typeface="Arial"/>
                <a:ea typeface="Microsoft YaHei"/>
              </a:rPr>
              <a:t>可控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15175" y="3848100"/>
            <a:ext cx="3429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15175" y="4000500"/>
            <a:ext cx="16002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权限 = 模式 × 风险等级，危险操作任何模式下都必须显式确认。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29700" y="2857500"/>
            <a:ext cx="1981200" cy="28575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20200" y="3086100"/>
            <a:ext cx="247650" cy="2476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20200" y="3133725"/>
            <a:ext cx="247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FFFFFF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20200" y="3486150"/>
            <a:ext cx="1600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1A1A1A"/>
                </a:solidFill>
                <a:latin typeface="Arial"/>
                <a:ea typeface="Microsoft YaHei"/>
              </a:rPr>
              <a:t>可学可改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20200" y="3848100"/>
            <a:ext cx="3429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20200" y="4000500"/>
            <a:ext cx="16002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模块边界清晰，单人可在数周内做出可用 MVP。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6191250"/>
            <a:ext cx="10972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600" y="63055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04 / 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49050" y="6362700"/>
            <a:ext cx="95250" cy="952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zh-CN">
                <a:solidFill>
                  <a:srgbClr val="1A1A1A"/>
                </a:solidFill>
                <a:latin typeface="Arial"/>
                <a:ea typeface="Microsoft YaHei"/>
              </a:rPr>
              <a:t>端到端数据流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38300"/>
            <a:ext cx="533400" cy="381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66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999999"/>
                </a:solidFill>
                <a:latin typeface="Arial"/>
                <a:ea typeface="Microsoft YaHei"/>
              </a:rPr>
              <a:t>示例：让 Agent 修复「JWT 过期导致的登录失败」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819400"/>
            <a:ext cx="2571750" cy="1238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29908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E30613"/>
                </a:solidFill>
                <a:latin typeface="Arial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9700" y="299085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1A1A1A"/>
                </a:solidFill>
                <a:latin typeface="Arial"/>
                <a:ea typeface="Microsoft YaHei"/>
              </a:rPr>
              <a:t>用户输入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" y="3314700"/>
            <a:ext cx="3810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" y="3448050"/>
            <a:ext cx="2190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UI 发送消息
Orchestrator 组装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21945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E30613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9950" y="2819400"/>
            <a:ext cx="2571750" cy="1238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450" y="29908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E30613"/>
                </a:solidFill>
                <a:latin typeface="Arial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0050" y="299085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1A1A1A"/>
                </a:solidFill>
                <a:latin typeface="Arial"/>
                <a:ea typeface="Microsoft YaHei"/>
              </a:rPr>
              <a:t>上下文组装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450" y="3314700"/>
            <a:ext cx="3810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450" y="3448050"/>
            <a:ext cx="2190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系统提示 + 项目指令
+ Skills 摘要 + 历史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0750" y="321945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E30613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0300" y="2819400"/>
            <a:ext cx="2571750" cy="1238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9908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E30613"/>
                </a:solidFill>
                <a:latin typeface="Arial"/>
                <a:ea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400" y="299085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1A1A1A"/>
                </a:solidFill>
                <a:latin typeface="Arial"/>
                <a:ea typeface="Microsoft YaHei"/>
              </a:rPr>
              <a:t>模型规划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314700"/>
            <a:ext cx="3810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448050"/>
            <a:ext cx="2190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产出执行计划
onPlanStep 推给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1100" y="321945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E30613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10650" y="2819400"/>
            <a:ext cx="2571750" cy="1238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01150" y="29908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E30613"/>
                </a:solidFill>
                <a:latin typeface="Arial"/>
                <a:ea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0750" y="299085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1A1A1A"/>
                </a:solidFill>
                <a:latin typeface="Arial"/>
                <a:ea typeface="Microsoft YaHei"/>
              </a:rPr>
              <a:t>只读分析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01150" y="3314700"/>
            <a:ext cx="3810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01150" y="3448050"/>
            <a:ext cx="2190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grep / read 直接执行
生成 Tool Trace 卡片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09775" y="4229100"/>
            <a:ext cx="2571750" cy="1238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00275" y="44005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E30613"/>
                </a:solidFill>
                <a:latin typeface="Arial"/>
                <a:ea typeface="Microsoft YaHe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09875" y="440055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1A1A1A"/>
                </a:solidFill>
                <a:latin typeface="Arial"/>
                <a:ea typeface="Microsoft YaHei"/>
              </a:rPr>
              <a:t>写入改动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00275" y="4724400"/>
            <a:ext cx="3810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00275" y="4857750"/>
            <a:ext cx="2190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edit token.ts（WRITE）
→ 权限确认 + Diff 审阅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0575" y="462915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E30613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10125" y="4229100"/>
            <a:ext cx="2571750" cy="1238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625" y="44005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E30613"/>
                </a:solidFill>
                <a:latin typeface="Arial"/>
                <a:ea typeface="Microsoft YaHe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10225" y="440055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1A1A1A"/>
                </a:solidFill>
                <a:latin typeface="Arial"/>
                <a:ea typeface="Microsoft YaHei"/>
              </a:rPr>
              <a:t>跑测试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00625" y="4724400"/>
            <a:ext cx="3810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00625" y="4857750"/>
            <a:ext cx="2190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bash npm test（EXEC）
→ 权限卡片确认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0925" y="462915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E30613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10475" y="4229100"/>
            <a:ext cx="2571750" cy="1238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00975" y="44005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E30613"/>
                </a:solidFill>
                <a:latin typeface="Arial"/>
                <a:ea typeface="Microsoft YaHei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0575" y="440055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1A1A1A"/>
                </a:solidFill>
                <a:latin typeface="Arial"/>
                <a:ea typeface="Microsoft YaHei"/>
              </a:rPr>
              <a:t>回灌总结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00975" y="4724400"/>
            <a:ext cx="3810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00975" y="4857750"/>
            <a:ext cx="2190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输出回灌 → 模型总结
→ onDone + 落盘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600" y="5638800"/>
            <a:ext cx="10972800" cy="5524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8200" y="5791200"/>
            <a:ext cx="1047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交互链路（真实闭环）：Vue → IPC（zod 校验）→ Agent Core → LLM → Tool Call → Permission Gate → 实际执行 → 结果回灌。所有呈现走真实闭环，不以前端假卡片替代。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600" y="6191250"/>
            <a:ext cx="10972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9600" y="63055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05 / 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49050" y="6362700"/>
            <a:ext cx="95250" cy="952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zh-CN">
                <a:solidFill>
                  <a:srgbClr val="1A1A1A"/>
                </a:solidFill>
                <a:latin typeface="Arial"/>
                <a:ea typeface="Microsoft YaHei"/>
              </a:rPr>
              <a:t>能力边界：做什么 · 不做什么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38300"/>
            <a:ext cx="533400" cy="381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66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999999"/>
                </a:solidFill>
                <a:latin typeface="Arial"/>
                <a:ea typeface="Microsoft YaHei"/>
              </a:rPr>
              <a:t>明确的范围界定，避免过度设计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857500"/>
            <a:ext cx="5295900" cy="304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310515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1A1A1A"/>
                </a:solidFill>
                <a:latin typeface="Arial"/>
                <a:ea typeface="Microsoft YaHei"/>
              </a:rPr>
              <a:t>✓  包含（做什么）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200" y="3448050"/>
            <a:ext cx="5715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6300" y="370522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6800" y="3638550"/>
            <a:ext cx="457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Agent Loop + 内置六工具（read/write/edit/bash/glob/grep）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6300" y="414337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6800" y="4076700"/>
            <a:ext cx="457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Skills 两级加载与按需注入（全局 + 项目）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6300" y="458152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6800" y="4514850"/>
            <a:ext cx="457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MCP Client（stdio）与 Tools 发现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6300" y="501967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4953000"/>
            <a:ext cx="457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会话持久化 + 模式×风险权限 + Diff 审阅工作台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6300" y="545782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6800" y="5391150"/>
            <a:ext cx="457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Vue3 桌面 UI（三栏工作台）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6500" y="2857500"/>
            <a:ext cx="5295900" cy="30480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5100" y="310515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1A1A1A"/>
                </a:solidFill>
                <a:latin typeface="Arial"/>
                <a:ea typeface="Microsoft YaHei"/>
              </a:rPr>
              <a:t>✕  不包含（刻意排除）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5100" y="3448050"/>
            <a:ext cx="571500" cy="28575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53200" y="3705225"/>
            <a:ext cx="76200" cy="7620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3700" y="3638550"/>
            <a:ext cx="457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企业 SSO / 策略中心 / 审计上送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143375"/>
            <a:ext cx="76200" cy="7620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3700" y="4076700"/>
            <a:ext cx="457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多 Agent 编排平台、自动 worktree 集群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4581525"/>
            <a:ext cx="76200" cy="7620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3700" y="4514850"/>
            <a:ext cx="457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向量库强依赖、云端同步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5019675"/>
            <a:ext cx="76200" cy="7620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43700" y="4953000"/>
            <a:ext cx="457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LSP 诊断回灌、子 Agent、SSE 传输（后置候选）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6191250"/>
            <a:ext cx="10972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600" y="63055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06 / 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49050" y="6362700"/>
            <a:ext cx="95250" cy="952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zh-CN">
                <a:solidFill>
                  <a:srgbClr val="1A1A1A"/>
                </a:solidFill>
                <a:latin typeface="Arial"/>
                <a:ea typeface="Microsoft YaHei"/>
              </a:rPr>
              <a:t>总体架构与进程模型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38300"/>
            <a:ext cx="533400" cy="381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66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999999"/>
                </a:solidFill>
                <a:latin typeface="Arial"/>
                <a:ea typeface="Microsoft YaHei"/>
              </a:rPr>
              <a:t>Renderer / Main / agent-core 三层边界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857500"/>
            <a:ext cx="10972800" cy="838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30099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FFFFFF"/>
                </a:solidFill>
                <a:latin typeface="Arial"/>
                <a:ea typeface="Microsoft YaHei"/>
              </a:rPr>
              <a:t>Renderer  (Vue3)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27660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FFFFFF"/>
                </a:solidFill>
                <a:latin typeface="Arial"/>
                <a:ea typeface="Microsoft YaHei"/>
              </a:rPr>
              <a:t>Chat · Tool Trace · Code/Diff · Skills · MCP · 模型 · 用量统计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38600" y="3714750"/>
            <a:ext cx="533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E30613"/>
                </a:solidFill>
                <a:latin typeface="Arial"/>
                <a:ea typeface="Microsoft YaHei"/>
              </a:rPr>
              <a:t>↑  preload 白名单 IPC（zod 校验）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981450"/>
            <a:ext cx="10972800" cy="838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" y="41338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1A1A"/>
                </a:solidFill>
                <a:latin typeface="Arial"/>
                <a:ea typeface="Microsoft YaHei"/>
              </a:rPr>
              <a:t>Main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4005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窗口 · 工作区选择 · safeStorage · 权限弹窗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1100" y="4914900"/>
            <a:ext cx="9829800" cy="9144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09700" y="50863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E30613"/>
                </a:solidFill>
                <a:latin typeface="Arial"/>
                <a:ea typeface="Microsoft YaHei"/>
              </a:rPr>
              <a:t>agent-core  （内嵌模块）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9700" y="537210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Orchestrator · Context · Permission Gate · Tool Bus · Skills · MCP Pool · LLM Adapter · Checkpoint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6191250"/>
            <a:ext cx="10972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63055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07 / 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49050" y="6362700"/>
            <a:ext cx="95250" cy="952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CONCEPT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zh-CN">
                <a:solidFill>
                  <a:srgbClr val="1A1A1A"/>
                </a:solidFill>
                <a:latin typeface="Arial"/>
                <a:ea typeface="Microsoft YaHei"/>
              </a:rPr>
              <a:t>核心概念模型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38300"/>
            <a:ext cx="533400" cy="381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66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999999"/>
                </a:solidFill>
                <a:latin typeface="Arial"/>
                <a:ea typeface="Microsoft YaHei"/>
              </a:rPr>
              <a:t>三个基础层，不设独立「任务」实体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857500"/>
            <a:ext cx="10972800" cy="9525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3067050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FFFFFF"/>
                </a:solidFill>
                <a:latin typeface="Arial"/>
                <a:ea typeface="Microsoft YaHei"/>
              </a:rPr>
              <a:t>代码空间 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390900"/>
            <a:ext cx="952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FFFFFF"/>
                </a:solidFill>
                <a:latin typeface="Arial"/>
                <a:ea typeface="Microsoft YaHei"/>
              </a:rPr>
              <a:t>一个本地项目目录，承载工作区级资产：AGENTS.md · .agent/skills/ · git 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53100" y="3829050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E30613"/>
                </a:solidFill>
                <a:latin typeface="Arial"/>
                <a:ea typeface="Microsoft YaHe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095750"/>
            <a:ext cx="10972800" cy="18097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" y="4305300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A1A1A"/>
                </a:solidFill>
                <a:latin typeface="Arial"/>
                <a:ea typeface="Microsoft YaHei"/>
              </a:rPr>
              <a:t>会话 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8200" y="4629150"/>
            <a:ext cx="5715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4876800"/>
            <a:ext cx="171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消息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1200" y="4876800"/>
            <a:ext cx="2190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用户 /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2450" y="4876800"/>
            <a:ext cx="171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执行计划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5450" y="4876800"/>
            <a:ext cx="2190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Plan Checklist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6700" y="4876800"/>
            <a:ext cx="171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Tool 调用痕迹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9700" y="4876800"/>
            <a:ext cx="2190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Tool 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5334000"/>
            <a:ext cx="171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修改记录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1200" y="5334000"/>
            <a:ext cx="2190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Diff / 已接受 / 已撤销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2450" y="5334000"/>
            <a:ext cx="171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执行结果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5450" y="5334000"/>
            <a:ext cx="2190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命令输出 / 测试结果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6191250"/>
            <a:ext cx="10972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63055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08 / 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49050" y="6362700"/>
            <a:ext cx="95250" cy="952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AGENT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zh-CN">
                <a:solidFill>
                  <a:srgbClr val="1A1A1A"/>
                </a:solidFill>
                <a:latin typeface="Arial"/>
                <a:ea typeface="Microsoft YaHei"/>
              </a:rPr>
              <a:t>单线程主循环（与 Claude Code / Pi 同构）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38300"/>
            <a:ext cx="533400" cy="381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66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999999"/>
                </a:solidFill>
                <a:latin typeface="Arial"/>
                <a:ea typeface="Microsoft YaHei"/>
              </a:rPr>
              <a:t>runTurn：maxTurns=200 · 工具超时 60s · 权限拦截于执行前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857500"/>
            <a:ext cx="1219200" cy="1143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850" y="308610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用户输入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850" y="3295650"/>
            <a:ext cx="247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E30613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6450" y="2857500"/>
            <a:ext cx="1219200" cy="1143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71700" y="308610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组装上下文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4700" y="3295650"/>
            <a:ext cx="247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E30613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3300" y="2857500"/>
            <a:ext cx="1219200" cy="1143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8550" y="308610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调用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1550" y="3295650"/>
            <a:ext cx="247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E30613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10150" y="2857500"/>
            <a:ext cx="1219200" cy="1143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5400" y="308610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权限检查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295650"/>
            <a:ext cx="247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E30613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77000" y="2857500"/>
            <a:ext cx="1219200" cy="1143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2250" y="308610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执行工具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0" y="3295650"/>
            <a:ext cx="247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E30613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43850" y="2857500"/>
            <a:ext cx="1219200" cy="1143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39100" y="308610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结果回灌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2100" y="3295650"/>
            <a:ext cx="247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E30613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0700" y="2857500"/>
            <a:ext cx="1219200" cy="1143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5950" y="3086100"/>
            <a:ext cx="1028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完成/中断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191000"/>
            <a:ext cx="10972800" cy="18097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" y="44386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1A1A"/>
                </a:solidFill>
                <a:latin typeface="Arial"/>
                <a:ea typeface="Microsoft YaHei"/>
              </a:rPr>
              <a:t>关键实现约束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8200" y="4743450"/>
            <a:ext cx="5715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200" y="4933950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① 权限拦截位于循环内、执行前；awaiting_permission 挂起于 gate.check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5143500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② 工具失败不崩溃：结构化错误回灌模型自行换路，同参连败 2 次熔断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5353050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③ 流式 tool_calls 按 index 累积，完整后一次性 JSON.parse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5562600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④ abort 保留已完成结果，半截消息标记 interrupted 后落盘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5772150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⑤ 同 message 内独立 READ 调用并发执行，有依赖则顺序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5981700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⑥ WRITE/EXEC 前经 checkpoint 打快照，diff.revert 按快照恢复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600" y="6191250"/>
            <a:ext cx="10972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600" y="63055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09 / 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49050" y="6362700"/>
            <a:ext cx="95250" cy="952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zh-CN">
                <a:solidFill>
                  <a:srgbClr val="1A1A1A"/>
                </a:solidFill>
                <a:latin typeface="Arial"/>
                <a:ea typeface="Microsoft YaHei"/>
              </a:rPr>
              <a:t>上下文六层注入与预算控制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38300"/>
            <a:ext cx="533400" cy="381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66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999999"/>
                </a:solidFill>
                <a:latin typeface="Arial"/>
                <a:ea typeface="Microsoft YaHei"/>
              </a:rPr>
              <a:t>保证长会话下 agent 不丢失执行状态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857500"/>
            <a:ext cx="1695450" cy="857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30099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E30613"/>
                </a:solidFill>
                <a:latin typeface="Arial"/>
                <a:ea typeface="Microsoft YaHei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3009900"/>
            <a:ext cx="1123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1A1A1A"/>
                </a:solidFill>
                <a:latin typeface="Arial"/>
                <a:ea typeface="Microsoft YaHei"/>
              </a:rPr>
              <a:t>系统角色与安全约束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3314700"/>
            <a:ext cx="11239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SysPrompt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2675" y="2857500"/>
            <a:ext cx="1695450" cy="857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05075" y="30099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E30613"/>
                </a:solidFill>
                <a:latin typeface="Arial"/>
                <a:ea typeface="Microsoft YaHei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1775" y="3009900"/>
            <a:ext cx="1123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1A1A1A"/>
                </a:solidFill>
                <a:latin typeface="Arial"/>
                <a:ea typeface="Microsoft YaHei"/>
              </a:rPr>
              <a:t>工作区路径与技术栈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1775" y="3314700"/>
            <a:ext cx="11239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Workspace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95750" y="2857500"/>
            <a:ext cx="1695450" cy="857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8150" y="30099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E30613"/>
                </a:solidFill>
                <a:latin typeface="Arial"/>
                <a:ea typeface="Microsoft YaHe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850" y="3009900"/>
            <a:ext cx="1123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1A1A1A"/>
                </a:solidFill>
                <a:latin typeface="Arial"/>
                <a:ea typeface="Microsoft YaHei"/>
              </a:rPr>
              <a:t>项目指令 AGENTS.md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4850" y="3314700"/>
            <a:ext cx="11239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Project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38825" y="2857500"/>
            <a:ext cx="1695450" cy="857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91225" y="30099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E30613"/>
                </a:solidFill>
                <a:latin typeface="Arial"/>
                <a:ea typeface="Microsoft YaHei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7925" y="3009900"/>
            <a:ext cx="1123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1A1A1A"/>
                </a:solidFill>
                <a:latin typeface="Arial"/>
                <a:ea typeface="Microsoft YaHei"/>
              </a:rPr>
              <a:t>已启用 Skills 摘要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7925" y="3314700"/>
            <a:ext cx="11239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Skills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1900" y="2857500"/>
            <a:ext cx="1695450" cy="857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34300" y="30099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E30613"/>
                </a:solidFill>
                <a:latin typeface="Arial"/>
                <a:ea typeface="Microsoft YaHei"/>
              </a:rPr>
              <a:t>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009900"/>
            <a:ext cx="1123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1A1A1A"/>
                </a:solidFill>
                <a:latin typeface="Arial"/>
                <a:ea typeface="Microsoft YaHei"/>
              </a:rPr>
              <a:t>历史消息与工具结果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3314700"/>
            <a:ext cx="11239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History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4975" y="2857500"/>
            <a:ext cx="1695450" cy="857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77375" y="30099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E30613"/>
                </a:solidFill>
                <a:latin typeface="Arial"/>
                <a:ea typeface="Microsoft YaHei"/>
              </a:rPr>
              <a:t>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4075" y="3009900"/>
            <a:ext cx="1123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1A1A1A"/>
                </a:solidFill>
                <a:latin typeface="Arial"/>
                <a:ea typeface="Microsoft YaHei"/>
              </a:rPr>
              <a:t>当前用户消息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4075" y="3314700"/>
            <a:ext cx="11239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User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3924300"/>
            <a:ext cx="10972800" cy="1524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200" y="41719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1A1A"/>
                </a:solidFill>
                <a:latin typeface="Arial"/>
                <a:ea typeface="Microsoft YaHei"/>
              </a:rPr>
              <a:t>预算控制（超限依序降级）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8200" y="4476750"/>
            <a:ext cx="5715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200" y="4648200"/>
            <a:ext cx="10477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预算 = 模型上下文上限 − 输出预留（默认 8k）。
1) 旧工具结果正文 → 占位摘要（保留首 10 行）  2) 仍超 → Compaction 收成摘要  3) ①–④ 系统区永不裁剪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600" y="6191250"/>
            <a:ext cx="10972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600" y="63055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10 / 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49050" y="6362700"/>
            <a:ext cx="95250" cy="952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zh-CN">
                <a:solidFill>
                  <a:srgbClr val="1A1A1A"/>
                </a:solidFill>
                <a:latin typeface="Arial"/>
                <a:ea typeface="Microsoft YaHei"/>
              </a:rPr>
              <a:t>统一工具接口与内置六工具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38300"/>
            <a:ext cx="533400" cy="381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66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999999"/>
                </a:solidFill>
                <a:latin typeface="Arial"/>
                <a:ea typeface="Microsoft YaHei"/>
              </a:rPr>
              <a:t>每个工具一个明确能力，禁止各自为政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857500"/>
            <a:ext cx="5715000" cy="24765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6300" y="3067050"/>
            <a:ext cx="533400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FFFFFF"/>
                </a:solidFill>
                <a:latin typeface="Arial"/>
                <a:ea typeface="Microsoft YaHei"/>
              </a:rPr>
              <a:t>type RiskLevel = 'READ' | 'WRITE' | 'EXEC'
                     | 'NETWORK' | 'DANGEROUS'
interface Tool {
  name: string
  description: string
  inputSchema: JSONSchema
  risk: RiskLevel
  assessRisk?(input): RiskLevel
  execute(ctx, input): Promise&lt;ToolResult&gt;
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575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1A1A"/>
                </a:solidFill>
                <a:latin typeface="Arial"/>
                <a:ea typeface="Microsoft YaHei"/>
              </a:rPr>
              <a:t>内置六工具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05600" y="3162300"/>
            <a:ext cx="5715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5600" y="33147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0950" y="331470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314700"/>
            <a:ext cx="3352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读文件，支持 offset/limit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05600" y="3562350"/>
            <a:ext cx="4876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5600" y="363855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glob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950" y="36385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638550"/>
            <a:ext cx="3352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按模式列文件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05600" y="3886200"/>
            <a:ext cx="4876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5600" y="3962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grep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0950" y="396240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962400"/>
            <a:ext cx="3352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内容搜索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05600" y="4210050"/>
            <a:ext cx="4876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5600" y="428625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write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0950" y="42862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WRITE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286250"/>
            <a:ext cx="3352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创建或覆盖（工作区内）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05600" y="4533900"/>
            <a:ext cx="4876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5600" y="46101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edit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0950" y="461010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WRITE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610100"/>
            <a:ext cx="3352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精确 str_replace（工作区内）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05600" y="4857750"/>
            <a:ext cx="4876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05600" y="493395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bash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0950" y="49339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EXEC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933950"/>
            <a:ext cx="3352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风险可动态升级为 DANGEROUS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05600" y="5181600"/>
            <a:ext cx="4876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9600" y="6191250"/>
            <a:ext cx="10972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600" y="63055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11 / 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49050" y="6362700"/>
            <a:ext cx="95250" cy="952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zh-CN">
                <a:solidFill>
                  <a:srgbClr val="1A1A1A"/>
                </a:solidFill>
                <a:latin typeface="Arial"/>
                <a:ea typeface="Microsoft YaHei"/>
              </a:rPr>
              <a:t>Model Context Protocol 接入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38300"/>
            <a:ext cx="533400" cy="381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66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999999"/>
                </a:solidFill>
                <a:latin typeface="Arial"/>
                <a:ea typeface="Microsoft YaHei"/>
              </a:rPr>
              <a:t>面向「能调用什么外部系统」的标准协议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857500"/>
            <a:ext cx="5295900" cy="20955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30861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1A1A"/>
                </a:solidFill>
                <a:latin typeface="Arial"/>
                <a:ea typeface="Microsoft YaHei"/>
              </a:rPr>
              <a:t>连接与发现流程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200" y="3390900"/>
            <a:ext cx="5715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6300" y="366712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6800" y="360045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StdioClientTransport 拉起子进程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3790950"/>
            <a:ext cx="4572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999999"/>
                </a:solidFill>
                <a:latin typeface="Arial"/>
                <a:ea typeface="Microsoft YaHe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6300" y="402907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6800" y="39624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client.connect(transport)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50" y="4152900"/>
            <a:ext cx="4572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999999"/>
                </a:solidFill>
                <a:latin typeface="Arial"/>
                <a:ea typeface="Microsoft YaHe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6300" y="439102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432435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client.listTools() 发现能力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650" y="4514850"/>
            <a:ext cx="4572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999999"/>
                </a:solidFill>
                <a:latin typeface="Arial"/>
                <a:ea typeface="Microsoft YaHei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6300" y="475297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800" y="46863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注册进 Tool Bus：mcp__server__tool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86500" y="2857500"/>
            <a:ext cx="5295900" cy="20955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5100" y="30861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1A1A"/>
                </a:solidFill>
                <a:latin typeface="Arial"/>
                <a:ea typeface="Microsoft YaHei"/>
              </a:rPr>
              <a:t>关键规则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5100" y="3390900"/>
            <a:ext cx="5715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53200" y="366712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3700" y="3600450"/>
            <a:ext cx="457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工具命名 mcp__server__tool，避免冲突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395287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3700" y="3886200"/>
            <a:ext cx="457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首次调用确认后按 server 记忆授权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423862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3700" y="4171950"/>
            <a:ext cx="457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单会话工具数上限 40，防 token 消耗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53200" y="452437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3700" y="4457700"/>
            <a:ext cx="457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配置：文件 / 表单 / JSON 导入三通道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481012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43700" y="4743450"/>
            <a:ext cx="457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生命周期：启用即连接，崩溃标记离线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" y="6191250"/>
            <a:ext cx="10972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600" y="63055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12 / 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49050" y="6362700"/>
            <a:ext cx="95250" cy="952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zh-CN">
                <a:solidFill>
                  <a:srgbClr val="1A1A1A"/>
                </a:solidFill>
                <a:latin typeface="Arial"/>
                <a:ea typeface="Microsoft YaHei"/>
              </a:rPr>
              <a:t>Skills：可复用的知识/流程资产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38300"/>
            <a:ext cx="533400" cy="381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66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999999"/>
                </a:solidFill>
                <a:latin typeface="Arial"/>
                <a:ea typeface="Microsoft YaHei"/>
              </a:rPr>
              <a:t>面向「怎么做」，与 MCP 的能力边界分离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857500"/>
            <a:ext cx="5295900" cy="14287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3086100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1A1A1A"/>
                </a:solidFill>
                <a:latin typeface="Arial"/>
                <a:ea typeface="Microsoft YaHei"/>
              </a:rPr>
              <a:t>全局技能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4099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E30613"/>
                </a:solidFill>
                <a:latin typeface="Arial"/>
                <a:ea typeface="Microsoft YaHei"/>
              </a:rPr>
              <a:t>~/.agent/skills/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" y="3771900"/>
            <a:ext cx="5715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94335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所有项目可用，随应用安装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6500" y="2857500"/>
            <a:ext cx="5295900" cy="14287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5100" y="3086100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1A1A1A"/>
                </a:solidFill>
                <a:latin typeface="Arial"/>
                <a:ea typeface="Microsoft YaHei"/>
              </a:rPr>
              <a:t>项目技能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34099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E30613"/>
                </a:solidFill>
                <a:latin typeface="Arial"/>
                <a:ea typeface="Microsoft YaHei"/>
              </a:rPr>
              <a:t>&lt;workspace&gt;/.agent/skills/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5100" y="3771900"/>
            <a:ext cx="5715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5100" y="394335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同名覆盖全局，随项目走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4476750"/>
            <a:ext cx="10972800" cy="1524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" y="47244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1A1A"/>
                </a:solidFill>
                <a:latin typeface="Arial"/>
                <a:ea typeface="Microsoft YaHei"/>
              </a:rPr>
              <a:t>两种使用方式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8200" y="5029200"/>
            <a:ext cx="5715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" y="5200650"/>
            <a:ext cx="10287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目录注入：扫描两级 Skills，把 name + description 放进系统提示，模型需要细节时再 read SKILL.md。
斜杠命令：用户输入 /review → 把技能正文追加为高优先级指令再跑 Loop。Skills 仅文本指令，不提供脚本执行。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6191250"/>
            <a:ext cx="10972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63055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13 / 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49050" y="6362700"/>
            <a:ext cx="95250" cy="952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zh-CN">
                <a:solidFill>
                  <a:srgbClr val="1A1A1A"/>
                </a:solidFill>
                <a:latin typeface="Arial"/>
                <a:ea typeface="Microsoft YaHei"/>
              </a:rPr>
              <a:t>agent-core 模块边界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38300"/>
            <a:ext cx="533400" cy="381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66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999999"/>
                </a:solidFill>
                <a:latin typeface="Arial"/>
                <a:ea typeface="Microsoft YaHei"/>
              </a:rPr>
              <a:t>唯一一致性原则：orchestrator 不堆砌业务逻辑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857500"/>
            <a:ext cx="2571750" cy="2000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3086100"/>
            <a:ext cx="2190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E30613"/>
                </a:solidFill>
                <a:latin typeface="Arial"/>
                <a:ea typeface="Microsoft YaHei"/>
              </a:rPr>
              <a:t>orchestrator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" y="3390900"/>
            <a:ext cx="3810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" y="3543300"/>
            <a:ext cx="2190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Agent Loop · Turn · Abort · 事件发射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" y="4381500"/>
            <a:ext cx="219075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4457700"/>
            <a:ext cx="2190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不堆积文件/MCP/权限/UI 逻辑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5650" y="2857500"/>
            <a:ext cx="2571750" cy="2000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6150" y="3086100"/>
            <a:ext cx="2190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E30613"/>
                </a:solidFill>
                <a:latin typeface="Arial"/>
                <a:ea typeface="Microsoft YaHei"/>
              </a:rPr>
              <a:t>context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86150" y="3390900"/>
            <a:ext cx="3810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6150" y="3543300"/>
            <a:ext cx="2190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上下文六层注入 · Token 预算 · Compaction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86150" y="4381500"/>
            <a:ext cx="219075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86150" y="4457700"/>
            <a:ext cx="2190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不在 context 中执行工具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1700" y="2857500"/>
            <a:ext cx="2571750" cy="2000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086100"/>
            <a:ext cx="2190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E30613"/>
                </a:solidFill>
                <a:latin typeface="Arial"/>
                <a:ea typeface="Microsoft YaHei"/>
              </a:rPr>
              <a:t>permission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390900"/>
            <a:ext cx="3810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3543300"/>
            <a:ext cx="2190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模式×风险决策 · 用户确认 · 会话授权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4381500"/>
            <a:ext cx="219075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4457700"/>
            <a:ext cx="2190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任何工具执行必经 Permission Gate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67750" y="2857500"/>
            <a:ext cx="2571750" cy="2000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58250" y="3086100"/>
            <a:ext cx="2190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E30613"/>
                </a:solidFill>
                <a:latin typeface="Arial"/>
                <a:ea typeface="Microsoft YaHei"/>
              </a:rPr>
              <a:t>toolbus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58250" y="3390900"/>
            <a:ext cx="3810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58250" y="3543300"/>
            <a:ext cx="2190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Tool 注册 · 查询 · Schema · 分发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58250" y="4381500"/>
            <a:ext cx="219075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58250" y="4457700"/>
            <a:ext cx="2190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不在 ToolBus 实现具体业务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5048250"/>
            <a:ext cx="2571750" cy="2000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" y="5276850"/>
            <a:ext cx="2190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E30613"/>
                </a:solidFill>
                <a:latin typeface="Arial"/>
                <a:ea typeface="Microsoft YaHei"/>
              </a:rPr>
              <a:t>checkpoint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" y="5581650"/>
            <a:ext cx="3810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" y="5734050"/>
            <a:ext cx="2190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修改前快照 · ChangeSet · Restore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" y="6572250"/>
            <a:ext cx="219075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" y="6648450"/>
            <a:ext cx="2190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考虑 modified/created/deleted/renamed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5650" y="5048250"/>
            <a:ext cx="2571750" cy="2000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86150" y="5276850"/>
            <a:ext cx="2190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E30613"/>
                </a:solidFill>
                <a:latin typeface="Arial"/>
                <a:ea typeface="Microsoft YaHei"/>
              </a:rPr>
              <a:t>mcp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86150" y="5581650"/>
            <a:ext cx="3810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86150" y="5734050"/>
            <a:ext cx="2190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Server 配置 · 连接 · tools 发现 · 生命周期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86150" y="6572250"/>
            <a:ext cx="219075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86150" y="6648450"/>
            <a:ext cx="2190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不侵入 Agent Loop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1700" y="5048250"/>
            <a:ext cx="2571750" cy="2000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5276850"/>
            <a:ext cx="2190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E30613"/>
                </a:solidFill>
                <a:latin typeface="Arial"/>
                <a:ea typeface="Microsoft YaHei"/>
              </a:rPr>
              <a:t>llm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5581650"/>
            <a:ext cx="3810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5734050"/>
            <a:ext cx="2190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流式调用 · 重试 · Abort · usage 归一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6572250"/>
            <a:ext cx="219075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0" y="6648450"/>
            <a:ext cx="2190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厂商差异集中在 Adapter 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667750" y="5048250"/>
            <a:ext cx="2571750" cy="2000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58250" y="5276850"/>
            <a:ext cx="2190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E30613"/>
                </a:solidFill>
                <a:latin typeface="Arial"/>
                <a:ea typeface="Microsoft YaHei"/>
              </a:rPr>
              <a:t>usage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58250" y="5581650"/>
            <a:ext cx="3810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58250" y="5734050"/>
            <a:ext cx="2190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token/费用/缓存命中/执行记录落盘聚合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58250" y="6572250"/>
            <a:ext cx="219075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58250" y="6648450"/>
            <a:ext cx="2190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个人量级无需数据库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9600" y="6191250"/>
            <a:ext cx="10972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9600" y="63055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14 / 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49050" y="6362700"/>
            <a:ext cx="95250" cy="952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PERMISSION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zh-CN">
                <a:solidFill>
                  <a:srgbClr val="1A1A1A"/>
                </a:solidFill>
                <a:latin typeface="Arial"/>
                <a:ea typeface="Microsoft YaHei"/>
              </a:rPr>
              <a:t>权限 = 模式 × 风险等级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38300"/>
            <a:ext cx="533400" cy="381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66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999999"/>
                </a:solidFill>
                <a:latin typeface="Arial"/>
                <a:ea typeface="Microsoft YaHei"/>
              </a:rPr>
              <a:t>五档风险 × 三模式查表，危险操作不可绕过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857500"/>
            <a:ext cx="1714500" cy="419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971800"/>
            <a:ext cx="1562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FFFFFF"/>
                </a:solidFill>
                <a:latin typeface="Arial"/>
                <a:ea typeface="Microsoft YaHei"/>
              </a:rPr>
              <a:t>风险 / 模式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2324100" y="2857500"/>
            <a:ext cx="1143000" cy="419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76500" y="2971800"/>
            <a:ext cx="990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FFFFFF"/>
                </a:solidFill>
                <a:latin typeface="Arial"/>
                <a:ea typeface="Microsoft YaHei"/>
              </a:rPr>
              <a:t>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7100" y="2857500"/>
            <a:ext cx="1143000" cy="419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500" y="2971800"/>
            <a:ext cx="990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FFFFFF"/>
                </a:solidFill>
                <a:latin typeface="Arial"/>
                <a:ea typeface="Microsoft YaHei"/>
              </a:rPr>
              <a:t>Ask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0100" y="2857500"/>
            <a:ext cx="1333500" cy="419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2500" y="2971800"/>
            <a:ext cx="1181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FFFFFF"/>
                </a:solidFill>
                <a:latin typeface="Arial"/>
                <a:ea typeface="Microsoft YaHei"/>
              </a:rPr>
              <a:t>Auto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3276600"/>
            <a:ext cx="171450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3390900"/>
            <a:ext cx="1562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1A1A1A"/>
                </a:solidFill>
                <a:latin typeface="Arial"/>
                <a:ea typeface="Microsoft YaHei"/>
              </a:rPr>
              <a:t>READ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24100" y="3276600"/>
            <a:ext cx="114300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76500" y="3390900"/>
            <a:ext cx="990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E30613"/>
                </a:solidFill>
                <a:latin typeface="Arial"/>
                <a:ea typeface="Microsoft YaHei"/>
              </a:rPr>
              <a:t>✓ 自动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67100" y="3276600"/>
            <a:ext cx="114300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9500" y="3390900"/>
            <a:ext cx="990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E30613"/>
                </a:solidFill>
                <a:latin typeface="Arial"/>
                <a:ea typeface="Microsoft YaHei"/>
              </a:rPr>
              <a:t>✓ 自动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0100" y="3276600"/>
            <a:ext cx="133350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2500" y="3390900"/>
            <a:ext cx="1181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E30613"/>
                </a:solidFill>
                <a:latin typeface="Arial"/>
                <a:ea typeface="Microsoft YaHei"/>
              </a:rPr>
              <a:t>✓ 自动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3695700"/>
            <a:ext cx="1714500" cy="4191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3810000"/>
            <a:ext cx="1562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1A1A1A"/>
                </a:solidFill>
                <a:latin typeface="Arial"/>
                <a:ea typeface="Microsoft YaHei"/>
              </a:rPr>
              <a:t>WRITE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24100" y="3695700"/>
            <a:ext cx="1143000" cy="4191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76500" y="3810000"/>
            <a:ext cx="990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E30613"/>
                </a:solidFill>
                <a:latin typeface="Arial"/>
                <a:ea typeface="Microsoft YaHei"/>
              </a:rPr>
              <a:t>✗ 禁止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67100" y="3695700"/>
            <a:ext cx="1143000" cy="4191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9500" y="3810000"/>
            <a:ext cx="990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询问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0100" y="3695700"/>
            <a:ext cx="1333500" cy="4191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62500" y="3810000"/>
            <a:ext cx="1181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1A1A1A"/>
                </a:solidFill>
                <a:latin typeface="Arial"/>
                <a:ea typeface="Microsoft YaHei"/>
              </a:rPr>
              <a:t>工作区内自动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4114800"/>
            <a:ext cx="171450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2000" y="4229100"/>
            <a:ext cx="1562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1A1A1A"/>
                </a:solidFill>
                <a:latin typeface="Arial"/>
                <a:ea typeface="Microsoft YaHei"/>
              </a:rPr>
              <a:t>EXEC(低风险白名单)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24100" y="4114800"/>
            <a:ext cx="114300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76500" y="4229100"/>
            <a:ext cx="990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1A1A1A"/>
                </a:solidFill>
                <a:latin typeface="Arial"/>
                <a:ea typeface="Microsoft YaHei"/>
              </a:rPr>
              <a:t>只读可选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67100" y="4114800"/>
            <a:ext cx="114300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19500" y="4229100"/>
            <a:ext cx="990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询问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10100" y="4114800"/>
            <a:ext cx="133350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62500" y="4229100"/>
            <a:ext cx="1181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1A1A1A"/>
                </a:solidFill>
                <a:latin typeface="Arial"/>
                <a:ea typeface="Microsoft YaHei"/>
              </a:rPr>
              <a:t>自动（npm test 等）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" y="4533900"/>
            <a:ext cx="1714500" cy="4191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2000" y="4648200"/>
            <a:ext cx="1562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1A1A1A"/>
                </a:solidFill>
                <a:latin typeface="Arial"/>
                <a:ea typeface="Microsoft YaHei"/>
              </a:rPr>
              <a:t>EXEC(其他)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24100" y="4533900"/>
            <a:ext cx="1143000" cy="4191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76500" y="4648200"/>
            <a:ext cx="990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E30613"/>
                </a:solidFill>
                <a:latin typeface="Arial"/>
                <a:ea typeface="Microsoft YaHei"/>
              </a:rPr>
              <a:t>✗ 禁止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67100" y="4533900"/>
            <a:ext cx="1143000" cy="4191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19500" y="4648200"/>
            <a:ext cx="990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询问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10100" y="4533900"/>
            <a:ext cx="1333500" cy="4191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62500" y="4648200"/>
            <a:ext cx="1181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询问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600" y="4953000"/>
            <a:ext cx="171450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000" y="5067300"/>
            <a:ext cx="1562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1A1A1A"/>
                </a:solidFill>
                <a:latin typeface="Arial"/>
                <a:ea typeface="Microsoft YaHei"/>
              </a:rPr>
              <a:t>NETWORK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24100" y="4953000"/>
            <a:ext cx="114300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76500" y="5067300"/>
            <a:ext cx="990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E30613"/>
                </a:solidFill>
                <a:latin typeface="Arial"/>
                <a:ea typeface="Microsoft YaHei"/>
              </a:rPr>
              <a:t>✗ 禁止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67100" y="4953000"/>
            <a:ext cx="114300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19500" y="5067300"/>
            <a:ext cx="990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询问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10100" y="4953000"/>
            <a:ext cx="133350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62500" y="5067300"/>
            <a:ext cx="1181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询问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9600" y="5372100"/>
            <a:ext cx="1714500" cy="4191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2000" y="5486400"/>
            <a:ext cx="1562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1A1A1A"/>
                </a:solidFill>
                <a:latin typeface="Arial"/>
                <a:ea typeface="Microsoft YaHei"/>
              </a:rPr>
              <a:t>DANGEROUS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24100" y="5372100"/>
            <a:ext cx="1143000" cy="4191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76500" y="5486400"/>
            <a:ext cx="990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E30613"/>
                </a:solidFill>
                <a:latin typeface="Arial"/>
                <a:ea typeface="Microsoft YaHei"/>
              </a:rPr>
              <a:t>✗ 禁止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67100" y="5372100"/>
            <a:ext cx="1143000" cy="4191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19500" y="5486400"/>
            <a:ext cx="990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询问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10100" y="5372100"/>
            <a:ext cx="1333500" cy="4191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62500" y="5486400"/>
            <a:ext cx="1181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询问（不可持久允许）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4850" y="5905500"/>
            <a:ext cx="1047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E30613"/>
                </a:solidFill>
                <a:latin typeface="Arial"/>
                <a:ea typeface="Microsoft YaHei"/>
              </a:rPr>
              <a:t>要点：Auto ≠ 任意执行命令；DANGEROUS（rm -rf / git push --force / npm publish）任何模式都必须显式确认。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9600" y="6191250"/>
            <a:ext cx="10972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9600" y="63055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15 / 20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449050" y="6362700"/>
            <a:ext cx="95250" cy="952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zh-CN">
                <a:solidFill>
                  <a:srgbClr val="1A1A1A"/>
                </a:solidFill>
                <a:latin typeface="Arial"/>
                <a:ea typeface="Microsoft YaHei"/>
              </a:rPr>
              <a:t>三层安全网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38300"/>
            <a:ext cx="533400" cy="381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66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999999"/>
                </a:solidFill>
                <a:latin typeface="Arial"/>
                <a:ea typeface="Microsoft YaHei"/>
              </a:rPr>
              <a:t>权限是硬边界，命令风险启发式只是辅助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857500"/>
            <a:ext cx="3505200" cy="2381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3067050"/>
            <a:ext cx="3124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决定层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333750"/>
            <a:ext cx="3124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A1A1A"/>
                </a:solidFill>
                <a:latin typeface="Arial"/>
                <a:ea typeface="Microsoft YaHei"/>
              </a:rPr>
              <a:t>Permission 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" y="3695700"/>
            <a:ext cx="3810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" y="3848100"/>
            <a:ext cx="31242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WRITE / EXEC / NETWORK / DANGEROUS
任何模式都必须经决策矩阵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857500"/>
            <a:ext cx="3505200" cy="2381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3900" y="3067050"/>
            <a:ext cx="3124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隔离层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3900" y="3333750"/>
            <a:ext cx="3124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A1A1A"/>
                </a:solidFill>
                <a:latin typeface="Arial"/>
                <a:ea typeface="Microsoft YaHei"/>
              </a:rPr>
              <a:t>Workspace Jail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33900" y="3695700"/>
            <a:ext cx="3810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3900" y="3848100"/>
            <a:ext cx="31242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所有路径经 resolveWithinWorkspace()
逃出工作区直接拒绝（含符号链接）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7200" y="2857500"/>
            <a:ext cx="3505200" cy="23812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7700" y="3067050"/>
            <a:ext cx="3124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执行层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7700" y="3333750"/>
            <a:ext cx="3124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A1A1A"/>
                </a:solidFill>
                <a:latin typeface="Arial"/>
                <a:ea typeface="Microsoft YaHei"/>
              </a:rPr>
              <a:t>Bash 执行策略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67700" y="3695700"/>
            <a:ext cx="3810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7700" y="3848100"/>
            <a:ext cx="31242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cwd 强制工作区 · 环境变量受控
超时 + stdout/stderr 限流 · 进程树清理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5429250"/>
            <a:ext cx="10972800" cy="762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" y="5619750"/>
            <a:ext cx="1047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FFFFFF"/>
                </a:solidFill>
                <a:latin typeface="Arial"/>
                <a:ea typeface="Microsoft YaHei"/>
              </a:rPr>
              <a:t>基准约束：危险命令任何模式下确认 · DANGEROUS 不持久化「始终允许」 · 日志脱敏 · 密钥只存 OS Keychain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6191250"/>
            <a:ext cx="10972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63055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16 / 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49050" y="6362700"/>
            <a:ext cx="95250" cy="952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zh-CN">
                <a:solidFill>
                  <a:srgbClr val="1A1A1A"/>
                </a:solidFill>
                <a:latin typeface="Arial"/>
                <a:ea typeface="Microsoft YaHei"/>
              </a:rPr>
              <a:t>LLM 适配与用量统计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38300"/>
            <a:ext cx="533400" cy="381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66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999999"/>
                </a:solidFill>
                <a:latin typeface="Arial"/>
                <a:ea typeface="Microsoft YaHei"/>
              </a:rPr>
              <a:t>一套代码接多家模型，厂商差异归一化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857500"/>
            <a:ext cx="5295900" cy="25717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30861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1A1A"/>
                </a:solidFill>
                <a:latin typeface="Arial"/>
                <a:ea typeface="Microsoft YaHei"/>
              </a:rPr>
              <a:t>适配层归一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200" y="3390900"/>
            <a:ext cx="5715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36195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OpenAI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43100" y="3619500"/>
            <a:ext cx="3619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cached_tokens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8200" y="3867150"/>
            <a:ext cx="48387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398145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DeepSeek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3100" y="3981450"/>
            <a:ext cx="3619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prompt_cache_hit_tokens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8200" y="4229100"/>
            <a:ext cx="48387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3434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Anthropic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3100" y="4343400"/>
            <a:ext cx="3619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cache_read_input_tokens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8200" y="4591050"/>
            <a:ext cx="48387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200" y="470535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zh-CN">
                <a:solidFill>
                  <a:srgbClr val="1A1A1A"/>
                </a:solidFill>
                <a:latin typeface="Arial"/>
                <a:ea typeface="Microsoft YaHei"/>
              </a:rPr>
              <a:t>Ollama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3100" y="4705350"/>
            <a:ext cx="3619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仅末块返回 usage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8200" y="4953000"/>
            <a:ext cx="48387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857500"/>
            <a:ext cx="5295900" cy="25717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5100" y="30861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1A1A"/>
                </a:solidFill>
                <a:latin typeface="Arial"/>
                <a:ea typeface="Microsoft YaHei"/>
              </a:rPr>
              <a:t>用量采集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15100" y="3390900"/>
            <a:ext cx="5715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5100" y="3600450"/>
            <a:ext cx="47625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usage.jsonl  —— token / 费用 / 缓存命中
records.jsonl —— 每次工具调用执行记录
命中率 = Σcached / Σin，费用按单价累加
关键：缓存命中多数按折扣价，是控成本核心指标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6191250"/>
            <a:ext cx="10972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63055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17 / 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49050" y="6362700"/>
            <a:ext cx="95250" cy="952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zh-CN">
                <a:solidFill>
                  <a:srgbClr val="1A1A1A"/>
                </a:solidFill>
                <a:latin typeface="Arial"/>
                <a:ea typeface="Microsoft YaHei"/>
              </a:rPr>
              <a:t>前端信息架构与安全基线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38300"/>
            <a:ext cx="533400" cy="381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66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999999"/>
                </a:solidFill>
                <a:latin typeface="Arial"/>
                <a:ea typeface="Microsoft YaHei"/>
              </a:rPr>
              <a:t>三栏工作台 · 事件驱动 · 安全边界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857500"/>
            <a:ext cx="3543300" cy="9525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3086100"/>
            <a:ext cx="31623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1A1A"/>
                </a:solidFill>
                <a:latin typeface="Arial"/>
                <a:ea typeface="Microsoft YaHei"/>
              </a:rPr>
              <a:t>代码空间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390900"/>
            <a:ext cx="31623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项目 → 会话树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5300" y="2857500"/>
            <a:ext cx="3543300" cy="9525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5800" y="3086100"/>
            <a:ext cx="31623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1A1A"/>
                </a:solidFill>
                <a:latin typeface="Arial"/>
                <a:ea typeface="Microsoft YaHei"/>
              </a:rPr>
              <a:t>Agent 对话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800" y="3390900"/>
            <a:ext cx="31623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执行计划 + Tool Trace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2857500"/>
            <a:ext cx="3543300" cy="9525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1500" y="3086100"/>
            <a:ext cx="31623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1A1A"/>
                </a:solidFill>
                <a:latin typeface="Arial"/>
                <a:ea typeface="Microsoft YaHei"/>
              </a:rPr>
              <a:t>代码 / Diff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0" y="3390900"/>
            <a:ext cx="31623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文件树 + 审阅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000500"/>
            <a:ext cx="10972800" cy="1524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42481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E30613"/>
                </a:solidFill>
                <a:latin typeface="Arial"/>
                <a:ea typeface="Microsoft YaHei"/>
              </a:rPr>
              <a:t>安全边界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8200" y="4552950"/>
            <a:ext cx="5715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200" y="4724400"/>
            <a:ext cx="10477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Renderer 无 Node · 一切数据经 preload 白名单 + zod 校验 · contextIsolation 开启 · Key 只显掩码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6191250"/>
            <a:ext cx="10972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63055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18 / 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49050" y="6362700"/>
            <a:ext cx="95250" cy="952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zh-CN">
                <a:solidFill>
                  <a:srgbClr val="1A1A1A"/>
                </a:solidFill>
                <a:latin typeface="Arial"/>
                <a:ea typeface="Microsoft YaHei"/>
              </a:rPr>
              <a:t>视觉设计规范：瑞士风格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38300"/>
            <a:ext cx="533400" cy="381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66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999999"/>
                </a:solidFill>
                <a:latin typeface="Arial"/>
                <a:ea typeface="Microsoft YaHei"/>
              </a:rPr>
              <a:t>本 PPT 严格遵循的栅格与配色系统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857500"/>
            <a:ext cx="5295900" cy="2286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30861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1A1A"/>
                </a:solidFill>
                <a:latin typeface="Arial"/>
                <a:ea typeface="Microsoft YaHei"/>
              </a:rPr>
              <a:t>栅格系统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200" y="3390900"/>
            <a:ext cx="5715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6300" y="368617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6800" y="36195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16:9 画布：1280 × 720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6300" y="399097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6800" y="39243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左右页边距：64px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6300" y="429577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6800" y="42291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正文区宽：1152px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6300" y="460057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45339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12 栏隐式网格，元素对齐网格线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6300" y="490537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6800" y="48387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55555"/>
                </a:solidFill>
                <a:latin typeface="Arial"/>
                <a:ea typeface="Microsoft YaHei"/>
              </a:rPr>
              <a:t>每页五段式骨架 + 4px 红强调线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6500" y="2857500"/>
            <a:ext cx="5295900" cy="2286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5100" y="30861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1A1A"/>
                </a:solidFill>
                <a:latin typeface="Arial"/>
                <a:ea typeface="Microsoft YaHei"/>
              </a:rPr>
              <a:t>配色（极克制）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5100" y="3390900"/>
            <a:ext cx="5715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15100" y="3619500"/>
            <a:ext cx="228600" cy="2286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9900" y="3648075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1A1A1A"/>
                </a:solidFill>
                <a:latin typeface="Arial"/>
                <a:ea typeface="Microsoft YaHei"/>
              </a:rPr>
              <a:t>瑞士红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0500" y="36480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999999"/>
                </a:solidFill>
                <a:latin typeface="Arial"/>
                <a:ea typeface="Microsoft YaHei"/>
              </a:rPr>
              <a:t>#E30613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9200" y="3648075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唯一强调色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15100" y="4000500"/>
            <a:ext cx="228600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9900" y="4029075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1A1A1A"/>
                </a:solidFill>
                <a:latin typeface="Arial"/>
                <a:ea typeface="Microsoft YaHei"/>
              </a:rPr>
              <a:t>近黑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0500" y="40290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999999"/>
                </a:solidFill>
                <a:latin typeface="Arial"/>
                <a:ea typeface="Microsoft YaHei"/>
              </a:rPr>
              <a:t>#1A1A1A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9200" y="4029075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标题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15100" y="4381500"/>
            <a:ext cx="228600" cy="2286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9900" y="4410075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1A1A1A"/>
                </a:solidFill>
                <a:latin typeface="Arial"/>
                <a:ea typeface="Microsoft YaHei"/>
              </a:rPr>
              <a:t>正文灰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0500" y="44100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999999"/>
                </a:solidFill>
                <a:latin typeface="Arial"/>
                <a:ea typeface="Microsoft YaHei"/>
              </a:rPr>
              <a:t>#555555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39200" y="4410075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正文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15100" y="4762500"/>
            <a:ext cx="228600" cy="2286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9900" y="4791075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1A1A1A"/>
                </a:solidFill>
                <a:latin typeface="Arial"/>
                <a:ea typeface="Microsoft YaHei"/>
              </a:rPr>
              <a:t>卡片灰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0500" y="47910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999999"/>
                </a:solidFill>
                <a:latin typeface="Arial"/>
                <a:ea typeface="Microsoft YaHei"/>
              </a:rPr>
              <a:t>#F5F5F5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9200" y="4791075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内容底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15100" y="5143500"/>
            <a:ext cx="2286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9900" y="5172075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>
                <a:solidFill>
                  <a:srgbClr val="1A1A1A"/>
                </a:solidFill>
                <a:latin typeface="Arial"/>
                <a:ea typeface="Microsoft YaHei"/>
              </a:rPr>
              <a:t>白底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0500" y="5172075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999999"/>
                </a:solidFill>
                <a:latin typeface="Arial"/>
                <a:ea typeface="Microsoft YaHei"/>
              </a:rPr>
              <a:t>#FFFFFF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39200" y="5172075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55555"/>
                </a:solidFill>
                <a:latin typeface="Arial"/>
                <a:ea typeface="Microsoft YaHei"/>
              </a:rPr>
              <a:t>背景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" y="6191250"/>
            <a:ext cx="10972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600" y="63055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19 / 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49050" y="6362700"/>
            <a:ext cx="95250" cy="952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0972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E30613"/>
                </a:solidFill>
                <a:latin typeface="Arial"/>
                <a:ea typeface="Microsoft YaHe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zh-CN">
                <a:solidFill>
                  <a:srgbClr val="1A1A1A"/>
                </a:solidFill>
                <a:latin typeface="Arial"/>
                <a:ea typeface="Microsoft YaHei"/>
              </a:rPr>
              <a:t>阶段路线图与成功标准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38300"/>
            <a:ext cx="533400" cy="381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669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999999"/>
                </a:solidFill>
                <a:latin typeface="Arial"/>
                <a:ea typeface="Microsoft YaHei"/>
              </a:rPr>
              <a:t>P0–P7 渐进交付，P1+P2 即为可用 MVP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857500"/>
            <a:ext cx="1352550" cy="4191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971800"/>
            <a:ext cx="1276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1A1A1A"/>
                </a:solidFill>
                <a:latin typeface="Arial"/>
                <a:ea typeface="Microsoft YaHei"/>
              </a:rPr>
              <a:t>P0 应用壳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200" y="2857500"/>
            <a:ext cx="1352550" cy="4191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2971800"/>
            <a:ext cx="1276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1A1A1A"/>
                </a:solidFill>
                <a:latin typeface="Arial"/>
                <a:ea typeface="Microsoft YaHei"/>
              </a:rPr>
              <a:t>P1 Agent Loop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2800" y="2857500"/>
            <a:ext cx="1352550" cy="4191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971800"/>
            <a:ext cx="1276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1A1A1A"/>
                </a:solidFill>
                <a:latin typeface="Arial"/>
                <a:ea typeface="Microsoft YaHei"/>
              </a:rPr>
              <a:t>P2 三栏工作台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2800" y="2857500"/>
            <a:ext cx="1352550" cy="4191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971800"/>
            <a:ext cx="1276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FFFFFF"/>
                </a:solidFill>
                <a:latin typeface="Arial"/>
                <a:ea typeface="Microsoft YaHei"/>
              </a:rPr>
              <a:t>P2 三栏工作台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4400" y="2857500"/>
            <a:ext cx="1352550" cy="4191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971800"/>
            <a:ext cx="1276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1A1A1A"/>
                </a:solidFill>
                <a:latin typeface="Arial"/>
                <a:ea typeface="Microsoft YaHei"/>
              </a:rPr>
              <a:t>P3 权限矩阵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0" y="2857500"/>
            <a:ext cx="1352550" cy="4191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971800"/>
            <a:ext cx="1276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1A1A1A"/>
                </a:solidFill>
                <a:latin typeface="Arial"/>
                <a:ea typeface="Microsoft YaHei"/>
              </a:rPr>
              <a:t>P4 Skills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67600" y="2857500"/>
            <a:ext cx="1352550" cy="4191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2971800"/>
            <a:ext cx="1276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1A1A1A"/>
                </a:solidFill>
                <a:latin typeface="Arial"/>
                <a:ea typeface="Microsoft YaHei"/>
              </a:rPr>
              <a:t>P5 MCP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39200" y="2857500"/>
            <a:ext cx="1352550" cy="4191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2971800"/>
            <a:ext cx="1276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1A1A1A"/>
                </a:solidFill>
                <a:latin typeface="Arial"/>
                <a:ea typeface="Microsoft YaHei"/>
              </a:rPr>
              <a:t>P6 安全用量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0800" y="2857500"/>
            <a:ext cx="1352550" cy="4191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87000" y="2971800"/>
            <a:ext cx="1276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1A1A1A"/>
                </a:solidFill>
                <a:latin typeface="Arial"/>
                <a:ea typeface="Microsoft YaHei"/>
              </a:rPr>
              <a:t>P7 专家团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2838450"/>
            <a:ext cx="2857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81940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1A1A1A"/>
                </a:solidFill>
                <a:latin typeface="Arial"/>
                <a:ea typeface="Microsoft YaHe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3333750" y="3371850"/>
            <a:ext cx="1352550" cy="1905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3750" y="3409950"/>
            <a:ext cx="13525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FFFFFF"/>
                </a:solidFill>
                <a:latin typeface="Arial"/>
                <a:ea typeface="Microsoft YaHei"/>
              </a:rPr>
              <a:t>可用 MVP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3810000"/>
            <a:ext cx="10972800" cy="18097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200" y="40576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1A1A1A"/>
                </a:solidFill>
                <a:latin typeface="Arial"/>
                <a:ea typeface="Microsoft YaHei"/>
              </a:rPr>
              <a:t>成功标准（怎么算做完）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8200" y="4362450"/>
            <a:ext cx="571500" cy="28575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6300" y="461962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6800" y="4572000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在任意 Git 项目完成「读码 → 小改动 → Diff 审阅接受 → 跑测试」闭环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6300" y="484822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6800" y="4800600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能添加自定义 Skill（项目级覆盖全局同名）并用 /name 触发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6300" y="507682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6800" y="5029200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能配置 MCP Server，查看 Tools 列表并让模型调用（经确认）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6300" y="530542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6800" y="5257800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刷新后会话与配置仍在；API Key 只以掩码出现；工作区外路径无法读写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6300" y="5534025"/>
            <a:ext cx="76200" cy="76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6800" y="5486400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555555"/>
                </a:solidFill>
                <a:latin typeface="Arial"/>
                <a:ea typeface="Microsoft YaHei"/>
              </a:rPr>
              <a:t>Auto 模式下 rm -rf 仍会弹确认；用量统计可按模型/会话/工具筛选回放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600" y="6191250"/>
            <a:ext cx="1097280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600" y="63055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999999"/>
                </a:solidFill>
                <a:latin typeface="Arial"/>
                <a:ea typeface="Microsoft YaHei"/>
              </a:rPr>
              <a:t>20 / 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49050" y="6362700"/>
            <a:ext cx="95250" cy="9525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