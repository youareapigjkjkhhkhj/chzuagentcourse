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685800"/>
            <a:ext cx="2743200" cy="2743200"/>
          </a:xfrm>
          <a:prstGeom prst="ellipse">
            <a:avLst/>
          </a:prstGeom>
          <a:solidFill>
            <a:srgbClr val="F0E4CF"/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3749040"/>
            <a:ext cx="2377440" cy="2377440"/>
          </a:xfrm>
          <a:prstGeom prst="ellipse">
            <a:avLst/>
          </a:prstGeom>
          <a:solidFill>
            <a:srgbClr val="EDDFC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411480"/>
            <a:ext cx="457200" cy="45720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758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Multi-Agent Interactive Classroom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606040" cy="0"/>
          </a:xfrm>
          <a:prstGeom prst="line">
            <a:avLst/>
          </a:prstGeom>
          <a:noFill/>
          <a:ln w="25400">
            <a:solidFill>
              <a:srgbClr val="B98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多智能体互动课堂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项目说明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输入一个主题，AI 教师与 AI 同学陪你上一堂完整的课。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一键生成课件与讲稿、实时讨论、白板互动与多格式导出。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4EDE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813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4224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已生成课堂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31720" y="370332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4EDE0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3813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331720" y="4224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370332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4EDE0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3813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60520" y="4224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同学/班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70332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4EDE0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3813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89320" y="42245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导出格式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产品设计原型 · 高保真演示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多智能体驱动的互动智能课堂平台，一键生成完整课堂体验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用户只需输入学习主题或上传材料，系统自动生成含幻灯片、测验、交互模拟与项目式学习的完整课堂，并由多个 AI 角色进行语音讲解、白板板书与实时讨论。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627632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核心价值主张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 教师 + 多个 AI 同学带入同一间课堂，还原真实同伴学习氛围，实现可干预、可扩展、可导出的沉浸式教学。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749040"/>
            <a:ext cx="292608" cy="292608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5" name="Text 13"/>
          <p:cNvSpPr/>
          <p:nvPr/>
        </p:nvSpPr>
        <p:spPr>
          <a:xfrm>
            <a:off x="1088136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主题→完整课堂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96312" y="361188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18" name="Shape 16"/>
          <p:cNvSpPr/>
          <p:nvPr/>
        </p:nvSpPr>
        <p:spPr>
          <a:xfrm>
            <a:off x="2679192" y="3749040"/>
            <a:ext cx="292608" cy="292608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19" name="Text 17"/>
          <p:cNvSpPr/>
          <p:nvPr/>
        </p:nvSpPr>
        <p:spPr>
          <a:xfrm>
            <a:off x="3081528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79192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教师+同学协作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9704" y="361188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22" name="Shape 20"/>
          <p:cNvSpPr/>
          <p:nvPr/>
        </p:nvSpPr>
        <p:spPr>
          <a:xfrm>
            <a:off x="4672584" y="3749040"/>
            <a:ext cx="292608" cy="292608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实时互动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72584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讨论·白板·语音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83096" y="361188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26" name="Shape 24"/>
          <p:cNvSpPr/>
          <p:nvPr/>
        </p:nvSpPr>
        <p:spPr>
          <a:xfrm>
            <a:off x="6665976" y="3749040"/>
            <a:ext cx="292608" cy="292608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7" name="Text 25"/>
          <p:cNvSpPr/>
          <p:nvPr/>
        </p:nvSpPr>
        <p:spPr>
          <a:xfrm>
            <a:off x="7068312" y="3749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灵活导出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65976" y="4160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PPTX/HTML/视频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能力成熟，但线上课堂仍缺一堂完整的课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 AI 已能生成课件，真正的瓶颈是什么？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1847088" cy="2423160"/>
          </a:xfrm>
          <a:prstGeom prst="roundRect">
            <a:avLst>
              <a:gd name="adj" fmla="val 594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148840"/>
            <a:ext cx="384048" cy="384048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0" name="Text 8"/>
          <p:cNvSpPr/>
          <p:nvPr/>
        </p:nvSpPr>
        <p:spPr>
          <a:xfrm>
            <a:off x="1216152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内容割裂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" y="269748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大多数工具只能生成静态幻灯片，缺少讲稿、板书记录与实时讨论，学习体验单向。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965960"/>
            <a:ext cx="1847088" cy="2423160"/>
          </a:xfrm>
          <a:prstGeom prst="roundRect">
            <a:avLst>
              <a:gd name="adj" fmla="val 594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15768" y="2148840"/>
            <a:ext cx="384048" cy="384048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9544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缺乏互动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15768" y="269748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线上课堂多是视频回放，没有同伴交流、随堂提问与即时反馈，难以形成沉浸氛围。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89704" y="1965960"/>
            <a:ext cx="1847088" cy="2423160"/>
          </a:xfrm>
          <a:prstGeom prst="roundRect">
            <a:avLst>
              <a:gd name="adj" fmla="val 594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148840"/>
            <a:ext cx="384048" cy="384048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18" name="Text 16"/>
          <p:cNvSpPr/>
          <p:nvPr/>
        </p:nvSpPr>
        <p:spPr>
          <a:xfrm>
            <a:off x="5202936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难以干预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69748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生成后很难按需微调，用户无法在过程中持续对话、补材料或修改某个环节。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83096" y="1965960"/>
            <a:ext cx="1847088" cy="2423160"/>
          </a:xfrm>
          <a:prstGeom prst="roundRect">
            <a:avLst>
              <a:gd name="adj" fmla="val 594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2148840"/>
            <a:ext cx="384048" cy="384048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2" name="Text 20"/>
          <p:cNvSpPr/>
          <p:nvPr/>
        </p:nvSpPr>
        <p:spPr>
          <a:xfrm>
            <a:off x="7196328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资产难复用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02552" y="269748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音视频、图片、文档等素材难以统一管理，导出与二次利用繁琐。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解法：以多智能体编排为核心，把生成、讲授、互动、导出串成一堂完整可干预的课。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构建从生成到讲授再到导出的端到端智能课堂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74520"/>
            <a:ext cx="365760" cy="36576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9" name="Text 7"/>
          <p:cNvSpPr/>
          <p:nvPr/>
        </p:nvSpPr>
        <p:spPr>
          <a:xfrm>
            <a:off x="1179576" y="1837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" y="2258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一键转化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任意主题一键转化为结构完整、可直接开讲的互动课堂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99432" y="1600200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874520"/>
            <a:ext cx="365760" cy="365760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14" name="Text 12"/>
          <p:cNvSpPr/>
          <p:nvPr/>
        </p:nvSpPr>
        <p:spPr>
          <a:xfrm>
            <a:off x="5276088" y="183794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258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180136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教师授课 + 多位 AI 同学实时提问、辩论与补充，还原同伴学习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679192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2953512"/>
            <a:ext cx="365760" cy="365760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19" name="Text 17"/>
          <p:cNvSpPr/>
          <p:nvPr/>
        </p:nvSpPr>
        <p:spPr>
          <a:xfrm>
            <a:off x="1179576" y="29169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可干预工作台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23160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聊天式生成 Agent，支持打断、提要求、补材料与随时人工编辑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99432" y="2679192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53512"/>
            <a:ext cx="365760" cy="36576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4" name="Text 22"/>
          <p:cNvSpPr/>
          <p:nvPr/>
        </p:nvSpPr>
        <p:spPr>
          <a:xfrm>
            <a:off x="5276088" y="29169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00600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多媒体能力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19672" y="2880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语音讲解、语音识别、图像与视频生成，提供沉浸式体验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758184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4032504"/>
            <a:ext cx="365760" cy="365760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29" name="Text 27"/>
          <p:cNvSpPr/>
          <p:nvPr/>
        </p:nvSpPr>
        <p:spPr>
          <a:xfrm>
            <a:off x="1179576" y="3995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088" y="4416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灵活导出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423160" y="39593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 PPTX、交互式 HTML、课程视频，覆盖离线与回看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99432" y="3758184"/>
            <a:ext cx="3931920" cy="932688"/>
          </a:xfrm>
          <a:prstGeom prst="roundRect">
            <a:avLst>
              <a:gd name="adj" fmla="val 980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4032504"/>
            <a:ext cx="365760" cy="365760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34" name="Text 32"/>
          <p:cNvSpPr/>
          <p:nvPr/>
        </p:nvSpPr>
        <p:spPr>
          <a:xfrm>
            <a:off x="5276088" y="39959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7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00600" y="4416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可扩展部署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19672" y="395935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中立 + 本地/云端混合部署，支持插件式扩展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面向多种教育形态的通用课堂平台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4EDE0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847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在线教育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为高校与培训机构提供可交互的在线课程，增强学习黏性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276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4EDE0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847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企业培训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29584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把新员工培训、合规学习转化为生动的互动课堂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6276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4EDE0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8470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7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个人自学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18504" y="21945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输入主题即获得一次完整的讲解 + 讨论体验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8211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4EDE0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" y="3401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职业技能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0664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动手型课程可嵌入代码、模拟实验与项目式学习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18211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4EDE0"/>
          </a:solidFill>
          <a:ln/>
        </p:spPr>
      </p:sp>
      <p:sp>
        <p:nvSpPr>
          <p:cNvPr id="20" name="Text 18"/>
          <p:cNvSpPr/>
          <p:nvPr/>
        </p:nvSpPr>
        <p:spPr>
          <a:xfrm>
            <a:off x="3529584" y="3401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翻转课堂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29584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课前自主完成互动学习，课中聚焦讨论与实践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318211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4EDE0"/>
          </a:solidFill>
          <a:ln/>
        </p:spPr>
      </p:sp>
      <p:sp>
        <p:nvSpPr>
          <p:cNvPr id="23" name="Text 21"/>
          <p:cNvSpPr/>
          <p:nvPr/>
        </p:nvSpPr>
        <p:spPr>
          <a:xfrm>
            <a:off x="6318504" y="340156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7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终身学习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18504" y="37490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低门槛主题学习，anytime 随时开展一段沉浸学习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无论在哪里学习，都能让 AI 教师与 AI 同学陪你走进同一间课堂。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分层架构，以多智能体编排与课堂运行时为核心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5486400" cy="512064"/>
          </a:xfrm>
          <a:prstGeom prst="roundRect">
            <a:avLst>
              <a:gd name="adj" fmla="val 160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82296" cy="512064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2763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用户入口层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16642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前端 · 即时通讯机器人 · API 接口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157984"/>
            <a:ext cx="5486400" cy="512064"/>
          </a:xfrm>
          <a:prstGeom prst="roundRect">
            <a:avLst>
              <a:gd name="adj" fmla="val 160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57984"/>
            <a:ext cx="82296" cy="512064"/>
          </a:xfrm>
          <a:prstGeom prst="rect">
            <a:avLst/>
          </a:prstGeom>
          <a:solidFill>
            <a:srgbClr val="6E8F5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2128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22494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课程生成 · 工作台 · 编辑器 · 播放器 · 用户设置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5486400" cy="512064"/>
          </a:xfrm>
          <a:prstGeom prst="roundRect">
            <a:avLst>
              <a:gd name="adj" fmla="val 160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43200"/>
            <a:ext cx="82296" cy="512064"/>
          </a:xfrm>
          <a:prstGeom prst="rect">
            <a:avLst/>
          </a:prstGeom>
          <a:solidFill>
            <a:srgbClr val="8A7BB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79806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多智能体编排与生成引擎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54680" y="28346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状态机编排 + Skills · 材料解析 + 工具调用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328416"/>
            <a:ext cx="5486400" cy="512064"/>
          </a:xfrm>
          <a:prstGeom prst="roundRect">
            <a:avLst>
              <a:gd name="adj" fmla="val 160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28416"/>
            <a:ext cx="82296" cy="512064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38328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课堂运行时与交互引擎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54680" y="341985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 / 测验 / 交互 · 白板 · 语音 · 讨论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913632"/>
            <a:ext cx="5486400" cy="512064"/>
          </a:xfrm>
          <a:prstGeom prst="roundRect">
            <a:avLst>
              <a:gd name="adj" fmla="val 160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913632"/>
            <a:ext cx="82296" cy="512064"/>
          </a:xfrm>
          <a:prstGeom prst="rect">
            <a:avLst/>
          </a:prstGeom>
          <a:solidFill>
            <a:srgbClr val="6E8F5E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9684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能力抽象层（可插拔）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54680" y="40050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 · 语音合成/识别 · 图像/视频 · 搜索 · 文档解析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1572768"/>
            <a:ext cx="2377440" cy="2834640"/>
          </a:xfrm>
          <a:prstGeom prst="roundRect">
            <a:avLst>
              <a:gd name="adj" fmla="val 3846"/>
            </a:avLst>
          </a:prstGeom>
          <a:solidFill>
            <a:srgbClr val="F4EDE0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7007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73952" y="2066544"/>
            <a:ext cx="146304" cy="14630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0" name="Text 28"/>
          <p:cNvSpPr/>
          <p:nvPr/>
        </p:nvSpPr>
        <p:spPr>
          <a:xfrm>
            <a:off x="6693408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73952" y="2450592"/>
            <a:ext cx="146304" cy="14630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2" name="Text 30"/>
          <p:cNvSpPr/>
          <p:nvPr/>
        </p:nvSpPr>
        <p:spPr>
          <a:xfrm>
            <a:off x="6693408" y="2395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语音合成 TTS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73952" y="2834640"/>
            <a:ext cx="146304" cy="14630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4" name="Text 32"/>
          <p:cNvSpPr/>
          <p:nvPr/>
        </p:nvSpPr>
        <p:spPr>
          <a:xfrm>
            <a:off x="6693408" y="2779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 ASR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73952" y="3218688"/>
            <a:ext cx="146304" cy="14630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6" name="Text 34"/>
          <p:cNvSpPr/>
          <p:nvPr/>
        </p:nvSpPr>
        <p:spPr>
          <a:xfrm>
            <a:off x="6693408" y="31638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 / 视频生成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73952" y="3602736"/>
            <a:ext cx="146304" cy="14630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8" name="Text 36"/>
          <p:cNvSpPr/>
          <p:nvPr/>
        </p:nvSpPr>
        <p:spPr>
          <a:xfrm>
            <a:off x="6693408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网络搜索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3986784"/>
            <a:ext cx="146304" cy="14630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40" name="Text 38"/>
          <p:cNvSpPr/>
          <p:nvPr/>
        </p:nvSpPr>
        <p:spPr>
          <a:xfrm>
            <a:off x="6693408" y="3931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4498848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5720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数据与资产层 · 渲染与导出服务 → 数据库 / 对象存储 · 视频导出 / PPTX 生成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课程生成引擎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 + Agent 工作台两种模式，灵活可干预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一键生成模式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762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输入主题或上传材料 → 自动规划大纲 → 生成完整课堂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697480"/>
            <a:ext cx="182880" cy="18288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输入主题 / 上传材料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2862072"/>
            <a:ext cx="0" cy="237744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108960"/>
            <a:ext cx="182880" cy="18288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3108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自动规划课程大纲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273552"/>
            <a:ext cx="0" cy="237744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520440"/>
            <a:ext cx="182880" cy="18288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生成各场景内容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3685032"/>
            <a:ext cx="0" cy="237744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931920"/>
            <a:ext cx="182880" cy="18288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0" name="Text 18"/>
          <p:cNvSpPr/>
          <p:nvPr/>
        </p:nvSpPr>
        <p:spPr>
          <a:xfrm>
            <a:off x="1115568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组装完整课堂并播放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1627632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工作台模式（重点）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56048" y="2212848"/>
            <a:ext cx="164592" cy="164592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215798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聊天式交互，与生成 Agent 持续对话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2596896"/>
            <a:ext cx="164592" cy="164592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25420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负责课程规划·页面构建·内容修订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2980944"/>
            <a:ext cx="164592" cy="164592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2926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支持上传文档/音频/视频/搜索素材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3364992"/>
            <a:ext cx="164592" cy="164592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3101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会话可中断、恢复、随时人工干预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3749040"/>
            <a:ext cx="164592" cy="164592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2" name="Text 30"/>
          <p:cNvSpPr/>
          <p:nvPr/>
        </p:nvSpPr>
        <p:spPr>
          <a:xfrm>
            <a:off x="5230368" y="369417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内置可扩展 Skills 体系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多智能体课堂运行时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教师与 AI 同学同堂互动，沉浸式学习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角色设计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9" name="Shape 7"/>
          <p:cNvSpPr/>
          <p:nvPr/>
        </p:nvSpPr>
        <p:spPr>
          <a:xfrm>
            <a:off x="722376" y="2057400"/>
            <a:ext cx="640080" cy="64008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22128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沈老师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3317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教师 · 主讲讲解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96312" y="187452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14" name="Shape 12"/>
          <p:cNvSpPr/>
          <p:nvPr/>
        </p:nvSpPr>
        <p:spPr>
          <a:xfrm>
            <a:off x="2715768" y="2057400"/>
            <a:ext cx="640080" cy="640080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15" name="Text 13"/>
          <p:cNvSpPr/>
          <p:nvPr/>
        </p:nvSpPr>
        <p:spPr>
          <a:xfrm>
            <a:off x="2715768" y="22128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56432" y="20574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6432" y="23317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同学 · 提问/笔记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9704" y="187452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2057400"/>
            <a:ext cx="640080" cy="640080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2128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9824" y="20574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9824" y="23317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同学 · 补充/辩论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83096" y="1874520"/>
            <a:ext cx="1847088" cy="1051560"/>
          </a:xfrm>
          <a:prstGeom prst="roundRect">
            <a:avLst>
              <a:gd name="adj" fmla="val 8696"/>
            </a:avLst>
          </a:prstGeom>
          <a:solidFill>
            <a:srgbClr val="F4ED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702552" y="2057400"/>
            <a:ext cx="640080" cy="64008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5" name="Text 23"/>
          <p:cNvSpPr/>
          <p:nvPr/>
        </p:nvSpPr>
        <p:spPr>
          <a:xfrm>
            <a:off x="6702552" y="22128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43216" y="20574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43216" y="23317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同学 · 讨论互动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场景类型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3401568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42900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幻灯片讲解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703320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73075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测验与即时反馈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005072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3250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 HTML 模拟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306824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33425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项目式学习 PBL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608576"/>
            <a:ext cx="1600200" cy="246888"/>
          </a:xfrm>
          <a:prstGeom prst="roundRect">
            <a:avLst>
              <a:gd name="adj" fmla="val 18519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3600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深度交互（可视化/编程/思维导图）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2062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互动能力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06240" y="3401568"/>
            <a:ext cx="164592" cy="164592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41" name="Text 39"/>
          <p:cNvSpPr/>
          <p:nvPr/>
        </p:nvSpPr>
        <p:spPr>
          <a:xfrm>
            <a:off x="4480560" y="33467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白板实时板书与绘图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206240" y="3785616"/>
            <a:ext cx="164592" cy="164592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373075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语音讲解 TTS + 语音输入 ASR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06240" y="4169664"/>
            <a:ext cx="164592" cy="164592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45" name="Text 43"/>
          <p:cNvSpPr/>
          <p:nvPr/>
        </p:nvSpPr>
        <p:spPr>
          <a:xfrm>
            <a:off x="4480560" y="4114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多轮讨论与实时问答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206240" y="4553712"/>
            <a:ext cx="164592" cy="164592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0" y="449884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沉浸模式与快捷键操作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 &amp; EXPORT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编辑与导出模块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可视化编辑 + AI 辅助修改 + 多格式导出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可视化幻灯片编辑器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2194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 / 缩放 / 旋转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633472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258775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多选与分组编辑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026664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29809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历史回退与撤销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419856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33741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属性面板实时调整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辅助编辑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1879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通过自然语言指令修改已有内容，无需专业设计技能。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627632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导出能力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2240280"/>
            <a:ext cx="3520440" cy="402336"/>
          </a:xfrm>
          <a:prstGeom prst="roundRect">
            <a:avLst>
              <a:gd name="adj" fmla="val 18182"/>
            </a:avLst>
          </a:prstGeom>
          <a:solidFill>
            <a:srgbClr val="F4EDE0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2768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 PPTX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0" y="22951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无缝接入 Office 生态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2743200"/>
            <a:ext cx="3520440" cy="402336"/>
          </a:xfrm>
          <a:prstGeom prst="roundRect">
            <a:avLst>
              <a:gd name="adj" fmla="val 18182"/>
            </a:avLst>
          </a:prstGeom>
          <a:solidFill>
            <a:srgbClr val="F4EDE0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7797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 HTML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279806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支持离线，随时分享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3246120"/>
            <a:ext cx="3520440" cy="402336"/>
          </a:xfrm>
          <a:prstGeom prst="roundRect">
            <a:avLst>
              <a:gd name="adj" fmla="val 18182"/>
            </a:avLst>
          </a:prstGeom>
          <a:solidFill>
            <a:srgbClr val="F4EDE0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2826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课程视频 MP4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75120" y="33009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完整授课过程回放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3749040"/>
            <a:ext cx="3520440" cy="402336"/>
          </a:xfrm>
          <a:prstGeom prst="roundRect">
            <a:avLst>
              <a:gd name="adj" fmla="val 18182"/>
            </a:avLst>
          </a:prstGeom>
          <a:solidFill>
            <a:srgbClr val="F4EDE0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7856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讲义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75120" y="38039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清爽排版便于打印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能力抽象层与材料处理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中立，灵活替换，避免强绑定单一厂商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能力抽象层（Provider 中立）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1517904" cy="1280160"/>
          </a:xfrm>
          <a:prstGeom prst="roundRect">
            <a:avLst>
              <a:gd name="adj" fmla="val 714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084832"/>
            <a:ext cx="274320" cy="27432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4505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" y="278892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/ 本地均可接入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48840" y="1938528"/>
            <a:ext cx="1517904" cy="1280160"/>
          </a:xfrm>
          <a:prstGeom prst="roundRect">
            <a:avLst>
              <a:gd name="adj" fmla="val 714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0632" y="2084832"/>
            <a:ext cx="274320" cy="274320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14" name="Text 12"/>
          <p:cNvSpPr/>
          <p:nvPr/>
        </p:nvSpPr>
        <p:spPr>
          <a:xfrm>
            <a:off x="2258568" y="24505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语音合成与识别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58568" y="278892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TTS / ASR 可插拔替换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94760" y="1938528"/>
            <a:ext cx="1517904" cy="1280160"/>
          </a:xfrm>
          <a:prstGeom prst="roundRect">
            <a:avLst>
              <a:gd name="adj" fmla="val 714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2084832"/>
            <a:ext cx="274320" cy="274320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18" name="Text 16"/>
          <p:cNvSpPr/>
          <p:nvPr/>
        </p:nvSpPr>
        <p:spPr>
          <a:xfrm>
            <a:off x="3904488" y="24505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图像与视频生成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04488" y="278892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封面、示意图、短片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0680" y="1938528"/>
            <a:ext cx="1517904" cy="1280160"/>
          </a:xfrm>
          <a:prstGeom prst="roundRect">
            <a:avLst>
              <a:gd name="adj" fmla="val 714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62472" y="2084832"/>
            <a:ext cx="274320" cy="274320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2" name="Text 20"/>
          <p:cNvSpPr/>
          <p:nvPr/>
        </p:nvSpPr>
        <p:spPr>
          <a:xfrm>
            <a:off x="5550408" y="24505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50408" y="278892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 + 音视频抽取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86600" y="1938528"/>
            <a:ext cx="1517904" cy="1280160"/>
          </a:xfrm>
          <a:prstGeom prst="roundRect">
            <a:avLst>
              <a:gd name="adj" fmla="val 714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8392" y="2084832"/>
            <a:ext cx="274320" cy="274320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26" name="Text 24"/>
          <p:cNvSpPr/>
          <p:nvPr/>
        </p:nvSpPr>
        <p:spPr>
          <a:xfrm>
            <a:off x="7196328" y="24505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网络搜索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96328" y="278892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实时补充最新知识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383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材料与知识处理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" y="370332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F4EDE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上传文档/音频/视频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96312" y="370332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F4EDE0"/>
          </a:solidFill>
          <a:ln/>
        </p:spPr>
      </p:sp>
      <p:sp>
        <p:nvSpPr>
          <p:cNvPr id="32" name="Text 30"/>
          <p:cNvSpPr/>
          <p:nvPr/>
        </p:nvSpPr>
        <p:spPr>
          <a:xfrm>
            <a:off x="2679192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自动解析·切分·提炼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9704" y="370332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F4EDE0"/>
          </a:solidFill>
          <a:ln/>
        </p:spPr>
      </p:sp>
      <p:sp>
        <p:nvSpPr>
          <p:cNvPr id="34" name="Text 32"/>
          <p:cNvSpPr/>
          <p:nvPr/>
        </p:nvSpPr>
        <p:spPr>
          <a:xfrm>
            <a:off x="4672584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作为生成上下文材料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83096" y="3703320"/>
            <a:ext cx="1847088" cy="777240"/>
          </a:xfrm>
          <a:prstGeom prst="roundRect">
            <a:avLst>
              <a:gd name="adj" fmla="val 11765"/>
            </a:avLst>
          </a:prstGeom>
          <a:solidFill>
            <a:srgbClr val="F4EDE0"/>
          </a:solidFill>
          <a:ln/>
        </p:spPr>
      </p:sp>
      <p:sp>
        <p:nvSpPr>
          <p:cNvPr id="36" name="Text 34"/>
          <p:cNvSpPr/>
          <p:nvPr/>
        </p:nvSpPr>
        <p:spPr>
          <a:xfrm>
            <a:off x="6665976" y="38587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向量检索增强长材料利用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启动时进行能力校验，失败时给出明确提示，避免运行时中断。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数据与状态设计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以课程 DSL 为核心，会话与资产统一管理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3977640" cy="2834640"/>
          </a:xfrm>
          <a:prstGeom prst="roundRect">
            <a:avLst>
              <a:gd name="adj" fmla="val 3871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核心数据模型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957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 DSL 描述场景结构（页面、元素、测验、交互、时间线）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761488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6265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会话状态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715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生成中间状态、消息历史、材料引用，支持持久化恢复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328416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295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2826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图片、音频、视频统一注册与管理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895344"/>
            <a:ext cx="164592" cy="164592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965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用户进度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8496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测验答题状态、课程完成情况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627632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783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持久化策略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937760" y="2148840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F4EDE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2194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开发阶段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2037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本地存储 或 SQLite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560320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F4EDE0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6151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对象存储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971800"/>
            <a:ext cx="3520440" cy="329184"/>
          </a:xfrm>
          <a:prstGeom prst="roundRect">
            <a:avLst>
              <a:gd name="adj" fmla="val 19444"/>
            </a:avLst>
          </a:prstGeom>
          <a:solidFill>
            <a:srgbClr val="F4EDE0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能力增强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026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支持增量保存与会话回放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DSL 是整堂课唯一数据源，生成、编辑、播放、导出都围绕它进行。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关键流程设计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一键生成、工作台编排、课堂运行三条主线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27632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27632"/>
            <a:ext cx="2651760" cy="457200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91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一键生成流程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" y="2240280"/>
            <a:ext cx="237744" cy="237744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5856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输入主题或上传材料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4088" y="2679192"/>
            <a:ext cx="237744" cy="237744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9748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6791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 Agent 生成课程结构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" y="3118104"/>
            <a:ext cx="237744" cy="237744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3639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1181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用户确认或微调大纲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" y="3557016"/>
            <a:ext cx="237744" cy="237744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75304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5570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并行生成各场景内容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" y="3995928"/>
            <a:ext cx="237744" cy="237744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01421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995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组装课堂并进入播放器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64408" y="1627632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4408" y="1627632"/>
            <a:ext cx="2651760" cy="457200"/>
          </a:xfrm>
          <a:prstGeom prst="rect">
            <a:avLst/>
          </a:prstGeom>
          <a:solidFill>
            <a:srgbClr val="6E8F5E"/>
          </a:solidFill>
          <a:ln/>
        </p:spPr>
      </p:sp>
      <p:sp>
        <p:nvSpPr>
          <p:cNvPr id="27" name="Text 25"/>
          <p:cNvSpPr/>
          <p:nvPr/>
        </p:nvSpPr>
        <p:spPr>
          <a:xfrm>
            <a:off x="3447288" y="1691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工作台流程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65576" y="2240280"/>
            <a:ext cx="237744" cy="23774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29" name="Text 27"/>
          <p:cNvSpPr/>
          <p:nvPr/>
        </p:nvSpPr>
        <p:spPr>
          <a:xfrm>
            <a:off x="3447288" y="225856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13048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进入聊天工作区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65576" y="2679192"/>
            <a:ext cx="237744" cy="23774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2" name="Text 30"/>
          <p:cNvSpPr/>
          <p:nvPr/>
        </p:nvSpPr>
        <p:spPr>
          <a:xfrm>
            <a:off x="3447288" y="269748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13048" y="26791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上传材料或描述需求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65576" y="3118104"/>
            <a:ext cx="237744" cy="23774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5" name="Text 33"/>
          <p:cNvSpPr/>
          <p:nvPr/>
        </p:nvSpPr>
        <p:spPr>
          <a:xfrm>
            <a:off x="3447288" y="313639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13048" y="31181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规划 + 调用 Skills 生成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65576" y="3557016"/>
            <a:ext cx="237744" cy="23774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38" name="Text 36"/>
          <p:cNvSpPr/>
          <p:nvPr/>
        </p:nvSpPr>
        <p:spPr>
          <a:xfrm>
            <a:off x="3447288" y="3575304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13048" y="35570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随时打断、修改或直接编辑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65576" y="3995928"/>
            <a:ext cx="237744" cy="23774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41" name="Text 39"/>
          <p:cNvSpPr/>
          <p:nvPr/>
        </p:nvSpPr>
        <p:spPr>
          <a:xfrm>
            <a:off x="3447288" y="401421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13048" y="3995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确认并保存/导出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25896" y="1627632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25896" y="1627632"/>
            <a:ext cx="2651760" cy="457200"/>
          </a:xfrm>
          <a:prstGeom prst="rect">
            <a:avLst/>
          </a:prstGeom>
          <a:solidFill>
            <a:srgbClr val="8A7BB0"/>
          </a:solidFill>
          <a:ln/>
        </p:spPr>
      </p:sp>
      <p:sp>
        <p:nvSpPr>
          <p:cNvPr id="45" name="Text 43"/>
          <p:cNvSpPr/>
          <p:nvPr/>
        </p:nvSpPr>
        <p:spPr>
          <a:xfrm>
            <a:off x="6208776" y="1691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课堂运行流程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27064" y="2240280"/>
            <a:ext cx="237744" cy="237744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47" name="Text 45"/>
          <p:cNvSpPr/>
          <p:nvPr/>
        </p:nvSpPr>
        <p:spPr>
          <a:xfrm>
            <a:off x="6208776" y="2258568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74536" y="2240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加载课程 DSL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27064" y="2679192"/>
            <a:ext cx="237744" cy="237744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50" name="Text 48"/>
          <p:cNvSpPr/>
          <p:nvPr/>
        </p:nvSpPr>
        <p:spPr>
          <a:xfrm>
            <a:off x="6208776" y="2697480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74536" y="26791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按时间线驱动讲解与白板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27064" y="3118104"/>
            <a:ext cx="237744" cy="237744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53" name="Text 51"/>
          <p:cNvSpPr/>
          <p:nvPr/>
        </p:nvSpPr>
        <p:spPr>
          <a:xfrm>
            <a:off x="6208776" y="313639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74536" y="31181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触发测验/交互时暂停等待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227064" y="3557016"/>
            <a:ext cx="237744" cy="237744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56" name="Text 54"/>
          <p:cNvSpPr/>
          <p:nvPr/>
        </p:nvSpPr>
        <p:spPr>
          <a:xfrm>
            <a:off x="6208776" y="3575304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574536" y="355701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同学插入讨论或提问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227064" y="3995928"/>
            <a:ext cx="237744" cy="237744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59" name="Text 57"/>
          <p:cNvSpPr/>
          <p:nvPr/>
        </p:nvSpPr>
        <p:spPr>
          <a:xfrm>
            <a:off x="6208776" y="4014216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74536" y="39959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记录进度支持断点续学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推荐技术栈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面向可扩展性与本地/云端混合部署的现代技术选型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1907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F4EDE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78308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17282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· React · TypeScript · Tailwind CSS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9432" y="16002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736" y="171907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F4EDE0"/>
          </a:solidFill>
          <a:ln/>
        </p:spPr>
      </p:sp>
      <p:sp>
        <p:nvSpPr>
          <p:cNvPr id="13" name="Text 11"/>
          <p:cNvSpPr/>
          <p:nvPr/>
        </p:nvSpPr>
        <p:spPr>
          <a:xfrm>
            <a:off x="4745736" y="178308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智能体编排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62472" y="172821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状态机框架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25856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23774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F4EDE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24414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7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3865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API Routes 或独立 FastAPI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99432" y="2258568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45736" y="237744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F4EDE0"/>
          </a:solidFill>
          <a:ln/>
        </p:spPr>
      </p:sp>
      <p:sp>
        <p:nvSpPr>
          <p:cNvPr id="21" name="Text 19"/>
          <p:cNvSpPr/>
          <p:nvPr/>
        </p:nvSpPr>
        <p:spPr>
          <a:xfrm>
            <a:off x="4745736" y="244144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62472" y="23865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会话与课程持久化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2916936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303580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F4EDE0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" y="309981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8F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向量/文档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65960" y="30449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可选轻量向量库辅助材料检索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99432" y="2916936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45736" y="303580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F4EDE0"/>
          </a:solidFill>
          <a:ln/>
        </p:spPr>
      </p:sp>
      <p:sp>
        <p:nvSpPr>
          <p:cNvPr id="29" name="Text 27"/>
          <p:cNvSpPr/>
          <p:nvPr/>
        </p:nvSpPr>
        <p:spPr>
          <a:xfrm>
            <a:off x="4745736" y="309981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7B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2472" y="30449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 / 云平台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429000"/>
            <a:ext cx="8138160" cy="1280160"/>
          </a:xfrm>
          <a:prstGeom prst="roundRect">
            <a:avLst>
              <a:gd name="adj" fmla="val 8571"/>
            </a:avLst>
          </a:prstGeom>
          <a:solidFill>
            <a:srgbClr val="F4EDE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566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技术选型原则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877056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状态机编排让多智能体协作可追踪、可控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前端采用现代技术栈保障交互体验与编辑器性能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后端能力中立，云端/本地混合部署灵活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安全与工程化设计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保障安全、可观测、可运维的工程实践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92808"/>
            <a:ext cx="329184" cy="329184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9" name="Text 7"/>
          <p:cNvSpPr/>
          <p:nvPr/>
        </p:nvSpPr>
        <p:spPr>
          <a:xfrm>
            <a:off x="1161288" y="1801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接口鉴权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2258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可选站点访问码，防止未授权访问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9432" y="160020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892808"/>
            <a:ext cx="329184" cy="329184"/>
          </a:xfrm>
          <a:prstGeom prst="ellipse">
            <a:avLst/>
          </a:prstGeom>
          <a:solidFill>
            <a:srgbClr val="6E8F5E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801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SSRF 防护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258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外部请求白名单 + 校验，杜绝内网探测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974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2990088"/>
            <a:ext cx="329184" cy="329184"/>
          </a:xfrm>
          <a:prstGeom prst="ellipse">
            <a:avLst/>
          </a:prstGeom>
          <a:solidFill>
            <a:srgbClr val="8A7BB0"/>
          </a:solidFill>
          <a:ln/>
        </p:spPr>
      </p:sp>
      <p:sp>
        <p:nvSpPr>
          <p:cNvPr id="17" name="Text 15"/>
          <p:cNvSpPr/>
          <p:nvPr/>
        </p:nvSpPr>
        <p:spPr>
          <a:xfrm>
            <a:off x="1161288" y="28986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交互沙箱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" y="3355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交互组件隔离运行，防止越权执行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9432" y="2697480"/>
            <a:ext cx="3931920" cy="960120"/>
          </a:xfrm>
          <a:prstGeom prst="roundRect">
            <a:avLst>
              <a:gd name="adj" fmla="val 9524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90088"/>
            <a:ext cx="329184" cy="329184"/>
          </a:xfrm>
          <a:prstGeom prst="ellipse">
            <a:avLst/>
          </a:prstGeom>
          <a:solidFill>
            <a:srgbClr val="B98A5A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8986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355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可选内容过滤，保障课堂内容合规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工程化实践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224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完整日志与错误可观测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41148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224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 + 端到端测试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41148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2245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一键部署 + 环境变量配置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82296" cy="56692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实施路线与预期成果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分阶段推进，逐步完善 Skills 体系与深度交互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9525">
            <a:solidFill>
              <a:srgbClr val="D9CCB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002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2651760" cy="475488"/>
          </a:xfrm>
          <a:prstGeom prst="rect">
            <a:avLst/>
          </a:prstGeom>
          <a:solidFill>
            <a:srgbClr val="B98A5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64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 · MVP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一键主题生成（幻灯片+测验）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基础多智能体讲解与 TTS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 Web 播放器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本地或单一大模型接入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16002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600200"/>
            <a:ext cx="2651760" cy="475488"/>
          </a:xfrm>
          <a:prstGeom prst="rect">
            <a:avLst/>
          </a:prstGeom>
          <a:solidFill>
            <a:srgbClr val="6E8F5E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664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 · 工作台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47288" y="2194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工作台与会话持久化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材料上传与解析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白板 + 基础交互场景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 / HTML 导出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25896" y="16002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9F5EC"/>
          </a:solidFill>
          <a:ln w="9525">
            <a:solidFill>
              <a:srgbClr val="D9CC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896" y="1600200"/>
            <a:ext cx="2651760" cy="475488"/>
          </a:xfrm>
          <a:prstGeom prst="rect">
            <a:avLst/>
          </a:prstGeom>
          <a:solidFill>
            <a:srgbClr val="8A7BB0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664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 · 完整生态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2194560"/>
            <a:ext cx="2331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Skills 体系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深度交互与 PBL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视频导出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Provider 与编辑器增强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7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2245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976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完整可运行系统原型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30552" y="42245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3" name="Text 21"/>
          <p:cNvSpPr/>
          <p:nvPr/>
        </p:nvSpPr>
        <p:spPr>
          <a:xfrm>
            <a:off x="2221992" y="42976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清晰课程 DSL 与编排设计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58184" y="42245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9624" y="42976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 + 可干预工作台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85816" y="42245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7" name="Text 25"/>
          <p:cNvSpPr/>
          <p:nvPr/>
        </p:nvSpPr>
        <p:spPr>
          <a:xfrm>
            <a:off x="5477256" y="42976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可导出课堂产物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13448" y="422452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4EDE0"/>
          </a:solidFill>
          <a:ln/>
        </p:spPr>
      </p:sp>
      <p:sp>
        <p:nvSpPr>
          <p:cNvPr id="29" name="Text 27"/>
          <p:cNvSpPr/>
          <p:nvPr/>
        </p:nvSpPr>
        <p:spPr>
          <a:xfrm>
            <a:off x="7104888" y="42976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64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完整设计文档与部署说明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EduAgentX · 多智能体互动课堂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8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2026-09-04T06:52:10Z</dcterms:created>
  <dcterms:modified xsi:type="dcterms:W3CDTF">2026-09-04T06:52:10Z</dcterms:modified>
</cp:coreProperties>
</file>