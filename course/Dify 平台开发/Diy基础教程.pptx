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8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8" r:id="rId23"/>
    <p:sldId id="289" r:id="rId24"/>
    <p:sldId id="290" r:id="rId25"/>
    <p:sldId id="291" r:id="rId26"/>
    <p:sldId id="292" r:id="rId27"/>
    <p:sldId id="276" r:id="rId28"/>
    <p:sldId id="278" r:id="rId29"/>
    <p:sldId id="279" r:id="rId30"/>
    <p:sldId id="277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63" d="100"/>
          <a:sy n="163" d="100"/>
        </p:scale>
        <p:origin x="174" y="132"/>
      </p:cViewPr>
      <p:guideLst>
        <p:guide orient="horz" pos="2220"/>
        <p:guide pos="37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image" Target="../media/image4.png"/><Relationship Id="rId4" Type="http://schemas.openxmlformats.org/officeDocument/2006/relationships/tags" Target="../tags/tag18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10" Type="http://schemas.openxmlformats.org/officeDocument/2006/relationships/image" Target="../media/image6.png"/><Relationship Id="rId4" Type="http://schemas.openxmlformats.org/officeDocument/2006/relationships/tags" Target="../tags/tag25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10" Type="http://schemas.openxmlformats.org/officeDocument/2006/relationships/image" Target="../media/image9.png"/><Relationship Id="rId4" Type="http://schemas.openxmlformats.org/officeDocument/2006/relationships/tags" Target="../tags/tag39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10" Type="http://schemas.openxmlformats.org/officeDocument/2006/relationships/image" Target="../media/image11.png"/><Relationship Id="rId4" Type="http://schemas.openxmlformats.org/officeDocument/2006/relationships/tags" Target="../tags/tag46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10" Type="http://schemas.openxmlformats.org/officeDocument/2006/relationships/image" Target="../media/image14.png"/><Relationship Id="rId4" Type="http://schemas.openxmlformats.org/officeDocument/2006/relationships/tags" Target="../tags/tag60.xml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10" Type="http://schemas.openxmlformats.org/officeDocument/2006/relationships/image" Target="../media/image18.png"/><Relationship Id="rId4" Type="http://schemas.openxmlformats.org/officeDocument/2006/relationships/tags" Target="../tags/tag81.xml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image" Target="../media/image20.png"/><Relationship Id="rId4" Type="http://schemas.openxmlformats.org/officeDocument/2006/relationships/tags" Target="../tags/tag88.xml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10" Type="http://schemas.openxmlformats.org/officeDocument/2006/relationships/image" Target="../media/image22.png"/><Relationship Id="rId4" Type="http://schemas.openxmlformats.org/officeDocument/2006/relationships/tags" Target="../tags/tag95.xml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10" Type="http://schemas.openxmlformats.org/officeDocument/2006/relationships/image" Target="../media/image24.png"/><Relationship Id="rId4" Type="http://schemas.openxmlformats.org/officeDocument/2006/relationships/tags" Target="../tags/tag102.xml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image" Target="../media/image31.png"/><Relationship Id="rId5" Type="http://schemas.openxmlformats.org/officeDocument/2006/relationships/tags" Target="../tags/tag138.xml"/><Relationship Id="rId10" Type="http://schemas.openxmlformats.org/officeDocument/2006/relationships/image" Target="../media/image30.png"/><Relationship Id="rId4" Type="http://schemas.openxmlformats.org/officeDocument/2006/relationships/tags" Target="../tags/tag137.xml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10" Type="http://schemas.openxmlformats.org/officeDocument/2006/relationships/image" Target="../media/image33.png"/><Relationship Id="rId4" Type="http://schemas.openxmlformats.org/officeDocument/2006/relationships/tags" Target="../tags/tag144.xml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35.png"/><Relationship Id="rId4" Type="http://schemas.openxmlformats.org/officeDocument/2006/relationships/tags" Target="../tags/tag151.xml"/><Relationship Id="rId9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10" Type="http://schemas.openxmlformats.org/officeDocument/2006/relationships/image" Target="../media/image37.png"/><Relationship Id="rId4" Type="http://schemas.openxmlformats.org/officeDocument/2006/relationships/tags" Target="../tags/tag158.xml"/><Relationship Id="rId9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10" Type="http://schemas.openxmlformats.org/officeDocument/2006/relationships/image" Target="../media/image39.png"/><Relationship Id="rId4" Type="http://schemas.openxmlformats.org/officeDocument/2006/relationships/tags" Target="../tags/tag165.xml"/><Relationship Id="rId9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image" Target="../media/image42.png"/><Relationship Id="rId5" Type="http://schemas.openxmlformats.org/officeDocument/2006/relationships/tags" Target="../tags/tag173.xml"/><Relationship Id="rId10" Type="http://schemas.openxmlformats.org/officeDocument/2006/relationships/image" Target="../media/image41.png"/><Relationship Id="rId4" Type="http://schemas.openxmlformats.org/officeDocument/2006/relationships/tags" Target="../tags/tag172.xml"/><Relationship Id="rId9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9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10" Type="http://schemas.openxmlformats.org/officeDocument/2006/relationships/image" Target="../media/image45.png"/><Relationship Id="rId4" Type="http://schemas.openxmlformats.org/officeDocument/2006/relationships/tags" Target="../tags/tag186.xml"/><Relationship Id="rId9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92.xml"/><Relationship Id="rId7" Type="http://schemas.openxmlformats.org/officeDocument/2006/relationships/tags" Target="../tags/tag196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10" Type="http://schemas.openxmlformats.org/officeDocument/2006/relationships/image" Target="../media/image47.png"/><Relationship Id="rId4" Type="http://schemas.openxmlformats.org/officeDocument/2006/relationships/tags" Target="../tags/tag193.xml"/><Relationship Id="rId9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9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image" Target="../media/image51.png"/><Relationship Id="rId5" Type="http://schemas.openxmlformats.org/officeDocument/2006/relationships/tags" Target="../tags/tag208.xml"/><Relationship Id="rId10" Type="http://schemas.openxmlformats.org/officeDocument/2006/relationships/image" Target="../media/image50.png"/><Relationship Id="rId4" Type="http://schemas.openxmlformats.org/officeDocument/2006/relationships/tags" Target="../tags/tag207.xml"/><Relationship Id="rId9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10" Type="http://schemas.openxmlformats.org/officeDocument/2006/relationships/image" Target="../media/image53.png"/><Relationship Id="rId4" Type="http://schemas.openxmlformats.org/officeDocument/2006/relationships/tags" Target="../tags/tag214.xml"/><Relationship Id="rId9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9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10" Type="http://schemas.openxmlformats.org/officeDocument/2006/relationships/image" Target="../media/image56.png"/><Relationship Id="rId4" Type="http://schemas.openxmlformats.org/officeDocument/2006/relationships/tags" Target="../tags/tag228.xml"/><Relationship Id="rId9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10" Type="http://schemas.openxmlformats.org/officeDocument/2006/relationships/image" Target="../media/image58.png"/><Relationship Id="rId4" Type="http://schemas.openxmlformats.org/officeDocument/2006/relationships/tags" Target="../tags/tag235.xml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Dify</a:t>
            </a:r>
            <a:r>
              <a:rPr lang="zh-CN" altLang="en-US"/>
              <a:t>基础教程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55170" cy="784860"/>
            <a:chOff x="-324" y="575"/>
            <a:chExt cx="17398" cy="1236"/>
          </a:xfrm>
        </p:grpSpPr>
        <p:sp>
          <p:nvSpPr>
            <p:cNvPr id="6" name="矩形 5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半闭框 7"/>
            <p:cNvSpPr/>
            <p:nvPr>
              <p:custDataLst>
                <p:tags r:id="rId5"/>
              </p:custDataLst>
            </p:nvPr>
          </p:nvSpPr>
          <p:spPr>
            <a:xfrm rot="8100000">
              <a:off x="1568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>
              <p:custDataLst>
                <p:tags r:id="rId6"/>
              </p:custDataLst>
            </p:nvPr>
          </p:nvSpPr>
          <p:spPr>
            <a:xfrm rot="8100000">
              <a:off x="1601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5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2724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、创建账号登录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83A156CB-6086-B664-27EC-35E67C846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176866" y="1825625"/>
            <a:ext cx="7838268" cy="4351338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72950" cy="784860"/>
            <a:chOff x="-324" y="575"/>
            <a:chExt cx="16472" cy="1236"/>
          </a:xfrm>
        </p:grpSpPr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半闭框 13"/>
            <p:cNvSpPr/>
            <p:nvPr>
              <p:custDataLst>
                <p:tags r:id="rId5"/>
              </p:custDataLst>
            </p:nvPr>
          </p:nvSpPr>
          <p:spPr>
            <a:xfrm rot="8100000">
              <a:off x="14757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/>
            <p:cNvSpPr/>
            <p:nvPr>
              <p:custDataLst>
                <p:tags r:id="rId6"/>
              </p:custDataLst>
            </p:nvPr>
          </p:nvSpPr>
          <p:spPr>
            <a:xfrm rot="8100000">
              <a:off x="15092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直接连接符 15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82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3923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、进入主界面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5A03972-8147-8DEF-8D64-A5219E0E2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176866" y="1825625"/>
            <a:ext cx="7838268" cy="4351338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69775" cy="784860"/>
            <a:chOff x="-324" y="575"/>
            <a:chExt cx="17398" cy="1236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半闭框 11"/>
            <p:cNvSpPr/>
            <p:nvPr>
              <p:custDataLst>
                <p:tags r:id="rId5"/>
              </p:custDataLst>
            </p:nvPr>
          </p:nvSpPr>
          <p:spPr>
            <a:xfrm rot="8100000">
              <a:off x="1568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/>
            <p:cNvSpPr/>
            <p:nvPr>
              <p:custDataLst>
                <p:tags r:id="rId6"/>
              </p:custDataLst>
            </p:nvPr>
          </p:nvSpPr>
          <p:spPr>
            <a:xfrm rot="8100000">
              <a:off x="1601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5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2724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、进行模型配置</a:t>
            </a:r>
          </a:p>
        </p:txBody>
      </p:sp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8FF12FF9-6513-498C-B509-53F234794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24974" y="1600175"/>
            <a:ext cx="7399644" cy="4107840"/>
          </a:xfr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83330BB-94F0-F467-4FCF-53B32FA480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477" y="2358319"/>
            <a:ext cx="3734166" cy="2141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14530" cy="784860"/>
            <a:chOff x="-324" y="575"/>
            <a:chExt cx="17398" cy="1236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半闭框 11"/>
            <p:cNvSpPr/>
            <p:nvPr>
              <p:custDataLst>
                <p:tags r:id="rId5"/>
              </p:custDataLst>
            </p:nvPr>
          </p:nvSpPr>
          <p:spPr>
            <a:xfrm rot="8100000">
              <a:off x="1568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/>
            <p:cNvSpPr/>
            <p:nvPr>
              <p:custDataLst>
                <p:tags r:id="rId6"/>
              </p:custDataLst>
            </p:nvPr>
          </p:nvSpPr>
          <p:spPr>
            <a:xfrm rot="8100000">
              <a:off x="1601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5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2724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、进行模型配置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E8663E-2317-50C0-3219-AB673DE3BF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584" y="1776048"/>
            <a:ext cx="3811389" cy="4126154"/>
          </a:xfrm>
          <a:prstGeom prst="rect">
            <a:avLst/>
          </a:prstGeom>
        </p:spPr>
      </p:pic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6217205C-73B2-71E5-20D8-0FDCC05BF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1127759" y="2275071"/>
            <a:ext cx="4048125" cy="19050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210415" cy="784860"/>
            <a:chOff x="-324" y="575"/>
            <a:chExt cx="15546" cy="1236"/>
          </a:xfrm>
        </p:grpSpPr>
        <p:sp>
          <p:nvSpPr>
            <p:cNvPr id="6" name="矩形 5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半闭框 7"/>
            <p:cNvSpPr/>
            <p:nvPr>
              <p:custDataLst>
                <p:tags r:id="rId5"/>
              </p:custDataLst>
            </p:nvPr>
          </p:nvSpPr>
          <p:spPr>
            <a:xfrm rot="8100000">
              <a:off x="13831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>
              <p:custDataLst>
                <p:tags r:id="rId6"/>
              </p:custDataLst>
            </p:nvPr>
          </p:nvSpPr>
          <p:spPr>
            <a:xfrm rot="8100000">
              <a:off x="14166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390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45122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、核心功能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334260" y="1880870"/>
            <a:ext cx="6813550" cy="3616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70410" cy="784860"/>
            <a:chOff x="-324" y="575"/>
            <a:chExt cx="16414" cy="1236"/>
          </a:xfrm>
        </p:grpSpPr>
        <p:sp>
          <p:nvSpPr>
            <p:cNvPr id="40" name="矩形 39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半闭框 41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半闭框 42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4" name="直接连接符 43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4.1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、聊天助手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基于</a:t>
            </a:r>
            <a:r>
              <a:rPr lang="en-US" altLang="zh-CN" sz="2000"/>
              <a:t> LLM </a:t>
            </a:r>
            <a:r>
              <a:rPr lang="zh-CN" altLang="en-US" sz="2000"/>
              <a:t>构建对话式交互的助手，这个非常简单，我们可以来创建一个简单的聊天助手应用来看看效果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290" y="2725420"/>
            <a:ext cx="5393055" cy="30473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1070" y="2725420"/>
            <a:ext cx="5883910" cy="3290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49455" cy="784860"/>
            <a:chOff x="-324" y="575"/>
            <a:chExt cx="16414" cy="1236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4.2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、聊天助手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设置变量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2800" y="2765425"/>
            <a:ext cx="5717540" cy="3456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795" y="2765425"/>
            <a:ext cx="5162550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221845" cy="784860"/>
            <a:chOff x="-324" y="575"/>
            <a:chExt cx="15488" cy="1236"/>
          </a:xfrm>
        </p:grpSpPr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15"/>
            <p:cNvSpPr/>
            <p:nvPr>
              <p:custDataLst>
                <p:tags r:id="rId5"/>
              </p:custDataLst>
            </p:nvPr>
          </p:nvSpPr>
          <p:spPr>
            <a:xfrm rot="8100000">
              <a:off x="13772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半闭框 16"/>
            <p:cNvSpPr/>
            <p:nvPr>
              <p:custDataLst>
                <p:tags r:id="rId6"/>
              </p:custDataLst>
            </p:nvPr>
          </p:nvSpPr>
          <p:spPr>
            <a:xfrm rot="8100000">
              <a:off x="14107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384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41376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4.3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、知识库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无知识库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4440" y="2359660"/>
            <a:ext cx="7294245" cy="407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87555" cy="784860"/>
            <a:chOff x="-324" y="575"/>
            <a:chExt cx="15488" cy="1236"/>
          </a:xfrm>
        </p:grpSpPr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半闭框 29"/>
            <p:cNvSpPr/>
            <p:nvPr>
              <p:custDataLst>
                <p:tags r:id="rId5"/>
              </p:custDataLst>
            </p:nvPr>
          </p:nvSpPr>
          <p:spPr>
            <a:xfrm rot="8100000">
              <a:off x="13772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半闭框 30"/>
            <p:cNvSpPr/>
            <p:nvPr>
              <p:custDataLst>
                <p:tags r:id="rId6"/>
              </p:custDataLst>
            </p:nvPr>
          </p:nvSpPr>
          <p:spPr>
            <a:xfrm rot="8100000">
              <a:off x="14107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2" name="直接连接符 31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384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41376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4.3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、知识库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创建知识库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930" y="2689860"/>
            <a:ext cx="5702935" cy="31896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0770" y="2535555"/>
            <a:ext cx="5448300" cy="32962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208510" cy="784860"/>
            <a:chOff x="-324" y="575"/>
            <a:chExt cx="15488" cy="1236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半闭框 11"/>
            <p:cNvSpPr/>
            <p:nvPr>
              <p:custDataLst>
                <p:tags r:id="rId5"/>
              </p:custDataLst>
            </p:nvPr>
          </p:nvSpPr>
          <p:spPr>
            <a:xfrm rot="8100000">
              <a:off x="13772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/>
            <p:cNvSpPr/>
            <p:nvPr>
              <p:custDataLst>
                <p:tags r:id="rId6"/>
              </p:custDataLst>
            </p:nvPr>
          </p:nvSpPr>
          <p:spPr>
            <a:xfrm rot="8100000">
              <a:off x="14107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384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41376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4.3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、知识库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分段清洗</a:t>
            </a:r>
          </a:p>
          <a:p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8690" y="2383155"/>
            <a:ext cx="6858635" cy="3843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05005" cy="784860"/>
            <a:chOff x="-324" y="575"/>
            <a:chExt cx="15488" cy="1236"/>
          </a:xfrm>
        </p:grpSpPr>
        <p:sp>
          <p:nvSpPr>
            <p:cNvPr id="18" name="矩形 17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半闭框 19"/>
            <p:cNvSpPr/>
            <p:nvPr>
              <p:custDataLst>
                <p:tags r:id="rId5"/>
              </p:custDataLst>
            </p:nvPr>
          </p:nvSpPr>
          <p:spPr>
            <a:xfrm rot="8100000">
              <a:off x="13772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半闭框 20"/>
            <p:cNvSpPr/>
            <p:nvPr>
              <p:custDataLst>
                <p:tags r:id="rId6"/>
              </p:custDataLst>
            </p:nvPr>
          </p:nvSpPr>
          <p:spPr>
            <a:xfrm rot="8100000">
              <a:off x="14107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2" name="直接连接符 21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384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41376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4.3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、知识库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要求高时选择高质量、并选择相应的嵌入模型，推荐混合检索。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9015" y="2282825"/>
            <a:ext cx="3518535" cy="44392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227560" cy="784860"/>
            <a:chOff x="-324" y="575"/>
            <a:chExt cx="15488" cy="1236"/>
          </a:xfrm>
        </p:grpSpPr>
        <p:sp>
          <p:nvSpPr>
            <p:cNvPr id="19" name="矩形 18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半闭框 20"/>
            <p:cNvSpPr/>
            <p:nvPr>
              <p:custDataLst>
                <p:tags r:id="rId5"/>
              </p:custDataLst>
            </p:nvPr>
          </p:nvSpPr>
          <p:spPr>
            <a:xfrm rot="8100000">
              <a:off x="13772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半闭框 21"/>
            <p:cNvSpPr/>
            <p:nvPr>
              <p:custDataLst>
                <p:tags r:id="rId6"/>
              </p:custDataLst>
            </p:nvPr>
          </p:nvSpPr>
          <p:spPr>
            <a:xfrm rot="8100000">
              <a:off x="14107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384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41376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4.3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、知识库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挂载知识库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635250"/>
            <a:ext cx="4619625" cy="3238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8325" y="2635250"/>
            <a:ext cx="6095365" cy="3384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43105" cy="784860"/>
            <a:chOff x="-324" y="575"/>
            <a:chExt cx="16050" cy="1236"/>
          </a:xfrm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半闭框 16"/>
            <p:cNvSpPr/>
            <p:nvPr>
              <p:custDataLst>
                <p:tags r:id="rId5"/>
              </p:custDataLst>
            </p:nvPr>
          </p:nvSpPr>
          <p:spPr>
            <a:xfrm rot="8100000">
              <a:off x="14335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半闭框 17"/>
            <p:cNvSpPr/>
            <p:nvPr>
              <p:custDataLst>
                <p:tags r:id="rId6"/>
              </p:custDataLst>
            </p:nvPr>
          </p:nvSpPr>
          <p:spPr>
            <a:xfrm rot="8100000">
              <a:off x="14670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40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77126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4.4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具备推理和工具调用的功能</a:t>
            </a:r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415" y="2488565"/>
            <a:ext cx="4077335" cy="3688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3665" y="2488565"/>
            <a:ext cx="6333490" cy="3548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033250" cy="784860"/>
            <a:chOff x="-324" y="575"/>
            <a:chExt cx="16050" cy="1236"/>
          </a:xfrm>
        </p:grpSpPr>
        <p:sp>
          <p:nvSpPr>
            <p:cNvPr id="18" name="矩形 17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半闭框 19"/>
            <p:cNvSpPr/>
            <p:nvPr>
              <p:custDataLst>
                <p:tags r:id="rId5"/>
              </p:custDataLst>
            </p:nvPr>
          </p:nvSpPr>
          <p:spPr>
            <a:xfrm rot="8100000">
              <a:off x="14335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半闭框 20"/>
            <p:cNvSpPr/>
            <p:nvPr>
              <p:custDataLst>
                <p:tags r:id="rId6"/>
              </p:custDataLst>
            </p:nvPr>
          </p:nvSpPr>
          <p:spPr>
            <a:xfrm rot="8100000">
              <a:off x="14670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2" name="直接连接符 21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40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377126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4.4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Agents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315595" y="2274570"/>
            <a:ext cx="5967095" cy="334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2545" y="2274570"/>
            <a:ext cx="5435600" cy="30454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01195" cy="784860"/>
            <a:chOff x="-324" y="575"/>
            <a:chExt cx="17120" cy="1236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>
              <p:custDataLst>
                <p:tags r:id="rId5"/>
              </p:custDataLst>
            </p:nvPr>
          </p:nvSpPr>
          <p:spPr>
            <a:xfrm rot="8100000">
              <a:off x="15405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>
              <p:custDataLst>
                <p:tags r:id="rId6"/>
              </p:custDataLst>
            </p:nvPr>
          </p:nvSpPr>
          <p:spPr>
            <a:xfrm rot="8100000">
              <a:off x="15740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4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450715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4.5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ChatFlow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面向对话类情景，包括客户服务、语义搜索、以及其他需要在构建响应时进行多步逻辑的对话式应用程序。</a:t>
            </a:r>
          </a:p>
          <a:p>
            <a:r>
              <a:rPr lang="zh-CN" altLang="en-US" sz="2000"/>
              <a:t>常见的交互路径：给出指令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生成内容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就内容进行多次讨论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重新生成结果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结束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385" y="3136900"/>
            <a:ext cx="4037965" cy="30403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7010" y="3001010"/>
            <a:ext cx="6014085" cy="33693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76760" cy="784860"/>
            <a:chOff x="-324" y="575"/>
            <a:chExt cx="17410" cy="1236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半闭框 11"/>
            <p:cNvSpPr/>
            <p:nvPr>
              <p:custDataLst>
                <p:tags r:id="rId5"/>
              </p:custDataLst>
            </p:nvPr>
          </p:nvSpPr>
          <p:spPr>
            <a:xfrm rot="8100000">
              <a:off x="1569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/>
            <p:cNvSpPr/>
            <p:nvPr>
              <p:custDataLst>
                <p:tags r:id="rId6"/>
              </p:custDataLst>
            </p:nvPr>
          </p:nvSpPr>
          <p:spPr>
            <a:xfrm rot="8100000">
              <a:off x="1602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6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3423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4.6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WorkFlow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面向自动化和批处理情景，适合高质量翻译、数据分析、内容生成、电子邮件自动化等应用程序。创建后的效果，有一个开始节点，然后我们可以选择其他不同类型的节点来处理。</a:t>
            </a:r>
          </a:p>
          <a:p>
            <a:r>
              <a:rPr lang="zh-CN" altLang="en-US" sz="2000"/>
              <a:t>常见的交互路径：给出指令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生成内容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结束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7825" y="2952750"/>
            <a:ext cx="6595110" cy="36950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08815" cy="784860"/>
            <a:chOff x="-324" y="575"/>
            <a:chExt cx="17410" cy="1236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半闭框 8"/>
            <p:cNvSpPr/>
            <p:nvPr>
              <p:custDataLst>
                <p:tags r:id="rId5"/>
              </p:custDataLst>
            </p:nvPr>
          </p:nvSpPr>
          <p:spPr>
            <a:xfrm rot="8100000">
              <a:off x="1569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/>
            <p:cNvSpPr/>
            <p:nvPr>
              <p:custDataLst>
                <p:tags r:id="rId6"/>
              </p:custDataLst>
            </p:nvPr>
          </p:nvSpPr>
          <p:spPr>
            <a:xfrm rot="8100000">
              <a:off x="1602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1" name="直接连接符 10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6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3423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4.6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WorkFlow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这里我们同样选择一个</a:t>
            </a:r>
            <a:r>
              <a:rPr lang="en-US" altLang="zh-CN" sz="2000"/>
              <a:t>LLM</a:t>
            </a:r>
            <a:r>
              <a:rPr lang="zh-CN" altLang="en-US" sz="2000"/>
              <a:t>节点</a:t>
            </a:r>
            <a:r>
              <a:rPr lang="en-US" altLang="zh-CN" sz="2000"/>
              <a:t>,</a:t>
            </a:r>
            <a:r>
              <a:rPr lang="zh-CN" altLang="en-US" sz="2000"/>
              <a:t>然后在添加一个结束节点。</a:t>
            </a:r>
          </a:p>
          <a:p>
            <a:endParaRPr lang="zh-CN" altLang="en-US" sz="2000"/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9205" y="2235200"/>
            <a:ext cx="7718425" cy="43237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224385" cy="784860"/>
            <a:chOff x="-324" y="575"/>
            <a:chExt cx="17410" cy="1236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半闭框 11"/>
            <p:cNvSpPr/>
            <p:nvPr>
              <p:custDataLst>
                <p:tags r:id="rId5"/>
              </p:custDataLst>
            </p:nvPr>
          </p:nvSpPr>
          <p:spPr>
            <a:xfrm rot="8100000">
              <a:off x="1569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/>
            <p:cNvSpPr/>
            <p:nvPr>
              <p:custDataLst>
                <p:tags r:id="rId6"/>
              </p:custDataLst>
            </p:nvPr>
          </p:nvSpPr>
          <p:spPr>
            <a:xfrm rot="8100000">
              <a:off x="1602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6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3423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4.6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WorkFlow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在开始节点我们设置两个输入</a:t>
            </a:r>
            <a:r>
              <a:rPr lang="en-US" altLang="zh-CN" sz="2000"/>
              <a:t> </a:t>
            </a:r>
            <a:r>
              <a:rPr lang="zh-CN" altLang="en-US" sz="2000"/>
              <a:t>城市和天气</a:t>
            </a:r>
          </a:p>
          <a:p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0275" y="2362200"/>
            <a:ext cx="779145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16435" cy="784860"/>
            <a:chOff x="-324" y="575"/>
            <a:chExt cx="17410" cy="1236"/>
          </a:xfrm>
        </p:grpSpPr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15"/>
            <p:cNvSpPr/>
            <p:nvPr>
              <p:custDataLst>
                <p:tags r:id="rId5"/>
              </p:custDataLst>
            </p:nvPr>
          </p:nvSpPr>
          <p:spPr>
            <a:xfrm rot="8100000">
              <a:off x="1569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半闭框 16"/>
            <p:cNvSpPr/>
            <p:nvPr>
              <p:custDataLst>
                <p:tags r:id="rId6"/>
              </p:custDataLst>
            </p:nvPr>
          </p:nvSpPr>
          <p:spPr>
            <a:xfrm rot="8100000">
              <a:off x="1602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6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3423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4.6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WorkFlow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在大模型中设置和前面相同的提示词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7570" y="2354580"/>
            <a:ext cx="7139940" cy="39998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22785" cy="784860"/>
            <a:chOff x="-324" y="575"/>
            <a:chExt cx="17410" cy="1236"/>
          </a:xfrm>
        </p:grpSpPr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半闭框 13"/>
            <p:cNvSpPr/>
            <p:nvPr>
              <p:custDataLst>
                <p:tags r:id="rId5"/>
              </p:custDataLst>
            </p:nvPr>
          </p:nvSpPr>
          <p:spPr>
            <a:xfrm rot="8100000">
              <a:off x="1569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/>
            <p:cNvSpPr/>
            <p:nvPr>
              <p:custDataLst>
                <p:tags r:id="rId6"/>
              </p:custDataLst>
            </p:nvPr>
          </p:nvSpPr>
          <p:spPr>
            <a:xfrm rot="8100000">
              <a:off x="1602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直接连接符 15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76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63423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4.6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WorkFlow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/>
              <a:t>输出结果</a:t>
            </a:r>
          </a:p>
          <a:p>
            <a:pPr marL="0" indent="0">
              <a:buNone/>
            </a:pP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830" y="2896870"/>
            <a:ext cx="5396230" cy="22085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4610" y="1363980"/>
            <a:ext cx="4353560" cy="21469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6375" y="3702050"/>
            <a:ext cx="3838575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32310" cy="784860"/>
            <a:chOff x="-324" y="575"/>
            <a:chExt cx="17340" cy="1236"/>
          </a:xfrm>
        </p:grpSpPr>
        <p:sp>
          <p:nvSpPr>
            <p:cNvPr id="19" name="矩形 18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半闭框 20"/>
            <p:cNvSpPr/>
            <p:nvPr>
              <p:custDataLst>
                <p:tags r:id="rId5"/>
              </p:custDataLst>
            </p:nvPr>
          </p:nvSpPr>
          <p:spPr>
            <a:xfrm rot="8100000">
              <a:off x="1562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半闭框 21"/>
            <p:cNvSpPr/>
            <p:nvPr>
              <p:custDataLst>
                <p:tags r:id="rId6"/>
              </p:custDataLst>
            </p:nvPr>
          </p:nvSpPr>
          <p:spPr>
            <a:xfrm rot="8100000">
              <a:off x="1595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69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58978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、应用工具箱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在</a:t>
            </a:r>
            <a:r>
              <a:rPr lang="en-US" altLang="zh-CN" sz="2000"/>
              <a:t> </a:t>
            </a:r>
            <a:r>
              <a:rPr lang="zh-CN" altLang="en-US" sz="2000"/>
              <a:t>工作室</a:t>
            </a:r>
            <a:r>
              <a:rPr lang="en-US" altLang="zh-CN" sz="2000"/>
              <a:t> — </a:t>
            </a:r>
            <a:r>
              <a:rPr lang="zh-CN" altLang="en-US" sz="2000"/>
              <a:t>应用编排</a:t>
            </a:r>
            <a:r>
              <a:rPr lang="en-US" altLang="zh-CN" sz="2000"/>
              <a:t> </a:t>
            </a:r>
            <a:r>
              <a:rPr lang="zh-CN" altLang="en-US" sz="2000"/>
              <a:t>内点击</a:t>
            </a:r>
            <a:r>
              <a:rPr lang="en-US" altLang="zh-CN" sz="2000"/>
              <a:t> </a:t>
            </a:r>
            <a:r>
              <a:rPr lang="zh-CN" altLang="en-US" sz="2000"/>
              <a:t>功能，打开应用工具箱</a:t>
            </a:r>
          </a:p>
          <a:p>
            <a:r>
              <a:rPr lang="zh-CN" altLang="en-US" sz="2000"/>
              <a:t>应用工具箱为</a:t>
            </a:r>
            <a:r>
              <a:rPr lang="en-US" altLang="zh-CN" sz="2000"/>
              <a:t> Dify </a:t>
            </a:r>
            <a:r>
              <a:rPr lang="zh-CN" altLang="en-US" sz="2000"/>
              <a:t>的应用提供了不同的附加功能：</a:t>
            </a:r>
          </a:p>
          <a:p>
            <a:endParaRPr lang="zh-CN" altLang="en-US" sz="2000"/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340" y="3329940"/>
            <a:ext cx="4514850" cy="1476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0945" y="1043305"/>
            <a:ext cx="3411855" cy="55251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214225" cy="784860"/>
            <a:chOff x="-324" y="575"/>
            <a:chExt cx="17340" cy="1236"/>
          </a:xfrm>
        </p:grpSpPr>
        <p:sp>
          <p:nvSpPr>
            <p:cNvPr id="19" name="矩形 18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半闭框 20"/>
            <p:cNvSpPr/>
            <p:nvPr>
              <p:custDataLst>
                <p:tags r:id="rId5"/>
              </p:custDataLst>
            </p:nvPr>
          </p:nvSpPr>
          <p:spPr>
            <a:xfrm rot="8100000">
              <a:off x="1562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半闭框 21"/>
            <p:cNvSpPr/>
            <p:nvPr>
              <p:custDataLst>
                <p:tags r:id="rId6"/>
              </p:custDataLst>
            </p:nvPr>
          </p:nvSpPr>
          <p:spPr>
            <a:xfrm rot="8100000">
              <a:off x="1595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69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58978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、应用工具箱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对话开场白：在对话类应用中，</a:t>
            </a:r>
            <a:r>
              <a:rPr lang="en-US" altLang="zh-CN" sz="2000"/>
              <a:t>AI </a:t>
            </a:r>
            <a:r>
              <a:rPr lang="zh-CN" altLang="en-US" sz="2000"/>
              <a:t>会主动说第一句话或者提出问题，你可以编辑开场白的内容包括开场问题。使用对话开场白可以引导用户提问，交代应用背景，降低对话提问的使用门槛。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985" y="3056255"/>
            <a:ext cx="5109210" cy="3246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0755" y="3056255"/>
            <a:ext cx="511492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078335" cy="784860"/>
            <a:chOff x="-324" y="575"/>
            <a:chExt cx="17340" cy="1236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14"/>
            <p:cNvSpPr/>
            <p:nvPr>
              <p:custDataLst>
                <p:tags r:id="rId5"/>
              </p:custDataLst>
            </p:nvPr>
          </p:nvSpPr>
          <p:spPr>
            <a:xfrm rot="8100000">
              <a:off x="1562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/>
            <p:cNvSpPr/>
            <p:nvPr>
              <p:custDataLst>
                <p:tags r:id="rId6"/>
              </p:custDataLst>
            </p:nvPr>
          </p:nvSpPr>
          <p:spPr>
            <a:xfrm rot="8100000">
              <a:off x="1595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69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58978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、应用工具箱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下一步问题建议：设置下一步问题建议可以在每次对话交互后，让</a:t>
            </a:r>
            <a:r>
              <a:rPr lang="en-US" altLang="zh-CN" sz="2000"/>
              <a:t> AI </a:t>
            </a:r>
            <a:r>
              <a:rPr lang="zh-CN" altLang="en-US" sz="2000"/>
              <a:t>根据之前的对话内容继续生成</a:t>
            </a:r>
            <a:r>
              <a:rPr lang="en-US" altLang="zh-CN" sz="2000"/>
              <a:t> 3 </a:t>
            </a:r>
            <a:r>
              <a:rPr lang="zh-CN" altLang="en-US" sz="2000"/>
              <a:t>个提问，引导下一轮对话。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070" y="2815590"/>
            <a:ext cx="3905250" cy="304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785" y="2625725"/>
            <a:ext cx="6909435" cy="37630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037060" cy="784860"/>
            <a:chOff x="-324" y="575"/>
            <a:chExt cx="17340" cy="1236"/>
          </a:xfrm>
        </p:grpSpPr>
        <p:sp>
          <p:nvSpPr>
            <p:cNvPr id="20" name="矩形 19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半闭框 21"/>
            <p:cNvSpPr/>
            <p:nvPr>
              <p:custDataLst>
                <p:tags r:id="rId5"/>
              </p:custDataLst>
            </p:nvPr>
          </p:nvSpPr>
          <p:spPr>
            <a:xfrm rot="8100000">
              <a:off x="1562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半闭框 22"/>
            <p:cNvSpPr/>
            <p:nvPr>
              <p:custDataLst>
                <p:tags r:id="rId6"/>
              </p:custDataLst>
            </p:nvPr>
          </p:nvSpPr>
          <p:spPr>
            <a:xfrm rot="8100000">
              <a:off x="1595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69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58978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、应用工具箱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文件上传：可以配置文件上传的形式和可以上传的文件格式</a:t>
            </a:r>
          </a:p>
          <a:p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434590"/>
            <a:ext cx="4623435" cy="37426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7955" y="3044190"/>
            <a:ext cx="3152775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044045" cy="784860"/>
            <a:chOff x="-324" y="575"/>
            <a:chExt cx="17340" cy="1236"/>
          </a:xfrm>
        </p:grpSpPr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半闭框 10"/>
            <p:cNvSpPr/>
            <p:nvPr>
              <p:custDataLst>
                <p:tags r:id="rId5"/>
              </p:custDataLst>
            </p:nvPr>
          </p:nvSpPr>
          <p:spPr>
            <a:xfrm rot="8100000">
              <a:off x="15624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/>
            <p:cNvSpPr/>
            <p:nvPr>
              <p:custDataLst>
                <p:tags r:id="rId6"/>
              </p:custDataLst>
            </p:nvPr>
          </p:nvSpPr>
          <p:spPr>
            <a:xfrm rot="8100000">
              <a:off x="15959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569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58978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、应用工具箱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内容审查设置：</a:t>
            </a:r>
            <a:r>
              <a:rPr lang="en-US" altLang="zh-CN" sz="2000"/>
              <a:t>OpenAI </a:t>
            </a:r>
            <a:r>
              <a:rPr lang="zh-CN" altLang="en-US" sz="2000"/>
              <a:t>和大多数</a:t>
            </a:r>
            <a:r>
              <a:rPr lang="en-US" altLang="zh-CN" sz="2000"/>
              <a:t> LLM </a:t>
            </a:r>
            <a:r>
              <a:rPr lang="zh-CN" altLang="en-US" sz="2000"/>
              <a:t>公司提供的模型，都带有内容审查功能，确保不会输出包含有争议的内容，比如暴力和非法行为，并且</a:t>
            </a:r>
            <a:r>
              <a:rPr lang="en-US" altLang="zh-CN" sz="2000"/>
              <a:t> OpenAI </a:t>
            </a:r>
            <a:r>
              <a:rPr lang="zh-CN" altLang="en-US" sz="2000"/>
              <a:t>还开放了这种内容审查能力。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60" y="2601595"/>
            <a:ext cx="3838575" cy="40881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1570" y="2601595"/>
            <a:ext cx="3669665" cy="40874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9815" y="3850640"/>
            <a:ext cx="3093720" cy="9918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15800" cy="784860"/>
            <a:chOff x="-324" y="575"/>
            <a:chExt cx="16414" cy="1236"/>
          </a:xfrm>
        </p:grpSpPr>
        <p:sp>
          <p:nvSpPr>
            <p:cNvPr id="6" name="矩形 5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半闭框 7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1932305" y="1691005"/>
            <a:ext cx="776732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83745" cy="784860"/>
            <a:chOff x="-324" y="575"/>
            <a:chExt cx="16414" cy="1236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自定义插件</a:t>
            </a: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675" y="2558415"/>
            <a:ext cx="5713095" cy="3298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9555" y="2558415"/>
            <a:ext cx="5054600" cy="33928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15800" cy="784860"/>
            <a:chOff x="-324" y="575"/>
            <a:chExt cx="16414" cy="1236"/>
          </a:xfrm>
        </p:grpSpPr>
        <p:sp>
          <p:nvSpPr>
            <p:cNvPr id="24" name="矩形 23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半闭框 25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半闭框 26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直接连接符 27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以天气查询为例北京</a:t>
            </a:r>
            <a:r>
              <a:rPr lang="en-US" altLang="zh-CN"/>
              <a:t>·</a:t>
            </a:r>
            <a:r>
              <a:rPr lang="zh-CN" altLang="en-US"/>
              <a:t>城市</a:t>
            </a:r>
            <a:r>
              <a:rPr lang="en-US" altLang="zh-CN"/>
              <a:t>id</a:t>
            </a:r>
            <a:r>
              <a:rPr lang="zh-CN" altLang="en-US"/>
              <a:t>为</a:t>
            </a:r>
            <a:r>
              <a:rPr lang="en-US" altLang="zh-CN"/>
              <a:t>101010100</a:t>
            </a:r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365" y="2465070"/>
            <a:ext cx="5295900" cy="3886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0585" y="2465070"/>
            <a:ext cx="5752465" cy="41224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08815" cy="784860"/>
            <a:chOff x="-324" y="575"/>
            <a:chExt cx="16414" cy="1236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266315" y="1771650"/>
            <a:ext cx="776732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1999595" cy="784860"/>
            <a:chOff x="-324" y="575"/>
            <a:chExt cx="16414" cy="1236"/>
          </a:xfrm>
        </p:grpSpPr>
        <p:sp>
          <p:nvSpPr>
            <p:cNvPr id="17" name="矩形 16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半闭框 18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半闭框 19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1" name="直接连接符 20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插件可以选择本地安装，市场安装或者</a:t>
            </a:r>
            <a:r>
              <a:rPr lang="en-US" altLang="zh-CN" sz="2000"/>
              <a:t>Github</a:t>
            </a:r>
            <a:r>
              <a:rPr lang="zh-CN" altLang="en-US" sz="2000"/>
              <a:t>源码安装，为了稳定我们这里选择在线下载本地安装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95" y="2778125"/>
            <a:ext cx="4285615" cy="2945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8785" y="5062220"/>
            <a:ext cx="3171825" cy="1266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2435" y="2778125"/>
            <a:ext cx="5317490" cy="21513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15800" cy="784860"/>
            <a:chOff x="-324" y="575"/>
            <a:chExt cx="16414" cy="1236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以生成</a:t>
            </a:r>
            <a:r>
              <a:rPr lang="en-US" altLang="zh-CN" sz="2000"/>
              <a:t>Mermaid</a:t>
            </a:r>
            <a:r>
              <a:rPr lang="zh-CN" altLang="en-US" sz="2000"/>
              <a:t>流程图为例，上传本地安装包，点击安装即可，安装过程可能需要等一段时间。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15" y="2982595"/>
            <a:ext cx="5432425" cy="1755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2907030"/>
            <a:ext cx="5814060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49455" cy="784860"/>
            <a:chOff x="-324" y="575"/>
            <a:chExt cx="16414" cy="1236"/>
          </a:xfrm>
        </p:grpSpPr>
        <p:sp>
          <p:nvSpPr>
            <p:cNvPr id="18" name="矩形 17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半闭框 19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半闭框 20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2" name="直接连接符 21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创建一个</a:t>
            </a:r>
            <a:r>
              <a:rPr lang="en-US" altLang="zh-CN" sz="2000"/>
              <a:t>ChatFlow</a:t>
            </a:r>
            <a:r>
              <a:rPr lang="zh-CN" altLang="en-US" sz="2000"/>
              <a:t>应用、添加</a:t>
            </a:r>
            <a:r>
              <a:rPr lang="en-US" altLang="zh-CN" sz="2000"/>
              <a:t>LLM</a:t>
            </a:r>
            <a:r>
              <a:rPr lang="zh-CN" altLang="en-US" sz="2000"/>
              <a:t>节点并编写提示词。</a:t>
            </a:r>
          </a:p>
          <a:p>
            <a:endParaRPr lang="zh-CN" altLang="en-US" sz="2000"/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4210" y="2677160"/>
            <a:ext cx="905637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191365" cy="784860"/>
            <a:chOff x="-324" y="575"/>
            <a:chExt cx="16414" cy="1236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添加</a:t>
            </a:r>
            <a:r>
              <a:rPr lang="en-US" altLang="zh-CN" sz="2000"/>
              <a:t>Mermaid</a:t>
            </a:r>
            <a:r>
              <a:rPr lang="zh-CN" altLang="en-US" sz="2000"/>
              <a:t>工具节点、配置参数。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380615"/>
            <a:ext cx="3438525" cy="4191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690" y="2380615"/>
            <a:ext cx="6229350" cy="3891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-205740" y="365125"/>
            <a:ext cx="12034520" cy="784860"/>
            <a:chOff x="-324" y="575"/>
            <a:chExt cx="16414" cy="1236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324" y="575"/>
              <a:ext cx="943" cy="12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736" y="575"/>
              <a:ext cx="187" cy="12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半闭框 9"/>
            <p:cNvSpPr/>
            <p:nvPr>
              <p:custDataLst>
                <p:tags r:id="rId5"/>
              </p:custDataLst>
            </p:nvPr>
          </p:nvSpPr>
          <p:spPr>
            <a:xfrm rot="8100000">
              <a:off x="14698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/>
            <p:cNvSpPr/>
            <p:nvPr>
              <p:custDataLst>
                <p:tags r:id="rId6"/>
              </p:custDataLst>
            </p:nvPr>
          </p:nvSpPr>
          <p:spPr>
            <a:xfrm rot="8100000">
              <a:off x="15033" y="722"/>
              <a:ext cx="836" cy="836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7"/>
              </p:custDataLst>
            </p:nvPr>
          </p:nvCxnSpPr>
          <p:spPr>
            <a:xfrm>
              <a:off x="1320" y="1811"/>
              <a:ext cx="1477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itle 6"/>
          <p:cNvSpPr txBox="1"/>
          <p:nvPr>
            <p:custDataLst>
              <p:tags r:id="rId2"/>
            </p:custDataLst>
          </p:nvPr>
        </p:nvSpPr>
        <p:spPr>
          <a:xfrm>
            <a:off x="838200" y="365125"/>
            <a:ext cx="4001770" cy="71818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altLang="zh-CN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4.7</a:t>
            </a:r>
            <a:r>
              <a:rPr lang="zh-CN" altLang="en-US" sz="4200" spc="434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、工具插件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输出结果文件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925" y="2721610"/>
            <a:ext cx="5404485" cy="26612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2745" y="2289810"/>
            <a:ext cx="4711700" cy="38874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005a24d-554e-4bb3-b31b-45f1ccbd19db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05a24d-554e-4bb3-b31b-45f1ccbd19db}"/>
  <p:tag name="KSO_WM_UNIT_TEXTBOXSTYLE_TEMPLATEID" val="3130946"/>
  <p:tag name="KSO_WM_UNIT_TEXTBOXSTYLE_TYPE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05a24d-554e-4bb3-b31b-45f1ccbd19db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05a24d-554e-4bb3-b31b-45f1ccbd19db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05a24d-554e-4bb3-b31b-45f1ccbd19db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05a24d-554e-4bb3-b31b-45f1ccbd19db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05a24d-554e-4bb3-b31b-45f1ccbd19db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8a90a90d-475e-449b-8abe-26177ebd91d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a90a90d-475e-449b-8abe-26177ebd91d1}"/>
  <p:tag name="KSO_WM_UNIT_TEXTBOXSTYLE_TEMPLATEID" val="3130946"/>
  <p:tag name="KSO_WM_UNIT_TEXTBOXSTYLE_TYPE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a90a90d-475e-449b-8abe-26177ebd91d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a90a90d-475e-449b-8abe-26177ebd91d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a90a90d-475e-449b-8abe-26177ebd91d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a90a90d-475e-449b-8abe-26177ebd91d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a90a90d-475e-449b-8abe-26177ebd91d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688e6459-eded-42f1-90d3-bb0c2287119c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688e6459-eded-42f1-90d3-bb0c2287119c}"/>
  <p:tag name="KSO_WM_UNIT_TEXTBOXSTYLE_TEMPLATEID" val="3130946"/>
  <p:tag name="KSO_WM_UNIT_TEXTBOXSTYLE_TYP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688e6459-eded-42f1-90d3-bb0c2287119c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688e6459-eded-42f1-90d3-bb0c2287119c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688e6459-eded-42f1-90d3-bb0c2287119c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688e6459-eded-42f1-90d3-bb0c2287119c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688e6459-eded-42f1-90d3-bb0c2287119c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da17a85-8764-4d39-97ba-8d948e0d42b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da17a85-8764-4d39-97ba-8d948e0d42b2}"/>
  <p:tag name="KSO_WM_UNIT_TEXTBOXSTYLE_TEMPLATEID" val="3130946"/>
  <p:tag name="KSO_WM_UNIT_TEXTBOXSTYLE_TYP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da17a85-8764-4d39-97ba-8d948e0d42b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da17a85-8764-4d39-97ba-8d948e0d42b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da17a85-8764-4d39-97ba-8d948e0d42b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da17a85-8764-4d39-97ba-8d948e0d42b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da17a85-8764-4d39-97ba-8d948e0d42b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083499e-8142-49bb-a953-2f4f9933dcb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83499e-8142-49bb-a953-2f4f9933dcb1}"/>
  <p:tag name="KSO_WM_UNIT_TEXTBOXSTYLE_TEMPLATEID" val="3130946"/>
  <p:tag name="KSO_WM_UNIT_TEXTBOXSTYLE_TYPE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83499e-8142-49bb-a953-2f4f9933dcb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83499e-8142-49bb-a953-2f4f9933dcb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83499e-8142-49bb-a953-2f4f9933dcb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83499e-8142-49bb-a953-2f4f9933dcb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083499e-8142-49bb-a953-2f4f9933dcb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97f2a847-1ac2-4eba-ae6c-8dc65559b27a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f2a847-1ac2-4eba-ae6c-8dc65559b27a}"/>
  <p:tag name="KSO_WM_UNIT_TEXTBOXSTYLE_TEMPLATEID" val="3130946"/>
  <p:tag name="KSO_WM_UNIT_TEXTBOXSTYLE_TYP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f2a847-1ac2-4eba-ae6c-8dc65559b27a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f2a847-1ac2-4eba-ae6c-8dc65559b27a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f2a847-1ac2-4eba-ae6c-8dc65559b27a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f2a847-1ac2-4eba-ae6c-8dc65559b27a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f2a847-1ac2-4eba-ae6c-8dc65559b27a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8eb360c9-82ec-443b-8b62-5e3028f7301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eb360c9-82ec-443b-8b62-5e3028f73010}"/>
  <p:tag name="KSO_WM_UNIT_TEXTBOXSTYLE_TEMPLATEID" val="3130946"/>
  <p:tag name="KSO_WM_UNIT_TEXTBOXSTYLE_TYPE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eb360c9-82ec-443b-8b62-5e3028f7301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eb360c9-82ec-443b-8b62-5e3028f7301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eb360c9-82ec-443b-8b62-5e3028f7301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eb360c9-82ec-443b-8b62-5e3028f7301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8eb360c9-82ec-443b-8b62-5e3028f7301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c51157f-5db2-45c7-ae08-f59cde884e5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51157f-5db2-45c7-ae08-f59cde884e56}"/>
  <p:tag name="KSO_WM_UNIT_TEXTBOXSTYLE_TEMPLATEID" val="3130946"/>
  <p:tag name="KSO_WM_UNIT_TEXTBOXSTYLE_TYPE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51157f-5db2-45c7-ae08-f59cde884e5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51157f-5db2-45c7-ae08-f59cde884e5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51157f-5db2-45c7-ae08-f59cde884e5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51157f-5db2-45c7-ae08-f59cde884e5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51157f-5db2-45c7-ae08-f59cde884e5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57880db1-771d-48d3-93ca-5c3f11085ac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57880db1-771d-48d3-93ca-5c3f11085ac2}"/>
  <p:tag name="KSO_WM_UNIT_TEXTBOXSTYLE_TEMPLATEID" val="3130946"/>
  <p:tag name="KSO_WM_UNIT_TEXTBOXSTYLE_TYPE" val="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57880db1-771d-48d3-93ca-5c3f11085ac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57880db1-771d-48d3-93ca-5c3f11085ac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57880db1-771d-48d3-93ca-5c3f11085ac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57880db1-771d-48d3-93ca-5c3f11085ac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57880db1-771d-48d3-93ca-5c3f11085ac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7b2632f-6668-43a1-a132-79b33fc0e154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7b2632f-6668-43a1-a132-79b33fc0e154}"/>
  <p:tag name="KSO_WM_UNIT_TEXTBOXSTYLE_TEMPLATEID" val="3130946"/>
  <p:tag name="KSO_WM_UNIT_TEXTBOXSTYLE_TYPE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7b2632f-6668-43a1-a132-79b33fc0e154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7b2632f-6668-43a1-a132-79b33fc0e154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7b2632f-6668-43a1-a132-79b33fc0e154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7b2632f-6668-43a1-a132-79b33fc0e154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7b2632f-6668-43a1-a132-79b33fc0e154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f325464-c935-4205-8563-170566cf757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f325464-c935-4205-8563-170566cf7570}"/>
  <p:tag name="KSO_WM_UNIT_TEXTBOXSTYLE_TEMPLATEID" val="3130946"/>
  <p:tag name="KSO_WM_UNIT_TEXTBOXSTYLE_TYPE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f325464-c935-4205-8563-170566cf7570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f325464-c935-4205-8563-170566cf757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f325464-c935-4205-8563-170566cf7570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f325464-c935-4205-8563-170566cf7570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f325464-c935-4205-8563-170566cf7570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92661878-8e82-4dde-99bf-2708a748d86f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2661878-8e82-4dde-99bf-2708a748d86f}"/>
  <p:tag name="KSO_WM_UNIT_TEXTBOXSTYLE_TEMPLATEID" val="3130946"/>
  <p:tag name="KSO_WM_UNIT_TEXTBOXSTYLE_TYPE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2661878-8e82-4dde-99bf-2708a748d86f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2661878-8e82-4dde-99bf-2708a748d86f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2661878-8e82-4dde-99bf-2708a748d86f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2661878-8e82-4dde-99bf-2708a748d86f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2661878-8e82-4dde-99bf-2708a748d86f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d9a81eff-f337-4649-825c-2dfcb63fab61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9a81eff-f337-4649-825c-2dfcb63fab61}"/>
  <p:tag name="KSO_WM_UNIT_TEXTBOXSTYLE_TEMPLATEID" val="3130946"/>
  <p:tag name="KSO_WM_UNIT_TEXTBOXSTYLE_TYPE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9a81eff-f337-4649-825c-2dfcb63fab61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9a81eff-f337-4649-825c-2dfcb63fab61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9a81eff-f337-4649-825c-2dfcb63fab61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9a81eff-f337-4649-825c-2dfcb63fab61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9a81eff-f337-4649-825c-2dfcb63fab61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3f18aa60-8b01-4a30-9907-ed59a7c0a821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f18aa60-8b01-4a30-9907-ed59a7c0a821}"/>
  <p:tag name="KSO_WM_UNIT_TEXTBOXSTYLE_TEMPLATEID" val="3130946"/>
  <p:tag name="KSO_WM_UNIT_TEXTBOXSTYLE_TYPE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f18aa60-8b01-4a30-9907-ed59a7c0a821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f18aa60-8b01-4a30-9907-ed59a7c0a821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f18aa60-8b01-4a30-9907-ed59a7c0a821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f18aa60-8b01-4a30-9907-ed59a7c0a821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f18aa60-8b01-4a30-9907-ed59a7c0a821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9800ee0-52c9-4fd1-a269-c234d3a52768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9800ee0-52c9-4fd1-a269-c234d3a52768}"/>
  <p:tag name="KSO_WM_UNIT_TEXTBOXSTYLE_TEMPLATEID" val="3130946"/>
  <p:tag name="KSO_WM_UNIT_TEXTBOXSTYL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9800ee0-52c9-4fd1-a269-c234d3a52768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9800ee0-52c9-4fd1-a269-c234d3a52768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9800ee0-52c9-4fd1-a269-c234d3a52768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9800ee0-52c9-4fd1-a269-c234d3a52768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9800ee0-52c9-4fd1-a269-c234d3a52768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603c187-b27d-44ce-9d28-ee43f4886a03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603c187-b27d-44ce-9d28-ee43f4886a03}"/>
  <p:tag name="KSO_WM_UNIT_TEXTBOXSTYLE_TEMPLATEID" val="3130946"/>
  <p:tag name="KSO_WM_UNIT_TEXTBOXSTYLE_TYPE" val="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603c187-b27d-44ce-9d28-ee43f4886a03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603c187-b27d-44ce-9d28-ee43f4886a03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603c187-b27d-44ce-9d28-ee43f4886a03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603c187-b27d-44ce-9d28-ee43f4886a03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603c187-b27d-44ce-9d28-ee43f4886a03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b7de458e-1f56-475e-b877-2193db718f34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7de458e-1f56-475e-b877-2193db718f34}"/>
  <p:tag name="KSO_WM_UNIT_TEXTBOXSTYLE_TEMPLATEID" val="3130946"/>
  <p:tag name="KSO_WM_UNIT_TEXTBOXSTYLE_TYPE" val="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7de458e-1f56-475e-b877-2193db718f34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7de458e-1f56-475e-b877-2193db718f34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7de458e-1f56-475e-b877-2193db718f34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7de458e-1f56-475e-b877-2193db718f34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7de458e-1f56-475e-b877-2193db718f34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34fef1b4-5760-4418-80cb-ccef1cd2caf1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4fef1b4-5760-4418-80cb-ccef1cd2caf1}"/>
  <p:tag name="KSO_WM_UNIT_TEXTBOXSTYLE_TEMPLATEID" val="3130946"/>
  <p:tag name="KSO_WM_UNIT_TEXTBOXSTYLE_TYPE" val="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4fef1b4-5760-4418-80cb-ccef1cd2caf1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4fef1b4-5760-4418-80cb-ccef1cd2caf1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4fef1b4-5760-4418-80cb-ccef1cd2caf1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4fef1b4-5760-4418-80cb-ccef1cd2caf1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34fef1b4-5760-4418-80cb-ccef1cd2caf1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0d8cb8f1-bdf4-440a-b3bc-f84068e806b1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0d8cb8f1-bdf4-440a-b3bc-f84068e806b1}"/>
  <p:tag name="KSO_WM_UNIT_TEXTBOXSTYLE_TEMPLATEID" val="3130946"/>
  <p:tag name="KSO_WM_UNIT_TEXTBOXSTYLE_TYPE" val="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0d8cb8f1-bdf4-440a-b3bc-f84068e806b1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0d8cb8f1-bdf4-440a-b3bc-f84068e806b1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0d8cb8f1-bdf4-440a-b3bc-f84068e806b1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0d8cb8f1-bdf4-440a-b3bc-f84068e806b1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0d8cb8f1-bdf4-440a-b3bc-f84068e806b1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d5a573c1-1192-4986-aa5d-0c03d2fdd296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5a573c1-1192-4986-aa5d-0c03d2fdd296}"/>
  <p:tag name="KSO_WM_UNIT_TEXTBOXSTYLE_TEMPLATEID" val="3130946"/>
  <p:tag name="KSO_WM_UNIT_TEXTBOXSTYLE_TYPE" val="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5a573c1-1192-4986-aa5d-0c03d2fdd296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5a573c1-1192-4986-aa5d-0c03d2fdd296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5a573c1-1192-4986-aa5d-0c03d2fdd296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5a573c1-1192-4986-aa5d-0c03d2fdd296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d5a573c1-1192-4986-aa5d-0c03d2fdd296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fb997b34-1bf8-4a91-a32d-c3bb581cd432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fb997b34-1bf8-4a91-a32d-c3bb581cd432}"/>
  <p:tag name="KSO_WM_UNIT_TEXTBOXSTYLE_TEMPLATEID" val="3130946"/>
  <p:tag name="KSO_WM_UNIT_TEXTBOXSTYLE_TYPE" val="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fb997b34-1bf8-4a91-a32d-c3bb581cd432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fb997b34-1bf8-4a91-a32d-c3bb581cd432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fb997b34-1bf8-4a91-a32d-c3bb581cd432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fb997b34-1bf8-4a91-a32d-c3bb581cd432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fb997b34-1bf8-4a91-a32d-c3bb581cd432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e909649a-70da-4dbf-b60c-23654cfe1630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909649a-70da-4dbf-b60c-23654cfe1630}"/>
  <p:tag name="KSO_WM_UNIT_TEXTBOXSTYLE_TEMPLATEID" val="3130946"/>
  <p:tag name="KSO_WM_UNIT_TEXTBOXSTYLE_TYPE" val="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909649a-70da-4dbf-b60c-23654cfe1630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909649a-70da-4dbf-b60c-23654cfe1630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909649a-70da-4dbf-b60c-23654cfe1630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909649a-70da-4dbf-b60c-23654cfe1630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909649a-70da-4dbf-b60c-23654cfe1630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9ddfb73b-1f21-4641-8fdd-15e44e9a508c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ddfb73b-1f21-4641-8fdd-15e44e9a508c}"/>
  <p:tag name="KSO_WM_UNIT_TEXTBOXSTYLE_TEMPLATEID" val="3130946"/>
  <p:tag name="KSO_WM_UNIT_TEXTBOXSTYLE_TYPE" val="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ddfb73b-1f21-4641-8fdd-15e44e9a508c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ddfb73b-1f21-4641-8fdd-15e44e9a508c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ddfb73b-1f21-4641-8fdd-15e44e9a508c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ddfb73b-1f21-4641-8fdd-15e44e9a508c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ddfb73b-1f21-4641-8fdd-15e44e9a508c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c8373a0-4d13-4bbc-9122-31d39b452125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c8373a0-4d13-4bbc-9122-31d39b452125}"/>
  <p:tag name="KSO_WM_UNIT_TEXTBOXSTYLE_TEMPLATEID" val="3130946"/>
  <p:tag name="KSO_WM_UNIT_TEXTBOXSTYLE_TYPE" val="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c8373a0-4d13-4bbc-9122-31d39b452125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c8373a0-4d13-4bbc-9122-31d39b452125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c8373a0-4d13-4bbc-9122-31d39b452125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c8373a0-4d13-4bbc-9122-31d39b452125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c8373a0-4d13-4bbc-9122-31d39b452125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e29c898e-5d81-424c-9d03-54c135244d23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29c898e-5d81-424c-9d03-54c135244d23}"/>
  <p:tag name="KSO_WM_UNIT_TEXTBOXSTYLE_TEMPLATEID" val="3130946"/>
  <p:tag name="KSO_WM_UNIT_TEXTBOXSTYLE_TYPE" val="3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29c898e-5d81-424c-9d03-54c135244d23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29c898e-5d81-424c-9d03-54c135244d23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29c898e-5d81-424c-9d03-54c135244d23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29c898e-5d81-424c-9d03-54c135244d23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e29c898e-5d81-424c-9d03-54c135244d23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b021ed40-94d2-44f2-9982-9f8278ce4c66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021ed40-94d2-44f2-9982-9f8278ce4c66}"/>
  <p:tag name="KSO_WM_UNIT_TEXTBOXSTYLE_TEMPLATEID" val="3130946"/>
  <p:tag name="KSO_WM_UNIT_TEXTBOXSTYLE_TYPE" val="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021ed40-94d2-44f2-9982-9f8278ce4c66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021ed40-94d2-44f2-9982-9f8278ce4c66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021ed40-94d2-44f2-9982-9f8278ce4c66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021ed40-94d2-44f2-9982-9f8278ce4c66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b021ed40-94d2-44f2-9982-9f8278ce4c66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29699ead-3b9b-4cba-b985-4ad5b6aa4f0a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29699ead-3b9b-4cba-b985-4ad5b6aa4f0a}"/>
  <p:tag name="KSO_WM_UNIT_TEXTBOXSTYLE_TEMPLATEID" val="3130946"/>
  <p:tag name="KSO_WM_UNIT_TEXTBOXSTYLE_TYPE" val="3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29699ead-3b9b-4cba-b985-4ad5b6aa4f0a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29699ead-3b9b-4cba-b985-4ad5b6aa4f0a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29699ead-3b9b-4cba-b985-4ad5b6aa4f0a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29699ead-3b9b-4cba-b985-4ad5b6aa4f0a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29699ead-3b9b-4cba-b985-4ad5b6aa4f0a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7c44beef-a518-4603-b7a6-036c294dff33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7c44beef-a518-4603-b7a6-036c294dff33}"/>
  <p:tag name="KSO_WM_UNIT_TEXTBOXSTYLE_TEMPLATEID" val="3130946"/>
  <p:tag name="KSO_WM_UNIT_TEXTBOXSTYLE_TYPE" val="3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7c44beef-a518-4603-b7a6-036c294dff33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7c44beef-a518-4603-b7a6-036c294dff33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7c44beef-a518-4603-b7a6-036c294dff33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7c44beef-a518-4603-b7a6-036c294dff33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7c44beef-a518-4603-b7a6-036c294dff33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97c45205-14a5-4972-8070-5fe6ffd57994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c45205-14a5-4972-8070-5fe6ffd57994}"/>
  <p:tag name="KSO_WM_UNIT_TEXTBOXSTYLE_TEMPLATEID" val="3130946"/>
  <p:tag name="KSO_WM_UNIT_TEXTBOXSTYLE_TYPE" val="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c45205-14a5-4972-8070-5fe6ffd57994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c45205-14a5-4972-8070-5fe6ffd57994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c45205-14a5-4972-8070-5fe6ffd57994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c45205-14a5-4972-8070-5fe6ffd57994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97c45205-14a5-4972-8070-5fe6ffd57994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a40f2c92-30a4-44fc-a253-6a8af0229755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40f2c92-30a4-44fc-a253-6a8af0229755}"/>
  <p:tag name="KSO_WM_UNIT_TEXTBOXSTYLE_TEMPLATEID" val="3130946"/>
  <p:tag name="KSO_WM_UNIT_TEXTBOXSTYLE_TYPE" val="3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40f2c92-30a4-44fc-a253-6a8af0229755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40f2c92-30a4-44fc-a253-6a8af0229755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40f2c92-30a4-44fc-a253-6a8af0229755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40f2c92-30a4-44fc-a253-6a8af0229755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a40f2c92-30a4-44fc-a253-6a8af0229755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c15eb7f-94c2-4e7b-9ac8-7d64afd534a1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15eb7f-94c2-4e7b-9ac8-7d64afd534a1}"/>
  <p:tag name="KSO_WM_UNIT_TEXTBOXSTYLE_TEMPLATEID" val="3130946"/>
  <p:tag name="KSO_WM_UNIT_TEXTBOXSTYLE_TYPE" val="3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15eb7f-94c2-4e7b-9ac8-7d64afd534a1}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15eb7f-94c2-4e7b-9ac8-7d64afd534a1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15eb7f-94c2-4e7b-9ac8-7d64afd534a1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15eb7f-94c2-4e7b-9ac8-7d64afd534a1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c15eb7f-94c2-4e7b-9ac8-7d64afd534a1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438d8a60-68d4-4465-9067-c4c46c328ee7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38d8a60-68d4-4465-9067-c4c46c328ee7}"/>
  <p:tag name="KSO_WM_UNIT_TEXTBOXSTYLE_TEMPLATEID" val="3130946"/>
  <p:tag name="KSO_WM_UNIT_TEXTBOXSTYLE_TYPE" val="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38d8a60-68d4-4465-9067-c4c46c328ee7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38d8a60-68d4-4465-9067-c4c46c328ee7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38d8a60-68d4-4465-9067-c4c46c328ee7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38d8a60-68d4-4465-9067-c4c46c328ee7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38d8a60-68d4-4465-9067-c4c46c328ee7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4c74cfff-c940-44a2-a4ee-6d50ad9aa409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c74cfff-c940-44a2-a4ee-6d50ad9aa409}"/>
  <p:tag name="KSO_WM_UNIT_TEXTBOXSTYLE_TEMPLATEID" val="3130946"/>
  <p:tag name="KSO_WM_UNIT_TEXTBOXSTYLE_TYPE" val="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c74cfff-c940-44a2-a4ee-6d50ad9aa409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c74cfff-c940-44a2-a4ee-6d50ad9aa409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c74cfff-c940-44a2-a4ee-6d50ad9aa409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c74cfff-c940-44a2-a4ee-6d50ad9aa409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4c74cfff-c940-44a2-a4ee-6d50ad9aa409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07c9a7b-daf3-4eb2-84fe-9d4243c27c01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4_86*f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07c9a7b-daf3-4eb2-84fe-9d4243c27c01}"/>
  <p:tag name="KSO_WM_UNIT_TEXTBOXSTYLE_TEMPLATEID" val="3130946"/>
  <p:tag name="KSO_WM_UNIT_TEXTBOXSTYLE_TYPE" val="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4_86*i*1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07c9a7b-daf3-4eb2-84fe-9d4243c27c01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4_86*i*2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07c9a7b-daf3-4eb2-84fe-9d4243c27c01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4_86*i*3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07c9a7b-daf3-4eb2-84fe-9d4243c27c01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4_86*i*4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07c9a7b-daf3-4eb2-84fe-9d4243c27c01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4_86*i*5"/>
  <p:tag name="KSO_WM_TEMPLATE_CATEGORY" val="mixed"/>
  <p:tag name="KSO_WM_TEMPLATE_INDEX" val="20201884"/>
  <p:tag name="KSO_WM_UNIT_LAYERLEVEL" val="1"/>
  <p:tag name="KSO_WM_TAG_VERSION" val="1.0"/>
  <p:tag name="KSO_WM_BEAUTIFY_FLAG" val="#wm#"/>
  <p:tag name="KSO_WM_UNIT_TEXTBOXSTYLE_GUID" val="{107c9a7b-daf3-4eb2-84fe-9d4243c27c01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589</Words>
  <Application>Microsoft Office PowerPoint</Application>
  <PresentationFormat>宽屏</PresentationFormat>
  <Paragraphs>64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微软雅黑</vt:lpstr>
      <vt:lpstr>Arial</vt:lpstr>
      <vt:lpstr>Calibri</vt:lpstr>
      <vt:lpstr>WPS</vt:lpstr>
      <vt:lpstr>Dify基础教程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辉 童</cp:lastModifiedBy>
  <cp:revision>53</cp:revision>
  <dcterms:created xsi:type="dcterms:W3CDTF">2023-08-09T12:44:00Z</dcterms:created>
  <dcterms:modified xsi:type="dcterms:W3CDTF">2026-08-29T08:32:36Z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0A1E36EC059942F8A332A492525EFE3A_12</vt:lpwstr>
  </property>
</Properties>
</file>