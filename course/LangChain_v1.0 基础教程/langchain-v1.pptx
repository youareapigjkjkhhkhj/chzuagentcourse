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c_tu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c_tu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5350" y="2295049"/>
            <a:ext cx="6940015" cy="1760696"/>
            <a:chOff x="895350" y="2295049"/>
            <a:chExt cx="6940015" cy="17606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基础版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682828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286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从模型调用到智能体编排 · 大模型应用开发入门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762375"/>
              <a:ext cx="69285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模型 I/O · LCEL 链 · RAG · Tools · Agent · 记忆与多轮 —— 15 页快速上手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4266" y="5943600"/>
            <a:ext cx="10983468" cy="358711"/>
            <a:chOff x="604266" y="5943600"/>
            <a:chExt cx="10983468" cy="358711"/>
          </a:xfrm>
        </p:grpSpPr>
        <p:sp>
          <p:nvSpPr>
            <p:cNvPr id="8" name="Line 8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266" y="609695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 · 大模型应用开发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32865" y="60969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2451354" cy="322707"/>
            <a:chOff x="601218" y="1898332"/>
            <a:chExt cx="2451354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1955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认识 LangChain v1.0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1924812" cy="322707"/>
            <a:chOff x="601218" y="2431732"/>
            <a:chExt cx="192481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安装与环境配置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2328672" cy="322707"/>
            <a:chOff x="601218" y="2965132"/>
            <a:chExt cx="232867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快速开始：两个示例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2563673" cy="322707"/>
            <a:chOff x="601218" y="3498532"/>
            <a:chExt cx="2563673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20676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Chat Models 模型调用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1218" y="4031932"/>
            <a:ext cx="2414615" cy="322707"/>
            <a:chOff x="601218" y="4031932"/>
            <a:chExt cx="2414615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01218" y="40319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7280" y="4048125"/>
              <a:ext cx="19185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Prompts 提示词模板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1218" y="4565332"/>
            <a:ext cx="1898142" cy="322707"/>
            <a:chOff x="601218" y="4565332"/>
            <a:chExt cx="189814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01218" y="4565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7280" y="4581525"/>
              <a:ext cx="1402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LCEL 链式组合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1218" y="5098732"/>
            <a:ext cx="2530602" cy="322707"/>
            <a:chOff x="601218" y="5098732"/>
            <a:chExt cx="2530602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01218" y="5098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7280" y="5114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检索基础：加载与切分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1898332"/>
            <a:ext cx="2328672" cy="322707"/>
            <a:chOff x="6468618" y="1898332"/>
            <a:chExt cx="232867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19145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文本嵌入与向量存储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68618" y="2431732"/>
            <a:ext cx="2207514" cy="322707"/>
            <a:chOff x="6468618" y="2431732"/>
            <a:chExt cx="2207514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64680" y="24479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检索增强生成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68618" y="2965132"/>
            <a:ext cx="1899971" cy="322707"/>
            <a:chOff x="6468618" y="2965132"/>
            <a:chExt cx="1899971" cy="322707"/>
          </a:xfrm>
        </p:grpSpPr>
        <p:sp>
          <p:nvSpPr>
            <p:cNvPr id="33" name="TextBox 33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64680" y="2981325"/>
              <a:ext cx="1403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Tools 工具调用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68618" y="3498532"/>
            <a:ext cx="1746809" cy="322707"/>
            <a:chOff x="6468618" y="3498532"/>
            <a:chExt cx="1746809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64680" y="3514725"/>
              <a:ext cx="1250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智能体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68618" y="4031932"/>
            <a:ext cx="1924812" cy="322707"/>
            <a:chOff x="6468618" y="4031932"/>
            <a:chExt cx="1924812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6468618" y="40319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64680" y="4048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记忆与多轮对话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68618" y="4565332"/>
            <a:ext cx="2126742" cy="322707"/>
            <a:chOff x="6468618" y="4565332"/>
            <a:chExt cx="2126742" cy="322707"/>
          </a:xfrm>
        </p:grpSpPr>
        <p:sp>
          <p:nvSpPr>
            <p:cNvPr id="42" name="TextBox 42"/>
            <p:cNvSpPr txBox="1"/>
            <p:nvPr/>
          </p:nvSpPr>
          <p:spPr>
            <a:xfrm>
              <a:off x="6468618" y="4565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64680" y="45815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流式输出与可观测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68618" y="5098732"/>
            <a:ext cx="1924812" cy="322707"/>
            <a:chOff x="6468618" y="5098732"/>
            <a:chExt cx="1924812" cy="322707"/>
          </a:xfrm>
        </p:grpSpPr>
        <p:sp>
          <p:nvSpPr>
            <p:cNvPr id="45" name="TextBox 45"/>
            <p:cNvSpPr txBox="1"/>
            <p:nvPr/>
          </p:nvSpPr>
          <p:spPr>
            <a:xfrm>
              <a:off x="6468618" y="5098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64680" y="5114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学习路径与总结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6580" cy="738854"/>
            <a:chOff x="595122" y="501491"/>
            <a:chExt cx="463658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认识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65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什么是 LangChain v1.0？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2000250"/>
            <a:chOff x="609600" y="1619250"/>
            <a:chExt cx="5257800" cy="200025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包拆分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602706"/>
              <a:ext cx="2280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核心 langchain 与厂商集成包分离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50356"/>
              <a:ext cx="2303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如 langchain-openai / anthropic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2000250"/>
            <a:chOff x="6324600" y="1619250"/>
            <a:chExt cx="52578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统一模型入口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60270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init_chat_model("provider:model")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8503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一行切换不同厂商模型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5257800" cy="2000250"/>
            <a:chOff x="609600" y="3810000"/>
            <a:chExt cx="52578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609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342" y="4083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智能体重构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2485" y="4793456"/>
              <a:ext cx="1654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create_agent 取代旧版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485" y="5041106"/>
              <a:ext cx="2410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AgentExecutor / initialize_agent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24600" y="3810000"/>
            <a:ext cx="5257800" cy="2000250"/>
            <a:chOff x="6324600" y="3810000"/>
            <a:chExt cx="5257800" cy="2000250"/>
          </a:xfrm>
        </p:grpSpPr>
        <p:sp>
          <p:nvSpPr>
            <p:cNvPr id="24" name="Rectangle 24"/>
            <p:cNvSpPr/>
            <p:nvPr/>
          </p:nvSpPr>
          <p:spPr>
            <a:xfrm>
              <a:off x="6324600" y="3810000"/>
              <a:ext cx="5257800" cy="20002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24600" y="381000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6342" y="40833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记忆统一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47485" y="4793456"/>
              <a:ext cx="1731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旧 Memory 类已全部移除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47485" y="5041106"/>
              <a:ext cx="2124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改用 LangGraph Checkpointer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0" name="TextBox 30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安装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安装与环境配置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184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终端 · pip / 环境变量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49671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核心包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13990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pip install -U langchain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149294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OpenAI 集成包（必须）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438" y="2908697"/>
              <a:ext cx="185473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pip install -U langchain-openai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308747"/>
              <a:ext cx="112942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其它厂商（按需）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508772"/>
              <a:ext cx="206352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pip install -U langchain-anthropic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708797"/>
              <a:ext cx="224074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pip install -U langchain-google-genai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908822"/>
              <a:ext cx="18483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pip install -U langchain-ollama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308872"/>
              <a:ext cx="16510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配置 API Key（环境变量）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508897"/>
              <a:ext cx="209643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export OPENAI_API_KEY="sk-..."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708922"/>
              <a:ext cx="34207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# Windows PowerShell: $env:OPENAI_API_KEY="sk-..."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2" name="Rectangle 22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078956"/>
              <a:ext cx="2763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核心包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langchain（含 langchain_core）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402806"/>
              <a:ext cx="2906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提供商集成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独立包 openai / anthropic / 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726656"/>
              <a:ext cx="17430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Python 版本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必须 ≥ 3.10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050506"/>
              <a:ext cx="3147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文本切分器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独立包 langchain_text_splitters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374356"/>
              <a:ext cx="3403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验证安装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import langchain → __version__ 为 1.x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698206"/>
              <a:ext cx="2948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缺包排障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报 ModuleNotFoundError 即补装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249293" cy="738854"/>
            <a:chOff x="595122" y="501491"/>
            <a:chExt cx="42492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快速开始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快速开始：两个最小示例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09600" y="1581150"/>
            <a:ext cx="5295900" cy="4476750"/>
            <a:chOff x="609600" y="1581150"/>
            <a:chExt cx="52959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2959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2959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289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示例 A · 最简模型调用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320473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langchain.chat_models import init_chat_model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508647"/>
              <a:ext cx="262263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model = init_chat_model("openai:gpt-4o")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157865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response = model.invoke(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214296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"用一句话解释什么是 LangChain。",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10872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308747"/>
              <a:ext cx="157865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print(response.content)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708797"/>
              <a:ext cx="182290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输出：LangChain 是构建 LLM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908822"/>
              <a:ext cx="107248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应用的开源框架…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1581150"/>
            <a:ext cx="5295900" cy="4476750"/>
            <a:chOff x="6286500" y="1581150"/>
            <a:chExt cx="5295900" cy="4476750"/>
          </a:xfrm>
        </p:grpSpPr>
        <p:sp>
          <p:nvSpPr>
            <p:cNvPr id="19" name="Rectangle 19"/>
            <p:cNvSpPr/>
            <p:nvPr/>
          </p:nvSpPr>
          <p:spPr>
            <a:xfrm>
              <a:off x="6286500" y="1581150"/>
              <a:ext cx="52959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1581150"/>
              <a:ext cx="52959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10338" y="1864995"/>
              <a:ext cx="18017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示例 B · 最简智能体（带工具）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515100" y="2076450"/>
              <a:ext cx="4838700" cy="9525"/>
            </a:xfrm>
            <a:custGeom>
              <a:avLst/>
              <a:gdLst/>
              <a:ahLst/>
              <a:cxnLst/>
              <a:rect l="l" t="t" r="r" b="b"/>
              <a:pathLst>
                <a:path w="4838700" h="9525">
                  <a:moveTo>
                    <a:pt x="0" y="0"/>
                  </a:moveTo>
                  <a:lnTo>
                    <a:pt x="48387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0338" y="2108597"/>
              <a:ext cx="272386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langchain.agents import create_agent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10338" y="2508647"/>
              <a:ext cx="22430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def get_weather(city: str) -&gt; str: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7512" y="2708672"/>
              <a:ext cx="214751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"""Get the weather for a city."""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67512" y="2908697"/>
              <a:ext cx="20183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return f"{city} 今天晴，25°C。"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0338" y="3308747"/>
              <a:ext cx="140782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agent = create_agent(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67512" y="3508772"/>
              <a:ext cx="150273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model="openai:gpt-4o",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67512" y="3708797"/>
              <a:ext cx="139516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tools=[get_weather],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10338" y="390882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10338" y="4108847"/>
              <a:ext cx="141415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result = agent.invoke(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67512" y="4308872"/>
              <a:ext cx="202788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{"messages": [{"role": "user",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9062" y="4508897"/>
              <a:ext cx="17937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"content": "上海天气？"}]},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10338" y="470892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10338" y="4908947"/>
              <a:ext cx="300226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print(result["messages"][-1].content_blocks)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045834" cy="738854"/>
            <a:chOff x="595122" y="501491"/>
            <a:chExt cx="404583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2536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 · Chat Models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04583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聊天模型 Chat Models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0333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统一入口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320473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langchain.chat_models import init_chat_model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508647"/>
              <a:ext cx="195195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模型名格式："provider:model"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model = init_chat_model(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109146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"openai:gpt-4o",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0612" y="3108722"/>
              <a:ext cx="11484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temperature=0.7,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0612" y="3308747"/>
              <a:ext cx="107881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max_tokens=512,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50877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908822"/>
              <a:ext cx="125597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多轮对话：消息列表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108847"/>
              <a:ext cx="80674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messages = [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0612" y="4308872"/>
              <a:ext cx="25650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("system", "你是资深 Python 工程师。"),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612" y="4508897"/>
              <a:ext cx="176847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("user", "什么是装饰器？"),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0612" y="4708922"/>
              <a:ext cx="297062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("assistant", "装饰器是用于包装函数的函数。"),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0612" y="4908947"/>
              <a:ext cx="176847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("user", "能给个例子吗？"),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3438" y="510897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]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438" y="5308997"/>
              <a:ext cx="195195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resp = model.invoke(messages)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3438" y="5509022"/>
              <a:ext cx="275550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print(resp.content, resp.usage_metadata)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7" name="Rectangle 27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18935" y="3078956"/>
              <a:ext cx="4323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模型名带厂商前缀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openai / anthropic / google_genai / ollama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8935" y="3402806"/>
              <a:ext cx="3268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统一入口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init_chat_model("provider:model")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8935" y="3726656"/>
              <a:ext cx="36601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多轮对话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messages 列表 system / user / assistant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18935" y="4050506"/>
              <a:ext cx="3011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调用方式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.invoke() 单次 · .stream() 流式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18935" y="4374356"/>
              <a:ext cx="32983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读取结果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content 文本 · usage_metadata 用量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18935" y="4698206"/>
              <a:ext cx="2950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多模态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HumanMessage + image_url 传图片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3" name="TextBox 43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729373" cy="738854"/>
            <a:chOff x="595122" y="501491"/>
            <a:chExt cx="372937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9695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 · Prompts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72937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提示词模板 Prompts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1726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模板 + 变量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36160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langchain_core.prompts import ChatPromptTemplate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508647"/>
              <a:ext cx="30481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prompt = ChatPromptTemplate.from_messages([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0612" y="2708672"/>
              <a:ext cx="294531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("system", "你是翻译助手，只输出翻译结果。"),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26922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("user", "把下面中文翻译成英文：{text}"),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108722"/>
              <a:ext cx="14872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])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508772"/>
              <a:ext cx="136986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chain = prompt | model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708797"/>
              <a:ext cx="12369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print(chain.invoke(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0612" y="3908822"/>
              <a:ext cx="157232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{"text": "今天天气真好"}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108847"/>
              <a:ext cx="7055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).content)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508897"/>
              <a:ext cx="281829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多轮历史用 MessagesPlaceholder("history")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708922"/>
              <a:ext cx="298926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少样本用 FewShotChatMessagePromptTemplate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2" name="Rectangle 22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078956"/>
              <a:ext cx="3087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模板变量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用 {name} 占位，调用时传同名字典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402806"/>
              <a:ext cx="3113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from_messages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接收 (role, content) 元组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726656"/>
              <a:ext cx="2612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合法角色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system / human / ai / user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050506"/>
              <a:ext cx="3930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少样本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FewShotChatMessagePromptTemplate 注入示例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374356"/>
              <a:ext cx="3610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多轮历史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MessagesPlaceholder 在模板中插消息列表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69820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常见笔误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from_messages 别漏复数 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251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 · LCEL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LCEL 链式组合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0333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管道原语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248343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langchain_core.runnables import (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0612" y="2308622"/>
              <a:ext cx="137796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RunnablePassthrough,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0612" y="2508647"/>
              <a:ext cx="107363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RunnableParallel,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708672"/>
              <a:ext cx="105556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RunnableLambda,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2908697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308747"/>
              <a:ext cx="190134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chain = prompt | model | parser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508772"/>
              <a:ext cx="272386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print(chain.invoke({"topic": "量子计算"}))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908822"/>
              <a:ext cx="8763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原样透传输入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108847"/>
              <a:ext cx="28674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c2 = {"topic": RunnablePassthrough()} | chain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508897"/>
              <a:ext cx="154069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多分支并行，合并为 dict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708922"/>
              <a:ext cx="35318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 = RunnableParallel({"joke": j_chain, "poem": p_chain})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438" y="5108972"/>
              <a:ext cx="87634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包装普通函数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438" y="5308997"/>
              <a:ext cx="287316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upper = RunnableLambda(lambda s: s.upper())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3438" y="5509022"/>
              <a:ext cx="292633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print((chain | upper).invoke({"topic": "ai"}))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5" name="Rectangle 25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8935" y="3078956"/>
              <a:ext cx="2077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 | b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把 a 的输出作为 b 的输入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18935" y="3402806"/>
              <a:ext cx="25857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RunnablePassthrough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原样透传输入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8935" y="3726656"/>
              <a:ext cx="2996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RunnableParallel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多分支并行，合并为 dict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8935" y="4050506"/>
              <a:ext cx="32413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RunnableLambda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包装任意 Python 函数为节点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18935" y="4374356"/>
              <a:ext cx="2906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统一接口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invoke / stream / batch 全支持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18935" y="4698206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类型匹配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每步输入输出类型要对齐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4632960" cy="738854"/>
            <a:chOff x="595122" y="501491"/>
            <a:chExt cx="463296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检索基础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检索基础：文档加载与切分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569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python · Loader + Splitter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39977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langchain_community.document_loaders import TextLoader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245180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langchain_text_splitters import (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0612" y="2508647"/>
              <a:ext cx="208774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RecursiveCharacterTextSplitter,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438" y="270867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108722"/>
              <a:ext cx="22227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docs = TextLoader("a.txt").load()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308747"/>
              <a:ext cx="27273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splitter = RecursiveCharacterTextSplitter(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0612" y="3508772"/>
              <a:ext cx="109146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chunk_size=1000,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0612" y="3708797"/>
              <a:ext cx="12306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chunk_overlap=200,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390882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108847"/>
              <a:ext cx="255936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chunks = splitter.split_documents(docs)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308872"/>
              <a:ext cx="195195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print(len(chunks), "个文本块")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438" y="4708922"/>
              <a:ext cx="187109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# PDF: PyPDFLoader("x.pdf")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438" y="4908947"/>
              <a:ext cx="231824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# Web: WebBaseLoader("https://…")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4" name="Rectangle 24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078956"/>
              <a:ext cx="29159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Document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含 page_content 与 metadata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402806"/>
              <a:ext cx="38344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Loader</a:t>
              </a:r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 xml:space="preserve"> TextLoader · PyPDFLoader · WebBaseLoader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3726656"/>
              <a:ext cx="2035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Splitter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递归字符切分最常用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050506"/>
              <a:ext cx="29835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chunk_size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控制每块长度（字符 / token）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374356"/>
              <a:ext cx="265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chunk_overlap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块间重叠，保留上下文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18935" y="4698206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影响检索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块太大 / 太小都伤召回质量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0" name="TextBox 40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81959" cy="738854"/>
            <a:chOff x="595122" y="501491"/>
            <a:chExt cx="348195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1345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嵌入与向量库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文本嵌入与向量存储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6777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python · Embeddings + FAISS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29742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langchain_openai import OpenAIEmbeddings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33585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langchain_community.vectorstores import FAISS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18886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嵌入模型：建索引与查询须一致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438" y="2908697"/>
              <a:ext cx="203269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embeddings = OpenAIEmbeddings(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0612" y="3108722"/>
              <a:ext cx="21164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model="text-embedding-3-small",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308747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508772"/>
              <a:ext cx="219238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docs = [...] # 加载并切分后的文本块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708797"/>
              <a:ext cx="356967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vectorstore = FAISS.from_documents(docs, embeddings)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108847"/>
              <a:ext cx="1781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转成检索器，取最相似的 k 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308872"/>
              <a:ext cx="245812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retriever = vectorstore.as_retriever(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612" y="4508897"/>
              <a:ext cx="16039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search_kwargs={"k": 3},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438" y="4708922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438" y="4908947"/>
              <a:ext cx="25025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hits = retriever.invoke("RAG 是什么？")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3438" y="5108972"/>
              <a:ext cx="182541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print(hits[0].page_content)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5" name="Rectangle 25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8935" y="3078956"/>
              <a:ext cx="2130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Embeddings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把文本映射为向量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18935" y="3402806"/>
              <a:ext cx="2454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向量库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FAISS / Chroma / Milvus 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8935" y="3726656"/>
              <a:ext cx="349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as_retriever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RAG 标准接口：query → documents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8935" y="4050506"/>
              <a:ext cx="2965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k 参数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search_kwargs={"k": 3} 取 top-k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18935" y="4374356"/>
              <a:ext cx="24690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一致性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建索引与查询用同一嵌入模型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18935" y="469820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本质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向量库是「语义搜索引擎」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291284" cy="738854"/>
            <a:chOff x="595122" y="501491"/>
            <a:chExt cx="329128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365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09 · RAG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29128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检索增强生成 RAG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6572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离线索引 + 在线查询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371277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langchain_core.runnables import RunnablePassthrough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36160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langchain_core.prompts import ChatPromptTemplate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30481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prompt = ChatPromptTemplate.from_messages([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311615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("system", "只使用上下文回答，不知道就说不知道。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62138" y="3108722"/>
              <a:ext cx="162927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\n上下文：\n{context}"),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0612" y="3308747"/>
              <a:ext cx="154702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("user", "{question}"),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508772"/>
              <a:ext cx="14872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])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908822"/>
              <a:ext cx="153436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def format_docs(docs):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0612" y="4108847"/>
              <a:ext cx="123699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return "\n\n".join(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7788" y="4308872"/>
              <a:ext cx="18001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d.page_content for d in docs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612" y="4508897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438" y="4908947"/>
              <a:ext cx="319207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rag_chain = ({"context": retriever | format_docs,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71638" y="5108972"/>
              <a:ext cx="229049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"question": RunnablePassthrough()}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04962" y="5308997"/>
              <a:ext cx="105350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| prompt | model)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438" y="5509022"/>
              <a:ext cx="40329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print(rag_chain.invoke({"question": "RAG 是什么？"}).content)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6" name="Rectangle 26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078956"/>
              <a:ext cx="3011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标准流水线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加载 → 切分 → 嵌入 → 检索 → 生成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3402806"/>
              <a:ext cx="3728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注入上下文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retriever 结果拼进 prompt 的 {context}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3726656"/>
              <a:ext cx="326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LCEL 组装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dict 路由 + | prompt | model 一条链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050506"/>
              <a:ext cx="255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format_docs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把文档列表拼成字符串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18935" y="437435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减少幻觉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答案有据可依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8935" y="4698206"/>
              <a:ext cx="251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进阶方向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查询改写 / 多路检索 / 重排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885779" cy="738854"/>
            <a:chOff x="595122" y="501491"/>
            <a:chExt cx="3885779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501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10 · Tools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88577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工具与函数调用 Tools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2513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@tool 装饰器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20342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langchain.tools import tool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508647"/>
              <a:ext cx="32588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@tool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188235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def add(a: int, b: int) -&gt; int: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156600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"""计算两个整数的和。"""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0612" y="3108722"/>
              <a:ext cx="74980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return a + 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3438" y="3508772"/>
              <a:ext cx="100288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查看工具元信息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3438" y="3708797"/>
              <a:ext cx="213544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print(add.name, add.description)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4108847"/>
              <a:ext cx="214177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让模型决定调用（仅决策，不执行）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308872"/>
              <a:ext cx="262263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model = init_chat_model("openai:gpt-4o")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508897"/>
              <a:ext cx="1781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 = model.bind_tools([add])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708922"/>
              <a:ext cx="29769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print(m.invoke("3 加 4 等于多少？").tool_calls)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2" name="Rectangle 22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8935" y="3078956"/>
              <a:ext cx="1913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@tool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把函数变成 Tool 对象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18935" y="3402806"/>
              <a:ext cx="3267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docstring + 注解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模型据此判断何时 · 如何调用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726656"/>
              <a:ext cx="246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add.name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查看工具名 / 描述元信息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4050506"/>
              <a:ext cx="2363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bind_tools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让模型返回 tool_calls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4374356"/>
              <a:ext cx="23163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tool_calls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模型决定的工具与参数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698206"/>
              <a:ext cx="2341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仅决策不执行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真正执行交给 Agent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435591" cy="738854"/>
            <a:chOff x="595122" y="501491"/>
            <a:chExt cx="24355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7794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50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11 ·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4355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 Agent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3483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python · create_agent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272386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langchain.agents import create_agent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508647"/>
              <a:ext cx="224300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def get_weather(city: str) -&gt; str: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0612" y="2708672"/>
              <a:ext cx="169254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"""获取指定城市的天气。"""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612" y="2908697"/>
              <a:ext cx="201833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return f"{city} 今天晴，25°C。"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308747"/>
              <a:ext cx="140782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agent = create_agent(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0612" y="3508772"/>
              <a:ext cx="150273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model="openai:gpt-4o",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0612" y="3708797"/>
              <a:ext cx="139516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tools=[get_weather],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0612" y="3908822"/>
              <a:ext cx="238220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system_prompt="你是一个天气助手。",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4108847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308872"/>
              <a:ext cx="141415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result = agent.invoke(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612" y="4508897"/>
              <a:ext cx="202788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{"messages": [{"role": "user",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62162" y="4708922"/>
              <a:ext cx="17937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"content": "北京天气？"}]},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438" y="4908947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3438" y="5108972"/>
              <a:ext cx="300226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print(result["messages"][-1].content_blocks)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5" name="Rectangle 25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8935" y="3078956"/>
              <a:ext cx="34309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create_agent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模型 + 工具 + 系统提示 → 可执行图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18935" y="3402806"/>
              <a:ext cx="33596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底层 LangGraph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循环 / 工具调用 / 状态管理内置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8935" y="3726656"/>
              <a:ext cx="2801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invoke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入参 {"messages": [...]} 字典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8935" y="4050506"/>
              <a:ext cx="244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content_blocks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读取最终回复内容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18935" y="4374356"/>
              <a:ext cx="36070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stream_mode="updates"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观察每步决策与工具调用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18935" y="4698206"/>
              <a:ext cx="2544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多工具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tools=[f1, f2] 模型自主决策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记忆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记忆与多轮对话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9663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</a:rPr>
                <a:t>python · LangGraph Checkpointer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272386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langchain.agents import create_agent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364145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from langgraph.checkpoint.memory import InMemorySaver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438" y="2708672"/>
              <a:ext cx="203522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checkpointer = InMemorySaver()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438" y="2908697"/>
              <a:ext cx="140782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agent = create_agent(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0612" y="3108722"/>
              <a:ext cx="150273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model="openai:gpt-4o",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0612" y="3308747"/>
              <a:ext cx="115473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tools=[get_time],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0612" y="3508772"/>
              <a:ext cx="175581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checkpointer=checkpointer,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438" y="3708797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3908822"/>
              <a:ext cx="323636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config = {"configurable": {"thread_id": "user-1"}}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3438" y="4108847"/>
              <a:ext cx="88267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agent.invoke(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612" y="4308872"/>
              <a:ext cx="202788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{"messages": [{"role": "user",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62162" y="4508897"/>
              <a:ext cx="17937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"content": "现在几点？"}]},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0612" y="4708922"/>
              <a:ext cx="9206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config=config,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3438" y="4908947"/>
              <a:ext cx="7912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3438" y="5108972"/>
              <a:ext cx="217973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同 thread_id 共享记忆，可续上一轮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6" name="Rectangle 26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18935" y="3078956"/>
              <a:ext cx="2179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旧 Memory 类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v1.0 已全部移除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18935" y="3402806"/>
              <a:ext cx="28859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InMemorySaver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进程内记忆（重启即丢）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18935" y="3726656"/>
              <a:ext cx="25696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checkpointer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每轮结束保存会话状态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18935" y="4050506"/>
              <a:ext cx="2180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thread_id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区分不同用户 / 会话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18935" y="4374356"/>
              <a:ext cx="2967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持久化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PostgresSaver / SqliteSaver 落库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18935" y="4698206"/>
              <a:ext cx="28938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config 参数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同 thread_id 即可续上轮对话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2" name="TextBox 42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098292" cy="738854"/>
            <a:chOff x="595122" y="501491"/>
            <a:chExt cx="309829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11345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13 · 流式与可观测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流式输出与可观测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1581150"/>
            <a:ext cx="5334000" cy="4476750"/>
            <a:chOff x="609600" y="1581150"/>
            <a:chExt cx="5334000" cy="4476750"/>
          </a:xfrm>
        </p:grpSpPr>
        <p:sp>
          <p:nvSpPr>
            <p:cNvPr id="6" name="Rectangle 6"/>
            <p:cNvSpPr/>
            <p:nvPr/>
          </p:nvSpPr>
          <p:spPr>
            <a:xfrm>
              <a:off x="609600" y="1581150"/>
              <a:ext cx="5334000" cy="4476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DDDDD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81150"/>
              <a:ext cx="5334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438" y="1864995"/>
              <a:ext cx="13543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python · stream + 追踪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076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438" y="2108597"/>
              <a:ext cx="1509057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模型流式（打字机效果）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438" y="2308622"/>
              <a:ext cx="262263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for chunk in model.stream("讲个冷笑话"):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0612" y="2508647"/>
              <a:ext cx="26721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print(chunk.content, end="", flush=True)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438" y="2908697"/>
              <a:ext cx="201522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智能体流式：观察决策与工具调用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3438" y="3108722"/>
              <a:ext cx="164825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for step in agent.stream(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0612" y="3308747"/>
              <a:ext cx="202788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{"messages": [{"role": "user",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62162" y="3508772"/>
              <a:ext cx="17937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1A1A1A"/>
                  </a:solidFill>
                  <a:latin typeface="Consolas"/>
                  <a:ea typeface="Microsoft YaHei"/>
                  <a:cs typeface="Consolas"/>
                </a:rPr>
                <a:t>"content": "搜索并总结"}]},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0612" y="3708797"/>
              <a:ext cx="1591310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stream_mode="updates",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3438" y="3908822"/>
              <a:ext cx="14872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):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0612" y="4108847"/>
              <a:ext cx="74347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dirty="0">
                  <a:solidFill>
                    <a:srgbClr val="1A1A1A"/>
                  </a:solidFill>
                  <a:latin typeface="Consolas"/>
                  <a:ea typeface="Consolas"/>
                  <a:cs typeface="Consolas"/>
                </a:rPr>
                <a:t>print(step)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438" y="4508897"/>
              <a:ext cx="155354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可观测：接入 LangSmith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438" y="4708922"/>
              <a:ext cx="215896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999999"/>
                  </a:solidFill>
                  <a:latin typeface="Consolas"/>
                  <a:ea typeface="Microsoft YaHei"/>
                  <a:cs typeface="Consolas"/>
                </a:rPr>
                <a:t># 设 LANGSMITH_TRACING=true 即可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324600" y="1581150"/>
            <a:ext cx="5257800" cy="4476750"/>
            <a:chOff x="6324600" y="1581150"/>
            <a:chExt cx="5257800" cy="4476750"/>
          </a:xfrm>
        </p:grpSpPr>
        <p:sp>
          <p:nvSpPr>
            <p:cNvPr id="23" name="Rectangle 23"/>
            <p:cNvSpPr/>
            <p:nvPr/>
          </p:nvSpPr>
          <p:spPr>
            <a:xfrm>
              <a:off x="6324600" y="1581150"/>
              <a:ext cx="5257800" cy="447675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324600" y="15811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463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快速要点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53200" y="31051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18935" y="3078956"/>
              <a:ext cx="32436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model.stream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逐块返回 token（打字机效果）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53200" y="34290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8935" y="3402806"/>
              <a:ext cx="2791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agent.stream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观察决策与工具调用过程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37528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18935" y="3726656"/>
              <a:ext cx="30039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stream_mode="updates"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按步骤输出增量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40767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8935" y="4050506"/>
              <a:ext cx="2442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callbacks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拦截每一步做日志 / 追踪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44005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8935" y="4374356"/>
              <a:ext cx="189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LangSmith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官方可观测平台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72440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18935" y="4698206"/>
              <a:ext cx="2521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价值</a:t>
              </a:r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 xml:space="preserve"> 调试链路 · 统计 token · 控成本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14 · 总结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学习路径与总结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2057400" cy="1905000"/>
            <a:chOff x="609600" y="1619250"/>
            <a:chExt cx="20574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522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模型 I/O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307431"/>
              <a:ext cx="15133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Chat Models · Promp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5550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80273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统一入口 · 结构化输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305038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出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838450" y="1619250"/>
            <a:ext cx="2057400" cy="1905000"/>
            <a:chOff x="2838450" y="1619250"/>
            <a:chExt cx="20574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28384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384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60192" y="1892618"/>
              <a:ext cx="1073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LCEL 编排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61335" y="25550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管道式组合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61335" y="2802731"/>
              <a:ext cx="990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Runnable 原语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067300" y="1619250"/>
            <a:ext cx="2057400" cy="1905000"/>
            <a:chOff x="5067300" y="1619250"/>
            <a:chExt cx="20574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50673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673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9042" y="1892618"/>
              <a:ext cx="1154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检索与 RAG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0185" y="2555081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加载 / 切分 / 嵌入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90185" y="28027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检索增强生成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96150" y="1619250"/>
            <a:ext cx="2057400" cy="1905000"/>
            <a:chOff x="7296150" y="1619250"/>
            <a:chExt cx="2057400" cy="1905000"/>
          </a:xfrm>
        </p:grpSpPr>
        <p:sp>
          <p:nvSpPr>
            <p:cNvPr id="26" name="Rectangle 26"/>
            <p:cNvSpPr/>
            <p:nvPr/>
          </p:nvSpPr>
          <p:spPr>
            <a:xfrm>
              <a:off x="729615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9615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17892" y="1892618"/>
              <a:ext cx="13177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④ 工具与 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9035" y="2555081"/>
              <a:ext cx="1315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@tool / bind_tools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9035" y="2802731"/>
              <a:ext cx="1504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create_agent 智能体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25000" y="1619250"/>
            <a:ext cx="2057400" cy="1905000"/>
            <a:chOff x="9525000" y="1619250"/>
            <a:chExt cx="2057400" cy="1905000"/>
          </a:xfrm>
        </p:grpSpPr>
        <p:sp>
          <p:nvSpPr>
            <p:cNvPr id="32" name="Rectangle 32"/>
            <p:cNvSpPr/>
            <p:nvPr/>
          </p:nvSpPr>
          <p:spPr>
            <a:xfrm>
              <a:off x="9525000" y="1619250"/>
              <a:ext cx="20574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525000" y="1619250"/>
              <a:ext cx="20574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46742" y="1892618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⑤ 记忆与可观测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7885" y="2555081"/>
              <a:ext cx="1321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Checkpointer 记忆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47885" y="2802731"/>
              <a:ext cx="1263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流式与 LangSmith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38" name="Rectangle 38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6018" y="4050982"/>
              <a:ext cx="5030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动手写一个带 RAG 的小项目，是最好的巩固方式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8304" y="4766310"/>
              <a:ext cx="3222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LangChain v1.0 入门教程 · 大模型应用开发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8304" y="4994910"/>
              <a:ext cx="41046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教育版入门讲义 ｜ 适用 LangChain 1.0 / Python 3.10+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9638" y="5541645"/>
              <a:ext cx="2031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官方文档 · 2026-09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4" name="TextBox 44"/>
            <p:cNvSpPr txBox="1"/>
            <p:nvPr/>
          </p:nvSpPr>
          <p:spPr>
            <a:xfrm>
              <a:off x="604838" y="6613684"/>
              <a:ext cx="10741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LangChain v1.0 入门教程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c_tut">
  <a:themeElements>
    <a:clrScheme name="lc_tu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c_tut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c_tu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2026-09-07T02:38:30Z</dcterms:created>
  <dcterms:modified xsi:type="dcterms:W3CDTF">2026-09-07T02:38:30Z</dcterms:modified>
  <cp:category/>
  <cp:contentStatus/>
</cp:coreProperties>
</file>