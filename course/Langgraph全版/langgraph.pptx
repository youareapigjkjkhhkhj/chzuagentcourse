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g_tu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g_tu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2209800"/>
            <a:ext cx="95250" cy="1981200"/>
          </a:xfrm>
          <a:prstGeom prst="rect">
            <a:avLst/>
          </a:prstGeom>
          <a:solidFill>
            <a:srgbClr val="E30613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895350" y="2295049"/>
            <a:ext cx="8219551" cy="1760696"/>
            <a:chOff x="895350" y="2295049"/>
            <a:chExt cx="8219551" cy="1760696"/>
          </a:xfrm>
        </p:grpSpPr>
        <p:sp>
          <p:nvSpPr>
            <p:cNvPr id="3" name="TextBox 3"/>
            <p:cNvSpPr txBox="1"/>
            <p:nvPr/>
          </p:nvSpPr>
          <p:spPr>
            <a:xfrm>
              <a:off x="909447" y="2295049"/>
              <a:ext cx="27010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225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EDUCATIONAL SERIES · 进阶版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5350" y="2708910"/>
              <a:ext cx="662919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LangGraph 最新实战教程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06780" y="3495675"/>
              <a:ext cx="82081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状态化 Agent 编排 · 从 StateGraph 到生产韧性（LangGraph 1.2 系列 · 2026-09 校准）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06780" y="3762375"/>
              <a:ext cx="69868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State · Nodes · Edges · Checkpointer · HITL · Streaming · Multi-Agent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4266" y="5943600"/>
            <a:ext cx="10983468" cy="358711"/>
            <a:chOff x="604266" y="5943600"/>
            <a:chExt cx="10983468" cy="358711"/>
          </a:xfrm>
        </p:grpSpPr>
        <p:sp>
          <p:nvSpPr>
            <p:cNvPr id="8" name="Line 8"/>
            <p:cNvSpPr/>
            <p:nvPr/>
          </p:nvSpPr>
          <p:spPr>
            <a:xfrm>
              <a:off x="609600" y="5943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4266" y="6096952"/>
              <a:ext cx="2501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LangGraph 实战教程 · 大模型应用开发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032865" y="6096952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2026-09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563624" cy="738854"/>
            <a:chOff x="595122" y="501491"/>
            <a:chExt cx="156362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5636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本讲目录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218" y="1898332"/>
            <a:ext cx="3425000" cy="322707"/>
            <a:chOff x="601218" y="1898332"/>
            <a:chExt cx="3425000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7280" y="1914525"/>
              <a:ext cx="29289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为什么用 LangGraph：编排定位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2431732"/>
            <a:ext cx="2924366" cy="322707"/>
            <a:chOff x="601218" y="2431732"/>
            <a:chExt cx="2924366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7280" y="2447925"/>
              <a:ext cx="24283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版本与安装：1.2 系列速览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1218" y="2965132"/>
            <a:ext cx="3467305" cy="322707"/>
            <a:chOff x="601218" y="2965132"/>
            <a:chExt cx="3467305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6012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7280" y="2981325"/>
              <a:ext cx="29712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核心心智：State · Node · Edge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1218" y="3498532"/>
            <a:ext cx="3231088" cy="322707"/>
            <a:chOff x="601218" y="3498532"/>
            <a:chExt cx="3231088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01218" y="34985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7280" y="3514725"/>
              <a:ext cx="27350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最小 Agent：从建图到 invoke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1218" y="4031932"/>
            <a:ext cx="3391716" cy="322707"/>
            <a:chOff x="601218" y="4031932"/>
            <a:chExt cx="3391716" cy="322707"/>
          </a:xfrm>
        </p:grpSpPr>
        <p:sp>
          <p:nvSpPr>
            <p:cNvPr id="18" name="TextBox 18"/>
            <p:cNvSpPr txBox="1"/>
            <p:nvPr/>
          </p:nvSpPr>
          <p:spPr>
            <a:xfrm>
              <a:off x="601218" y="40319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7280" y="4048125"/>
              <a:ext cx="28956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状态进阶：Reducer 与消息累加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1218" y="4565332"/>
            <a:ext cx="3791826" cy="322707"/>
            <a:chOff x="601218" y="4565332"/>
            <a:chExt cx="3791826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601218" y="4565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7280" y="4581525"/>
              <a:ext cx="32957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持久化：Checkpointer + thread_id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1218" y="5098732"/>
            <a:ext cx="3075813" cy="322707"/>
            <a:chOff x="601218" y="5098732"/>
            <a:chExt cx="3075813" cy="322707"/>
          </a:xfrm>
        </p:grpSpPr>
        <p:sp>
          <p:nvSpPr>
            <p:cNvPr id="24" name="TextBox 24"/>
            <p:cNvSpPr txBox="1"/>
            <p:nvPr/>
          </p:nvSpPr>
          <p:spPr>
            <a:xfrm>
              <a:off x="601218" y="5098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7280" y="5114925"/>
              <a:ext cx="25797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记忆体系：线程内 vs 跨线程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68618" y="1898332"/>
            <a:ext cx="3571232" cy="322707"/>
            <a:chOff x="6468618" y="1898332"/>
            <a:chExt cx="3571232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64686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64680" y="1914525"/>
              <a:ext cx="3075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人在回路：interrupt + Command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468618" y="2431732"/>
            <a:ext cx="2813304" cy="322707"/>
            <a:chOff x="6468618" y="2431732"/>
            <a:chExt cx="2813304" cy="322707"/>
          </a:xfrm>
        </p:grpSpPr>
        <p:sp>
          <p:nvSpPr>
            <p:cNvPr id="30" name="TextBox 30"/>
            <p:cNvSpPr txBox="1"/>
            <p:nvPr/>
          </p:nvSpPr>
          <p:spPr>
            <a:xfrm>
              <a:off x="64686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09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64680" y="2447925"/>
              <a:ext cx="23172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流式输出：类型安全流 v2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468618" y="2965132"/>
            <a:ext cx="2530602" cy="322707"/>
            <a:chOff x="6468618" y="2965132"/>
            <a:chExt cx="2530602" cy="322707"/>
          </a:xfrm>
        </p:grpSpPr>
        <p:sp>
          <p:nvSpPr>
            <p:cNvPr id="33" name="TextBox 33"/>
            <p:cNvSpPr txBox="1"/>
            <p:nvPr/>
          </p:nvSpPr>
          <p:spPr>
            <a:xfrm>
              <a:off x="64686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10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64680" y="29813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分支路由：条件边实战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468618" y="3498532"/>
            <a:ext cx="3217240" cy="322707"/>
            <a:chOff x="6468618" y="3498532"/>
            <a:chExt cx="3217240" cy="322707"/>
          </a:xfrm>
        </p:grpSpPr>
        <p:sp>
          <p:nvSpPr>
            <p:cNvPr id="36" name="TextBox 36"/>
            <p:cNvSpPr txBox="1"/>
            <p:nvPr/>
          </p:nvSpPr>
          <p:spPr>
            <a:xfrm>
              <a:off x="6468618" y="34985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11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64680" y="3514725"/>
              <a:ext cx="27211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子图与多 Agent：Supervisor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468618" y="4031932"/>
            <a:ext cx="2924366" cy="322707"/>
            <a:chOff x="6468618" y="4031932"/>
            <a:chExt cx="2924366" cy="322707"/>
          </a:xfrm>
        </p:grpSpPr>
        <p:sp>
          <p:nvSpPr>
            <p:cNvPr id="39" name="TextBox 39"/>
            <p:cNvSpPr txBox="1"/>
            <p:nvPr/>
          </p:nvSpPr>
          <p:spPr>
            <a:xfrm>
              <a:off x="6468618" y="40319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12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64680" y="4048125"/>
              <a:ext cx="24283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生产韧性：1.2 节点级容错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468618" y="4565332"/>
            <a:ext cx="3591020" cy="322707"/>
            <a:chOff x="6468618" y="4565332"/>
            <a:chExt cx="3591020" cy="322707"/>
          </a:xfrm>
        </p:grpSpPr>
        <p:sp>
          <p:nvSpPr>
            <p:cNvPr id="42" name="TextBox 42"/>
            <p:cNvSpPr txBox="1"/>
            <p:nvPr/>
          </p:nvSpPr>
          <p:spPr>
            <a:xfrm>
              <a:off x="6468618" y="4565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13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64680" y="4581525"/>
              <a:ext cx="30949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可观测与生态：LangSmith / MCP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468618" y="5098732"/>
            <a:ext cx="1924812" cy="322707"/>
            <a:chOff x="6468618" y="5098732"/>
            <a:chExt cx="1924812" cy="322707"/>
          </a:xfrm>
        </p:grpSpPr>
        <p:sp>
          <p:nvSpPr>
            <p:cNvPr id="45" name="TextBox 45"/>
            <p:cNvSpPr txBox="1"/>
            <p:nvPr/>
          </p:nvSpPr>
          <p:spPr>
            <a:xfrm>
              <a:off x="6468618" y="5098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14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64680" y="51149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学习路径与总结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8" name="TextBox 48"/>
            <p:cNvSpPr txBox="1"/>
            <p:nvPr/>
          </p:nvSpPr>
          <p:spPr>
            <a:xfrm>
              <a:off x="604838" y="6613684"/>
              <a:ext cx="1052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LangGraph 最新实战教程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112989" cy="738854"/>
            <a:chOff x="595122" y="501491"/>
            <a:chExt cx="411298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定位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11298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为什么用 LangGraph？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2000250"/>
            <a:chOff x="609600" y="1619250"/>
            <a:chExt cx="5257800" cy="200025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0938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LCEL 不够了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7888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单向管道适合固定链路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726531"/>
              <a:ext cx="23748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Agent 要循环 / 分支 / 暂停 / 恢复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7418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图是最自然的表达模型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24600" y="1619250"/>
            <a:ext cx="5257800" cy="2000250"/>
            <a:chOff x="6324600" y="1619250"/>
            <a:chExt cx="5257800" cy="200025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1323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状态 = 一等公民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2478881"/>
              <a:ext cx="20470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全局 State 在节点间显式流动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2726531"/>
              <a:ext cx="21901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reducer 控制覆盖 / 累加 / 合并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297418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每条边都是可审计的状态转移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9600" y="3810000"/>
            <a:ext cx="5257800" cy="2000250"/>
            <a:chOff x="609600" y="3810000"/>
            <a:chExt cx="5257800" cy="2000250"/>
          </a:xfrm>
        </p:grpSpPr>
        <p:sp>
          <p:nvSpPr>
            <p:cNvPr id="20" name="Rectangle 20"/>
            <p:cNvSpPr/>
            <p:nvPr/>
          </p:nvSpPr>
          <p:spPr>
            <a:xfrm>
              <a:off x="609600" y="3810000"/>
              <a:ext cx="52578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09600" y="381000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1342" y="4083368"/>
              <a:ext cx="1323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可中断 · 可恢复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2485" y="4669631"/>
              <a:ext cx="2079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Checkpointer 落盘每一步状态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2485" y="4917281"/>
              <a:ext cx="21675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断电 / 失败 / 人工审批都能续跑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2485" y="516493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长任务不再「一把梭」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324600" y="3810000"/>
            <a:ext cx="5257800" cy="2000250"/>
            <a:chOff x="6324600" y="3810000"/>
            <a:chExt cx="52578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324600" y="3810000"/>
              <a:ext cx="52578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324600" y="381000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46342" y="4083368"/>
              <a:ext cx="16800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人在回路 HITL 原生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47485" y="4669631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interrupt() 暂停等审批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47485" y="4917281"/>
              <a:ext cx="16149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Command 恢复继续执行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47485" y="5164931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企业治理 / 审批刚需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4" name="TextBox 34"/>
            <p:cNvSpPr txBox="1"/>
            <p:nvPr/>
          </p:nvSpPr>
          <p:spPr>
            <a:xfrm>
              <a:off x="604838" y="6613684"/>
              <a:ext cx="1052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LangGraph 最新实战教程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216077" cy="738854"/>
            <a:chOff x="595122" y="501491"/>
            <a:chExt cx="721607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版本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21607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LangGraph 版本演进（1.0 → 1.2 系列）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262674" y="3188018"/>
            <a:ext cx="11708003" cy="1456943"/>
            <a:chOff x="262674" y="3188018"/>
            <a:chExt cx="11708003" cy="1456943"/>
          </a:xfrm>
        </p:grpSpPr>
        <p:sp>
          <p:nvSpPr>
            <p:cNvPr id="6" name="Line 6"/>
            <p:cNvSpPr/>
            <p:nvPr/>
          </p:nvSpPr>
          <p:spPr>
            <a:xfrm>
              <a:off x="1371600" y="3810000"/>
              <a:ext cx="9448800" cy="9525"/>
            </a:xfrm>
            <a:custGeom>
              <a:avLst/>
              <a:gdLst/>
              <a:ahLst/>
              <a:cxnLst/>
              <a:rect l="l" t="t" r="r" b="b"/>
              <a:pathLst>
                <a:path w="9448800" h="9525">
                  <a:moveTo>
                    <a:pt x="0" y="0"/>
                  </a:moveTo>
                  <a:lnTo>
                    <a:pt x="9448800" y="0"/>
                  </a:lnTo>
                </a:path>
              </a:pathLst>
            </a:custGeom>
            <a:noFill/>
            <a:ln w="19050">
              <a:solidFill>
                <a:srgbClr val="999999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28587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97406" y="3188018"/>
              <a:ext cx="7483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2025-10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2674" y="4020502"/>
              <a:ext cx="22178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1.0 GA（与 LangChain 1.0 同期）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64312" y="4230052"/>
              <a:ext cx="14145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持久执行 / HITL 落地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1840" y="4439602"/>
              <a:ext cx="9595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Python ≥ 3.10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442912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140656" y="3188018"/>
              <a:ext cx="7483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2026-03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30348" y="4020502"/>
              <a:ext cx="56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1.1 发布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74120" y="4230052"/>
              <a:ext cx="20814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类型安全流与调用 version="v2"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66369" y="4439602"/>
              <a:ext cx="12969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create_supervisor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581900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93431" y="3188018"/>
              <a:ext cx="7483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2026-05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83123" y="4020502"/>
              <a:ext cx="56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1.2 发布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80956" y="4230052"/>
              <a:ext cx="21733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节点级超时 / 错误处理 / 优雅停机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02339" y="4439602"/>
              <a:ext cx="25305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DeltaChannel · streaming v3（beta）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10734675" y="3724275"/>
              <a:ext cx="171450" cy="171450"/>
            </a:xfrm>
            <a:prstGeom prst="ellipse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446206" y="3188018"/>
              <a:ext cx="7483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2026-09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07257" y="4020502"/>
              <a:ext cx="12262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当前稳定版 1.2.11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08634" y="4230052"/>
              <a:ext cx="2023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安装：pip install -U langgraph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670123" y="4439602"/>
              <a:ext cx="23005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无官方 2.0（本讲以 1.2 系列为准）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5715000"/>
            <a:ext cx="10972800" cy="571500"/>
            <a:chOff x="609600" y="5715000"/>
            <a:chExt cx="10972800" cy="571500"/>
          </a:xfrm>
        </p:grpSpPr>
        <p:sp>
          <p:nvSpPr>
            <p:cNvPr id="28" name="Rectangle 28"/>
            <p:cNvSpPr/>
            <p:nvPr/>
          </p:nvSpPr>
          <p:spPr>
            <a:xfrm>
              <a:off x="609600" y="5715000"/>
              <a:ext cx="10972800" cy="5715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9638" y="6017895"/>
              <a:ext cx="565967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来源：LangChain 官方 Changelog（docs.langchain.com）· PyPI langgraph 1.2.11 · 2026-09 核验。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1052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LangGraph 最新实战教程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4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829013" cy="738854"/>
            <a:chOff x="595122" y="501491"/>
            <a:chExt cx="582901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心智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82901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核心心智：State · Node · Edge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1047750" y="1905000"/>
            <a:ext cx="10172700" cy="3790950"/>
            <a:chOff x="1047750" y="1905000"/>
            <a:chExt cx="10172700" cy="3790950"/>
          </a:xfrm>
        </p:grpSpPr>
        <p:sp>
          <p:nvSpPr>
            <p:cNvPr id="6" name="Rectangle 6"/>
            <p:cNvSpPr/>
            <p:nvPr/>
          </p:nvSpPr>
          <p:spPr>
            <a:xfrm>
              <a:off x="1047750" y="1905000"/>
              <a:ext cx="10096500" cy="419100"/>
            </a:xfrm>
            <a:prstGeom prst="roundRect">
              <a:avLst>
                <a:gd name="adj" fmla="val 6818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961324" y="2052876"/>
              <a:ext cx="626935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LangGraph 应用 = State + Nodes + Edges（+ reducer）—— 一张可暂停 / 可恢复 / 可回放的状态机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47750" y="2533650"/>
              <a:ext cx="3200400" cy="142875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047750" y="2533650"/>
              <a:ext cx="3200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25067" y="2736056"/>
              <a:ext cx="12457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State · 全局状态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68436" y="3084195"/>
              <a:ext cx="13590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TypedDict 声明状态结构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50006" y="3350895"/>
              <a:ext cx="99588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节点只读写 State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76818" y="3617595"/>
              <a:ext cx="13422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图级共享，贯穿整条链路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33900" y="2533650"/>
              <a:ext cx="3200400" cy="142875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533900" y="2533650"/>
              <a:ext cx="3200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06550" y="2736056"/>
              <a:ext cx="8551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Node · 节点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11432" y="3084195"/>
              <a:ext cx="12453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普通函数 / async 函数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53971" y="3350895"/>
              <a:ext cx="17602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输入 state → 返回部分更新 dict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84126" y="3617595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一个节点只做一件事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020050" y="2533650"/>
              <a:ext cx="3200400" cy="142875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020050" y="2533650"/>
              <a:ext cx="3200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269154" y="2736056"/>
              <a:ext cx="7021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Edge · 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130856" y="3084195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普通边：固定流向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09698" y="33508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条件边：按返回值路由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78608" y="3617595"/>
              <a:ext cx="1283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可指向其它节点或 END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47750" y="4191000"/>
              <a:ext cx="6096000" cy="838200"/>
            </a:xfrm>
            <a:prstGeom prst="roundRect">
              <a:avLst>
                <a:gd name="adj" fmla="val 3409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047750" y="4191000"/>
              <a:ext cx="6096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454337" y="43634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最小可跑：四步成图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359385" y="4665345"/>
              <a:ext cx="347272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CCCCC"/>
                  </a:solidFill>
                  <a:latin typeface="Arial"/>
                  <a:ea typeface="Arial"/>
                  <a:cs typeface="Arial"/>
                </a:rPr>
                <a:t>StateGraph(State) → add_node() → add_edge() → compile()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334250" y="4191000"/>
              <a:ext cx="3810000" cy="838200"/>
            </a:xfrm>
            <a:prstGeom prst="roundRect">
              <a:avLst>
                <a:gd name="adj" fmla="val 3409"/>
              </a:avLst>
            </a:prstGeom>
            <a:solidFill>
              <a:srgbClr val="FFFFFF"/>
            </a:solidFill>
            <a:ln w="13335">
              <a:solidFill>
                <a:srgbClr val="E3061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660912" y="4344352"/>
              <a:ext cx="11566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Reducer（可选）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01503" y="4650343"/>
              <a:ext cx="2475494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决定同键冲突如何合并：覆盖 / 累加 / 追加消息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047750" y="5200650"/>
              <a:ext cx="10096500" cy="4953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11430">
              <a:solidFill>
                <a:srgbClr val="E30613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764124" y="5367576"/>
              <a:ext cx="466375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1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先定义 State，再决定谁能写它、写完去哪 —— 其余交给 LangGraph 运行时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6" name="TextBox 36"/>
            <p:cNvSpPr txBox="1"/>
            <p:nvPr/>
          </p:nvSpPr>
          <p:spPr>
            <a:xfrm>
              <a:off x="604838" y="6613684"/>
              <a:ext cx="1052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LangGraph 最新实战教程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5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319954" cy="738854"/>
            <a:chOff x="595122" y="501491"/>
            <a:chExt cx="531995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最小实战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31995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最小 Agent：从建图到 invoke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609600" y="1581150"/>
            <a:ext cx="5334000" cy="4476750"/>
            <a:chOff x="609600" y="1581150"/>
            <a:chExt cx="5334000" cy="4476750"/>
          </a:xfrm>
        </p:grpSpPr>
        <p:sp>
          <p:nvSpPr>
            <p:cNvPr id="6" name="Rectangle 6"/>
            <p:cNvSpPr/>
            <p:nvPr/>
          </p:nvSpPr>
          <p:spPr>
            <a:xfrm>
              <a:off x="609600" y="1581150"/>
              <a:ext cx="5334000" cy="4476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81150"/>
              <a:ext cx="5334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3438" y="1864995"/>
              <a:ext cx="15042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python · StateGraph 四步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8200" y="207645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3438" y="2108597"/>
              <a:ext cx="182728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from typing import TypedDict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3438" y="2308622"/>
              <a:ext cx="336321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from langgraph.graph import StateGraph, START, END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3438" y="2708672"/>
              <a:ext cx="152884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class State(TypedDict):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0612" y="2908697"/>
              <a:ext cx="64223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count: int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3438" y="3308747"/>
              <a:ext cx="226095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def plus_one(state: State) -&gt; dict: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0612" y="3508772"/>
              <a:ext cx="238853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return {"count": state["count"] + 1}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3438" y="3908822"/>
              <a:ext cx="177567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builder = StateGraph(State)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3438" y="4108847"/>
              <a:ext cx="249609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builder.add_node("plus_one", plus_one)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3438" y="4308872"/>
              <a:ext cx="234407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builder.add_edge(START, "plus_one")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3438" y="4508897"/>
              <a:ext cx="219508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builder.add_edge("plus_one", END)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3438" y="4708922"/>
              <a:ext cx="144578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app = builder.compile()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3438" y="4908947"/>
              <a:ext cx="207217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print(app.invoke({"count": 0}))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3438" y="5108972"/>
              <a:ext cx="10977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999999"/>
                  </a:solidFill>
                  <a:latin typeface="Consolas"/>
                  <a:ea typeface="Consolas"/>
                  <a:cs typeface="Consolas"/>
                </a:rPr>
                <a:t># -&gt; {"count": 1}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324600" y="1581150"/>
            <a:ext cx="5257800" cy="4476750"/>
            <a:chOff x="6324600" y="1581150"/>
            <a:chExt cx="5257800" cy="4476750"/>
          </a:xfrm>
        </p:grpSpPr>
        <p:sp>
          <p:nvSpPr>
            <p:cNvPr id="24" name="Rectangle 24"/>
            <p:cNvSpPr/>
            <p:nvPr/>
          </p:nvSpPr>
          <p:spPr>
            <a:xfrm>
              <a:off x="6324600" y="1581150"/>
              <a:ext cx="5257800" cy="44767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324600" y="15811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46342" y="1854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快速要点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553200" y="3105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18935" y="3078956"/>
              <a:ext cx="24822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State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TypedDict 定义全局状态结构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553200" y="3429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18935" y="3402806"/>
              <a:ext cx="28675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Node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函数输入 state，返回部分更新 dict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553200" y="3752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18935" y="3726656"/>
              <a:ext cx="2929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add_edge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固定流向：START → node → END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553200" y="40767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18935" y="4050506"/>
              <a:ext cx="39830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compile / invoke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编译后 runnable；invoke 传初始 State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553200" y="44005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18935" y="4374356"/>
              <a:ext cx="24690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节点只写自己的键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其余字段原样保留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553200" y="47244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18935" y="4698206"/>
              <a:ext cx="3320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先跑通再叠加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reducer / checkpointer 后续再加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0" name="TextBox 40"/>
            <p:cNvSpPr txBox="1"/>
            <p:nvPr/>
          </p:nvSpPr>
          <p:spPr>
            <a:xfrm>
              <a:off x="604838" y="6613684"/>
              <a:ext cx="1052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LangGraph 最新实战教程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6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073396" cy="738854"/>
            <a:chOff x="595122" y="501491"/>
            <a:chExt cx="507339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状态进阶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07339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Reducer：同键冲突如何合并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09600" y="1581150"/>
            <a:ext cx="5334000" cy="4476750"/>
            <a:chOff x="609600" y="1581150"/>
            <a:chExt cx="5334000" cy="4476750"/>
          </a:xfrm>
        </p:grpSpPr>
        <p:sp>
          <p:nvSpPr>
            <p:cNvPr id="6" name="Rectangle 6"/>
            <p:cNvSpPr/>
            <p:nvPr/>
          </p:nvSpPr>
          <p:spPr>
            <a:xfrm>
              <a:off x="609600" y="1581150"/>
              <a:ext cx="5334000" cy="4476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81150"/>
              <a:ext cx="5334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3438" y="1864995"/>
              <a:ext cx="12938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python · 累加 reducer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8200" y="207645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3438" y="2108597"/>
              <a:ext cx="256573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from typing import Annotated, TypedDict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3438" y="2308622"/>
              <a:ext cx="160396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from operator import add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3438" y="2708672"/>
              <a:ext cx="152884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class State(TypedDict):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0612" y="2908697"/>
              <a:ext cx="235084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total: Annotated[int, add] # 累加合并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3438" y="3308747"/>
              <a:ext cx="215360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def node_x(state: State) -&gt; dict: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0612" y="3508772"/>
              <a:ext cx="123699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return {"total": 3}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3438" y="3908822"/>
              <a:ext cx="215360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def node_y(state: State) -&gt; dict: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0612" y="4108847"/>
              <a:ext cx="123699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return {"total": 5}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3438" y="4508897"/>
              <a:ext cx="187603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# 并行节点都写 total → 3 + 5 = 8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3438" y="4708922"/>
              <a:ext cx="125597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# （而不是后写覆盖）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3438" y="4908947"/>
              <a:ext cx="206584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# 消息列表则用 add_messages 追加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324600" y="1581150"/>
            <a:ext cx="5257800" cy="4476750"/>
            <a:chOff x="6324600" y="1581150"/>
            <a:chExt cx="5257800" cy="4476750"/>
          </a:xfrm>
        </p:grpSpPr>
        <p:sp>
          <p:nvSpPr>
            <p:cNvPr id="22" name="Rectangle 22"/>
            <p:cNvSpPr/>
            <p:nvPr/>
          </p:nvSpPr>
          <p:spPr>
            <a:xfrm>
              <a:off x="6324600" y="1581150"/>
              <a:ext cx="5257800" cy="44767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324600" y="15811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46342" y="1854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快速要点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53200" y="3105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18935" y="3078956"/>
              <a:ext cx="28557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无 reducer = 覆盖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同键最后一次写入生效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553200" y="3429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18935" y="3402806"/>
              <a:ext cx="27600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operator.add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数值并行累加（如上例）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553200" y="3752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18935" y="3726656"/>
              <a:ext cx="30932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add_messages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消息列表自动拼接（含配对）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553200" y="40767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18935" y="4050506"/>
              <a:ext cx="37222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自定义 reducer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Annotated[key, my_func] 自定合并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553200" y="44005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18935" y="4374356"/>
              <a:ext cx="26424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典型场景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并行分支写同一键 / 消息历史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553200" y="47244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18935" y="4698206"/>
              <a:ext cx="26626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State 设计原则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只放跨节点共享的数据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8" name="TextBox 38"/>
            <p:cNvSpPr txBox="1"/>
            <p:nvPr/>
          </p:nvSpPr>
          <p:spPr>
            <a:xfrm>
              <a:off x="604838" y="6613684"/>
              <a:ext cx="1052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LangGraph 最新实战教程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7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881404" cy="738854"/>
            <a:chOff x="595122" y="501491"/>
            <a:chExt cx="688140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06 · 持久化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88140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Checkpointer + thread_id：会话续跑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609600" y="1581150"/>
            <a:ext cx="5334000" cy="4476750"/>
            <a:chOff x="609600" y="1581150"/>
            <a:chExt cx="5334000" cy="4476750"/>
          </a:xfrm>
        </p:grpSpPr>
        <p:sp>
          <p:nvSpPr>
            <p:cNvPr id="6" name="Rectangle 6"/>
            <p:cNvSpPr/>
            <p:nvPr/>
          </p:nvSpPr>
          <p:spPr>
            <a:xfrm>
              <a:off x="609600" y="1581150"/>
              <a:ext cx="5334000" cy="4476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81150"/>
              <a:ext cx="5334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3438" y="1864995"/>
              <a:ext cx="11544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python · 持久化记忆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8200" y="207645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3438" y="2108597"/>
              <a:ext cx="329561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from langchain_core.messages import HumanMessage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3438" y="2308622"/>
              <a:ext cx="364145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from langgraph.checkpoint.memory import InMemorySaver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3438" y="2708672"/>
              <a:ext cx="221329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# builder 为前页编译前的 StateGraph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3438" y="2908697"/>
              <a:ext cx="203522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checkpointer = InMemorySaver()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3438" y="3108722"/>
              <a:ext cx="312247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app = builder.compile(checkpointer=checkpointer)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3438" y="3508772"/>
              <a:ext cx="302757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config = {"configurable": {"thread_id": "u-1"}}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3438" y="3908822"/>
              <a:ext cx="257834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# 同一 thread_id 连续两轮 → 自动记得上一轮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3438" y="4108847"/>
              <a:ext cx="74347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app.invoke(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0612" y="4308872"/>
              <a:ext cx="342779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{"messages": [HumanMessage(content="我叫小明")]},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0612" y="4508897"/>
              <a:ext cx="46507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config,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3438" y="4708922"/>
              <a:ext cx="7912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3438" y="4908947"/>
              <a:ext cx="74347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app.invoke(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0612" y="5108972"/>
              <a:ext cx="355487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{"messages": [HumanMessage(content="我叫什么？")]},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0612" y="5308997"/>
              <a:ext cx="46507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config,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3438" y="5509022"/>
              <a:ext cx="7912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324600" y="1581150"/>
            <a:ext cx="5257800" cy="4476750"/>
            <a:chOff x="6324600" y="1581150"/>
            <a:chExt cx="5257800" cy="4476750"/>
          </a:xfrm>
        </p:grpSpPr>
        <p:sp>
          <p:nvSpPr>
            <p:cNvPr id="26" name="Rectangle 26"/>
            <p:cNvSpPr/>
            <p:nvPr/>
          </p:nvSpPr>
          <p:spPr>
            <a:xfrm>
              <a:off x="6324600" y="1581150"/>
              <a:ext cx="5257800" cy="44767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324600" y="15811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46342" y="1854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快速要点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553200" y="3105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18935" y="3078956"/>
              <a:ext cx="3479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compile(checkpointer=…)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持久化开关，一参即开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553200" y="3429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18935" y="3402806"/>
              <a:ext cx="29221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thread_id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会话隔离键：同 ID = 同一会话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553200" y="3752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18935" y="3726656"/>
              <a:ext cx="3489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InMemorySaver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进程内记忆，重启即丢（演示用）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553200" y="40767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18935" y="4050506"/>
              <a:ext cx="27681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生产后端</a:t>
              </a:r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 xml:space="preserve"> PostgresSaver / SqliteSaver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553200" y="44005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18935" y="4374356"/>
              <a:ext cx="2333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数据边界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thread_id 须 &lt; 255 字符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553200" y="47244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18935" y="4698206"/>
              <a:ext cx="26592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搭配 Store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跨线程长期记忆（见下页）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2" name="TextBox 42"/>
            <p:cNvSpPr txBox="1"/>
            <p:nvPr/>
          </p:nvSpPr>
          <p:spPr>
            <a:xfrm>
              <a:off x="604838" y="6613684"/>
              <a:ext cx="1052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LangGraph 最新实战教程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8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8894296" cy="738854"/>
            <a:chOff x="595122" y="501491"/>
            <a:chExt cx="889429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记忆体系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889429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两种记忆：线程内 Checkpointer vs 跨线程 Store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25472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Checkpointer · 短程线程记忆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31623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3935" y="3136106"/>
              <a:ext cx="25595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作用域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单条 thread 内（thread_id）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3935" y="3459956"/>
              <a:ext cx="23182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存什么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图的完整状态快照（每步）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3935" y="3783806"/>
              <a:ext cx="2814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能力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会话连续 / HITL / 时间旅行 / 容错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38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3935" y="4107656"/>
              <a:ext cx="293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后端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InMemorySaver / PostgresSaver 等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8200" y="44577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03935" y="443150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读法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graph.get_state(config) 随时查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20" name="Rectangle 20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46342" y="1892618"/>
              <a:ext cx="20529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Store · 长程跨线程记忆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53200" y="31623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18935" y="3136106"/>
              <a:ext cx="21071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作用域</a:t>
              </a:r>
              <a:r>
                <a:rPr lang="zh-CN" sz="11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 xml:space="preserve"> 跨 thread、跨会话共享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53200" y="3486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18935" y="3459956"/>
              <a:ext cx="2793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存什么</a:t>
              </a:r>
              <a:r>
                <a:rPr lang="zh-CN" sz="11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 xml:space="preserve"> 应用自定义键值：用户偏好 / 事实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553200" y="3810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18935" y="3783806"/>
              <a:ext cx="20393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能力</a:t>
              </a:r>
              <a:r>
                <a:rPr lang="zh-CN" sz="11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 xml:space="preserve"> 长期知识 + 跨图边界共享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553200" y="4133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18935" y="4107656"/>
              <a:ext cx="27251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后端</a:t>
              </a:r>
              <a:r>
                <a:rPr lang="zh-CN" sz="11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 xml:space="preserve"> InMemoryStore / 各类持久 Store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553200" y="44577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18935" y="4431506"/>
              <a:ext cx="29062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用法</a:t>
              </a:r>
              <a:r>
                <a:rPr lang="zh-CN" sz="11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 xml:space="preserve"> builder.compile(store=store) 同开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4" name="TextBox 34"/>
            <p:cNvSpPr txBox="1"/>
            <p:nvPr/>
          </p:nvSpPr>
          <p:spPr>
            <a:xfrm>
              <a:off x="604838" y="6613684"/>
              <a:ext cx="1052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LangGraph 最新实战教程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9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341093" cy="738854"/>
            <a:chOff x="595122" y="501491"/>
            <a:chExt cx="534109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08 · 人在回路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3410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HITL：interrupt + Command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09600" y="1581150"/>
            <a:ext cx="5334000" cy="4476750"/>
            <a:chOff x="609600" y="1581150"/>
            <a:chExt cx="5334000" cy="4476750"/>
          </a:xfrm>
        </p:grpSpPr>
        <p:sp>
          <p:nvSpPr>
            <p:cNvPr id="6" name="Rectangle 6"/>
            <p:cNvSpPr/>
            <p:nvPr/>
          </p:nvSpPr>
          <p:spPr>
            <a:xfrm>
              <a:off x="609600" y="1581150"/>
              <a:ext cx="5334000" cy="4476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81150"/>
              <a:ext cx="5334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3438" y="1864995"/>
              <a:ext cx="11544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python · 暂停等审批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8200" y="207645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3438" y="2108597"/>
              <a:ext cx="309520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from langgraph.types import interrupt, Command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3438" y="2508647"/>
              <a:ext cx="214659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def approval_node(state: State):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0612" y="2708672"/>
              <a:ext cx="188868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# 运行到此处暂停，等待外部输入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0612" y="2908697"/>
              <a:ext cx="137618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approved = interrupt(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47788" y="3108722"/>
              <a:ext cx="219871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{"question": "是否批准这笔支付？",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14462" y="3308747"/>
              <a:ext cx="104717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"amount": 1000}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0612" y="3508772"/>
              <a:ext cx="7912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0612" y="3708797"/>
              <a:ext cx="313385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return Command(update={"approved": approved})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3438" y="4108847"/>
              <a:ext cx="192664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# 初次运行：在 interrupt 处暂停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3438" y="4308872"/>
              <a:ext cx="215442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result = app.invoke(input, config)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3438" y="4708922"/>
              <a:ext cx="274681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# 人工答复后，同一 thread_id + Command 续跑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3438" y="4908947"/>
              <a:ext cx="331578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result = app.invoke(Command(resume=True), config)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324600" y="1581150"/>
            <a:ext cx="5257800" cy="4476750"/>
            <a:chOff x="6324600" y="1581150"/>
            <a:chExt cx="5257800" cy="4476750"/>
          </a:xfrm>
        </p:grpSpPr>
        <p:sp>
          <p:nvSpPr>
            <p:cNvPr id="23" name="Rectangle 23"/>
            <p:cNvSpPr/>
            <p:nvPr/>
          </p:nvSpPr>
          <p:spPr>
            <a:xfrm>
              <a:off x="6324600" y="1581150"/>
              <a:ext cx="5257800" cy="44767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324600" y="15811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46342" y="1854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快速要点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553200" y="3105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18935" y="3078956"/>
              <a:ext cx="307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interrupt()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节点内暂停，payload 抛给外部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553200" y="3429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18935" y="3402806"/>
              <a:ext cx="3297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Command(resume=…)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外部答复作为返回值继续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553200" y="3752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18935" y="3726656"/>
              <a:ext cx="3245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前提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必须 compile(checkpointer) + thread_id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553200" y="40767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18935" y="4050506"/>
              <a:ext cx="31675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payload 可序列化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JSON 安全：字符串 / 字典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553200" y="44005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18935" y="4374356"/>
              <a:ext cx="35380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勿 try/except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interrupt 靠异常暂停，吞掉会失效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553200" y="47244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18935" y="4698206"/>
              <a:ext cx="30536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勿重排/跳过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恢复按 interrupt 出现顺序匹配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9" name="TextBox 39"/>
            <p:cNvSpPr txBox="1"/>
            <p:nvPr/>
          </p:nvSpPr>
          <p:spPr>
            <a:xfrm>
              <a:off x="604838" y="6613684"/>
              <a:ext cx="1052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LangGraph 最新实战教程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10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429616" cy="738854"/>
            <a:chOff x="595122" y="501491"/>
            <a:chExt cx="442961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09 · 流式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42961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流式输出：类型安全流 v2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09600" y="1581150"/>
            <a:ext cx="5334000" cy="4476750"/>
            <a:chOff x="609600" y="1581150"/>
            <a:chExt cx="5334000" cy="4476750"/>
          </a:xfrm>
        </p:grpSpPr>
        <p:sp>
          <p:nvSpPr>
            <p:cNvPr id="6" name="Rectangle 6"/>
            <p:cNvSpPr/>
            <p:nvPr/>
          </p:nvSpPr>
          <p:spPr>
            <a:xfrm>
              <a:off x="609600" y="1581150"/>
              <a:ext cx="5334000" cy="4476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81150"/>
              <a:ext cx="5334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3438" y="1864995"/>
              <a:ext cx="13180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999999"/>
                  </a:solidFill>
                  <a:latin typeface="Consolas"/>
                  <a:ea typeface="Consolas"/>
                  <a:cs typeface="Consolas"/>
                </a:rPr>
                <a:t>python · version="v2"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8200" y="207645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3438" y="2108597"/>
              <a:ext cx="270669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# 1.1+：stream 每个 chunk 统一 StreamPart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3438" y="2308622"/>
              <a:ext cx="343883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for chunk in app.stream(input, config, version="v2"):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0612" y="2508647"/>
              <a:ext cx="232982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print(chunk.type) # StreamPart 类型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0612" y="2708672"/>
              <a:ext cx="243282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print(chunk.ns) # 命名空间（子图路径）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0612" y="2908697"/>
              <a:ext cx="233029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print(chunk.data) # 各模式 TypedDict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3438" y="3308747"/>
              <a:ext cx="204132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# 1.1+：invoke 返回 GraphOutput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3438" y="3508772"/>
              <a:ext cx="288837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out = app.invoke(input, config, version="v2")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3438" y="3708797"/>
              <a:ext cx="209115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print(out.value) # 类型化最终状态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3438" y="3908822"/>
              <a:ext cx="231260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print(out.interrupts) # 未决中断列表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324600" y="1581150"/>
            <a:ext cx="5257800" cy="4476750"/>
            <a:chOff x="6324600" y="1581150"/>
            <a:chExt cx="5257800" cy="4476750"/>
          </a:xfrm>
        </p:grpSpPr>
        <p:sp>
          <p:nvSpPr>
            <p:cNvPr id="20" name="Rectangle 20"/>
            <p:cNvSpPr/>
            <p:nvPr/>
          </p:nvSpPr>
          <p:spPr>
            <a:xfrm>
              <a:off x="6324600" y="1581150"/>
              <a:ext cx="5257800" cy="44767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324600" y="15811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46342" y="1854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快速要点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53200" y="3105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18935" y="3078956"/>
              <a:ext cx="29444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StreamPart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type / ns / data 统一三字段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53200" y="3429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18935" y="3402806"/>
              <a:ext cx="36324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模式各自 TypedDict</a:t>
              </a:r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 xml:space="preserve"> messages / values / updates…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553200" y="3752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18935" y="3726656"/>
              <a:ext cx="37099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GraphOutput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.value 类型化 · .interrupts 未决中断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553200" y="40767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18935" y="4050506"/>
              <a:ext cx="24382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打字机 UI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逐 token 渲染，告别转圈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553200" y="44005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18935" y="4374356"/>
              <a:ext cx="22504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向后兼容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老版 dict 键访问仍可用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553200" y="47244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18935" y="4698206"/>
              <a:ext cx="38052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1.2 streaming v3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内容块级投影（beta，可暂不深入）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6" name="TextBox 36"/>
            <p:cNvSpPr txBox="1"/>
            <p:nvPr/>
          </p:nvSpPr>
          <p:spPr>
            <a:xfrm>
              <a:off x="604838" y="6613684"/>
              <a:ext cx="1052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LangGraph 最新实战教程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11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763653" cy="738854"/>
            <a:chOff x="595122" y="501491"/>
            <a:chExt cx="476365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42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10 · 条件边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76365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分支路由：Agent 循环实战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609600" y="1581150"/>
            <a:ext cx="5334000" cy="4476750"/>
            <a:chOff x="609600" y="1581150"/>
            <a:chExt cx="5334000" cy="4476750"/>
          </a:xfrm>
        </p:grpSpPr>
        <p:sp>
          <p:nvSpPr>
            <p:cNvPr id="6" name="Rectangle 6"/>
            <p:cNvSpPr/>
            <p:nvPr/>
          </p:nvSpPr>
          <p:spPr>
            <a:xfrm>
              <a:off x="609600" y="1581150"/>
              <a:ext cx="5334000" cy="4476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81150"/>
              <a:ext cx="5334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3438" y="1864995"/>
              <a:ext cx="10333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python · 条件路由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8200" y="207645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3438" y="2108597"/>
              <a:ext cx="204601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def route(state: State) -&gt; str: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0612" y="2308622"/>
              <a:ext cx="144578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if state["need_tool"]: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47788" y="2508647"/>
              <a:ext cx="92063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return "tools"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0612" y="2708672"/>
              <a:ext cx="6864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return END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3438" y="3108722"/>
              <a:ext cx="242649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builder.add_node("agent", call_agent)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3438" y="3308747"/>
              <a:ext cx="235689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builder.add_node("tools", run_tools)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3438" y="3708797"/>
              <a:ext cx="186836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# 条件边：agent → tools 或 END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3438" y="3908822"/>
              <a:ext cx="193930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builder.add_conditional_edges(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0612" y="4108847"/>
              <a:ext cx="56631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"agent",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0612" y="4308872"/>
              <a:ext cx="42711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route,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0612" y="4508897"/>
              <a:ext cx="190918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{"tools": "tools", END: END},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3438" y="4708922"/>
              <a:ext cx="7912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3438" y="4908947"/>
              <a:ext cx="264794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builder.add_edge("tools", "agent") # 回环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324600" y="1581150"/>
            <a:ext cx="5257800" cy="4476750"/>
            <a:chOff x="6324600" y="1581150"/>
            <a:chExt cx="5257800" cy="4476750"/>
          </a:xfrm>
        </p:grpSpPr>
        <p:sp>
          <p:nvSpPr>
            <p:cNvPr id="24" name="Rectangle 24"/>
            <p:cNvSpPr/>
            <p:nvPr/>
          </p:nvSpPr>
          <p:spPr>
            <a:xfrm>
              <a:off x="6324600" y="1581150"/>
              <a:ext cx="5257800" cy="44767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324600" y="15811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46342" y="1854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快速要点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553200" y="3105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18935" y="3078956"/>
              <a:ext cx="3326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route(state)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纯函数：返回下一节点名或 END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553200" y="3429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18935" y="3402806"/>
              <a:ext cx="26224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path map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返回值 → 实际节点 的映射表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553200" y="3752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18935" y="3726656"/>
              <a:ext cx="26436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agent ⇄ tools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标准 ReAct / 工具循环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553200" y="40767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18935" y="4050506"/>
              <a:ext cx="2634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防死循环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叠加最大步数 / 1.2 节点超时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553200" y="44005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18935" y="4374356"/>
              <a:ext cx="26198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可测试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路由逻辑独立成函数，直接单测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553200" y="47244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18935" y="4698206"/>
              <a:ext cx="21675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复杂分支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同节点可挂多条条件边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0" name="TextBox 40"/>
            <p:cNvSpPr txBox="1"/>
            <p:nvPr/>
          </p:nvSpPr>
          <p:spPr>
            <a:xfrm>
              <a:off x="604838" y="6613684"/>
              <a:ext cx="1052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LangGraph 最新实战教程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12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612117" cy="738854"/>
            <a:chOff x="595122" y="501491"/>
            <a:chExt cx="661211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9670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11 · 多 Agent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61211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子图与 Supervisor：扩展到多 Agent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960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子图 = 节点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一张已编译图可作为节点嵌入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20468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add_node("sub", subgraph)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封装复杂子流程，图内套图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14443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Supervisor 模式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1541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中心协调者分派 / 汇总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25218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1.1 起 create_supervisor 顶层构造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20921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worker 只干一件事，成果回传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边界与状态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31256"/>
              <a:ext cx="22504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子图有独立 checkpoint 命名空间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67890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父图不即时见子图更新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26556"/>
              <a:ext cx="27204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跨边界共享用 Store 或写父 checkpoint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6018" y="4050982"/>
              <a:ext cx="66475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多 Agent 的工程要点：先明确「谁拥有哪段状态」，再谈协作拓扑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4947285"/>
              <a:ext cx="67450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来源：LangGraph Persistence 官方文档（state access across subgraph boundaries）。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1" name="TextBox 31"/>
            <p:cNvSpPr txBox="1"/>
            <p:nvPr/>
          </p:nvSpPr>
          <p:spPr>
            <a:xfrm>
              <a:off x="604838" y="6613684"/>
              <a:ext cx="1052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LangGraph 最新实战教程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13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112408" cy="738854"/>
            <a:chOff x="595122" y="501491"/>
            <a:chExt cx="711240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12 · 生产韧性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11240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1.2 节点级容错：超时 · 补偿 · 优雅停机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609600" y="1581150"/>
            <a:ext cx="5334000" cy="4476750"/>
            <a:chOff x="609600" y="1581150"/>
            <a:chExt cx="5334000" cy="4476750"/>
          </a:xfrm>
        </p:grpSpPr>
        <p:sp>
          <p:nvSpPr>
            <p:cNvPr id="6" name="Rectangle 6"/>
            <p:cNvSpPr/>
            <p:nvPr/>
          </p:nvSpPr>
          <p:spPr>
            <a:xfrm>
              <a:off x="609600" y="1581150"/>
              <a:ext cx="5334000" cy="4476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81150"/>
              <a:ext cx="5334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3438" y="1864995"/>
              <a:ext cx="13950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999999"/>
                  </a:solidFill>
                  <a:latin typeface="Consolas"/>
                  <a:ea typeface="Consolas"/>
                  <a:cs typeface="Consolas"/>
                </a:rPr>
                <a:t>python · LangGraph 1.2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8200" y="207645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3438" y="2108597"/>
              <a:ext cx="351222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from langgraph.types import TimeoutPolicy, RetryPolicy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3438" y="2508647"/>
              <a:ext cx="228573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async def call_model(state: State):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0612" y="2708672"/>
              <a:ext cx="273019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# 流式调用：有 token 输出时 idle 计时自动重置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0612" y="2908697"/>
              <a:ext cx="143313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return {"messages": [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47788" y="3108722"/>
              <a:ext cx="250241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await llm.ainvoke(state["messages"]),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0612" y="3308747"/>
              <a:ext cx="14872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]}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3438" y="3708797"/>
              <a:ext cx="112942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builder.add_node(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0612" y="3908822"/>
              <a:ext cx="157865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"call_model", call_model,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0612" y="4108847"/>
              <a:ext cx="147300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timeout=TimeoutPolicy(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47788" y="4308872"/>
              <a:ext cx="196461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run_timeout=90.0, # 墙钟硬上限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47788" y="4508897"/>
              <a:ext cx="184439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idle_timeout=15.0, # 空闲超时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0612" y="4708922"/>
              <a:ext cx="14872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),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0612" y="4908947"/>
              <a:ext cx="279666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retry_policy=RetryPolicy(max_attempts=3),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0612" y="5108972"/>
              <a:ext cx="248343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error_handler=recover, # 重试耗尽→补偿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3438" y="5308997"/>
              <a:ext cx="7912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324600" y="1581150"/>
            <a:ext cx="5257800" cy="4476750"/>
            <a:chOff x="6324600" y="1581150"/>
            <a:chExt cx="5257800" cy="4476750"/>
          </a:xfrm>
        </p:grpSpPr>
        <p:sp>
          <p:nvSpPr>
            <p:cNvPr id="26" name="Rectangle 26"/>
            <p:cNvSpPr/>
            <p:nvPr/>
          </p:nvSpPr>
          <p:spPr>
            <a:xfrm>
              <a:off x="6324600" y="1581150"/>
              <a:ext cx="5257800" cy="44767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324600" y="15811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46342" y="1854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快速要点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553200" y="3105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18935" y="3078956"/>
              <a:ext cx="2363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run_timeout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单次执行墙钟硬上限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553200" y="3429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18935" y="3402806"/>
              <a:ext cx="28237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idle_timeout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空闲判定：有产出自动重置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553200" y="3752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18935" y="3726656"/>
              <a:ext cx="32254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Python-only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超时 / 错误处理器目前仅 Python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553200" y="40767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18935" y="4050506"/>
              <a:ext cx="33668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error_handler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重试耗尽后跑补偿（Saga 模式）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553200" y="44005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18935" y="4374356"/>
              <a:ext cx="33548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RunControl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request_drain() 优雅停机留检查点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553200" y="47244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18935" y="4698206"/>
              <a:ext cx="35154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DeltaChannel(beta)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增量快照，降长线程存储开销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2" name="TextBox 42"/>
            <p:cNvSpPr txBox="1"/>
            <p:nvPr/>
          </p:nvSpPr>
          <p:spPr>
            <a:xfrm>
              <a:off x="604838" y="6613684"/>
              <a:ext cx="1052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LangGraph 最新实战教程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14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035543" cy="738854"/>
            <a:chOff x="595122" y="501491"/>
            <a:chExt cx="603554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13 · 生态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03554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可观测与生态：LangSmith / MCP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5705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LangSmith 可观测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21750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图级 trace：节点 / 状态 / 耗时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数据集评测，防回归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7845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生产监控与 Studio 可视化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12153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MCP 工具接入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31256"/>
              <a:ext cx="14850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工具接入的 USB 标准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678906"/>
              <a:ext cx="24841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langchain v1.4 内置 langchain.mcp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26556"/>
              <a:ext cx="18014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FastMCP 定义 / 暴露工具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17521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Agent 高层 API 归位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307431"/>
              <a:ext cx="18885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langgraph.prebuilt 已废弃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555081"/>
              <a:ext cx="28446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高层 Agent：langchain.agents.create_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80273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agent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76285" y="3050381"/>
              <a:ext cx="20343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LangGraph 专注底层编排控制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8" name="Rectangle 28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6018" y="4050982"/>
              <a:ext cx="74980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2026 分工：LangChain 管组件 · LangGraph 管编排 · LangSmith 管观测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8304" y="4947285"/>
              <a:ext cx="72721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来源：LangChain 官方 Changelog（langchain v1.4.0，2026-09-01）· LangGraph 1.0 迁移指南。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2" name="TextBox 32"/>
            <p:cNvSpPr txBox="1"/>
            <p:nvPr/>
          </p:nvSpPr>
          <p:spPr>
            <a:xfrm>
              <a:off x="604838" y="6613684"/>
              <a:ext cx="1052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LangGraph 最新实战教程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15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714625" cy="738854"/>
            <a:chOff x="595122" y="501491"/>
            <a:chExt cx="271462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14 · 总结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学习路径与总结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2057400" cy="1905000"/>
            <a:chOff x="609600" y="1619250"/>
            <a:chExt cx="20574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20574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2057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① 建图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555081"/>
              <a:ext cx="12007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StateGraph 四步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802731"/>
              <a:ext cx="14548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State / Node / Edge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838450" y="1619250"/>
            <a:ext cx="2057400" cy="1905000"/>
            <a:chOff x="2838450" y="1619250"/>
            <a:chExt cx="2057400" cy="1905000"/>
          </a:xfrm>
        </p:grpSpPr>
        <p:sp>
          <p:nvSpPr>
            <p:cNvPr id="12" name="Rectangle 12"/>
            <p:cNvSpPr/>
            <p:nvPr/>
          </p:nvSpPr>
          <p:spPr>
            <a:xfrm>
              <a:off x="2838450" y="1619250"/>
              <a:ext cx="20574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838450" y="1619250"/>
              <a:ext cx="2057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060192" y="189261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② 状态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61335" y="2431256"/>
              <a:ext cx="12501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Reducer 合并规则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61335" y="2678906"/>
              <a:ext cx="16021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消息累加 add_message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61335" y="2926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067300" y="1619250"/>
            <a:ext cx="2057400" cy="1905000"/>
            <a:chOff x="5067300" y="1619250"/>
            <a:chExt cx="2057400" cy="1905000"/>
          </a:xfrm>
        </p:grpSpPr>
        <p:sp>
          <p:nvSpPr>
            <p:cNvPr id="19" name="Rectangle 19"/>
            <p:cNvSpPr/>
            <p:nvPr/>
          </p:nvSpPr>
          <p:spPr>
            <a:xfrm>
              <a:off x="5067300" y="1619250"/>
              <a:ext cx="20574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067300" y="1619250"/>
              <a:ext cx="2057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89042" y="1892618"/>
              <a:ext cx="7211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③ 持久化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90185" y="2431256"/>
              <a:ext cx="14791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Checkpointer + thre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90185" y="2678906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ad_id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90185" y="2926556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断点续跑 / 会话隔离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296150" y="1619250"/>
            <a:ext cx="2057400" cy="1905000"/>
            <a:chOff x="7296150" y="1619250"/>
            <a:chExt cx="2057400" cy="1905000"/>
          </a:xfrm>
        </p:grpSpPr>
        <p:sp>
          <p:nvSpPr>
            <p:cNvPr id="26" name="Rectangle 26"/>
            <p:cNvSpPr/>
            <p:nvPr/>
          </p:nvSpPr>
          <p:spPr>
            <a:xfrm>
              <a:off x="7296150" y="1619250"/>
              <a:ext cx="20574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296150" y="1619250"/>
              <a:ext cx="2057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517892" y="1892618"/>
              <a:ext cx="902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④ 人在回路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19035" y="2555081"/>
              <a:ext cx="15396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interrupt + Command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19035" y="2802731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审批 / 治理刚需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25000" y="1619250"/>
            <a:ext cx="2057400" cy="1905000"/>
            <a:chOff x="9525000" y="1619250"/>
            <a:chExt cx="2057400" cy="1905000"/>
          </a:xfrm>
        </p:grpSpPr>
        <p:sp>
          <p:nvSpPr>
            <p:cNvPr id="32" name="Rectangle 32"/>
            <p:cNvSpPr/>
            <p:nvPr/>
          </p:nvSpPr>
          <p:spPr>
            <a:xfrm>
              <a:off x="9525000" y="1619250"/>
              <a:ext cx="20574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9525000" y="1619250"/>
              <a:ext cx="2057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746742" y="1892618"/>
              <a:ext cx="902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⑤ 生产韧性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747885" y="2555081"/>
              <a:ext cx="1081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1.2 超时 / 补偿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747885" y="2802731"/>
              <a:ext cx="1240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优雅停机 / 可观测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38" name="Rectangle 38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6018" y="4050982"/>
              <a:ext cx="53929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把 Agent 当状态机来设计：可暂停 · 可恢复 · 可回放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8304" y="4766310"/>
              <a:ext cx="46505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LangGraph 最新实战教程 · 大模型应用开发（Graph API 主线）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8304" y="4994910"/>
              <a:ext cx="41961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官方文档：docs.langchain.com/oss/python/langgraph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9638" y="5541645"/>
              <a:ext cx="36988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LangGraph Quickstart · Persistence · HITL 官方文档 · 2026-09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4" name="TextBox 44"/>
            <p:cNvSpPr txBox="1"/>
            <p:nvPr/>
          </p:nvSpPr>
          <p:spPr>
            <a:xfrm>
              <a:off x="604838" y="6613684"/>
              <a:ext cx="105232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LangGraph 最新实战教程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16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lg_tut">
  <a:themeElements>
    <a:clrScheme name="lg_tu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g_tut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g_tu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2026-09-07T03:12:18Z</dcterms:created>
  <dcterms:modified xsi:type="dcterms:W3CDTF">2026-09-07T03:12:18Z</dcterms:modified>
  <cp:category/>
  <cp:contentStatus/>
</cp:coreProperties>
</file>