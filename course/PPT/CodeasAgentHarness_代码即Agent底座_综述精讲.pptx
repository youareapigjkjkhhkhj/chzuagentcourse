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45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dea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dea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95350" y="2295049"/>
            <a:ext cx="8245450" cy="1760696"/>
            <a:chOff x="895350" y="2295049"/>
            <a:chExt cx="8245450" cy="17606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40347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SURVEY 精讲 · arXiv 2605.18747 · 2026-05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681561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代码即 Agent 的 Harness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8234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可执行 · 可验证 · 有状态 —— 大型综述精讲（UIUC × Meta × Stanford, cs.CL 2026-05）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780" y="3762375"/>
              <a:ext cx="75303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代码不只是模型『生成的结果』，更是 Agent 推理 · 行动 · 建模 · 协作的运行底座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4266" y="5943600"/>
            <a:ext cx="10983468" cy="358711"/>
            <a:chOff x="604266" y="5943600"/>
            <a:chExt cx="10983468" cy="358711"/>
          </a:xfrm>
        </p:grpSpPr>
        <p:sp>
          <p:nvSpPr>
            <p:cNvPr id="8" name="Line 8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4266" y="6096952"/>
              <a:ext cx="25718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Code as Agent Harness · 学术综述精讲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32865" y="609695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本讲框架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4023817" cy="322707"/>
            <a:chOff x="601218" y="1898332"/>
            <a:chExt cx="4023817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35277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命题与全景：代码 = Agent 的运行底座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3398901" cy="322707"/>
            <a:chOff x="601218" y="2431732"/>
            <a:chExt cx="3398901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界面层：推理 · 行动 · 环境建模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2995041" cy="322707"/>
            <a:chOff x="601218" y="2965132"/>
            <a:chExt cx="2995041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机制层：规划 · 记忆 · 工具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3484931" cy="322707"/>
            <a:chOff x="601218" y="3498532"/>
            <a:chExt cx="3484931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29888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PEV 控制与 Harness 自适应进化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3380537" cy="322707"/>
            <a:chOff x="6468618" y="1898332"/>
            <a:chExt cx="3380537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28844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 Agent：共享代码底座与收敛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2732532" cy="322707"/>
            <a:chOff x="6468618" y="2431732"/>
            <a:chExt cx="273253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应用地图与七大开放问题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3136392" cy="322707"/>
            <a:chOff x="6468618" y="2965132"/>
            <a:chExt cx="3136392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结论：四个属性，一门新学科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843429" cy="738854"/>
            <a:chOff x="595122" y="501491"/>
            <a:chExt cx="584342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命题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8434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从「代码=产物」到「代码=底座」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047750" y="1952625"/>
            <a:ext cx="10096500" cy="4029075"/>
            <a:chOff x="1047750" y="1952625"/>
            <a:chExt cx="10096500" cy="4029075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609600"/>
            </a:xfrm>
            <a:prstGeom prst="roundRect">
              <a:avLst>
                <a:gd name="adj" fmla="val 468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323807" y="2069306"/>
              <a:ext cx="7544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一句话新视角：代码不再是『模型生成的终点产物』—— 它正在成为 Agent 推理 · 行动 · 建模环境的可执行介质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11449" y="2349341"/>
              <a:ext cx="55691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Agent 化系统里，代码越来越多地作为运行底座：被创建 · 执行 · 观察 · 修订 · 持久化 · 共享（本文核心主张）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781300"/>
              <a:ext cx="32004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47750" y="27813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039137" y="29837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推理可外包给代码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94498" y="3358991"/>
              <a:ext cx="21069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程序辅助推理把中间计算外化给可执行代码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88328" y="3587591"/>
              <a:ext cx="1919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由解释器 / 符号求解器 / 执行轨迹检查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0089" y="3816191"/>
              <a:ext cx="24557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可打分、可修正：PoT · PAL · CoC · MathCoder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495800" y="2781300"/>
              <a:ext cx="32004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95800" y="27813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46932" y="2983706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程序 = 行动策略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42365" y="3358991"/>
              <a:ext cx="23072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生成程序作为机器人 / GUI / 软件环境的策略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01960" y="3587591"/>
              <a:ext cx="1588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行为树 / 工具调用 / 可复用技能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07843" y="3816191"/>
              <a:ext cx="19763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SayCan · CaP · Voyager · UI-Voyager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43850" y="2781300"/>
              <a:ext cx="32004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943850" y="27813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994982" y="2983706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代码 = 环境表征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67870" y="3358991"/>
              <a:ext cx="19523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程序状态 · 仓库 · 轨迹 · 测试 · 模拟器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94816" y="3587591"/>
              <a:ext cx="16984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表达世界状态 / 动力学 / 反馈信号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06682" y="3816191"/>
              <a:ext cx="20747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SWE-Bench · AgentBench · Code2World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47750" y="4381500"/>
              <a:ext cx="10096500" cy="990600"/>
            </a:xfrm>
            <a:prstGeom prst="roundRect">
              <a:avLst>
                <a:gd name="adj" fmla="val 2885"/>
              </a:avLst>
            </a:prstGeom>
            <a:solidFill>
              <a:srgbClr val="FFFFFF"/>
            </a:solidFill>
            <a:ln w="13335">
              <a:solidFill>
                <a:srgbClr val="E3061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53534" y="4519851"/>
              <a:ext cx="768493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新定义 Code as Agent Harness：Agent 创建 / 执行 / 观察 / 修订 / 持久化 / 共享的『交互式代码对象』位于任务循环中央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11944" y="4787741"/>
              <a:ext cx="77681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工件示例：回归测试 · 临时工具 · DSL 程序 · 可执行工作流 · 可复用技能 · 中间程序状态 —— 经执行反馈帮 Agent 推理 / 行动 / 验证 / 存状态 / 协调他人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15447" y="5054441"/>
              <a:ext cx="57611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生产样例：Claude Code · Codex · LangChain · 企业 Agent 平台 —— 三要素共同支撑长程自适应（详见下页三分法）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47750" y="5505450"/>
              <a:ext cx="10096500" cy="476250"/>
            </a:xfrm>
            <a:prstGeom prst="roundRect">
              <a:avLst>
                <a:gd name="adj" fmla="val 6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156616" y="5685949"/>
              <a:ext cx="58787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范围：从『生成正确程序』重述为『代码如何支撑可靠闭环的 Agent 行为』—— 本讲即其系统化地图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5" name="TextBox 35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289585" cy="738854"/>
            <a:chOff x="595122" y="501491"/>
            <a:chExt cx="728958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命题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28958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三分法：模型 · Harness 基建 · 代码工件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042988" y="1945243"/>
            <a:ext cx="10101262" cy="3979307"/>
            <a:chOff x="1042988" y="1945243"/>
            <a:chExt cx="10101262" cy="3979307"/>
          </a:xfrm>
        </p:grpSpPr>
        <p:sp>
          <p:nvSpPr>
            <p:cNvPr id="6" name="TextBox 6"/>
            <p:cNvSpPr txBox="1"/>
            <p:nvPr/>
          </p:nvSpPr>
          <p:spPr>
            <a:xfrm>
              <a:off x="1042988" y="1945243"/>
              <a:ext cx="540123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把长程 Agent 化系统拆成三个耦合要素 —— 本综述聚焦第三类（代码工件），而不是把代码当作终点产物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47750" y="2209800"/>
              <a:ext cx="3200400" cy="2324100"/>
            </a:xfrm>
            <a:prstGeom prst="roundRect">
              <a:avLst>
                <a:gd name="adj" fmla="val 123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47750" y="22098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122629" y="2374106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模型内部能力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82899" y="2643188"/>
              <a:ext cx="133010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Model-internal capabilities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58734" y="2969895"/>
              <a:ext cx="17784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推理 · 感知 · 规划 · 模拟 · 评估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37398" y="325564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进化主要靠训练与提示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34413" y="3541395"/>
              <a:ext cx="14270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本讲不深究 —— 假设其可用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95800" y="2209800"/>
              <a:ext cx="3200400" cy="2324100"/>
            </a:xfrm>
            <a:prstGeom prst="roundRect">
              <a:avLst>
                <a:gd name="adj" fmla="val 123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95800" y="22098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35385" y="2374106"/>
              <a:ext cx="19212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② 系统提供的 Harness 基建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24763" y="2643188"/>
              <a:ext cx="15424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System-provided harness infra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68735" y="2969895"/>
              <a:ext cx="16545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工具 · API · 沙箱 · 记忆系统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55292" y="3255645"/>
              <a:ext cx="18814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验证器 · 权限边界 · 遥测 · 工作流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43132" y="3541395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把模型输出接到外部动作与反馈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91639" y="3827145"/>
              <a:ext cx="18087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= harness engineering 的主战场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43850" y="2209800"/>
              <a:ext cx="3200400" cy="2324100"/>
            </a:xfrm>
            <a:prstGeom prst="roundRect">
              <a:avLst>
                <a:gd name="adj" fmla="val 123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943850" y="22098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92445" y="2374106"/>
              <a:ext cx="17032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Agent 发起的代码工件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80462" y="2643188"/>
              <a:ext cx="15271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Agent-initiated code artifacts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51850" y="2969895"/>
              <a:ext cx="1984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交互式代码对象：创建 · 执行 · 观察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75903" y="3255645"/>
              <a:ext cx="11362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修订 · 持久化 · 共享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21605" y="3541395"/>
              <a:ext cx="22448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经执行反馈：推理 · 行动 · 验证 · 存状态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88286" y="3827145"/>
              <a:ext cx="2311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相对『未被充分探索』的一类（本文焦点）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7750" y="4705350"/>
              <a:ext cx="4953000" cy="1219200"/>
            </a:xfrm>
            <a:prstGeom prst="roundRect">
              <a:avLst>
                <a:gd name="adj" fmla="val 2344"/>
              </a:avLst>
            </a:prstGeom>
            <a:solidFill>
              <a:srgbClr val="FFFFFF"/>
            </a:solidFill>
            <a:ln w="13335">
              <a:solidFill>
                <a:srgbClr val="E3061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585469" y="4858702"/>
              <a:ext cx="18775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范围界定 · 代码广义但非隐喻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30500" y="5164693"/>
              <a:ext cx="318749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可执行或机器可查的工件：程序 · 脚本 · 形式规约 · 证明脚本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70215" y="5412343"/>
              <a:ext cx="330807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API schema · 测试 · 仓库 · 模拟器 · 配置 · 执行 trace / 日志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77618" y="5664041"/>
              <a:ext cx="24932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（由 / 被可执行系统产出或消费的 trace 与日志）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191250" y="4705350"/>
              <a:ext cx="4953000" cy="1219200"/>
            </a:xfrm>
            <a:prstGeom prst="roundRect">
              <a:avLst>
                <a:gd name="adj" fmla="val 2344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097012" y="48587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哪些『不是』代码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05547" y="5164693"/>
              <a:ext cx="272440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原始感知 · 物理状态 · 人类意图 · 模型内部潜在推理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09024" y="5412343"/>
              <a:ext cx="351745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它们可被感知 / 估计 / 序列化 / 验证 / 行动 —— 但别与代码界面混同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80215" y="5664041"/>
              <a:ext cx="35750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代码不替代感知与具身，它让其中被选中的侧面可执行 · 可检视 · 有状态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447523" cy="738854"/>
            <a:chOff x="595122" y="501491"/>
            <a:chExt cx="844752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全景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44752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三层体系：Interface → Mechanisms → Scaling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1042988" y="1964293"/>
            <a:ext cx="10101262" cy="4017407"/>
            <a:chOff x="1042988" y="1964293"/>
            <a:chExt cx="10101262" cy="4017407"/>
          </a:xfrm>
        </p:grpSpPr>
        <p:sp>
          <p:nvSpPr>
            <p:cNvPr id="6" name="TextBox 6"/>
            <p:cNvSpPr txBox="1"/>
            <p:nvPr/>
          </p:nvSpPr>
          <p:spPr>
            <a:xfrm>
              <a:off x="1042988" y="1964293"/>
              <a:ext cx="685461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Fig.1 重绘 · 一张图读完综述：代码先作为『界面』进入环路，再靠『机制』越过单步生成，最后成为多 Agent 共享的『协调工件』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47750" y="2266950"/>
              <a:ext cx="10096500" cy="952500"/>
            </a:xfrm>
            <a:prstGeom prst="roundRect">
              <a:avLst>
                <a:gd name="adj" fmla="val 3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47750" y="2266950"/>
              <a:ext cx="57150" cy="9525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32535" y="2526506"/>
              <a:ext cx="2196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Harness Interface · 界面层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3488" y="2810589"/>
              <a:ext cx="128572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把模型输出转成可执行结构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095750" y="2400300"/>
              <a:ext cx="20574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59607" y="2573893"/>
              <a:ext cx="112968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Code for Reasoning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93996" y="2837736"/>
              <a:ext cx="1060907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推理：计算外化，可验证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457950" y="2400300"/>
              <a:ext cx="20574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22061" y="2573893"/>
              <a:ext cx="92917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Code for Acting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77702" y="2837736"/>
              <a:ext cx="101789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行动：意图→可执行操作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820150" y="2400300"/>
              <a:ext cx="20574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04932" y="2573893"/>
              <a:ext cx="128783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Code for Environment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66186" y="2837736"/>
              <a:ext cx="965327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环境：状态反馈可检视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047750" y="3352800"/>
              <a:ext cx="10096500" cy="952500"/>
            </a:xfrm>
            <a:prstGeom prst="roundRect">
              <a:avLst>
                <a:gd name="adj" fmla="val 3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047750" y="3352800"/>
              <a:ext cx="57150" cy="9525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32535" y="3612356"/>
              <a:ext cx="2347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Harness Mechanisms · 机制层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33488" y="3896439"/>
              <a:ext cx="144536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让代码 Agent 越过单步仍可靠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95750" y="3486150"/>
              <a:ext cx="12192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61865" y="3659743"/>
              <a:ext cx="48697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Planning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13847" y="3923586"/>
              <a:ext cx="58300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规划轨迹控制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486400" y="3486150"/>
              <a:ext cx="12192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64226" y="3659743"/>
              <a:ext cx="46354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Memory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04497" y="3923586"/>
              <a:ext cx="58300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可变状态管理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77050" y="3486150"/>
              <a:ext cx="12192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41008" y="3659743"/>
              <a:ext cx="49128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Tool Use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47357" y="3923586"/>
              <a:ext cx="67858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受治理执行接口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267700" y="3486150"/>
              <a:ext cx="12192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66572" y="3659743"/>
              <a:ext cx="22145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PEV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85797" y="3923586"/>
              <a:ext cx="58300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反馈驱动控制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658350" y="3486150"/>
              <a:ext cx="12192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57222" y="3659743"/>
              <a:ext cx="22145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AHE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76447" y="3923586"/>
              <a:ext cx="58300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底座测量修订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47750" y="4438650"/>
              <a:ext cx="10096500" cy="952500"/>
            </a:xfrm>
            <a:prstGeom prst="roundRect">
              <a:avLst>
                <a:gd name="adj" fmla="val 3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47750" y="4438650"/>
              <a:ext cx="57150" cy="9525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232535" y="4698206"/>
              <a:ext cx="2291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Scaling the Harness · 扩展层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33488" y="4982289"/>
              <a:ext cx="166572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把单 Agent harness 扩成协作生态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095750" y="4572000"/>
              <a:ext cx="14859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77884" y="4745593"/>
              <a:ext cx="31687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Roles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00727" y="5009436"/>
              <a:ext cx="1271184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管理者·规划·编码·审查·测试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67400" y="4572000"/>
              <a:ext cx="14859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59374" y="4745593"/>
              <a:ext cx="68766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Interaction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137269" y="5009436"/>
              <a:ext cx="931874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协作·辩论·红队·对抗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9525" y="4572000"/>
              <a:ext cx="14859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111306" y="4745593"/>
              <a:ext cx="51757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Topology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25662" y="5009436"/>
              <a:ext cx="88886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链/环/星/层级/流式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391650" y="4572000"/>
              <a:ext cx="14859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08620" y="4745593"/>
              <a:ext cx="105672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Shared Substrate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71044" y="5009436"/>
              <a:ext cx="931874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仓库·测试·轨迹·黑板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47750" y="5600700"/>
              <a:ext cx="10096500" cy="381000"/>
            </a:xfrm>
            <a:prstGeom prst="roundRect">
              <a:avLst>
                <a:gd name="adj" fmla="val 75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47750" y="5600700"/>
              <a:ext cx="100965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975563" y="5737622"/>
              <a:ext cx="624087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横切五类应用：代码助手 · GUI/OS · 具身 · 科学发现 · 个性化 —— 背后是同一套『代码=运行底座』逻辑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9" name="TextBox 59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49293" cy="738854"/>
            <a:chOff x="595122" y="501491"/>
            <a:chExt cx="42492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界面层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界面层：代码的三重角色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042988" y="1964293"/>
            <a:ext cx="10101262" cy="4017407"/>
            <a:chOff x="1042988" y="1964293"/>
            <a:chExt cx="10101262" cy="4017407"/>
          </a:xfrm>
        </p:grpSpPr>
        <p:sp>
          <p:nvSpPr>
            <p:cNvPr id="6" name="TextBox 6"/>
            <p:cNvSpPr txBox="1"/>
            <p:nvPr/>
          </p:nvSpPr>
          <p:spPr>
            <a:xfrm>
              <a:off x="1042988" y="1964293"/>
              <a:ext cx="649231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Fig.2 重绘 · Harness 把无状态 LLM 变成有功能的 Agent：grounding 到外部执行、持久状态与可验证反馈 —— 介质就是代码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47750" y="2266950"/>
              <a:ext cx="2381250" cy="876300"/>
            </a:xfrm>
            <a:prstGeom prst="roundRect">
              <a:avLst>
                <a:gd name="adj" fmla="val 3261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47750" y="2266950"/>
              <a:ext cx="238125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47647" y="25565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代码用于推理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72246" y="2871788"/>
              <a:ext cx="53225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REASONING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619500" y="2266950"/>
              <a:ext cx="457200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05238" y="2539841"/>
              <a:ext cx="31335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把内部推理外化成可执行程序 → 外部解释器 / 求解器执行并评估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05238" y="2787491"/>
              <a:ext cx="31942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符号 · 逻辑 · 算术交给程序：中间态=执行轨迹，可读可存可回喂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0" y="2266950"/>
              <a:ext cx="2762250" cy="876300"/>
            </a:xfrm>
            <a:prstGeom prst="roundRect">
              <a:avLst>
                <a:gd name="adj" fmla="val 3261"/>
              </a:avLst>
            </a:prstGeom>
            <a:solidFill>
              <a:srgbClr val="FFFFFF"/>
            </a:solidFill>
            <a:ln w="12382">
              <a:solidFill>
                <a:srgbClr val="E3061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48397" y="2515552"/>
              <a:ext cx="102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可执行 ⇒ 可验证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73439" y="2791539"/>
              <a:ext cx="117937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推理被拆成可查证的步骤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448050" y="2705100"/>
              <a:ext cx="66675" cy="9525"/>
            </a:xfrm>
            <a:custGeom>
              <a:avLst/>
              <a:gdLst/>
              <a:ahLst/>
              <a:cxnLst/>
              <a:rect l="l" t="t" r="r" b="b"/>
              <a:pathLst>
                <a:path w="66675" h="952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1392" y="26727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47750" y="3257550"/>
              <a:ext cx="2381250" cy="876300"/>
            </a:xfrm>
            <a:prstGeom prst="roundRect">
              <a:avLst>
                <a:gd name="adj" fmla="val 3261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47750" y="3257550"/>
              <a:ext cx="238125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47647" y="35471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代码用于行动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70925" y="3862388"/>
              <a:ext cx="33489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ACTING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619500" y="3257550"/>
              <a:ext cx="457200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05238" y="3530441"/>
              <a:ext cx="22172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把高层意图翻译成落在具体环境的可执行操作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05238" y="3778091"/>
              <a:ext cx="31062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策略 · 工具调用 · 行为树 · 可复用技能（具身 / GUI / API）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382000" y="3257550"/>
              <a:ext cx="2762250" cy="876300"/>
            </a:xfrm>
            <a:prstGeom prst="roundRect">
              <a:avLst>
                <a:gd name="adj" fmla="val 3261"/>
              </a:avLst>
            </a:prstGeom>
            <a:solidFill>
              <a:srgbClr val="FFFFFF"/>
            </a:solidFill>
            <a:ln w="12382">
              <a:solidFill>
                <a:srgbClr val="E3061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48397" y="3506152"/>
              <a:ext cx="102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可编程 ⇒ 可组合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73439" y="3782139"/>
              <a:ext cx="117937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动作有确定语义，能重放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3448050" y="3695700"/>
              <a:ext cx="66675" cy="9525"/>
            </a:xfrm>
            <a:custGeom>
              <a:avLst/>
              <a:gdLst/>
              <a:ahLst/>
              <a:cxnLst/>
              <a:rect l="l" t="t" r="r" b="b"/>
              <a:pathLst>
                <a:path w="66675" h="952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3521392" y="36633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47750" y="4248150"/>
              <a:ext cx="2381250" cy="876300"/>
            </a:xfrm>
            <a:prstGeom prst="roundRect">
              <a:avLst>
                <a:gd name="adj" fmla="val 3261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47750" y="4248150"/>
              <a:ext cx="238125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86103" y="4537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代码用于环境建模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02904" y="4852988"/>
              <a:ext cx="67094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ENVIRONMENT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619500" y="4248150"/>
              <a:ext cx="457200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05238" y="4521041"/>
              <a:ext cx="28520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用程序状态 · 仓库 · 模拟器 · 测试 表达世界状态与动力学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05238" y="4768691"/>
              <a:ext cx="21676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环境=可执行、可编辑、可查询的结构化表征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82000" y="4248150"/>
              <a:ext cx="2762250" cy="876300"/>
            </a:xfrm>
            <a:prstGeom prst="roundRect">
              <a:avLst>
                <a:gd name="adj" fmla="val 3261"/>
              </a:avLst>
            </a:prstGeom>
            <a:solidFill>
              <a:srgbClr val="FFFFFF"/>
            </a:solidFill>
            <a:ln w="12382">
              <a:solidFill>
                <a:srgbClr val="E3061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48397" y="4496752"/>
              <a:ext cx="102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可检视 ⇒ 可追溯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32963" y="4772739"/>
              <a:ext cx="86032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状态演化全程留痕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3448050" y="4686300"/>
              <a:ext cx="66675" cy="9525"/>
            </a:xfrm>
            <a:custGeom>
              <a:avLst/>
              <a:gdLst/>
              <a:ahLst/>
              <a:cxnLst/>
              <a:rect l="l" t="t" r="r" b="b"/>
              <a:pathLst>
                <a:path w="66675" h="952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3521392" y="46539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47750" y="5257800"/>
              <a:ext cx="10096500" cy="723900"/>
            </a:xfrm>
            <a:prstGeom prst="roundRect">
              <a:avLst>
                <a:gd name="adj" fmla="val 39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47750" y="5257800"/>
              <a:ext cx="57150" cy="7239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532213" y="5411152"/>
              <a:ext cx="51275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三条承诺：推理可执行 · 行动可编程 · 环境可检视 —— 三者为同一份代码同时成立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268054" y="5692616"/>
              <a:ext cx="56558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代码不替代感知 / 具身 / 人类目标 / 模型推理 —— 它把其中被选中的侧面变成环路内可执行、可检视、有状态的部分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49293" cy="738854"/>
            <a:chOff x="595122" y="501491"/>
            <a:chExt cx="42492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界面层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代码用于推理：三大范式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47750" y="1952625"/>
            <a:ext cx="10096500" cy="4010025"/>
            <a:chOff x="1047750" y="1952625"/>
            <a:chExt cx="10096500" cy="4010025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100965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02313" y="2115502"/>
              <a:ext cx="69873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纯文本 CoT 的短板：分解与计算挤在同一段潜在文本里 —— 符号 / 逻辑 / 算术执行不可靠，中间态无法验证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40611" y="2383393"/>
              <a:ext cx="571077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代码方案：模型提出『过程』，Harness 负责『执行』—— 解释器 / 求解器 / 验证模块把中间态变成可验证信号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819400"/>
              <a:ext cx="3200400" cy="2438400"/>
            </a:xfrm>
            <a:prstGeom prst="roundRect">
              <a:avLst>
                <a:gd name="adj" fmla="val 1172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47750" y="28194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014134" y="3010852"/>
              <a:ext cx="1267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范式① 程序委派推理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16384" y="3252788"/>
              <a:ext cx="146313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Program-Delegated Reasoning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86039" y="3572589"/>
              <a:ext cx="192382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把中间计算委派给程序由外部解释器执行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75948" y="3810714"/>
              <a:ext cx="234400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PoT 显式分解起家；CoC / CIRS 分析可执行推理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98802" y="4048839"/>
              <a:ext cx="209829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如何改变失败模式；CodeI/O 把上下文程序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20080" y="4286964"/>
              <a:ext cx="165574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变成 IO 预测任务，暴露推理原语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162050" y="4686300"/>
              <a:ext cx="29718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38489" y="4866561"/>
              <a:ext cx="2418922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代表：PoT · PAL · Chain of Code · MathCoder · NExT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495800" y="2819400"/>
              <a:ext cx="3200400" cy="2438400"/>
            </a:xfrm>
            <a:prstGeom prst="roundRect">
              <a:avLst>
                <a:gd name="adj" fmla="val 1172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95800" y="28194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35492" y="3010852"/>
              <a:ext cx="1721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范式② 形式验证 / 符号接口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04692" y="3252788"/>
              <a:ext cx="138261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Formal &amp; Symbolic Reasoning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61271" y="3572589"/>
              <a:ext cx="226945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神经 + 符号混合：代码/符号工件=持久中间表示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77736" y="3810714"/>
              <a:ext cx="243652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轨迹可分支 · 合并 · 复用（Graph-of-Thoughts）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00391" y="4048839"/>
              <a:ext cx="219121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自验证反射 / Socratic self-refine 引导修正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54745" y="4286964"/>
              <a:ext cx="208251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CodeSteer 协调语言推理与可执行符号操作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610100" y="4686300"/>
              <a:ext cx="29718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877654" y="4866561"/>
              <a:ext cx="243669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代表：Graph-of-Thoughts · CodeSteer · VisualCoder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943850" y="2819400"/>
              <a:ext cx="3200400" cy="2438400"/>
            </a:xfrm>
            <a:prstGeom prst="roundRect">
              <a:avLst>
                <a:gd name="adj" fmla="val 1172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943850" y="28194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68883" y="3010852"/>
              <a:ext cx="15503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范式③ 迭代代码锚定推理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33688" y="3252788"/>
              <a:ext cx="122072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Iterative Code-Grounded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88489" y="3572589"/>
              <a:ext cx="171112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执行工件本身成为可复用的推理信号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90710" y="3810714"/>
              <a:ext cx="230668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输入输出 · 执行轨迹 · 变量状态 · 控制流 · 测试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78886" y="4048839"/>
              <a:ext cx="153032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被验证 / 打分 / 回喂给后续推理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48758" y="4286964"/>
              <a:ext cx="179058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也是过程奖励 / 代码 RL 的自然界面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58150" y="4686300"/>
              <a:ext cx="29718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45073" y="4866561"/>
              <a:ext cx="299795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代表：R1-Code-Inter · CodePRM · ExecVerify · FunPRM · ReCode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47750" y="5410200"/>
              <a:ext cx="10096500" cy="552450"/>
            </a:xfrm>
            <a:prstGeom prst="roundRect">
              <a:avLst>
                <a:gd name="adj" fmla="val 5172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47750" y="5410200"/>
              <a:ext cx="100965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578510" y="5558076"/>
              <a:ext cx="703498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收益：分离『高层推理（模型出主意）』与『低层计算（harness 执行）』→ 推理可验证 · 可检查 · 可跨步骤持久化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91720" y="5791914"/>
              <a:ext cx="440856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CodeAdapt：紧耦合可执行推理接口可超越专用推理模型 —— 执行接口本身也在进化（2025）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5" name="TextBox 45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49293" cy="738854"/>
            <a:chOff x="595122" y="501491"/>
            <a:chExt cx="42492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界面层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代码用于行动与环境建模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42988" y="1945243"/>
            <a:ext cx="10101262" cy="3845957"/>
            <a:chOff x="1042988" y="1945243"/>
            <a:chExt cx="10101262" cy="3845957"/>
          </a:xfrm>
        </p:grpSpPr>
        <p:sp>
          <p:nvSpPr>
            <p:cNvPr id="6" name="TextBox 6"/>
            <p:cNvSpPr txBox="1"/>
            <p:nvPr/>
          </p:nvSpPr>
          <p:spPr>
            <a:xfrm>
              <a:off x="1042988" y="1945243"/>
              <a:ext cx="525863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行动三范式（左）与环境四形态（右）—— 都是『程序世界』的同一接口；代表性系统见 Fig.3 时间线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47750" y="2209800"/>
              <a:ext cx="4953000" cy="914400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47750" y="2209800"/>
              <a:ext cx="57150" cy="9144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89685" y="2412206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落地技能选择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90638" y="2711291"/>
              <a:ext cx="21069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从价值函数与安全约束里挑技能、落成代码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0638" y="2942511"/>
              <a:ext cx="1105090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1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SayCan'22 · KnowNo'23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3200400"/>
              <a:ext cx="4953000" cy="914400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47750" y="3200400"/>
              <a:ext cx="57150" cy="9144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89685" y="3402806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程序化策略生成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90638" y="3701891"/>
              <a:ext cx="20130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语言模型程序直接做机器人控制 / 行为树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90638" y="3933111"/>
              <a:ext cx="16979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1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Code-as-Policies'23 · RoboCodeX'24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7750" y="4191000"/>
              <a:ext cx="4953000" cy="914400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47750" y="4191000"/>
              <a:ext cx="57150" cy="9144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89685" y="4393406"/>
              <a:ext cx="1245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终身代码 Agent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90638" y="4692491"/>
              <a:ext cx="20572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技能库=可再执行记忆，自动课程无限探索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90638" y="4923711"/>
              <a:ext cx="1957197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1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Voyager'23 · UI-Voyager'26 · SkillVLA'26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47750" y="5181600"/>
              <a:ext cx="4953000" cy="533400"/>
            </a:xfrm>
            <a:prstGeom prst="roundRect">
              <a:avLst>
                <a:gd name="adj" fmla="val 5357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20088" y="5412343"/>
              <a:ext cx="480832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终身技能需治理：遗忘 · 抽象 · grounding 对齐 —— 挑战从『生成技能』转向『治理技能库』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191250" y="2209800"/>
              <a:ext cx="4953000" cy="838200"/>
            </a:xfrm>
            <a:prstGeom prst="roundRect">
              <a:avLst>
                <a:gd name="adj" fmla="val 340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91250" y="2209800"/>
              <a:ext cx="57150" cy="838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33566" y="2401252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结构化世界表示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34138" y="2663666"/>
              <a:ext cx="25172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DOM / UI 树 / 程序状态；场景分解成对象与因果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4138" y="2894886"/>
              <a:ext cx="2063085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1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ViStruct'23 · CWM'25 · FactoredScenes'25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191250" y="3124200"/>
              <a:ext cx="4953000" cy="838200"/>
            </a:xfrm>
            <a:prstGeom prst="roundRect">
              <a:avLst>
                <a:gd name="adj" fmla="val 340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191250" y="3124200"/>
              <a:ext cx="57150" cy="838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33566" y="3315652"/>
              <a:ext cx="1267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执行轨迹世界建模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34138" y="3578066"/>
              <a:ext cx="17757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用程序运行轨迹表达状态链与动力学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34138" y="3809286"/>
              <a:ext cx="1788951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1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Code2World'26 · Endless Terminals'26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191250" y="4038600"/>
              <a:ext cx="4953000" cy="838200"/>
            </a:xfrm>
            <a:prstGeom prst="roundRect">
              <a:avLst>
                <a:gd name="adj" fmla="val 340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191250" y="4038600"/>
              <a:ext cx="57150" cy="838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33566" y="4230052"/>
              <a:ext cx="1267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代码锚定评估环境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34138" y="4492466"/>
              <a:ext cx="16657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问题→补丁 / 交互基准 / IO 预测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34138" y="4723686"/>
              <a:ext cx="2885282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1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SWE-Bench'23 · AgentBench'23 · SemCoder'24 · CRUXEval'24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191250" y="4953000"/>
              <a:ext cx="4953000" cy="838200"/>
            </a:xfrm>
            <a:prstGeom prst="roundRect">
              <a:avLst>
                <a:gd name="adj" fmla="val 340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191250" y="4953000"/>
              <a:ext cx="57150" cy="838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33566" y="5144452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可验证环境构造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34138" y="5406866"/>
              <a:ext cx="19282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环境侧用代码断言 / 检查器 / CI 把关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34138" y="5638086"/>
              <a:ext cx="438734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1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RWML'26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5" name="TextBox 45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机制层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机制层五大控制面：越过单步生成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86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规划 Planning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55056"/>
              <a:ext cx="2770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组织长程任务执行：分解 → 结构约束 → 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0270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索 → 编排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50356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决定『下一步做什么 · 以什么顺序』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980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把意图外化成可执行步骤序列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03242" y="1892618"/>
              <a:ext cx="11511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 Memory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4788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管理跨长交互的可变状态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726531"/>
              <a:ext cx="2550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工作 / 语义 / 经验 / 长期 / 多 Agent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4385" y="2974181"/>
              <a:ext cx="2469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决定『记住什么 · 放哪里 · 何时忘』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75142" y="1892618"/>
              <a:ext cx="11974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 Tool Use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478881"/>
              <a:ext cx="2831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受治理的可执行接口：API · 仓库 · 沙箱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726531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扩大动作空间 + 暴露外部反馈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6285" y="29741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决定『能对世界做什么』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3810000"/>
            <a:ext cx="5257800" cy="2000250"/>
            <a:chOff x="609600" y="3810000"/>
            <a:chExt cx="5257800" cy="2000250"/>
          </a:xfrm>
        </p:grpSpPr>
        <p:sp>
          <p:nvSpPr>
            <p:cNvPr id="28" name="Rectangle 28"/>
            <p:cNvSpPr/>
            <p:nvPr/>
          </p:nvSpPr>
          <p:spPr>
            <a:xfrm>
              <a:off x="609600" y="381000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9600" y="381000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1342" y="4083368"/>
              <a:ext cx="1527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PEV 控制 Control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485" y="4669631"/>
              <a:ext cx="332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计划=契约 · 执行=有界转移 · 验证=确定性传感器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485" y="4917281"/>
              <a:ext cx="249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把失败转成修订 / 重试 / 升级 / 回滚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2485" y="516493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可靠性来自受治理的状态转移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24600" y="3810000"/>
            <a:ext cx="5257800" cy="2000250"/>
            <a:chOff x="6324600" y="3810000"/>
            <a:chExt cx="5257800" cy="2000250"/>
          </a:xfrm>
        </p:grpSpPr>
        <p:sp>
          <p:nvSpPr>
            <p:cNvPr id="35" name="Rectangle 35"/>
            <p:cNvSpPr/>
            <p:nvPr/>
          </p:nvSpPr>
          <p:spPr>
            <a:xfrm>
              <a:off x="6324600" y="381000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324600" y="381000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46342" y="4083368"/>
              <a:ext cx="13670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自适应优化 AHE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47485" y="4669631"/>
              <a:ext cx="1888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 harness 本身当分析对象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47485" y="4917281"/>
              <a:ext cx="25044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深度遥测 → 进化 Agent → 受治理变异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47485" y="5164931"/>
              <a:ext cx="2966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五步闭环：观察 · 归因 · 修订 · 评估 · 晋升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机制层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规划四范式：从线性到编排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5257800" cy="2000250"/>
            <a:chOff x="609600" y="1619250"/>
            <a:chExt cx="52578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线性分解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55056"/>
              <a:ext cx="35712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先出显式步骤序列再照做（ReAct · Self-Planning）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02706"/>
              <a:ext cx="32610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PLAN.md / Implement.md 把规划变成文件对象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50356"/>
              <a:ext cx="3283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可加载 · 更新 · 验证 · 跨会话续跑 · Git 版本化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980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局限：绑定单一轨迹，探索不足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24600" y="1619250"/>
            <a:ext cx="5257800" cy="2000250"/>
            <a:chOff x="6324600" y="1619250"/>
            <a:chExt cx="5257800" cy="2000250"/>
          </a:xfrm>
        </p:grpSpPr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46342" y="189261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结构锚定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355056"/>
              <a:ext cx="2642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锚定依赖图 / 仓库图 / 电路图 / 知识图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60270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依赖关系决定子任务生成与验证顺序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7485" y="2850356"/>
              <a:ext cx="3325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CodePlan（计划图）· GraphCodeAgent（双图）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7485" y="3098006"/>
              <a:ext cx="2642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把项目知识变成可检视的 harness 对象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810000"/>
            <a:ext cx="5257800" cy="2000250"/>
            <a:chOff x="609600" y="3810000"/>
            <a:chExt cx="5257800" cy="2000250"/>
          </a:xfrm>
        </p:grpSpPr>
        <p:sp>
          <p:nvSpPr>
            <p:cNvPr id="22" name="Rectangle 22"/>
            <p:cNvSpPr/>
            <p:nvPr/>
          </p:nvSpPr>
          <p:spPr>
            <a:xfrm>
              <a:off x="609600" y="381000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381000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1342" y="4083368"/>
              <a:ext cx="721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搜索式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2485" y="4545806"/>
              <a:ext cx="307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推理期投入计算：探索 · 评估 · 挑选多条候选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2485" y="479345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不绑定单一路径，反馈控制备选取舍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485" y="5041106"/>
              <a:ext cx="2187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ReThinkMCTS：搜索与反思结合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485" y="52887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适合大动作空间、稀疏反馈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24600" y="3810000"/>
            <a:ext cx="5257800" cy="2000250"/>
            <a:chOff x="6324600" y="3810000"/>
            <a:chExt cx="52578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6324600" y="381000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324600" y="381000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46342" y="4083368"/>
              <a:ext cx="721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编排式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47485" y="45458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把规划分布到专门角色与反馈回路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7485" y="4793456"/>
              <a:ext cx="32229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计划=可执行 harness 规约：解释 · 调度 · 委派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47485" y="5041106"/>
              <a:ext cx="24761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MapCoder（map-code-test 交接）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7485" y="5288756"/>
              <a:ext cx="24752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蓝图驱动多阶段（Blueprint2Code）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机制层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记忆与上下文工程：六类状态管理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工作记忆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5505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当前轨迹活跃状态：失败测试 / 文件清单 /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027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5035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防上下文爆炸 · 保局部一致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98006"/>
              <a:ext cx="2690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SWE-agent · RepairAgent · CodeMem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语义记忆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23123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仓库证据检索：结构感知 / 多路径检索 +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4788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重排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4385" y="272653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把『函数在哪』变成可查的结构化知识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4385" y="2974181"/>
              <a:ext cx="27232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AutoCodeRover · RepoCoder · CodeRA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04385" y="322183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23" name="Rectangle 23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751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经验记忆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6285" y="247888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跨任务复用高质量经验，治理式回放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6285" y="2726531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过滤噪声 → 只重放被验证的体验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6285" y="2974181"/>
              <a:ext cx="14286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ExpeL · MemGovern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3810000"/>
            <a:ext cx="3429000" cy="2000250"/>
            <a:chOff x="609600" y="3810000"/>
            <a:chExt cx="34290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6096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96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1342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长期记忆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2485" y="4545806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验证过的知识 / 程序技能沉淀为可再执行工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485" y="47934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485" y="5041106"/>
              <a:ext cx="2770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超越『再读一遍』：可重跑 / 检查 / 定位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485" y="528875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程序化 + 经验型记忆并存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381500" y="3810000"/>
            <a:ext cx="3429000" cy="2000250"/>
            <a:chOff x="4381500" y="3810000"/>
            <a:chExt cx="3429000" cy="2000250"/>
          </a:xfrm>
        </p:grpSpPr>
        <p:sp>
          <p:nvSpPr>
            <p:cNvPr id="38" name="Rectangle 38"/>
            <p:cNvSpPr/>
            <p:nvPr/>
          </p:nvSpPr>
          <p:spPr>
            <a:xfrm>
              <a:off x="43815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3815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603242" y="4083368"/>
              <a:ext cx="1211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 Agent 记忆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04385" y="466963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跨角色共享交互历史并同步共享状态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04385" y="4917281"/>
              <a:ext cx="2199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避免各 Agent 各持一套过期事实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04385" y="5164931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共享记忆 / 黑板式同步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153400" y="3810000"/>
            <a:ext cx="3429000" cy="2000250"/>
            <a:chOff x="8153400" y="3810000"/>
            <a:chExt cx="3429000" cy="2000250"/>
          </a:xfrm>
        </p:grpSpPr>
        <p:sp>
          <p:nvSpPr>
            <p:cNvPr id="45" name="Rectangle 45"/>
            <p:cNvSpPr/>
            <p:nvPr/>
          </p:nvSpPr>
          <p:spPr>
            <a:xfrm>
              <a:off x="81534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534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75142" y="4083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上下文压缩与卸载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76285" y="454580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决策摘要留在窗口，全保真工件落地外部存储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76285" y="47934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失败报告→测试名 + 栈帧 + 疑似文件 + 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76285" y="50411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志链接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76285" y="5288756"/>
              <a:ext cx="24727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文件 / 数据库 / MCP 风格资源接口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3" name="TextBox 53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328904" cy="738854"/>
            <a:chOff x="595122" y="501491"/>
            <a:chExt cx="432890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机制层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3289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工具四类 + 生命周期控制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042988" y="1945243"/>
            <a:ext cx="10101262" cy="4017407"/>
            <a:chOff x="1042988" y="1945243"/>
            <a:chExt cx="10101262" cy="4017407"/>
          </a:xfrm>
        </p:grpSpPr>
        <p:sp>
          <p:nvSpPr>
            <p:cNvPr id="6" name="TextBox 6"/>
            <p:cNvSpPr txBox="1"/>
            <p:nvPr/>
          </p:nvSpPr>
          <p:spPr>
            <a:xfrm>
              <a:off x="1042988" y="1945243"/>
              <a:ext cx="579521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Fig.7 重绘 · 工具是代码 Agent 的『行动与观察层』：扩大动作空间 + 暴露外部反馈 —— 按 harness 功能分四类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47750" y="2209800"/>
              <a:ext cx="4953000" cy="1447800"/>
            </a:xfrm>
            <a:prstGeom prst="roundRect">
              <a:avLst>
                <a:gd name="adj" fmla="val 1974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47750" y="2209800"/>
              <a:ext cx="4953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497792" y="2492454"/>
              <a:ext cx="205291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函数导向 Function-Oriented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63203" y="2859643"/>
              <a:ext cx="172209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检索 API / 库 / 文档补知识缺口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11214" y="3107293"/>
              <a:ext cx="182607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触发预测选 API · 压缩并注入证据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91668" y="3420189"/>
              <a:ext cx="186516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ToolCoder · CodeQA · RAG-for-Code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191250" y="2209800"/>
              <a:ext cx="4953000" cy="1447800"/>
            </a:xfrm>
            <a:prstGeom prst="roundRect">
              <a:avLst>
                <a:gd name="adj" fmla="val 1974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191250" y="2209800"/>
              <a:ext cx="4953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07078" y="2492454"/>
              <a:ext cx="252134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环境交互 Environment-Interaction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0887" y="2859643"/>
              <a:ext cx="233372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在仓库 / 终端 / IDE / 浏览器 / 沙箱内行动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19145" y="3107293"/>
              <a:ext cx="14972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可执行 shell · 编辑 · 包管理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15546" y="3420189"/>
              <a:ext cx="190440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CodeAgent · SWE-agent · OpenHands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47750" y="3790950"/>
              <a:ext cx="4953000" cy="1447800"/>
            </a:xfrm>
            <a:prstGeom prst="roundRect">
              <a:avLst>
                <a:gd name="adj" fmla="val 1974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47750" y="3790950"/>
              <a:ext cx="4953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467580" y="4073604"/>
              <a:ext cx="211333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验证驱动 Verification-Driven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80714" y="4440793"/>
              <a:ext cx="248707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确定性反馈：测试 / linter / 类型 / 静态 / 报错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35415" y="4688443"/>
              <a:ext cx="197766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把候选编辑从文本假设变成可验证变换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08760" y="5001339"/>
              <a:ext cx="123097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AgentCoder · VeriGuard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191250" y="3790950"/>
              <a:ext cx="4953000" cy="1447800"/>
            </a:xfrm>
            <a:prstGeom prst="roundRect">
              <a:avLst>
                <a:gd name="adj" fmla="val 1974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191250" y="3790950"/>
              <a:ext cx="4953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25264" y="4073604"/>
              <a:ext cx="268497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工作流编排 Workflow-Orchestration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10753" y="4440793"/>
              <a:ext cx="191399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跨工具 / 角色 / 记忆 / 生命周期策略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68348" y="4688443"/>
              <a:ext cx="139880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编排成可靠的长程执行过程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46879" y="5001339"/>
              <a:ext cx="124174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MapCoder · QualityFlow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47750" y="5391150"/>
              <a:ext cx="10096500" cy="571500"/>
            </a:xfrm>
            <a:prstGeom prst="roundRect">
              <a:avLst>
                <a:gd name="adj" fmla="val 5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47750" y="5391150"/>
              <a:ext cx="100965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207274" y="5543074"/>
              <a:ext cx="7777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生命周期 hooks：执行前 = 权限检查 / 策略 / 参数校验 / HITL 门；执行后 = 清洗 / 压缩日志 / 轨迹落库 / 更新记忆 / 触发验证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35412" y="5778341"/>
              <a:ext cx="33211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工具调用从『模型选的动作』变成『执行环路里受监控的状态转移』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6" name="TextBox 36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345124" cy="738854"/>
            <a:chOff x="595122" y="501491"/>
            <a:chExt cx="73451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9705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PEV 控制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3451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PEV 循环：把调试变成受治理的状态转移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047750" y="1952625"/>
            <a:ext cx="10096500" cy="3990975"/>
            <a:chOff x="1047750" y="1952625"/>
            <a:chExt cx="10096500" cy="3990975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628650"/>
            </a:xfrm>
            <a:prstGeom prst="roundRect">
              <a:avLst>
                <a:gd name="adj" fmla="val 454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100965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80347" y="2104549"/>
              <a:ext cx="78313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从『事后调试』到『Harness 级控制』：失败面 = 语法错 · 运行时异常 · 错输出 · 边界漏 · 不安全操作 · 违反约定 → 单次生成不够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92466" y="2368391"/>
              <a:ext cx="60070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把迭代调试重述为 Plan–Execute–Verify（PEV）环：一个 cybernetic governor —— 观察动作效果，调节下一次状态转移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819400"/>
              <a:ext cx="28575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47750" y="2819400"/>
              <a:ext cx="2857500" cy="304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47750" y="2819400"/>
              <a:ext cx="28575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95075" y="2918222"/>
              <a:ext cx="156285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① PLAN · 计划 = 契约形成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4589" y="3286839"/>
              <a:ext cx="192382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把请求变成对下次状态转移的显式契约：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37486" y="3486864"/>
              <a:ext cx="207802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涉及文件 · 预期不变量 · 验证命令 · 回滚点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56500" y="3686889"/>
              <a:ext cx="184000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风险操作；AGENTS.md / MCP 注册表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68797" y="3886914"/>
              <a:ext cx="161540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 schema 让动作执行前可检视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667250" y="2819400"/>
              <a:ext cx="28575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667250" y="2819400"/>
              <a:ext cx="2857500" cy="304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67250" y="2819400"/>
              <a:ext cx="28575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198753" y="2918222"/>
              <a:ext cx="179449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② EXECUTE · 执行 = 有界转移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34089" y="3286839"/>
              <a:ext cx="192382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把契约实现为有界、可观察的状态转移：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29366" y="3486864"/>
              <a:ext cx="233326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隔离文件系统 · 依赖 · shell · 运行时 · 资源边界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61709" y="3686889"/>
              <a:ext cx="166858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只读 / 沙箱编辑 / 全权 三级权限；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64368" y="3886914"/>
              <a:ext cx="166326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同一 patch · seed · 锁文件可重放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286750" y="2819400"/>
              <a:ext cx="28575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286750" y="2819400"/>
              <a:ext cx="2857500" cy="304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286750" y="2819400"/>
              <a:ext cx="28575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40703" y="2918222"/>
              <a:ext cx="19495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③ VERIFY · 验证 = 确定性传感器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61566" y="3286839"/>
              <a:ext cx="190786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编译 / 静态分析（低价）→ 运行时报错 →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79144" y="3486864"/>
              <a:ext cx="207271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测试反馈（单元·集成·回归·fuzz·评估器）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84462" y="3686889"/>
              <a:ext cx="206207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评估 harness：单条命令 → 可重复任务分布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26416" y="3886914"/>
              <a:ext cx="117816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+ 红队用例 / RL 式环境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905250" y="3533775"/>
              <a:ext cx="657225" cy="9525"/>
            </a:xfrm>
            <a:custGeom>
              <a:avLst/>
              <a:gdLst/>
              <a:ahLst/>
              <a:cxnLst/>
              <a:rect l="l" t="t" r="r" b="b"/>
              <a:pathLst>
                <a:path w="657225" h="9525">
                  <a:moveTo>
                    <a:pt x="0" y="0"/>
                  </a:moveTo>
                  <a:lnTo>
                    <a:pt x="657225" y="0"/>
                  </a:lnTo>
                </a:path>
              </a:pathLst>
            </a:custGeom>
            <a:noFill/>
            <a:ln w="20955">
              <a:solidFill>
                <a:srgbClr val="999999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4569142" y="350139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7524750" y="3533775"/>
              <a:ext cx="657225" cy="9525"/>
            </a:xfrm>
            <a:custGeom>
              <a:avLst/>
              <a:gdLst/>
              <a:ahLst/>
              <a:cxnLst/>
              <a:rect l="l" t="t" r="r" b="b"/>
              <a:pathLst>
                <a:path w="657225" h="9525">
                  <a:moveTo>
                    <a:pt x="0" y="0"/>
                  </a:moveTo>
                  <a:lnTo>
                    <a:pt x="657225" y="0"/>
                  </a:lnTo>
                </a:path>
              </a:pathLst>
            </a:custGeom>
            <a:noFill/>
            <a:ln w="20955">
              <a:solidFill>
                <a:srgbClr val="999999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8188642" y="35013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47750" y="4457700"/>
              <a:ext cx="10096500" cy="552450"/>
            </a:xfrm>
            <a:prstGeom prst="roundRect">
              <a:avLst>
                <a:gd name="adj" fmla="val 517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47750" y="4457700"/>
              <a:ext cx="57150" cy="5524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426530" y="4636770"/>
              <a:ext cx="73389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证据回流：验证失败时，同一份传感器证据决定下一步 —— 诊断 / 检索缺失上下文 / 局部重生成 / 路由给测试或安全 Agent / 放弃分支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888968" y="4858464"/>
              <a:ext cx="641406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反思只在锚定于可执行证据时可靠：AgentCoder · AutoSafeCoder · QualityFlow = 智能批评 + 独立执行 / 静态 / fuzz / 测试质量门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47750" y="5181600"/>
              <a:ext cx="10096500" cy="762000"/>
            </a:xfrm>
            <a:prstGeom prst="roundRect">
              <a:avLst>
                <a:gd name="adj" fmla="val 375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47750" y="5181600"/>
              <a:ext cx="100965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899726" y="5334952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计划与调试不分离：验证失败更新计划，计划决定哪些验证证据有意义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16763" y="5625941"/>
              <a:ext cx="69584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终止也由验证决定（检查通过 / 不再改进 / 风险档变化 / 需人审），而非模型信心 —— 可靠性来自受治理的状态转移，不是更会修错的 prompt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7" name="TextBox 47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865626" cy="738854"/>
            <a:chOff x="595122" y="501491"/>
            <a:chExt cx="386562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9705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PEV 控制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执行底座与验证传感器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执行：沙箱 + 三级权限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0003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2974181"/>
              <a:ext cx="43428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沙箱=运作底座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隔离文件系统 · 依赖 · shell · 运行时 · 资源边界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298031"/>
              <a:ext cx="4402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代码沙箱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Daytona · E2B · OpenHands 可回放 shell / 文件 / Git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621881"/>
              <a:ext cx="33131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计算机使用底座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浏览器 / 桌面 / LSP / IDE 状态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3945731"/>
              <a:ext cx="37961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耐久运行时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microVM / WASM / 快照 · 热池 · 可续会话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3935" y="4269581"/>
              <a:ext cx="3346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三级权限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只读 → 沙箱编辑 → 全权（须 HITL 门）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8200" y="46196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3935" y="4593431"/>
              <a:ext cx="3690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可复现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同 patch / seed / 锁文件重放，环境漂移≠缺陷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22" name="Rectangle 2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6342" y="18926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验证：确定性传感器链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0003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2974181"/>
              <a:ext cx="36839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编译 / 静态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解析器 · 类型 · lint · 安全告警 —— 最廉价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298031"/>
              <a:ext cx="3728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运行时报错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异常 · 断言 · 非法 API · 资源耗尽 · 超时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621881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测试反馈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单元 · 集成 · 回归 · fuzz · 基准评估器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3945731"/>
              <a:ext cx="3702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评估 harness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单条命令 → 任务分布 + 红队 / RL 环境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4269581"/>
              <a:ext cx="3524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批评的角色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证据稀疏时解释传感器输出，但不替代它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6196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8935" y="4593431"/>
              <a:ext cx="37430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终止由验证决定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检查通过 / 不再改进 / 风险变 / 需人审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023582" cy="738854"/>
            <a:chOff x="595122" y="501491"/>
            <a:chExt cx="702358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039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自适应进化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02358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Agentic Harness Engineering（AHE）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047750" y="1952625"/>
            <a:ext cx="10096500" cy="3990975"/>
            <a:chOff x="1047750" y="1952625"/>
            <a:chExt cx="10096500" cy="3990975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666750"/>
            </a:xfrm>
            <a:prstGeom prst="roundRect">
              <a:avLst>
                <a:gd name="adj" fmla="val 4286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00665" y="2088356"/>
              <a:ext cx="7990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Agentic Harness Engineering（AHE）：把『把 LLM 变成编码 Agent 的软件底座』当作可测量、可修订的分析对象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19582" y="2368391"/>
              <a:ext cx="59528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三股脉络：AutoHarness 自动综合 · Meta-Harness 底座优化问题 · 可观测驱动 AHE 靠遥测诊断『失败在环的哪一段』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819400"/>
              <a:ext cx="4953000" cy="2324100"/>
            </a:xfrm>
            <a:prstGeom prst="roundRect">
              <a:avLst>
                <a:gd name="adj" fmla="val 123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47750" y="2819400"/>
              <a:ext cx="57150" cy="2324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70635" y="2983706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深度遥测 = 优化基底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1588" y="3282791"/>
              <a:ext cx="28354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浅日志只记最终答案 / pass-fail；深遥测记录决策过程：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1588" y="3539966"/>
              <a:ext cx="25374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提示与检索上下文 · token 与成本 · 模型/工具延迟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71588" y="3797141"/>
              <a:ext cx="27250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工具参数 · 权限请求 · 编辑文件 · 沙箱快照 · 命令输出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71588" y="4054316"/>
              <a:ext cx="27085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测试结果 · 栈 · lint · 分支决策 · 拒绝备选 · 人工干预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1588" y="4311491"/>
              <a:ext cx="29429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失败可聚类：缺依赖 / 弱测试 / 幻觉 API / 过度许可工具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71588" y="4568666"/>
              <a:ext cx="26257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同证据可重放、跨版本对比 —— 修订从轶事变对照诊断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91250" y="2819400"/>
              <a:ext cx="4953000" cy="2324100"/>
            </a:xfrm>
            <a:prstGeom prst="roundRect">
              <a:avLst>
                <a:gd name="adj" fmla="val 123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91250" y="2819400"/>
              <a:ext cx="4953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03683" y="2983706"/>
              <a:ext cx="2528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进化 Agent = 元层 Agent（五步）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82380" y="3320891"/>
              <a:ext cx="17707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 观察轨迹：采集 PEV 执行的遥测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12839" y="3625691"/>
              <a:ext cx="25098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 归因失败：成本/无效动作/失败/权限拒绝 → 组件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06735" y="3930491"/>
              <a:ext cx="29220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3 提出修订：工具描述 · 打包 · 加 linter · 重试 · HITL 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76963" y="4235291"/>
              <a:ext cx="25815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4 评估：留出任务 / 回放轨迹 + 确定性传感器 / 回归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18358" y="4540091"/>
              <a:ext cx="24987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5 晋升：只提升不回归旧案的改动 —— 可执行可审计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47750" y="5334000"/>
              <a:ext cx="10096500" cy="609600"/>
            </a:xfrm>
            <a:prstGeom prst="roundRect">
              <a:avLst>
                <a:gd name="adj" fmla="val 468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047750" y="5334000"/>
              <a:ext cx="57150" cy="6096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734797" y="5499497"/>
              <a:ext cx="87224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受治理变异：进化 Agent 改的是『后续 Agent 的工作条件』→ 沙箱内评估 · 固定回归套件 · 可审计理由；改权限/网络/凭据/部署/人审 → HITL 才激活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73230" y="5744289"/>
              <a:ext cx="504553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进化 Agent 自己也在 PEV 环内：计划底座变异 → 隔离评估 → 靠遥测与回归验证 → 高风险改动升级给人类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273887" cy="738854"/>
            <a:chOff x="595122" y="501491"/>
            <a:chExt cx="527388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9670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多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27388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扩展：多 Agent 共享代码底座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047750" y="1952625"/>
            <a:ext cx="10096500" cy="4092416"/>
            <a:chOff x="1047750" y="1952625"/>
            <a:chExt cx="10096500" cy="4092416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609600"/>
            </a:xfrm>
            <a:prstGeom prst="roundRect">
              <a:avLst>
                <a:gd name="adj" fmla="val 468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55550" y="2092404"/>
              <a:ext cx="728090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Fig.10 重绘 · 从单 Agent 扩到多 Agent 生态：共享代码工件 / 执行状态 / 仓库 支撑协调 · 审查 · 集体验证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32494" y="2368391"/>
              <a:ext cx="41270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分工后底座更模块化 · 可检视 · 可适应：代码从『输出目标』变成『共享协调媒介』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762250"/>
              <a:ext cx="3048000" cy="1619250"/>
            </a:xfrm>
            <a:prstGeom prst="roundRect">
              <a:avLst>
                <a:gd name="adj" fmla="val 1765"/>
              </a:avLst>
            </a:prstGeom>
            <a:solidFill>
              <a:srgbClr val="FFFFFF"/>
            </a:solidFill>
            <a:ln w="12382">
              <a:solidFill>
                <a:srgbClr val="E3061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92896" y="2926556"/>
              <a:ext cx="11577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单 Agent 三堵墙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66021" y="3225641"/>
              <a:ext cx="14114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① 上下文窗口：装不下整库 +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06766" y="3425666"/>
              <a:ext cx="1129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长交互历史 + 执行轨迹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39074" y="3625691"/>
              <a:ext cx="16653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② 通才低效：规划 / 合成 / 测试 /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45402" y="3825716"/>
              <a:ext cx="10526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审查 / 调试 同一人做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68130" y="4025741"/>
              <a:ext cx="1207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③ 无独立协调验证通道：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0628" y="4225766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长程难自查自纠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86250" y="2762250"/>
              <a:ext cx="6858000" cy="1619250"/>
            </a:xfrm>
            <a:prstGeom prst="roundRect">
              <a:avLst>
                <a:gd name="adj" fmla="val 176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86250" y="2762250"/>
              <a:ext cx="6858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09516" y="2942749"/>
              <a:ext cx="44114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 Agent 协作三要素 —— 早期系统：ChatDev · MetaGPT · AgentCoder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33900" y="3276600"/>
              <a:ext cx="2114550" cy="9334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42338" y="3442097"/>
              <a:ext cx="89767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角色分工 Roles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39555" y="3709988"/>
              <a:ext cx="130324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Manager · Planner · Coder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56397" y="3919538"/>
              <a:ext cx="14695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Reviewer · Tester · Executer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743700" y="3276600"/>
              <a:ext cx="2114550" cy="9334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51180" y="3442097"/>
              <a:ext cx="129959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交互模式 Interaction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18188" y="3709988"/>
              <a:ext cx="116557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协作 / 对抗 · 辩论 / 红队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26725" y="3919538"/>
              <a:ext cx="94850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编程 / 修复 / 重设计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953500" y="3276600"/>
              <a:ext cx="2114550" cy="9334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80847" y="3442097"/>
              <a:ext cx="85985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拓扑 Topology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20416" y="3709988"/>
              <a:ext cx="118071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链 · 环 · 星 · 层级 · 流式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39238" y="3919538"/>
              <a:ext cx="17430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自适应：动态池 / DAG 重构 / 自重组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47750" y="4610100"/>
              <a:ext cx="10096500" cy="1066800"/>
            </a:xfrm>
            <a:prstGeom prst="roundRect">
              <a:avLst>
                <a:gd name="adj" fmla="val 267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47750" y="4610100"/>
              <a:ext cx="57150" cy="10668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62491" y="4763452"/>
              <a:ext cx="2867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共享代码底座 = 协调与收敛的介质：三路信号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47750" y="5029200"/>
              <a:ext cx="3143250" cy="5334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152675" y="51525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仓库与共享状态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07515" y="5386388"/>
              <a:ext cx="142372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repo · 测试 · diff · PR · 黑板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286250" y="5029200"/>
              <a:ext cx="3143250" cy="5334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89067" y="51525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执行反馈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93945" y="5386388"/>
              <a:ext cx="192786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编译测试 · 运行 / profiling · 模拟 / fuzz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524750" y="5029200"/>
              <a:ext cx="3143250" cy="5334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695639" y="51525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程序状态收敛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63105" y="5386388"/>
              <a:ext cx="126653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正确性 · 安全 · 性能 · 共识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47750" y="5829300"/>
              <a:ext cx="10096500" cy="209550"/>
            </a:xfrm>
            <a:prstGeom prst="roundRect">
              <a:avLst>
                <a:gd name="adj" fmla="val 13636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974852" y="5883116"/>
              <a:ext cx="42422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共享基座越正式，拓扑越简单透明（L2MAC 链式 vs 隐式状态下的复杂自适应拓扑）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167628" cy="738854"/>
            <a:chOff x="595122" y="501491"/>
            <a:chExt cx="616762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9670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多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16762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六种收敛判据：从测试门到隐式终止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收敛判据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0796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代表系统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94888" y="17535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一句话点评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2569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正确性（测试门）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51391" y="2256949"/>
              <a:ext cx="26892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AgentCoder · L2MAC · SyncMind · CANDOR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27262" y="225694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最主流客观准则：测试全过即成功终止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62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28951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13245" y="2895124"/>
              <a:ext cx="9655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AutoSafeCoder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11200" y="2895124"/>
              <a:ext cx="26848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 CWE 漏洞 + fuzzer 无崩溃 —— 多准则收敛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267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5237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性能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71500" y="3523774"/>
              <a:ext cx="4490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MACRO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17368" y="3523774"/>
              <a:ext cx="2272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唯一以运行时 / 内存阈值为主收敛准则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1619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评分制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57560" y="4161949"/>
              <a:ext cx="18768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MAGE · CodeCoR · Trae Agent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09582" y="4161949"/>
              <a:ext cx="26880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质量分排序 / 剪枝 / 选择；可软收敛交最优解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533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8001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共识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90136" y="4800124"/>
              <a:ext cx="14117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CANDOR · QualityFlow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52555" y="4800124"/>
              <a:ext cx="32020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多数投票 / 质量门；QualityFlow 首轮后收敛 75–84%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5172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847" y="54287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隐式（最常见）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61766" y="5428774"/>
              <a:ext cx="1868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ChatDev · MetaGPT · EvoMAC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73302" y="5428774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固定轮数 / 阶段终止，无客观信号 —— 最大缺口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167628" cy="738854"/>
            <a:chOff x="595122" y="501491"/>
            <a:chExt cx="616762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9670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多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16762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六个趋势洞见：状态形式化决定一切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734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隐式状态=脆性根源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550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多数系统靠对话历史重建共享状态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02706"/>
              <a:ext cx="2458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无法察觉理解与现实状态分歧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50356"/>
              <a:ext cx="26762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（ChatDev · MetaGPT · FlowGen · SE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98006"/>
              <a:ext cx="377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W…）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03242" y="1892618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代码通道不消瓶颈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355056"/>
              <a:ext cx="2806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文件/API/diff/测试/日志/黑板各有折衷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602706"/>
              <a:ext cx="2619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关键：哪个工件权威 · 如何压缩 · 冲突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4385" y="28503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咋解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4385" y="3098006"/>
              <a:ext cx="2061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保真度 / 延迟 / 范围 三向权衡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22" name="Rectangle 22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5142" y="1892618"/>
              <a:ext cx="1734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执行反馈≠一律必要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478881"/>
              <a:ext cx="2608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LLM 模拟执行可达 98%+ 精度 / 召回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6285" y="2726531"/>
              <a:ext cx="2672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崩溃/资源耗尽/边界/性能回归须真执行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6285" y="2974181"/>
              <a:ext cx="23936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语言快路径 + 执行验证 oracle 混合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3810000"/>
            <a:ext cx="3429000" cy="2000250"/>
            <a:chOff x="609600" y="3810000"/>
            <a:chExt cx="3429000" cy="2000250"/>
          </a:xfrm>
        </p:grpSpPr>
        <p:sp>
          <p:nvSpPr>
            <p:cNvPr id="29" name="Rectangle 29"/>
            <p:cNvSpPr/>
            <p:nvPr/>
          </p:nvSpPr>
          <p:spPr>
            <a:xfrm>
              <a:off x="6096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96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342" y="4083368"/>
              <a:ext cx="1448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两种表征未统一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485" y="4669631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仓库视图=静态结构；执行视图=动态行为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2485" y="49172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尚无系统同时统一两者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485" y="5164931"/>
              <a:ext cx="2990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『哪组件慢』『重构是否破坏 API』需合一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381500" y="3810000"/>
            <a:ext cx="3429000" cy="2000250"/>
            <a:chOff x="4381500" y="3810000"/>
            <a:chExt cx="3429000" cy="2000250"/>
          </a:xfrm>
        </p:grpSpPr>
        <p:sp>
          <p:nvSpPr>
            <p:cNvPr id="36" name="Rectangle 36"/>
            <p:cNvSpPr/>
            <p:nvPr/>
          </p:nvSpPr>
          <p:spPr>
            <a:xfrm>
              <a:off x="43815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3815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03242" y="4083368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⑤ 拓扑复杂度成反比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4385" y="4669631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共享底座越形式化 → 拓扑越简单透明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04385" y="4917281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隐式状态 → 复杂自适应拓扑补偿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04385" y="5164931"/>
              <a:ext cx="27976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L2MAC 链式 vs EvoMAC / SEW 动态 DAG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153400" y="3810000"/>
            <a:ext cx="3429000" cy="2000250"/>
            <a:chOff x="8153400" y="3810000"/>
            <a:chExt cx="3429000" cy="2000250"/>
          </a:xfrm>
        </p:grpSpPr>
        <p:sp>
          <p:nvSpPr>
            <p:cNvPr id="43" name="Rectangle 43"/>
            <p:cNvSpPr/>
            <p:nvPr/>
          </p:nvSpPr>
          <p:spPr>
            <a:xfrm>
              <a:off x="81534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1534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75142" y="4083368"/>
              <a:ext cx="19165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⑥ 上下文管理=状态的税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76285" y="4669631"/>
              <a:ext cx="2797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L2MAC 控制单元 · MetaGPT 发布订阅池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76285" y="4917281"/>
              <a:ext cx="2233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SoA Agent 池 · Cogito 三层记忆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76285" y="516493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都在补偿『没有形式化共享底座』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0" name="TextBox 50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应用地图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五个落地领域：都是「程序世界」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42988" y="1892141"/>
            <a:ext cx="10101262" cy="4108609"/>
            <a:chOff x="1042988" y="1892141"/>
            <a:chExt cx="10101262" cy="4108609"/>
          </a:xfrm>
        </p:grpSpPr>
        <p:sp>
          <p:nvSpPr>
            <p:cNvPr id="6" name="TextBox 6"/>
            <p:cNvSpPr txBox="1"/>
            <p:nvPr/>
          </p:nvSpPr>
          <p:spPr>
            <a:xfrm>
              <a:off x="1042988" y="1892141"/>
              <a:ext cx="5325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Fig.12 重绘 · 五个落地领域里，观察 / 动作 / 状态 / 记忆 都是『程序』—— GUI/OS 是其中最字面的一种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47750" y="2114550"/>
              <a:ext cx="10096500" cy="7239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47750" y="2114550"/>
              <a:ext cx="76200" cy="7239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23035" y="2297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代码助手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23988" y="2590086"/>
              <a:ext cx="756261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1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Code Assistants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95738" y="2290762"/>
              <a:ext cx="459460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仓库级闭环：检索→定位→编辑→测试→PR：Claude Code · Codex · Copilot coding agent · OpenHands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95738" y="2528888"/>
              <a:ext cx="522982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生产数字：LingmaAgent 16.9% 全自主 / 43.3% 人工介入；长程基准 SWE-Lancer · Terminal-Bench · AppWorld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" y="2905125"/>
              <a:ext cx="10096500" cy="7239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47750" y="2905125"/>
              <a:ext cx="76200" cy="7239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23035" y="3088481"/>
              <a:ext cx="65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GUI / OS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3988" y="3380661"/>
              <a:ext cx="689722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1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Program World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95738" y="3081338"/>
              <a:ext cx="488813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观察=代码的渲染输出（DOM / AXTree / 截屏），动作=又一次代码调用（DOM 事件 · adb · Playwright）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95738" y="3319462"/>
              <a:ext cx="581021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Cradle 直接输出可执行 Python；OSWorld：369 个真实 OS 任务、VM 内 Python 检查器；WebArena · Mind2Web · Spider2-V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47750" y="3695700"/>
              <a:ext cx="10096500" cy="7239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47750" y="3695700"/>
              <a:ext cx="76200" cy="7239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23035" y="3879056"/>
              <a:ext cx="804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具身 Agent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23988" y="4171236"/>
              <a:ext cx="775532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1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Embodied Agents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95738" y="3871912"/>
              <a:ext cx="369979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物理约束会『静默失败』→ 正确性压力前移动作生成：代码=接地区接口 + 安全边界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95738" y="4110038"/>
              <a:ext cx="473509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技能库=可再执行的记忆：Voyager · Code-as-Policies · RoboCodeX —— 治理：遗忘 / 抽象 / grounding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047750" y="4486275"/>
              <a:ext cx="10096500" cy="7239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47750" y="4486275"/>
              <a:ext cx="76200" cy="7239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23035" y="46696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科学发现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23988" y="4961811"/>
              <a:ext cx="946985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1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Scientific Discovery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95738" y="4662488"/>
              <a:ext cx="390315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科研闭环（假设→设计→执行→观察→修订）全数字化：XDL 协议 · Jupyter · Lean 证明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95738" y="4900612"/>
              <a:ext cx="48706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ChemCrow（18 化学工具）· Coscientist（有机化学跨阈）· AI Scientist v1/v2 · Biomni（25 子域工具）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47750" y="5276850"/>
              <a:ext cx="10096500" cy="7239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47750" y="5276850"/>
              <a:ext cx="76200" cy="7239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23035" y="5460206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个性化 / 推荐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23988" y="5752386"/>
              <a:ext cx="729082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1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Personalization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95738" y="5453062"/>
              <a:ext cx="306876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把用户画像 / 偏好写成可执行策略 + 结构化中间态，随反馈持续修订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95738" y="5691188"/>
              <a:ext cx="256424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Agent4Rec：以工具调用与结构化中间态协调推荐子任务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551295" cy="738854"/>
            <a:chOff x="595122" y="501491"/>
            <a:chExt cx="655129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开放问题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5512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七大开放问题：从终点成功到系统度量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042988" y="1896189"/>
            <a:ext cx="10101262" cy="4145756"/>
            <a:chOff x="1042988" y="1896189"/>
            <a:chExt cx="10101262" cy="4145756"/>
          </a:xfrm>
        </p:grpSpPr>
        <p:sp>
          <p:nvSpPr>
            <p:cNvPr id="6" name="TextBox 6"/>
            <p:cNvSpPr txBox="1"/>
            <p:nvPr/>
          </p:nvSpPr>
          <p:spPr>
            <a:xfrm>
              <a:off x="1042988" y="1896189"/>
              <a:ext cx="793794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§5.2 七大开放问题：一旦把 harness 当一等组件，失败可能来自 弱验证器 / 过期上下文 / 不安全工具 / 不一致多 Agent 状态 / 多模态 grounding / 治理不足的自进化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47750" y="211455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47750" y="2114550"/>
              <a:ext cx="571500" cy="4953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114550"/>
              <a:ext cx="38100" cy="4953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8738" y="2353389"/>
              <a:ext cx="31661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5.2.1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4797" y="2228374"/>
              <a:ext cx="20226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Harness 级评估与 oracle 充分性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04988" y="2458164"/>
              <a:ext cx="716154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终点成功率混淆模型 / 底座 / 工具 / 环境 → 六维：轨迹效率·验证强度·恢复力·状态一致性·安全合规·可重放；瓶颈=oracle 是否真在测『该测的任务』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" y="268605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47750" y="2686050"/>
              <a:ext cx="571500" cy="4953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7750" y="2686050"/>
              <a:ext cx="38100" cy="4953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28738" y="2924889"/>
              <a:ext cx="31661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5.2.2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4797" y="279987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超越可执行反馈的语义验证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04988" y="3029664"/>
              <a:ext cx="654381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绿灯≠规格达成：测试 / 分析器 / GUI 检查器 / 模拟器都会过度自信 → 验证物声明验什么 / 不能验什么 / 置信度；接受动作带证据包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47750" y="325755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47750" y="3257550"/>
              <a:ext cx="571500" cy="4953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047750" y="3257550"/>
              <a:ext cx="38100" cy="4953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28738" y="3496389"/>
              <a:ext cx="31661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5.2.3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04797" y="3371374"/>
              <a:ext cx="15082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无回归的自进化 harness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04988" y="3601164"/>
              <a:ext cx="611932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自动进化已存在，难的是不退化：变异=安全关键运行时变更 → 变更契约（组件 / 目标失败 / 预期 / 不变量 / 可证伪评估 / 回滚）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047750" y="382905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47750" y="3829050"/>
              <a:ext cx="571500" cy="4953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047750" y="3829050"/>
              <a:ext cx="38100" cy="4953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28738" y="4067889"/>
              <a:ext cx="31661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5.2.4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04797" y="394287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事务性共享程序状态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04988" y="4172664"/>
              <a:ext cx="665638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同步≠事务：动作声明读集 / 写集 / 假设 / 版本依赖 / 验证义务 / 冲突策略；冲突在计划·测试·记忆·用户目标层语义化解，而非只 diff 文本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47750" y="440055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47750" y="4400550"/>
              <a:ext cx="571500" cy="4953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47750" y="4400550"/>
              <a:ext cx="38100" cy="4953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28738" y="4639389"/>
              <a:ext cx="31661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5.2.5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04797" y="4514374"/>
              <a:ext cx="20197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HITL 安全与问责 = harness 状态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04988" y="4744164"/>
              <a:ext cx="570987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批准 / 拒绝 / 例外 / 纠正要更新权限与未来检索；高危审批=可审计状态转移（提议 · 证据 · 风险 · 谁批 · 责任如何变）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47750" y="497205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47750" y="4972050"/>
              <a:ext cx="571500" cy="4953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47750" y="4972050"/>
              <a:ext cx="38100" cy="4953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328738" y="5210889"/>
              <a:ext cx="31661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5.2.6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804797" y="5085874"/>
              <a:ext cx="12444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多模态代码 harness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04988" y="5315664"/>
              <a:ext cx="642603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GUI / 具身 / 科学观测大而冗余：压缩须保留任务相关证据；动作带 grounding 引用（bbox / 元素 / 帧）；反馈显式 scope 与不确定性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54355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47750" y="5543550"/>
              <a:ext cx="571500" cy="4953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47750" y="5543550"/>
              <a:ext cx="38100" cy="4953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328738" y="5782389"/>
              <a:ext cx="31661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5.2.7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04797" y="5657374"/>
              <a:ext cx="14292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迈向 Harness 工程科学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04988" y="5887164"/>
              <a:ext cx="637987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研究对象从模型 / 程序 → 完整闭环系统：context · memory · tools · execution · feedback · safety · coordination · evaluation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0" name="TextBox 50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79905" cy="738854"/>
            <a:chOff x="595122" y="501491"/>
            <a:chExt cx="547990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结论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7990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结论：四属性合一 + 一门新学科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47750" y="1952625"/>
            <a:ext cx="10096500" cy="4067175"/>
            <a:chOff x="1047750" y="1952625"/>
            <a:chExt cx="10096500" cy="4067175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628650"/>
            </a:xfrm>
            <a:prstGeom prst="roundRect">
              <a:avLst>
                <a:gd name="adj" fmla="val 4545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506378" y="2095262"/>
              <a:ext cx="7179244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4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结论：最重要的未来系统 = 四属性合一 —— executable · inspectable · stateful · governed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34372" y="2387441"/>
              <a:ext cx="25232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它们共同定义可靠、长程 Agentic AI 的下一个前沿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781300"/>
              <a:ext cx="2381250" cy="1524000"/>
            </a:xfrm>
            <a:prstGeom prst="roundRect">
              <a:avLst>
                <a:gd name="adj" fmla="val 187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47750" y="2781300"/>
              <a:ext cx="23812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01787" y="3029902"/>
              <a:ext cx="8731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EXECUTABLE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06498" y="32694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可执行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58885" y="3610689"/>
              <a:ext cx="175897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决策锚定在代码 / 工具 / 测试 / 环境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48689" y="3839289"/>
              <a:ext cx="117937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可运行、可被形式化验证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1863" y="4067889"/>
              <a:ext cx="107302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grounding 到执行结果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619500" y="2781300"/>
              <a:ext cx="2381250" cy="1524000"/>
            </a:xfrm>
            <a:prstGeom prst="roundRect">
              <a:avLst>
                <a:gd name="adj" fmla="val 187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619500" y="2781300"/>
              <a:ext cx="23812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350014" y="3029902"/>
              <a:ext cx="9202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INSPECTABLE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78248" y="32694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可检视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04048" y="3610689"/>
              <a:ext cx="181215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计划 · 状态 · provenance · 失败原因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73614" y="3839289"/>
              <a:ext cx="107302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全程暴露给诊断与反馈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79963" y="4067889"/>
              <a:ext cx="86032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看得见才能调得对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191250" y="2781300"/>
              <a:ext cx="2381250" cy="1524000"/>
            </a:xfrm>
            <a:prstGeom prst="roundRect">
              <a:avLst>
                <a:gd name="adj" fmla="val 187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91250" y="2781300"/>
              <a:ext cx="23812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31538" y="3029902"/>
              <a:ext cx="700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STATEFUL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49998" y="32694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有状态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51637" y="3610689"/>
              <a:ext cx="166047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跨长轨迹与多 Agent 保存任务信息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90562" y="3839289"/>
              <a:ext cx="98262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会话结束 ≠ 进度丢失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98538" y="4067889"/>
              <a:ext cx="96667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程序状态即持久记忆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763000" y="2781300"/>
              <a:ext cx="2381250" cy="1524000"/>
            </a:xfrm>
            <a:prstGeom prst="roundRect">
              <a:avLst>
                <a:gd name="adj" fmla="val 187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763000" y="2781300"/>
              <a:ext cx="23812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87606" y="3029902"/>
              <a:ext cx="732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GOVERNED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21748" y="32694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受治理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41636" y="3610689"/>
              <a:ext cx="142397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自主被权限 / 验证 / 问责约束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55962" y="3839289"/>
              <a:ext cx="119532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越界有人审 · 动作留日志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87867" y="4067889"/>
              <a:ext cx="113151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问责=可审计的状态转移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47750" y="4514850"/>
              <a:ext cx="10096500" cy="838200"/>
            </a:xfrm>
            <a:prstGeom prst="roundRect">
              <a:avLst>
                <a:gd name="adj" fmla="val 3409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956650" y="4695349"/>
              <a:ext cx="82787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学科议程：① 暴露长程失败的基准 · ② 让轨迹可审计的遥测 · ③ 隔离 harness 组件的指标 · ④ 让 Agent 安全运行在持久程序世界的设计原则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60110" y="4997291"/>
              <a:ext cx="74717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研究对象不再是模型或生成程序本身，而是完整闭环系统：context · memory · tools · execution · feedback · safety · coordination · evaluation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47750" y="5543550"/>
              <a:ext cx="10096500" cy="476250"/>
            </a:xfrm>
            <a:prstGeom prst="roundRect">
              <a:avLst>
                <a:gd name="adj" fmla="val 6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47750" y="5543550"/>
              <a:ext cx="100965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941601" y="5715952"/>
              <a:ext cx="4308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可执行 · 可检视 · 有状态 · 受治理 —— 四者缺一，长程自主即不可靠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5" name="TextBox 45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总结与行动清单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3382632" cy="322707"/>
            <a:chOff x="601218" y="1898332"/>
            <a:chExt cx="3382632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一命题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43520" y="19145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代码是运行底座，不只是产物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2776842" cy="322707"/>
            <a:chOff x="601218" y="2431732"/>
            <a:chExt cx="277684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一总览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3520" y="24464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三层架构贯通五域应用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4528185" cy="322707"/>
            <a:chOff x="601218" y="2965132"/>
            <a:chExt cx="4528185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一循环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84351" y="2976191"/>
              <a:ext cx="38450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PEV：计划契约 · 有界执行 · 传感器验证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8618" y="1898332"/>
            <a:ext cx="3628873" cy="322707"/>
            <a:chOff x="6468618" y="1898332"/>
            <a:chExt cx="3628873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468618" y="18983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一进化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51751" y="1916551"/>
              <a:ext cx="2945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遥测 → 进化 Agent → 受治理变异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2431732"/>
            <a:ext cx="3727323" cy="322707"/>
            <a:chOff x="6468618" y="2431732"/>
            <a:chExt cx="3727323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2431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一判据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51751" y="2438304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六种收敛判据：测试门到隐式终止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965132"/>
            <a:ext cx="4423982" cy="322707"/>
            <a:chOff x="6468618" y="2965132"/>
            <a:chExt cx="442398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9651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51751" y="2981325"/>
              <a:ext cx="37408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做可执行 · 可检视 · 有状态 · 受治理系统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258904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代码即 Agent Harness · 学术综述精讲（arXiv:2605.18747）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codeas">
  <a:themeElements>
    <a:clrScheme name="codea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dea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a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5294</Words>
  <Application>Microsoft Office PowerPoint</Application>
  <PresentationFormat>宽屏</PresentationFormat>
  <Paragraphs>544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Arial</vt:lpstr>
      <vt:lpstr>Calibri</vt:lpstr>
      <vt:lpstr>codeas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辉 童</cp:lastModifiedBy>
  <cp:revision>2</cp:revision>
  <dcterms:created xsi:type="dcterms:W3CDTF">2026-09-06T14:51:40Z</dcterms:created>
  <dcterms:modified xsi:type="dcterms:W3CDTF">2026-09-07T02:08:10Z</dcterms:modified>
  <cp:category/>
  <cp:contentStatus/>
  <dc:language/>
</cp:coreProperties>
</file>