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9030158" cy="1760696"/>
            <a:chOff x="895350" y="2295049"/>
            <a:chExt cx="9030158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3652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HARNESS ENGINEERING · 生产级实践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51312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= 模型 + Harness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9018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六层生产级 Agent 架构手册：Guides · Loop · Sensors · Memory · Permissions · Observability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7485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模型负责推理，其余一切交给 Harness —— 基于公开工程资料独立汇编（2026-08）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1620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技术讲座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942131" cy="322707"/>
            <a:chOff x="601218" y="1898332"/>
            <a:chExt cx="3942131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446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命题：为什么 95% 的 Agent 从未上线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3488929" cy="322707"/>
            <a:chOff x="601218" y="2431732"/>
            <a:chExt cx="3488929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992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公式：Agent = Model + Harness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4076289" cy="322707"/>
            <a:chOff x="601218" y="2965132"/>
            <a:chExt cx="4076289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3580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六层架构：从 Guides 到 Observability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3196971" cy="322707"/>
            <a:chOff x="601218" y="3498532"/>
            <a:chExt cx="3196971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机制：棘轮 · 阶梯 · 七天路径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3600831" cy="322707"/>
            <a:chOff x="6468618" y="1898332"/>
            <a:chExt cx="3600831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决策：何时建 · 建什么 · 上线清单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3570542" cy="322707"/>
            <a:chOff x="6468618" y="2431732"/>
            <a:chExt cx="357054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实证与反思：五个案例 + 常见错误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4002405" cy="322707"/>
            <a:chOff x="6468618" y="2965132"/>
            <a:chExt cx="4002405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35063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结论：模型给智力，Harness 决定交付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96023" cy="738854"/>
            <a:chOff x="595122" y="501491"/>
            <a:chExt cx="549602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命题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960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 95% 的 Agent 从未上线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47750" y="1952625"/>
            <a:ext cx="10096500" cy="3514725"/>
            <a:chOff x="1047750" y="1952625"/>
            <a:chExt cx="10096500" cy="351472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91919" y="2129314"/>
              <a:ext cx="7208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 95% 的企业级 AI Agent 从未上线？—— 演示很好，预算也过，却在预生产中悄悄死掉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85589" y="2411968"/>
              <a:ext cx="62208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差距不来自模型：是缺少把概率模型变成「可靠 · 有界 · 可观测系统」的那层工程（Faros：变更更大、爆炸半径更宽）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857500"/>
              <a:ext cx="3200400" cy="1676400"/>
            </a:xfrm>
            <a:prstGeom prst="roundRect">
              <a:avLst>
                <a:gd name="adj" fmla="val 170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8575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71943" y="3136106"/>
              <a:ext cx="1352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写码 ≠ 代码变好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16329" y="3541395"/>
              <a:ext cx="1863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输出更大 · 更复杂 · 爆炸半径更宽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4837" y="3827145"/>
              <a:ext cx="19662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表面质量高 → 错误在认知上极难发现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4265" y="4112895"/>
              <a:ext cx="20873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(Faros AI Engineering Report 2026)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38650" y="2857500"/>
              <a:ext cx="3200400" cy="1676400"/>
            </a:xfrm>
            <a:prstGeom prst="roundRect">
              <a:avLst>
                <a:gd name="adj" fmla="val 170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38650" y="28575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54650" y="3136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四道坎拦在生产之前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58632" y="3541395"/>
              <a:ext cx="1360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安全审查不过 · 治理缺失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76895" y="382714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边界情况幻觉 · 缺可观测与遥测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76895" y="4112895"/>
              <a:ext cx="17239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无指南文件 → 每个会话从零开始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29550" y="2857500"/>
              <a:ext cx="3200400" cy="1676400"/>
            </a:xfrm>
            <a:prstGeom prst="roundRect">
              <a:avLst>
                <a:gd name="adj" fmla="val 170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29550" y="28575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45550" y="3136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会话里的纠错会蒸发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86747" y="3541395"/>
              <a:ext cx="14860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会重犯上周已改的错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58618" y="38271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会用上月已被禁用的模式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73897" y="4112895"/>
              <a:ext cx="19117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会改动只读文件 —— 修正没写进文件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7750" y="4838700"/>
              <a:ext cx="10096500" cy="62865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60668" y="4983956"/>
              <a:ext cx="7870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缺口有名字：Harness Engineering —— 模型负责推理，「其余一切」（防错 · 验证 · 记忆 · 边界 · 观测）由它负责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75905" y="5250418"/>
              <a:ext cx="46401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Agent 生产化已成为 2026 年的定义性工程问题 —— 本讲给出六层最小可用架构与落地路径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338253" cy="738854"/>
            <a:chOff x="595122" y="501491"/>
            <a:chExt cx="833825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演进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3382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工程三时代：Prompt → Context → Harness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8452" y="1753552"/>
              <a:ext cx="1651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Prompt 工程 (2023–24)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40000" y="1753552"/>
              <a:ext cx="145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Context 工程 (2025)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83200" y="1753552"/>
              <a:ext cx="14552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Harness 工程 (2026)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4188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聚焦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7700" y="24188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单轮交互与措辞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0900" y="24188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系统上下文构建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10064" y="24188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完整运行环境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371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优化对象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89628" y="33713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提示怎么写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66864" y="33713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模型看到什么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2459" y="3371374"/>
              <a:ext cx="187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模型能做什么 · 失败后剩下什么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43238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9628" y="4323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让模型说对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2828" y="4323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让模型看全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0742" y="4323874"/>
              <a:ext cx="21801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让执行安全 · 可验证 · 有界 · 可观测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2763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上一代做不到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83951" y="5276374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无法跨轮 · 不防执行错误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4937" y="527637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不约束执行与安全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71540" y="5276374"/>
              <a:ext cx="1078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——（吸收前两者）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478381" cy="738854"/>
            <a:chOff x="595122" y="501491"/>
            <a:chExt cx="84783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公式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4783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= Model + Harness：一条公式定义 2026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047750" y="1952625"/>
            <a:ext cx="10096500" cy="3895725"/>
            <a:chOff x="1047750" y="1952625"/>
            <a:chExt cx="10096500" cy="389572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216062" y="2121218"/>
              <a:ext cx="5759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Agent = Model + Harness —— 模型提供推理，Harness 提供其余一切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29472" y="2411968"/>
              <a:ext cx="573305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2026-02 起一周内：Hashimoto 点题 → OpenAI Codex 一线实证 → Fowler 系统化命名，术语进入核心工程词汇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857500"/>
              <a:ext cx="3200400" cy="1771650"/>
            </a:xfrm>
            <a:prstGeom prst="roundRect">
              <a:avLst>
                <a:gd name="adj" fmla="val 161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8575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59690" y="314706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一作者 · 一原则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7572" y="3545443"/>
              <a:ext cx="248075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Mitchell Hashimoto（Terraform · Ghostty）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8943" y="3793093"/>
              <a:ext cx="215801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『每当 Agent 犯错，就花时间设计方案，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5685" y="4040743"/>
              <a:ext cx="18445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让它永不再犯同样的错』→ 棘轮原则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38709" y="4288393"/>
              <a:ext cx="22184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(My AI Adoption Journey · 2026-02-05)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38650" y="2857500"/>
              <a:ext cx="3200400" cy="1771650"/>
            </a:xfrm>
            <a:prstGeom prst="roundRect">
              <a:avLst>
                <a:gd name="adj" fmla="val 161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438650" y="28575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69818" y="314706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一报告 · 一组数字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3316" y="3545443"/>
              <a:ext cx="227106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Codex 一线报告（Ryan Lopopolo）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26733" y="3793093"/>
              <a:ext cx="162423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 个月 · 约 1500 个自动化 PR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91546" y="4040743"/>
              <a:ext cx="129460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100 万行代码 · 零行手写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8928" y="4288393"/>
              <a:ext cx="147984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人类不写码 —— 人类设计环境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29550" y="2857500"/>
              <a:ext cx="3200400" cy="1771650"/>
            </a:xfrm>
            <a:prstGeom prst="roundRect">
              <a:avLst>
                <a:gd name="adj" fmla="val 161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29550" y="28575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0718" y="314706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一命名 · 一套词表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9371" y="3545443"/>
              <a:ext cx="22407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Fowler &amp; Böckeler：guides-and-sensors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90515" y="3793093"/>
              <a:ext cx="16784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分类法 → Harness 组件标准词汇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346" y="4040743"/>
              <a:ext cx="199480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Mollick：Models · Apps · Harnesses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24669" y="4288393"/>
              <a:ext cx="141016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术语进入核心 AI 工程词典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7750" y="4914900"/>
              <a:ext cx="10096500" cy="933450"/>
            </a:xfrm>
            <a:prstGeom prst="roundRect">
              <a:avLst>
                <a:gd name="adj" fmla="val 30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7750" y="491490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992933" y="5090160"/>
              <a:ext cx="6206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『Humans steer. Agents build.』—— 人掌舵，Agent 建造：这才是 2026 年的分工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68795" y="5393293"/>
              <a:ext cx="60544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细节：OpenAI 团队投入 Harness 的时间，比手写这些代码还多 —— Harness 本身才是产品；「内环 vs 外环」见下页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81716" y="5621893"/>
              <a:ext cx="42285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五个来源交叉验证：只换 Harness 的效果，大于多数模型升级（数据见第 06 章）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85140" cy="738854"/>
            <a:chOff x="595122" y="501491"/>
            <a:chExt cx="60851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分工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851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内环 vs 外环：你的工程护城河在哪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277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内环 Harness（厂商内置）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基础安全层 · 原生工具调用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上下文窗口 —— 嵌进基础模型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『模型能推理』的前提由它保证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2277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外环 Harness（团队自建）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自定义配置 · 环境路由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306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测试框架 · 情境指南 AGENTS.md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产品团队的工程护城河在这里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本手册聚焦外环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假设通用模型即可用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43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无需自研 Agent 框架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092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编码 / 研究 / 运维 Agent 通用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90060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前沿实验室建「内环」，产品团队建「外环」—— 你能改动的只有外环，答案也几乎都在外环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6850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证据：GAIA +43.6 分 / Terminal-Bench +25 名 —— 模型没变，只换了外环（第 06 章展开）。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862789" cy="738854"/>
            <a:chOff x="595122" y="501491"/>
            <a:chExt cx="686278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架构总览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8627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六层 Harness 架构全景（Fig.1 重绘）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042988" y="1953339"/>
            <a:ext cx="10101262" cy="3993118"/>
            <a:chOff x="1042988" y="1953339"/>
            <a:chExt cx="10101262" cy="3993118"/>
          </a:xfrm>
        </p:grpSpPr>
        <p:sp>
          <p:nvSpPr>
            <p:cNvPr id="6" name="TextBox 6"/>
            <p:cNvSpPr txBox="1"/>
            <p:nvPr/>
          </p:nvSpPr>
          <p:spPr>
            <a:xfrm>
              <a:off x="1042988" y="1953339"/>
              <a:ext cx="345365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STEERING LOOP ｜ 转向回路：指南（前馈）→ 循环 → 传感器（反馈）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2190750"/>
              <a:ext cx="314325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382">
              <a:solidFill>
                <a:srgbClr val="99999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2190750"/>
              <a:ext cx="3143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91215" y="2390299"/>
              <a:ext cx="4563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GUIDES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4920" y="2640806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 · 读于执行前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3673" y="2973943"/>
              <a:ext cx="139140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AGENTS.md · CLAUDE.md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8381" y="3202543"/>
              <a:ext cx="120198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规则文件 · 约束 · 示例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7860" y="3431143"/>
              <a:ext cx="12830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把历史失败写成永久规则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210050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407218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24375" y="2190750"/>
              <a:ext cx="314325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382">
              <a:solidFill>
                <a:srgbClr val="99999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24375" y="2190750"/>
              <a:ext cx="3143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15361" y="2390299"/>
              <a:ext cx="9612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AGENTIC LOOP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96157" y="264080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 · 核心执行引擎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84785" y="2973943"/>
              <a:ext cx="8224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Plan → Execute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62995" y="3202543"/>
              <a:ext cx="66601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Verify → Fix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21192" y="3431143"/>
              <a:ext cx="94961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Retry / Escalate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686675" y="28575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7883842" y="2825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0" y="2190750"/>
              <a:ext cx="314325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382">
              <a:solidFill>
                <a:srgbClr val="999999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2190750"/>
              <a:ext cx="3143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71283" y="2390299"/>
              <a:ext cx="6026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SENSORS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72782" y="264080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传感器 · 验于执行后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63084" y="2973943"/>
              <a:ext cx="12190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Linter · 测试 · 校验器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9128" y="3202543"/>
              <a:ext cx="128699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LLM-as-judge 语义评判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31110" y="3431143"/>
              <a:ext cx="12830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接住指南防不住的新失败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2988" y="3763089"/>
              <a:ext cx="375705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RUNTIME FOUNDATION ｜ 运行时基础：状态 · 边界 · 观测 —— 托底中心循环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7750" y="4095750"/>
              <a:ext cx="3143250" cy="1428750"/>
            </a:xfrm>
            <a:prstGeom prst="roundRect">
              <a:avLst>
                <a:gd name="adj" fmla="val 2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7750" y="4095750"/>
              <a:ext cx="3143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29010" y="4295299"/>
              <a:ext cx="580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MEMORY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94920" y="4545806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记忆 · 跨会话留存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02607" y="4878943"/>
              <a:ext cx="143353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状态文件 · 产物 · 决策日志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28656" y="5107543"/>
              <a:ext cx="13814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plan.md / progress.json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84950" y="5336143"/>
              <a:ext cx="10688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会话结束 ≠ 记忆结束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2619375" y="36290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586990" y="39976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24375" y="4095750"/>
              <a:ext cx="3143250" cy="1428750"/>
            </a:xfrm>
            <a:prstGeom prst="roundRect">
              <a:avLst>
                <a:gd name="adj" fmla="val 2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24375" y="4095750"/>
              <a:ext cx="3143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55611" y="42952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PERMISSIONS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96157" y="454580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权限 · 强制安全边界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61575" y="4878943"/>
              <a:ext cx="10688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工具预算 · 写入限额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61575" y="5107543"/>
              <a:ext cx="10688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审批闸门 · 最小权限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07164" y="5336143"/>
              <a:ext cx="177767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模型不自限 —— 边界由 Harness 设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0" y="36290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6063615" y="39976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4095750"/>
              <a:ext cx="3143250" cy="1428750"/>
            </a:xfrm>
            <a:prstGeom prst="roundRect">
              <a:avLst>
                <a:gd name="adj" fmla="val 2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01000" y="4095750"/>
              <a:ext cx="31432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066372" y="4295299"/>
              <a:ext cx="10125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OBSERVABILITY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97395" y="45458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可观测 · 失败先被看见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38200" y="4878943"/>
              <a:ext cx="10688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轨迹日志 · 成本归属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04770" y="510754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绊线：漂移即报警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31110" y="5336143"/>
              <a:ext cx="12830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调试基础设施，不是开销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572625" y="3629025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9540240" y="39976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214855" y="5770245"/>
              <a:ext cx="57622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六层齐备 → Agent 无需全程人盯：防已知失败 · 捕新失败 · 有界执行 · 持久状态 · 强制权限 · 全程可观测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2" name="TextBox 62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943183" cy="738854"/>
            <a:chOff x="595122" y="501491"/>
            <a:chExt cx="594318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884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层 1–3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9431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上游三层：前馈 · 反馈 · 中心循环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94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1 · Guides 指南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执行前读取的「前馈控制」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811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AGENTS.md / CLAUDE.md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每行规则 = 一次历史失败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防已知失败复发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92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2 · Sensors 传感器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074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执行后验证的「反馈控制」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555081"/>
              <a:ext cx="237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linter · 测试 · 校验器 · LLM 评判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027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接住指南防不住的新失败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503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先计算式，后推断式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21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3 · Agentic Loop 循环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307431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核心执行引擎：计划 → 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555081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验证 → 修复 → 重试 / 升级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802731"/>
              <a:ext cx="2329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有界：重试 / 时间 / Token / 成本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305038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每步可观测 · 每重试计数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106247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设计意图：Guides 动手前立规矩，Sensors 动手后把关，Loop 把两者串成有界执行 —— 三者构成转向回路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6138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一份优秀指南 + 一套可靠传感器 + 一个有界循环 = Agent 可以放心交给它自主工作。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884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层 4–6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下游三层：运行时基础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719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4 · Memory 记忆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2314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模型每会话失忆，Harness 负责记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状态文件 · 决策日志 · 检查点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文件即记忆：plan.md / progress.json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比向量库更简单可靠（多数场景）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2105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5 · Permissions 权限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431256"/>
              <a:ext cx="2314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模型不自限 —— 边界由 Harness 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678906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能力预算：范围 · 速率 · 可逆 · 可见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92655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默认动作 + 最小权限 · 防注入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5142" y="1892618"/>
              <a:ext cx="2449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层 6 · Observability 可观测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307431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遥测：时间戳 · 工具 · 传感器 · 成本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555081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绊线：写突增 / 错误×3 / 成本超 2x…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8027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真实指标：免人工干预完成率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3050381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更快 ≠ 更好 —— 能被看见才算数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9" name="Rectangle 2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6018" y="4050982"/>
              <a:ext cx="8105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设计意图：记忆让状态跨会话留存 · 权限把安全写进代码 · 可观测让失败秒级可见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304" y="4947285"/>
              <a:ext cx="69101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模型没有持久记忆、不会自我设限、出错了不会自己坦白 —— 这三层就是补上这些「天性短板」。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672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深潜 · 指南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指南层：把失败变成永久预防机制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47750" y="1952625"/>
            <a:ext cx="10096500" cy="4048125"/>
            <a:chOff x="1047750" y="1952625"/>
            <a:chExt cx="10096500" cy="404812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513701" y="2129314"/>
              <a:ext cx="5164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 1 · Guides 指南：执行前读取的「前馈控制」，专门防已知失败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92020" y="2411968"/>
              <a:ext cx="520796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载体：AGENTS.md · CLAUDE.md · .cursorrules —— 每一行 = 一次历史失败转化成的永久预防机制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62250"/>
              <a:ext cx="4762500" cy="2552700"/>
            </a:xfrm>
            <a:prstGeom prst="roundRect">
              <a:avLst>
                <a:gd name="adj" fmla="val 111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33488" y="2969895"/>
              <a:ext cx="15551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Template 1 · 最小指南骨架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3488" y="3217545"/>
              <a:ext cx="22626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PROJECT：项目名 / LANGUAGE：主语言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3488" y="3446145"/>
              <a:ext cx="24354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BUILD · TEST · LINT：精确命令（可执行）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3488" y="3674745"/>
              <a:ext cx="912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RULES 规则区：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3488" y="3903345"/>
              <a:ext cx="15605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不经询问，不改 /config/*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3488" y="4131945"/>
              <a:ext cx="15605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每次代码改动后必须跑测试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4360545"/>
              <a:ext cx="1386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场景 X 一律使用模式 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3488" y="4589145"/>
              <a:ext cx="15713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ANTI-PATTERNS 反模式区：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3488" y="4817745"/>
              <a:ext cx="14515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97155" indent="-97155" algn="l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[真实失败样例，附日期]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00750" y="2762250"/>
              <a:ext cx="4762500" cy="1143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86488" y="2946797"/>
              <a:ext cx="16808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写作铁律：可执行 &gt; 励志语言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6488" y="3221593"/>
              <a:ext cx="23423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『做足调研』→ 数据源 / 停止规则 / 引用要求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6488" y="3469243"/>
              <a:ext cx="23076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『写好代码』→ linter/test 命令 + 具体模式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86488" y="3716893"/>
              <a:ext cx="349173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权威倒置：指南与对话冲突时 —— 指南赢（OpenAI 视为事实来源）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00750" y="4038600"/>
              <a:ext cx="4762500" cy="1276350"/>
            </a:xfrm>
            <a:prstGeom prst="roundRect">
              <a:avLst>
                <a:gd name="adj" fmla="val 223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86488" y="4223147"/>
              <a:ext cx="1781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指南卫生：指南会堆积成技术债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6488" y="4497943"/>
              <a:ext cx="235972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版本化 · 每月复核 · 删除传感器已覆盖的规则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6488" y="4745593"/>
              <a:ext cx="187926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按类分组 · 每条标注添加日期与原因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6488" y="4993243"/>
              <a:ext cx="21394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200 行无日期规则 = 负债，不是 Harness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55054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43709" y="5696902"/>
              <a:ext cx="4704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 = 组织记忆：新人读一遍即懂约束；工程师离职，其纠错仍留在文件里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978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深潜 · 传感器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传感器层：先计算式，后推断式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47750" y="1952625"/>
            <a:ext cx="10096500" cy="4048125"/>
            <a:chOff x="1047750" y="1952625"/>
            <a:chExt cx="10096500" cy="404812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854882" y="2129314"/>
              <a:ext cx="64822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 2 · Sensors 传感器：执行之后验证 —— 反馈控制，专捕「指南防不住」的新失败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29892" y="2411968"/>
              <a:ext cx="33322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指南（前馈）+ 传感器（反馈）= 转向回路：让持续改进成为可能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62250"/>
              <a:ext cx="4762500" cy="2552700"/>
            </a:xfrm>
            <a:prstGeom prst="roundRect">
              <a:avLst>
                <a:gd name="adj" fmla="val 1119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33488" y="2965847"/>
              <a:ext cx="142592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两类传感器（Table III）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3297" y="3285649"/>
              <a:ext cx="1107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计算式 Sensors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3488" y="3526393"/>
              <a:ext cx="210908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linter · 单测 · 类型检查 · Schema 校验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3488" y="3735943"/>
              <a:ext cx="186189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快 · 免费 · 确定性 —— 每次改动都跑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238250" y="40386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1430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3297" y="4200049"/>
              <a:ext cx="1107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推断式 Sensors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4440793"/>
              <a:ext cx="153229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LLM-as-judge · AI 代码评审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3488" y="4650343"/>
              <a:ext cx="22092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慢 · 贵 · 非确定性 —— 咨询信号，不是闸门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3488" y="4955143"/>
              <a:ext cx="521931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原则：计算式优先；推断式仅补「无法写成确定性规则的语义判断」，一旦模式清晰就换回确定性检查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00750" y="2762250"/>
              <a:ext cx="4762500" cy="2552700"/>
            </a:xfrm>
            <a:prstGeom prst="roundRect">
              <a:avLst>
                <a:gd name="adj" fmla="val 1119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186488" y="2946797"/>
              <a:ext cx="22513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自验证模式：让 Agent 跑自己的传感器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6488" y="3240643"/>
              <a:ext cx="268967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 → 跑预置测试套件（外部确定性检查，非自评）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6488" y="3469243"/>
              <a:ext cx="14161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 → 带错误文本重试修复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86488" y="3697843"/>
              <a:ext cx="178085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仍失败 → 升级（escalate）交给人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191250" y="4000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1430">
              <a:solidFill>
                <a:srgbClr val="DDDD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86488" y="4165997"/>
              <a:ext cx="7687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传感器经济学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6488" y="4459843"/>
              <a:ext cx="230320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$10/次的 LLM-judge × 50 次/天 = $500/天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6488" y="4688443"/>
              <a:ext cx="223815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一条同类 linter 规则 = 免费 —— 计算式先上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6488" y="4917043"/>
              <a:ext cx="255653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计算式可复合并便宜：先让它们接住绝大多数错误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55054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34239" y="5700951"/>
              <a:ext cx="832352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覆盖度自检（无人值守前）：关键输出都有 ≥1 个计算式传感器？Agent 能自查输出？静默回归会直达用户吗？—— 任一为否，先补传感器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0672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深潜 · 循环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循环层：有界重试与升级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833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必需循环边界（Table IV 默认值）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0003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2974181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每步重试上限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3 次 —— 防死循环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298031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墙钟时间上限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30 分钟 —— 防失控执行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621881"/>
              <a:ext cx="227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 预算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100K —— 控模型成本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3945731"/>
              <a:ext cx="2612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财务成本上限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$5 / 任务 —— 防账单惊吓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269581"/>
              <a:ext cx="2333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工具调用上限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50 次 —— 防工具滥用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46196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3935" y="4593431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停止条件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始终定义：返回最优产物 + 停止原因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24600" y="1619250"/>
            <a:ext cx="5517017" cy="4191000"/>
            <a:chOff x="6324600" y="1619250"/>
            <a:chExt cx="5517017" cy="4191000"/>
          </a:xfrm>
        </p:grpSpPr>
        <p:sp>
          <p:nvSpPr>
            <p:cNvPr id="22" name="Rectangle 22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92618"/>
              <a:ext cx="2269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升级 ≠ 失败 · 后台代理原则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136106"/>
              <a:ext cx="3747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升级 ≠ 失败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会正确升级的 Agent，胜过自信的错误答案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459956"/>
              <a:ext cx="5122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升级包应含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所需决策 · 推荐项 · 已试方案 · 等待成本 · 无应答时的默认动作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783806"/>
              <a:ext cx="4579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预算耗尽返回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最优产物 + 未竟事项 + 停止原因 —— 绝不藏起半途失败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107656"/>
              <a:ext cx="423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后台代理原则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我编码时它规划，它编码时我审查 —— Hashimoto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431506"/>
              <a:ext cx="4328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人力只在三处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给意图 · 审结果 · 处理升级 —— 之间全是 Harness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机制 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棘轮原则：每次失败都是永久改进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42988" y="1952625"/>
            <a:ext cx="10101262" cy="3876675"/>
            <a:chOff x="1042988" y="1952625"/>
            <a:chExt cx="10101262" cy="38766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180903" y="21212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棘轮原则：每一次失败，都让系统永久变好一步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47158" y="2411968"/>
              <a:ext cx="52976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Prompt 补丁只修一次对话 · 指南规则修所有未来 · 传感器自动拦截 · 环境约束让错误在结构上不可能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988" y="2692241"/>
              <a:ext cx="27883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六步工程循环：Agent 每次失败都走一遍（PDF IX-A）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" y="2895600"/>
              <a:ext cx="1600200" cy="1390650"/>
            </a:xfrm>
            <a:prstGeom prst="roundRect">
              <a:avLst>
                <a:gd name="adj" fmla="val 2055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47750" y="2895600"/>
              <a:ext cx="16002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81100" y="30289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5674" y="3088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59814" y="3087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复现失败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6728" y="34351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以完全相同输入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1922" y="36447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复现出该失败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628900" y="3590925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635568" y="35585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733675" y="2895600"/>
              <a:ext cx="1600200" cy="1390650"/>
            </a:xfrm>
            <a:prstGeom prst="roundRect">
              <a:avLst>
                <a:gd name="adj" fmla="val 2055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33675" y="2895600"/>
              <a:ext cx="16002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67025" y="30289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41599" y="3088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45739" y="3087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归类根因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79180" y="3435191"/>
              <a:ext cx="9091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缺指南 / 缺传感器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70901" y="36447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 / 状态 / 观测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314825" y="3590925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321492" y="35585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19600" y="2895600"/>
              <a:ext cx="1600200" cy="1390650"/>
            </a:xfrm>
            <a:prstGeom prst="roundRect">
              <a:avLst>
                <a:gd name="adj" fmla="val 2055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19600" y="2895600"/>
              <a:ext cx="16002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52950" y="30289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27524" y="3088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31664" y="3087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选最强层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28578" y="34351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修复应归属的层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38966" y="36447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决定怎么修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000750" y="3590925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007418" y="35585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05525" y="2895600"/>
              <a:ext cx="1600200" cy="1390650"/>
            </a:xfrm>
            <a:prstGeom prst="roundRect">
              <a:avLst>
                <a:gd name="adj" fmla="val 2055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05525" y="2895600"/>
              <a:ext cx="16002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38875" y="30289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13449" y="3088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589" y="3087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该层编码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4503" y="34351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把修复写进层内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2751" y="3644741"/>
              <a:ext cx="925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规则 / 测试 / 边界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86675" y="3590925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7693342" y="35585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91450" y="2895600"/>
              <a:ext cx="1600200" cy="1390650"/>
            </a:xfrm>
            <a:prstGeom prst="roundRect">
              <a:avLst>
                <a:gd name="adj" fmla="val 2055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91450" y="2895600"/>
              <a:ext cx="16002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924800" y="30289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99374" y="3088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03514" y="3087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原例验证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00428" y="34351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最初的失败样例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55622" y="36447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确认不再复发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372600" y="3590925"/>
              <a:ext cx="38100" cy="9525"/>
            </a:xfrm>
            <a:custGeom>
              <a:avLst/>
              <a:gdLst/>
              <a:ahLst/>
              <a:cxnLst/>
              <a:rect l="l" t="t" r="r" b="b"/>
              <a:pathLst>
                <a:path w="38100" h="9525">
                  <a:moveTo>
                    <a:pt x="381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999999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9379268" y="35585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477375" y="2895600"/>
              <a:ext cx="1600200" cy="1390650"/>
            </a:xfrm>
            <a:prstGeom prst="roundRect">
              <a:avLst>
                <a:gd name="adj" fmla="val 2055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477375" y="2895600"/>
              <a:ext cx="16002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10725" y="30289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685299" y="3088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89439" y="3087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回归防破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96742" y="34351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跑回归套件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86353" y="36447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不破坏既有能力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576762" y="4531995"/>
              <a:ext cx="3038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跳步陷阱：跳过 1 = 修了个幻影；跳过 6 = 修一个坏三个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47750" y="4876800"/>
              <a:ext cx="10096500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654423" y="5077778"/>
              <a:ext cx="6883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收敛信号：成熟 Harness 约每周新增 1 条规则（早期每天 5 条）—— 增长率下降，正是 Harness 生效的证据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917890" y="5389245"/>
              <a:ext cx="63562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Lauren Tan (Cursor)：『Prompts 引导行为；环境预防整类失败』—— 同一评审意见重复 3 次，就该升级为结构约束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986564" y="5598795"/>
              <a:ext cx="6218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review comment 第一次 → 加指南规则；第二次 → 验证规则被读到；第三次 → 转成阻断型传感器 —— 第四次不应发生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9" name="TextBox 69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机制 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控制可靠性阶梯：从记忆到环境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47750" y="1952625"/>
            <a:ext cx="10096500" cy="4067175"/>
            <a:chOff x="1047750" y="1952625"/>
            <a:chExt cx="10096500" cy="40671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533400"/>
            </a:xfrm>
            <a:prstGeom prst="roundRect">
              <a:avLst>
                <a:gd name="adj" fmla="val 535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20068" y="2156460"/>
              <a:ext cx="63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控制可靠性阶梯：从「聊天里的提醒」到「环境级约束」，可靠性逐级上升（Table X）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272415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47750" y="2724150"/>
              <a:ext cx="57150" cy="419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8475" y="2873454"/>
              <a:ext cx="128168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Environment 环境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1988" y="2889647"/>
              <a:ext cx="11273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 · Schema · CI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02065" y="2877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最高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95749" y="2889647"/>
              <a:ext cx="45875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小时–天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32385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7750" y="3238500"/>
              <a:ext cx="57150" cy="4191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8475" y="3387804"/>
              <a:ext cx="101530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Sensor 传感器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71988" y="3403997"/>
              <a:ext cx="6422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自动化测试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72740" y="33918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93820" y="3403997"/>
              <a:ext cx="2626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小时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7750" y="375285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47750" y="3752850"/>
              <a:ext cx="57150" cy="4191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18475" y="3902154"/>
              <a:ext cx="74413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Guide 指南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1988" y="3918347"/>
              <a:ext cx="99229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AGENTS.md 规则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72740" y="39062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820" y="3918347"/>
              <a:ext cx="2626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47750" y="42672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47750" y="4267200"/>
              <a:ext cx="57150" cy="4191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18475" y="4416504"/>
              <a:ext cx="89828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Prompt 提示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71988" y="4432697"/>
              <a:ext cx="5156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任务指令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61250" y="4420552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低–中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93820" y="4432697"/>
              <a:ext cx="2626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分钟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7750" y="478155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7750" y="4781550"/>
              <a:ext cx="57150" cy="4191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518475" y="4930854"/>
              <a:ext cx="92939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Memory 记忆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71988" y="4947047"/>
              <a:ext cx="8953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聊天里的旧纠错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72740" y="49349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31783" y="4947047"/>
              <a:ext cx="18668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≈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19028" y="5404247"/>
              <a:ext cx="77539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修复越「往上」（传感器 / 环境）越一劳永逸；停在「往下」（记忆 / 提示）只是临时压住 —— 但也别跳级：低层够用时不必先付上层成本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7750" y="5676900"/>
              <a:ext cx="10096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871464" y="5798820"/>
              <a:ext cx="6449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何时把规则升级为传感器：同一评审意见 &gt;3 次 · 可无主观判断校验 · 违反有实质返工或生产风险 · 校验能说清如何修复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机制 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七天构建路径：逐层验证到生产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90261" y="3188018"/>
            <a:ext cx="10671552" cy="1247393"/>
            <a:chOff x="790261" y="3188018"/>
            <a:chExt cx="10671552" cy="124739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1712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261" y="402050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指南骨架 + 三命令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538" y="42300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出口：全部跑通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28575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93337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51284" y="402050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失败 → 补 3 条规则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2487" y="4230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出口：避开反模式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291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64962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44112" y="40205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首个计算式传感器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44112" y="4230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出口：改动后自测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102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46112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43985" y="40205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接入循环 + 重试预算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54587" y="42300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出口：先重试后升级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819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17737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6887" y="40205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文件级状态检查点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6887" y="4230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出口：重启后续跑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91535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89362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87235" y="402050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权限边界 + 成本预算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68512" y="42300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出口：全程不越界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70512" y="3188018"/>
              <a:ext cx="499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Day 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9061" y="402050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结构化日志 + 绊线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78986" y="42300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出口：模拟峰值报警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36" name="Rectangle 36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9638" y="6017895"/>
              <a:ext cx="85451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原则：每层通过「出口测试」再进下一层；第 2 周起按棘轮扩展 —— 一次只改一层，记分卡（完成率 / 返工率 / 升级率 / 恢复时间 / 单任务成本）回退即回滚。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决策 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架构决策框架：从最简层开始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786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起步层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55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暂缓加入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093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已知错误反复出现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7415" y="2209324"/>
              <a:ext cx="917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指南规则 Guide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09247" y="2209324"/>
              <a:ext cx="888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LLM-as-judge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7522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输出质量忽高忽低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95264" y="2752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计算式传感器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25035" y="2752249"/>
              <a:ext cx="857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 Agent 互审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295174"/>
              <a:ext cx="9505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越界行事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2719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权限边界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8828" y="32951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完整审批流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3847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会话之间丢状态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93771" y="3847624"/>
              <a:ext cx="804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JSON 检查点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84792" y="3847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3905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成本不可控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64034" y="4390549"/>
              <a:ext cx="10639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Token + 成本预算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84792" y="4390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动态计价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9334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失败不可见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61228" y="49334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结构化日志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52864" y="493347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全套可观测栈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5476399"/>
              <a:ext cx="817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死循环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9406" y="5476399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重试上限 + 超时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84792" y="54763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复杂编排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275483" cy="738854"/>
            <a:chOff x="595122" y="501491"/>
            <a:chExt cx="527548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1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边界 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2754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何时不建 Harness + 扩容闸门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010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何时不必建：对话本身就是 Harness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136106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一次性问答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无复发 · 无后果 —— 不建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45995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创意头脑风暴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输出是探索性的，无法验证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783806"/>
              <a:ext cx="2975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个人笔记 / 低风险记录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低风险 · 无外部影响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107656"/>
              <a:ext cx="2921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探索性数据分析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一次性不建；会被复用才建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431506"/>
              <a:ext cx="4813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判据三问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会静默？→ 加传感器；要重讲？→ 加记忆；错有后果？→ 加权限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6342" y="189261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扩容闸门 · 六项全过才扩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0003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29741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完成率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≥80% 无需人工纠正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29803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成本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没有任何任务超出预算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621881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升级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至少正确升级过一次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945731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状态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检查点挺过一次重启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269581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绊线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至少触发过一次模拟异常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6196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593431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权限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 至少拦下一次越界行为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580617" cy="738854"/>
            <a:chOff x="595122" y="501491"/>
            <a:chExt cx="55806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上线清单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5806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生产检查清单（12 项合并三组）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环境与状态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指南含三命令 + ≥5 条失败规则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文件级检查点：重启即续跑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紧急停止并保留现场状态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指南版本化 · 每月复核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执行与预算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0743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有界重试 + 升级：耗尽即上报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555081"/>
              <a:ext cx="1825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/ 成本预算：不失控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027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绊线：成本或错误率漂移即告警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50381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≥3 次无人值守成功运行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安全与质量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307431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每任务 ≥1 个计算式传感器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55508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权限边界 + 最小权限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8027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可信指令与不可信数据分离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305038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结构化日志 · 全程可追溯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59185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对照原文 12 项检查清单逐条自查 —— 缺任一项的失败后果：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832985"/>
              <a:ext cx="10246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环境靠猜 / 已知错误复发 / 错误直达用户 / 死循环与失控成本 / 重启丢进度 / 越界 / 注入风险 / 无法安全停机 / 回归无人察觉 / 未经验证就放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5061585"/>
              <a:ext cx="34496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行（对应 Table XIII「Failure If Missing」）。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355537" cy="738854"/>
            <a:chOff x="595122" y="501491"/>
            <a:chExt cx="635553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实证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3555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五个案例：只换 Harness、不换模型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047750" y="1952625"/>
            <a:ext cx="10096500" cy="4047887"/>
            <a:chOff x="1047750" y="1952625"/>
            <a:chExt cx="10096500" cy="4047887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02705" y="2093833"/>
              <a:ext cx="538659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6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五个实证案例：只换 Harness、不换模型 —— 改进幅度超过多数「模型升级」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260985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47750" y="2609850"/>
              <a:ext cx="57150" cy="552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276350" y="27622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54026" y="28298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89925" y="2749629"/>
              <a:ext cx="269430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OpenAI Codex：100 万行 · 零手写 [2]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0688" y="2977991"/>
              <a:ext cx="42726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 个月 · 约 1500 个自动化 PR —— 人在设计指南/测试/审查/部署闸门，不是写代码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95051" y="2757964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+100万行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2385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47750" y="3238500"/>
              <a:ext cx="57150" cy="552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76350" y="339090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54026" y="3458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89925" y="3378279"/>
              <a:ext cx="298486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LangChain：Terminal Bench 30 → 5 名 [7]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0688" y="3606641"/>
              <a:ext cx="39945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2026-03 · 纯 harness 优化：更优规则/传感回路/错误恢复/工具配置，模型未换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31121" y="3386614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30 → 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7750" y="386715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47750" y="3867150"/>
              <a:ext cx="57150" cy="552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76350" y="40195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54026" y="4087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89925" y="4006929"/>
              <a:ext cx="212155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GAIA：同一模型 +43.6 分 [6]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90688" y="4235291"/>
              <a:ext cx="37735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同款 Claude Sonnet 4.5：最小 harness 30.91% → 生产级 harness 74.55%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40167" y="401526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+43.6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44958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7750" y="4495800"/>
              <a:ext cx="57150" cy="552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276350" y="464820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54026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89925" y="4635579"/>
              <a:ext cx="253539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Hashline：16 个模型，15 个提升 [9]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90688" y="4863941"/>
              <a:ext cx="33921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Can.ac 只改工具格式与编辑方式，一个下午完成 —— 无微调、无替换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31610" y="464391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15 / 16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47750" y="512445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47750" y="5124450"/>
              <a:ext cx="57150" cy="5524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276350" y="5276850"/>
              <a:ext cx="247650" cy="247650"/>
            </a:xfrm>
            <a:prstGeom prst="roundRect">
              <a:avLst>
                <a:gd name="adj" fmla="val 11538"/>
              </a:avLst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54026" y="53444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89925" y="5264229"/>
              <a:ext cx="253904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Ghostty：一行规则对应一次失败 [1]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90688" y="5492591"/>
              <a:ext cx="3399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AGENTS.md 逐行累积为历史档案；新 Agent 几秒继承数月纠错知识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48469" y="52725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一行一错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48310" y="5831443"/>
              <a:ext cx="52953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结论先行：模型与 Prompt 都不是变量 —— Harness 才是（下表把同一模型的两种 harness 摆在一起）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921122" cy="738854"/>
            <a:chOff x="595122" y="501491"/>
            <a:chExt cx="592112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反思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92112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常见错误与局限：harness 也会错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过度工程化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55056"/>
              <a:ext cx="2711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500 条规则 + 3 层 LLM 评审 + 40 步审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027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5035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= 披着安全外衣的瓶颈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9800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检查自己的工作比干活还久 = 太重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指南从不修剪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478881"/>
              <a:ext cx="2536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规则 47「总加错误处理」vs 规则 183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7265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「函数 ≤20 行」—— 从未对账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97418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不同人 · 不同月写下，互相矛盾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51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传感器测错东西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478881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每次运行 100% 通过 → 可疑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726531"/>
              <a:ext cx="2504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要么太简单，要么 Agent 学会了应试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974181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对抗性样例：过 schema 但数据是错的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810000"/>
            <a:ext cx="5257800" cy="2000250"/>
            <a:chOff x="609600" y="3810000"/>
            <a:chExt cx="52578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609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1342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记忆从不清理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6696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三周前的检查点引用已删除文件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4917281"/>
              <a:ext cx="1848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基于过时状态做决定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16493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设过期 · 只留当前任务最新状态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3810000"/>
            <a:ext cx="5257800" cy="2000250"/>
            <a:chOff x="6324600" y="3810000"/>
            <a:chExt cx="52578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324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24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6342" y="4083368"/>
              <a:ext cx="1728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不修坏目标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7485" y="4669631"/>
              <a:ext cx="2534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完美 Harness 围着坏目标 = 可靠地错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485" y="4917281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验收标准错 → 传感器验证错误输出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7485" y="5164931"/>
              <a:ext cx="2876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Harness 放大你选的度量 —— 选错即放大错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581998" cy="738854"/>
            <a:chOff x="595122" y="501491"/>
            <a:chExt cx="558199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结论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58199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模型给智力，Harness 决定交付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47750" y="1952625"/>
            <a:ext cx="10096500" cy="3876675"/>
            <a:chOff x="1047750" y="1952625"/>
            <a:chExt cx="10096500" cy="3876675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666750"/>
            </a:xfrm>
            <a:prstGeom prst="roundRect">
              <a:avLst>
                <a:gd name="adj" fmla="val 4286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1952625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993650" y="2137410"/>
              <a:ext cx="6204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三层不是替代，是叠加 —— 生产 Agent 三者都要；但 Harness 决定系统能否「上线」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57523" y="2411968"/>
              <a:ext cx="627695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复利效应：Prompt 修正不复利（每轮重来）；Guide / Sensor / 权限的修复是结构性的 —— 今天生效，未来每一轮都受益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857500"/>
              <a:ext cx="100965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857500"/>
              <a:ext cx="76200" cy="4762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3106" y="3043476"/>
              <a:ext cx="636636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完美 Prompt + 坏 Harness = 结果不稳；平庸 Prompt + 强 Harness = 稳定且可持续改进 —— Harness 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3448050"/>
              <a:ext cx="100965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47750" y="3448050"/>
              <a:ext cx="76200" cy="4762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33106" y="3634026"/>
              <a:ext cx="56540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不要补 Prompt，修 Harness：失败要落在 指南 / 传感器 / 预算 / 日志 / 绊线 这些永久层里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4038600"/>
              <a:ext cx="100965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47750" y="4038600"/>
              <a:ext cx="76200" cy="4762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33106" y="4224576"/>
              <a:ext cx="76651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可验证性判据：每条重要输出都能回溯到 —— 一条指南塑造 · 一个传感器验证 · 一个预算约束 · 一个检查点保存 · 一条日志记录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4953000"/>
              <a:ext cx="10096500" cy="876300"/>
            </a:xfrm>
            <a:prstGeom prst="roundRect">
              <a:avLst>
                <a:gd name="adj" fmla="val 32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47750" y="495300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400159" y="5169218"/>
              <a:ext cx="739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『2026 年如鱼得水的工程师，不是写最多代码的人，而是为 Agent 建造最佳环境的人。』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6215" y="5533549"/>
              <a:ext cx="53595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起步只需四步：1 个指南文件 → 1 个传感器 → 1 条权限边界 → 1 条绊线 —— 系统会自己长出来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总结与行动清单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920175" cy="322707"/>
            <a:chOff x="601218" y="1898332"/>
            <a:chExt cx="2920175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一公式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84351" y="1914525"/>
              <a:ext cx="2237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= 模型 + Harness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5090351" cy="329279"/>
            <a:chOff x="601218" y="2431732"/>
            <a:chExt cx="5090351" cy="329279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一总览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4351" y="2467641"/>
              <a:ext cx="4407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六层：指南 · 传感器 · 循环 · 记忆 · 权限 · 观测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757613" cy="322707"/>
            <a:chOff x="601218" y="2965132"/>
            <a:chExt cx="3757613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一原则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4351" y="298132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棘轮：失败 → 永久修复，先跑后长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68618" y="1898332"/>
            <a:ext cx="3754184" cy="322707"/>
            <a:chOff x="6468618" y="1898332"/>
            <a:chExt cx="3754184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4686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一路径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8518" y="1914525"/>
              <a:ext cx="3034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7 天逐层到 MVP · 再按闸门扩展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2431732"/>
            <a:ext cx="4734640" cy="322707"/>
            <a:chOff x="6468618" y="2431732"/>
            <a:chExt cx="4734640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2431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8518" y="2450821"/>
              <a:ext cx="4014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GAIA +43.6 · Terminal +25 · 百万行零手写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965132"/>
            <a:ext cx="3935731" cy="322707"/>
            <a:chOff x="6468618" y="2965132"/>
            <a:chExt cx="3935731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9651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8518" y="2987117"/>
              <a:ext cx="3215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 指南 → 1 传感器 → 1 边界 → 1 绊线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64047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工程 · 六层生产级 Agent 架构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4047</Words>
  <Application>Microsoft Office PowerPoint</Application>
  <PresentationFormat>宽屏</PresentationFormat>
  <Paragraphs>485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辉 童</cp:lastModifiedBy>
  <cp:revision>2</cp:revision>
  <dcterms:created xsi:type="dcterms:W3CDTF">2026-09-06T11:39:36Z</dcterms:created>
  <dcterms:modified xsi:type="dcterms:W3CDTF">2026-09-07T02:40:24Z</dcterms:modified>
  <cp:category/>
  <cp:contentStatus/>
  <dc:language/>
</cp:coreProperties>
</file>