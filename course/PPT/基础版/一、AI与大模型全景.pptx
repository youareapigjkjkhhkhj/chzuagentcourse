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panorama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panorama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4734425" cy="1493996"/>
            <a:chOff x="895350" y="2295049"/>
            <a:chExt cx="4734425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基础版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4343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7229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Transformer 到百万 Token 时代（2017–2026）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1722882" cy="322707"/>
            <a:chOff x="601218" y="1898332"/>
            <a:chExt cx="172288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什么是大模型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1551242" cy="322707"/>
            <a:chOff x="601218" y="2431732"/>
            <a:chExt cx="155124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 ≠ 产品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379155" cy="322707"/>
            <a:chOff x="601218" y="2965132"/>
            <a:chExt cx="2379155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发展简史 2017–2026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1924812" cy="322707"/>
            <a:chOff x="601218" y="3498532"/>
            <a:chExt cx="192481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上下文军备竞赛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1924812" cy="322707"/>
            <a:chOff x="6468618" y="1898332"/>
            <a:chExt cx="192481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架构演进与阵营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1924812" cy="322707"/>
            <a:chOff x="6468618" y="2431732"/>
            <a:chExt cx="192481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成本与推理时代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126742" cy="322707"/>
            <a:chOff x="6468618" y="2965132"/>
            <a:chExt cx="212674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多模态与专用模型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2187321" cy="322707"/>
            <a:chOff x="6468618" y="3498532"/>
            <a:chExt cx="2187321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场景 / 选型 / 风险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059486" cy="738854"/>
            <a:chOff x="595122" y="501491"/>
            <a:chExt cx="405948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本质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05948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什么是大模型（LLM）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4574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基于 Transformer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大规模神经网络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340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“下一个 token”概率预测引擎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不是推理机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是统计相关性引擎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关键认知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续写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而非真正“理解”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可塑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靠海量语料学分布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承启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第三讲深入原理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28904" cy="738854"/>
            <a:chOff x="595122" y="501491"/>
            <a:chExt cx="43289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认知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28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一句话看懂：模型 ≠ 产品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三层区分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2055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基础模型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GPT/Claude/GLM 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171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聊天产品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ChatGPT/豆包 等封装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2048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行业应用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API+RAG+鉴权+监控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854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现实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1874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API 仅入口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产品化还需工程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1017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补 RAG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第 4 讲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补治理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第 2 讲工具链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认知详图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大模型技术分层全链路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33500" y="2095500"/>
            <a:ext cx="6096000" cy="4105276"/>
            <a:chOff x="1333500" y="2095500"/>
            <a:chExt cx="6096000" cy="4105276"/>
          </a:xfrm>
        </p:grpSpPr>
        <p:sp>
          <p:nvSpPr>
            <p:cNvPr id="6" name="Rectangle 6"/>
            <p:cNvSpPr/>
            <p:nvPr/>
          </p:nvSpPr>
          <p:spPr>
            <a:xfrm>
              <a:off x="1333500" y="2095500"/>
              <a:ext cx="6096000" cy="762000"/>
            </a:xfrm>
            <a:prstGeom prst="roundRect">
              <a:avLst>
                <a:gd name="adj" fmla="val 3750"/>
              </a:avLst>
            </a:prstGeom>
            <a:solidFill>
              <a:srgbClr val="1A1A1A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08785" y="24122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基础模型层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71988" y="2436495"/>
              <a:ext cx="25577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GPT / Claude / Gemini / Llama / Qwen / GLM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333500" y="3048000"/>
              <a:ext cx="609600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8785" y="3364706"/>
              <a:ext cx="915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API / 平台层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71988" y="3388995"/>
              <a:ext cx="1639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推理服务 · 计费 · 鉴权 · 限流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4000500"/>
              <a:ext cx="609600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8785" y="4317206"/>
              <a:ext cx="11672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工具链 / RAG 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1988" y="4341495"/>
              <a:ext cx="19393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Dify / n8n / LangChain / 检索增强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333500" y="4953000"/>
              <a:ext cx="6096000" cy="762000"/>
            </a:xfrm>
            <a:prstGeom prst="roundRect">
              <a:avLst>
                <a:gd name="adj" fmla="val 3750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08785" y="52697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行业应用层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71988" y="5293995"/>
              <a:ext cx="20025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客服 · 代码 · 知识问答 · 多模态创作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7420" y="5808345"/>
              <a:ext cx="27961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 ≠ 产品：每层都是独立工程（承启第 2 / 4 讲）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85052" y="6053138"/>
              <a:ext cx="184089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来源：NICADD LLM 入门、ima 半年复盘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1" name="TextBox 21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76068" cy="738854"/>
            <a:chOff x="595122" y="501491"/>
            <a:chExt cx="547606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简史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760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大模型发展简史（2017–2026）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48559" y="3188018"/>
            <a:ext cx="10301228" cy="1247393"/>
            <a:chOff x="948559" y="3188018"/>
            <a:chExt cx="10301228" cy="124739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483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2017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8559" y="4020502"/>
              <a:ext cx="846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Attention Is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762" y="4230052"/>
              <a:ext cx="815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All You Need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1718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4078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6857" y="402050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GPT-3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87929" y="42300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175B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0577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2673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57264" y="4020502"/>
              <a:ext cx="572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ChatGPT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96815" y="42300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引爆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5325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22211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01345" y="4020502"/>
              <a:ext cx="47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Llama3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29020" y="4230052"/>
              <a:ext cx="619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Qwen2.5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8392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08161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36889" y="4020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推理之年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95417" y="4230052"/>
              <a:ext cx="659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GPT-5/o3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03636" y="31880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54114" y="4020502"/>
              <a:ext cx="732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百万 Token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91013" y="4230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专用模型分化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32" name="Rectangle 32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9638" y="6017895"/>
              <a:ext cx="3540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来源：toolhubly AI Timeline、aiwiki 时间线（2026-08 刷新）。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833562" cy="738854"/>
            <a:chOff x="595122" y="501491"/>
            <a:chExt cx="283356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里程碑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833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2025：推理之年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GPT-5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2025-08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自动路由 fast/thinking 双模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1355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DeepSeek V3.2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69808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2025-11/12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945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稀疏注意力稳定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其他旗舰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3574256"/>
              <a:ext cx="1185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Claude Opus 4.5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821906"/>
              <a:ext cx="896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Gemini 3 Pro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4069556"/>
              <a:ext cx="1134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GPT-5.2(12月)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103364" cy="738854"/>
            <a:chOff x="595122" y="501491"/>
            <a:chExt cx="610336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里程碑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1033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上半年：旗舰扎堆 + 开源反攻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776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OpenAI / Anthropic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800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GPT-5.6 Sol/Terra/Luna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520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Claude Opus 4.7/4.8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643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Sonnet 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287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Google / Meta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1064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Gemini 3.1 Pro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1290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Gemma 4(Apache)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843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Muse Spark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开源反攻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574256"/>
              <a:ext cx="1751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DeepSeek V4(1.6T MoE)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821906"/>
              <a:ext cx="656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GLM-5.2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4069556"/>
              <a:ext cx="1516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Kimi K2.6 / Qwen3.7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336030" cy="738854"/>
            <a:chOff x="595122" y="501491"/>
            <a:chExt cx="533603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里程碑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3360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下半年最新（截至 8 月）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前沿旗舰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203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 Opus 5（2M 上下文）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325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GPT-5.7（1.2M）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648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Gemini 3.6 / Llama 4.1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开放权重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574256"/>
              <a:ext cx="2051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DeepSeek V4.1-DSpark 920B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3821906"/>
              <a:ext cx="881652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Qwen3.8-27B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4069556"/>
              <a:ext cx="1466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GLM-5.3 / Grok 4.6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标注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698081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截至 2026-08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3945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发布节奏极快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窗口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上下文窗口的军备竞赛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演进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86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GPT-3 2K → GPT-4 8K/32K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109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Llama 3.1 128K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314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Gemini 2.5 Pro 1M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854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前沿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351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Llama 4 Scout 10M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266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Claude Opus 5 2M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百万 token 成标配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2897" cy="738854"/>
            <a:chOff x="595122" y="501491"/>
            <a:chExt cx="578289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289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架构演进：Decoder-only + MoE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35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原版 Transformer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编码器 + 解码器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用于翻译等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现代主流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698081"/>
              <a:ext cx="9737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Decoder-only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945731"/>
              <a:ext cx="1394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GPT/Llama/Mistral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816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MoE 混合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36980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超半数新模型采用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9457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不增推理成本扩参数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985789" cy="738854"/>
            <a:chOff x="595122" y="501491"/>
            <a:chExt cx="498578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架构详图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9857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Scaling Law：规模为何重要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33500" y="1815941"/>
            <a:ext cx="9525000" cy="4289585"/>
            <a:chOff x="1333500" y="1815941"/>
            <a:chExt cx="9525000" cy="4289585"/>
          </a:xfrm>
        </p:grpSpPr>
        <p:sp>
          <p:nvSpPr>
            <p:cNvPr id="6" name="Line 6"/>
            <p:cNvSpPr/>
            <p:nvPr/>
          </p:nvSpPr>
          <p:spPr>
            <a:xfrm>
              <a:off x="1333500" y="5143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333500" y="1905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988" y="1815941"/>
              <a:ext cx="6084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Loss 误差 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57155" y="5302091"/>
              <a:ext cx="14776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参数 / 数据 / 算力（对数轴）</a:t>
              </a:r>
            </a:p>
          </p:txBody>
        </p:sp>
        <p:sp>
          <p:nvSpPr>
            <p:cNvPr id="10" name="Polyline 10"/>
            <p:cNvSpPr/>
            <p:nvPr/>
          </p:nvSpPr>
          <p:spPr>
            <a:xfrm>
              <a:off x="1524000" y="2133600"/>
              <a:ext cx="9144000" cy="3009900"/>
            </a:xfrm>
            <a:custGeom>
              <a:avLst/>
              <a:gdLst/>
              <a:ahLst/>
              <a:cxnLst/>
              <a:rect l="l" t="t" r="r" b="b"/>
              <a:pathLst>
                <a:path w="9144000" h="3009900">
                  <a:moveTo>
                    <a:pt x="0" y="3009900"/>
                  </a:moveTo>
                  <a:lnTo>
                    <a:pt x="914400" y="1905000"/>
                  </a:lnTo>
                  <a:lnTo>
                    <a:pt x="1828800" y="1200150"/>
                  </a:lnTo>
                  <a:lnTo>
                    <a:pt x="2743200" y="752475"/>
                  </a:lnTo>
                  <a:lnTo>
                    <a:pt x="3657600" y="466725"/>
                  </a:lnTo>
                  <a:lnTo>
                    <a:pt x="4572000" y="285750"/>
                  </a:lnTo>
                  <a:lnTo>
                    <a:pt x="5486400" y="171450"/>
                  </a:lnTo>
                  <a:lnTo>
                    <a:pt x="6400800" y="95250"/>
                  </a:lnTo>
                  <a:lnTo>
                    <a:pt x="7315200" y="47625"/>
                  </a:lnTo>
                  <a:lnTo>
                    <a:pt x="8229600" y="19050"/>
                  </a:lnTo>
                  <a:lnTo>
                    <a:pt x="9144000" y="0"/>
                  </a:lnTo>
                </a:path>
              </a:pathLst>
            </a:custGeom>
            <a:noFill/>
            <a:ln w="28575">
              <a:solidFill>
                <a:srgbClr val="E3061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181600" y="22860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14288">
              <a:solidFill>
                <a:srgbClr val="999999"/>
              </a:solidFill>
              <a:custDash>
                <a:ds d="333333" sp="266667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56061" y="21207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涌现阈值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79981" y="2760345"/>
              <a:ext cx="20510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规模↑ → 能力跃升：推理 / 多步骤质变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83213" y="299704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小模型无、大模型涌现的能力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5419" y="5713095"/>
              <a:ext cx="30601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Scaling Laws：参数 × 数据 × 算力幂律决定“为何要大”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31471" y="5957888"/>
              <a:ext cx="294805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来源：Kaplan 2020 / Hoffmann(Chinchilla) 2022；2026 仍成立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166805" cy="738854"/>
            <a:chOff x="595122" y="501491"/>
            <a:chExt cx="416680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阵营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16680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 vs 闭源：能力趋同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672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2679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GLM-5.2 编码约 1/6 成本超 GPT-5.5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661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Kimi K2.6 最强开放权重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含义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“用哪个模型”≈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“用哪家云”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中国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中国大模型阵营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584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DeepSeek V4.1(920B)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023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智谱 GLM-5.3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39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Kimi K3(2.8T 开放)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事实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493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Qwen4 / MiniMax M3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2026-02 周处理量首超美国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性价比+中文占优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成本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成本塌方与定价分化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074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三年降 &gt;99%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每百万 token 处理成本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据公开行业复盘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美国新旗舰逆势涨价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中国从价格战转向收费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824658" cy="738854"/>
            <a:chOff x="595122" y="501491"/>
            <a:chExt cx="68246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推理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8246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推理模型时代（test-time compute）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o-series（o1/o3/o4-mini）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3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thinking 模式成默认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新战场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646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GPT-5.5 GDPval 84.9%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推理算力成新指标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055226" cy="738854"/>
            <a:chOff x="595122" y="501491"/>
            <a:chExt cx="40552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多模态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0552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多模态与 Agentic 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8753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GPT-5 文/图/音/视频原生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518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Claude/Gemini 长文档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Agentic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1391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编程成竞技场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2010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SWE-bench 专用 coding 模型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专用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新前沿：专用模型与表格基础模型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专用模型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coding agents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embeddings / rerankers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生产价值落地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表格基础模型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731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TabPFN 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947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SAP 2026 逾 10 亿欧元收购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用于付款/流失预测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应用场景全景（四象限）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619250"/>
            <a:ext cx="2524125" cy="4191000"/>
            <a:chOff x="609600" y="1619250"/>
            <a:chExt cx="2524125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524125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对话助手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821906"/>
              <a:ext cx="1007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ChatGPT/豆包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19475" y="1619250"/>
            <a:ext cx="2524125" cy="4191000"/>
            <a:chOff x="3419475" y="1619250"/>
            <a:chExt cx="2524125" cy="4191000"/>
          </a:xfrm>
        </p:grpSpPr>
        <p:sp>
          <p:nvSpPr>
            <p:cNvPr id="11" name="Rectangle 11"/>
            <p:cNvSpPr/>
            <p:nvPr/>
          </p:nvSpPr>
          <p:spPr>
            <a:xfrm>
              <a:off x="3419475" y="1619250"/>
              <a:ext cx="2524125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4194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41217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知识问答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42360" y="3821906"/>
              <a:ext cx="111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RAG 企业知识库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38875" y="1619250"/>
            <a:ext cx="2524125" cy="4191000"/>
            <a:chOff x="6238875" y="1619250"/>
            <a:chExt cx="2524125" cy="4191000"/>
          </a:xfrm>
        </p:grpSpPr>
        <p:sp>
          <p:nvSpPr>
            <p:cNvPr id="16" name="Rectangle 16"/>
            <p:cNvSpPr/>
            <p:nvPr/>
          </p:nvSpPr>
          <p:spPr>
            <a:xfrm>
              <a:off x="6238875" y="1619250"/>
              <a:ext cx="2524125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38875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0617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代码自动化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1760" y="3821906"/>
              <a:ext cx="1369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coding agent / RPA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48750" y="1619250"/>
            <a:ext cx="2524125" cy="4191000"/>
            <a:chOff x="9048750" y="1619250"/>
            <a:chExt cx="2524125" cy="4191000"/>
          </a:xfrm>
        </p:grpSpPr>
        <p:sp>
          <p:nvSpPr>
            <p:cNvPr id="21" name="Rectangle 21"/>
            <p:cNvSpPr/>
            <p:nvPr/>
          </p:nvSpPr>
          <p:spPr>
            <a:xfrm>
              <a:off x="9048750" y="1619250"/>
              <a:ext cx="2524125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48750" y="1619250"/>
              <a:ext cx="2524125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7049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多模态创作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71635" y="3821906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图/音/视频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如何为业务选型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决策维度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能力 × 上下文 × 成本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开源/托管 × 合规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渐进路径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先用托管跑通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再评估自托管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风险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风险与边界（承上启下）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幻觉 / 知识截止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偏见 / 隐私 / 对齐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36980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第六讲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945731"/>
              <a:ext cx="1309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《AI 安全与伦理》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561570" cy="738854"/>
            <a:chOff x="595122" y="501491"/>
            <a:chExt cx="356157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56157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趋势总结 · 延伸阅读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802761" cy="322707"/>
            <a:chOff x="601218" y="1898332"/>
            <a:chExt cx="3802761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趋势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能力趋同 / 成本塌方 / 上下文百万化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4004691" cy="322707"/>
            <a:chOff x="601218" y="2431732"/>
            <a:chExt cx="400469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趋势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3508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推理默认化 / 中国阵营崛起 / 专用分化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8618" y="1898332"/>
            <a:ext cx="3964305" cy="322707"/>
            <a:chOff x="6468618" y="1898332"/>
            <a:chExt cx="3964305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4686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0" y="1914525"/>
              <a:ext cx="3468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llms.li / llmgateway / whizi / aiwiki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2431732"/>
            <a:ext cx="3316986" cy="322707"/>
            <a:chOff x="6468618" y="2431732"/>
            <a:chExt cx="3316986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下一讲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2447925"/>
              <a:ext cx="2820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二、AI 工具链与无代码智能体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70109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 与大模型全景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_panorama_v6">
  <a:themeElements>
    <a:clrScheme name="ai_panorama_v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_panorama_v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panorama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1182</Words>
  <Application>Microsoft Office PowerPoint</Application>
  <PresentationFormat>宽屏</PresentationFormat>
  <Paragraphs>275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ai_panorama_v6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辉 童</cp:lastModifiedBy>
  <cp:revision>2</cp:revision>
  <dcterms:created xsi:type="dcterms:W3CDTF">2026-09-01T01:05:23Z</dcterms:created>
  <dcterms:modified xsi:type="dcterms:W3CDTF">2026-09-01T01:39:10Z</dcterms:modified>
  <cp:category/>
  <cp:contentStatus/>
  <dc:language/>
</cp:coreProperties>
</file>