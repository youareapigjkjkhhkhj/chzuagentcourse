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inciples_v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inciples_v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2209800"/>
            <a:ext cx="95250" cy="1981200"/>
          </a:xfrm>
          <a:prstGeom prst="rect">
            <a:avLst/>
          </a:prstGeom>
          <a:solidFill>
            <a:srgbClr val="E30613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895350" y="2295049"/>
            <a:ext cx="7266737" cy="1493996"/>
            <a:chOff x="895350" y="2295049"/>
            <a:chExt cx="7266737" cy="1493996"/>
          </a:xfrm>
        </p:grpSpPr>
        <p:sp>
          <p:nvSpPr>
            <p:cNvPr id="3" name="TextBox 3"/>
            <p:cNvSpPr txBox="1"/>
            <p:nvPr/>
          </p:nvSpPr>
          <p:spPr>
            <a:xfrm>
              <a:off x="909447" y="2295049"/>
              <a:ext cx="27010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225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EDUCATIONAL SERIES · 基础版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5350" y="2708910"/>
              <a:ext cx="726673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大模型原理与 API 开发入门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06780" y="3495675"/>
              <a:ext cx="31703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 Token 到生成，读懂“黑盒”内部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4266" y="5943600"/>
            <a:ext cx="10983469" cy="358711"/>
            <a:chOff x="604266" y="5943600"/>
            <a:chExt cx="10983469" cy="358711"/>
          </a:xfrm>
        </p:grpSpPr>
        <p:sp>
          <p:nvSpPr>
            <p:cNvPr id="7" name="Line 7"/>
            <p:cNvSpPr/>
            <p:nvPr/>
          </p:nvSpPr>
          <p:spPr>
            <a:xfrm>
              <a:off x="609600" y="5943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4266" y="6096952"/>
              <a:ext cx="17132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AIGC 教育平台 · 课程讲义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799636" y="6096952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2026-08-31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563624" cy="738854"/>
            <a:chOff x="595122" y="501491"/>
            <a:chExt cx="156362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5636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本讲目录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898332"/>
            <a:ext cx="2530602" cy="322707"/>
            <a:chOff x="601218" y="1898332"/>
            <a:chExt cx="2530602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7280" y="19145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是什么：统计预测引擎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31732"/>
            <a:ext cx="2652626" cy="322707"/>
            <a:chOff x="601218" y="2431732"/>
            <a:chExt cx="2652626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7280" y="2447925"/>
              <a:ext cx="21565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Transformer 与注意力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1218" y="2965132"/>
            <a:ext cx="2560892" cy="322707"/>
            <a:chOff x="601218" y="2965132"/>
            <a:chExt cx="2560892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012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7280" y="2981325"/>
              <a:ext cx="2064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数据表征：分词 / 嵌入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1218" y="3498532"/>
            <a:ext cx="1520952" cy="322707"/>
            <a:chOff x="601218" y="3498532"/>
            <a:chExt cx="1520952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01218" y="34985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7280" y="35147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训练与对齐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8618" y="1898332"/>
            <a:ext cx="1924812" cy="322707"/>
            <a:chOff x="6468618" y="1898332"/>
            <a:chExt cx="1924812" cy="322707"/>
          </a:xfrm>
        </p:grpSpPr>
        <p:sp>
          <p:nvSpPr>
            <p:cNvPr id="18" name="TextBox 18"/>
            <p:cNvSpPr txBox="1"/>
            <p:nvPr/>
          </p:nvSpPr>
          <p:spPr>
            <a:xfrm>
              <a:off x="64686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64680" y="19145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推理与缩放定律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68618" y="2431732"/>
            <a:ext cx="2369058" cy="322707"/>
            <a:chOff x="6468618" y="2431732"/>
            <a:chExt cx="2369058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64686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64680" y="2447925"/>
              <a:ext cx="18729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上下文工程（2026）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68618" y="2965132"/>
            <a:ext cx="1727454" cy="322707"/>
            <a:chOff x="6468618" y="2965132"/>
            <a:chExt cx="1727454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64686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64680" y="2981325"/>
              <a:ext cx="12313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API 开发实战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7" name="TextBox 27"/>
            <p:cNvSpPr txBox="1"/>
            <p:nvPr/>
          </p:nvSpPr>
          <p:spPr>
            <a:xfrm>
              <a:off x="604838" y="6613684"/>
              <a:ext cx="117020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大模型原理与 API 开发入门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016627" cy="738854"/>
            <a:chOff x="595122" y="501491"/>
            <a:chExt cx="501662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本质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01662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大模型是什么：统计预测引擎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核心认知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3935" y="3459956"/>
              <a:ext cx="3245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不是推理机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是对“下一个 token”概率的精密预测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3935" y="3783806"/>
              <a:ext cx="31249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输出来源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训练数据中学到的 token 间统计关系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3935" y="4107656"/>
              <a:ext cx="17453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误区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它“续写”而非“理解”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6" name="Rectangle 16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46342" y="18926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这意味着什么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553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18935" y="3459956"/>
              <a:ext cx="156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可塑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靠海量语料学分布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53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18935" y="3783806"/>
              <a:ext cx="17302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脆弱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概率偏差→幻觉/偏见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53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18935" y="4107656"/>
              <a:ext cx="1798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可控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靠提示/对齐引导输出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6" name="TextBox 26"/>
            <p:cNvSpPr txBox="1"/>
            <p:nvPr/>
          </p:nvSpPr>
          <p:spPr>
            <a:xfrm>
              <a:off x="604838" y="6613684"/>
              <a:ext cx="117020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大模型原理与 API 开发入门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007360" cy="738854"/>
            <a:chOff x="595122" y="501491"/>
            <a:chExt cx="600736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架构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0073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Transformer 架构（2017 奠基）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1905000"/>
            <a:chOff x="609600" y="1619250"/>
            <a:chExt cx="52578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22861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Attention Is All You Need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555081"/>
              <a:ext cx="20468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2017 提出，现代深度学习基石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802731"/>
              <a:ext cx="1787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注意力机制取代 RNN/CNN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24600" y="1619250"/>
            <a:ext cx="5257800" cy="1905000"/>
            <a:chOff x="6324600" y="1619250"/>
            <a:chExt cx="5257800" cy="1905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核心思想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24312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并行处理序列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267890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任意位置直接建模依赖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29265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训练效率高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19" name="Rectangle 19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6018" y="4050982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注意力取代顺序依赖，开启大模型时代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8304" y="4947285"/>
              <a:ext cx="30430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来源：腾讯云开发者、wwsun LLM wiki。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3" name="TextBox 23"/>
            <p:cNvSpPr txBox="1"/>
            <p:nvPr/>
          </p:nvSpPr>
          <p:spPr>
            <a:xfrm>
              <a:off x="604838" y="6613684"/>
              <a:ext cx="117020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大模型原理与 API 开发入门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4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8349277" cy="738854"/>
            <a:chOff x="595122" y="501491"/>
            <a:chExt cx="834927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架构详图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834927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Transformer 完整架构（Encoder–Decoder）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1428750" y="1666875"/>
            <a:ext cx="9048750" cy="4686301"/>
            <a:chOff x="1428750" y="1666875"/>
            <a:chExt cx="9048750" cy="4686301"/>
          </a:xfrm>
        </p:grpSpPr>
        <p:sp>
          <p:nvSpPr>
            <p:cNvPr id="6" name="Rectangle 6"/>
            <p:cNvSpPr/>
            <p:nvPr/>
          </p:nvSpPr>
          <p:spPr>
            <a:xfrm>
              <a:off x="1428750" y="5524500"/>
              <a:ext cx="1905000" cy="323850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906257" y="5630227"/>
              <a:ext cx="9499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Input Embedding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89978" y="5884545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Inputs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429000" y="5334000"/>
              <a:ext cx="1238250" cy="2667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576002" y="5420678"/>
              <a:ext cx="94424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Positional Encoding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2381250" y="51435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A1A1A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2543175" y="5467350"/>
              <a:ext cx="885825" cy="9525"/>
            </a:xfrm>
            <a:custGeom>
              <a:avLst/>
              <a:gdLst/>
              <a:ahLst/>
              <a:cxnLst/>
              <a:rect l="l" t="t" r="r" b="b"/>
              <a:pathLst>
                <a:path w="885825" h="9525">
                  <a:moveTo>
                    <a:pt x="88582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2457450" y="543496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0" y="32385"/>
                  </a:moveTo>
                  <a:lnTo>
                    <a:pt x="79058" y="0"/>
                  </a:lnTo>
                  <a:lnTo>
                    <a:pt x="79058" y="6477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1428750" y="2381250"/>
              <a:ext cx="1905000" cy="2762250"/>
            </a:xfrm>
            <a:prstGeom prst="roundRect">
              <a:avLst>
                <a:gd name="adj" fmla="val 1500"/>
              </a:avLst>
            </a:prstGeom>
            <a:noFill/>
            <a:ln w="11430">
              <a:solidFill>
                <a:srgbClr val="999999"/>
              </a:solidFill>
              <a:custDash>
                <a:ds d="500000" sp="333333"/>
              </a:custDash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19238" y="2493645"/>
              <a:ext cx="7255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Encoder × N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524000" y="4648200"/>
              <a:ext cx="1714500" cy="304800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728762" y="4753928"/>
              <a:ext cx="130497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Multi-Head Self-Attention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524000" y="4229100"/>
              <a:ext cx="1714500" cy="266700"/>
            </a:xfrm>
            <a:prstGeom prst="roundRect">
              <a:avLst>
                <a:gd name="adj" fmla="val 10714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084836" y="4311491"/>
              <a:ext cx="59282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Add &amp; Norm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524000" y="3733800"/>
              <a:ext cx="1714500" cy="304800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011245" y="3835241"/>
              <a:ext cx="74001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Feed Forward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524000" y="3314700"/>
              <a:ext cx="1714500" cy="266700"/>
            </a:xfrm>
            <a:prstGeom prst="roundRect">
              <a:avLst>
                <a:gd name="adj" fmla="val 10714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084836" y="3397091"/>
              <a:ext cx="59282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Add &amp; Norm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2381250" y="45815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2348865" y="449580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2381250" y="4124325"/>
              <a:ext cx="9525" cy="104775"/>
            </a:xfrm>
            <a:custGeom>
              <a:avLst/>
              <a:gdLst/>
              <a:ahLst/>
              <a:cxnLst/>
              <a:rect l="l" t="t" r="r" b="b"/>
              <a:pathLst>
                <a:path w="9525" h="104775">
                  <a:moveTo>
                    <a:pt x="0" y="1047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2348865" y="403860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2381250" y="36671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2348865" y="358140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2381250" y="2543175"/>
              <a:ext cx="9525" cy="771525"/>
            </a:xfrm>
            <a:custGeom>
              <a:avLst/>
              <a:gdLst/>
              <a:ahLst/>
              <a:cxnLst/>
              <a:rect l="l" t="t" r="r" b="b"/>
              <a:pathLst>
                <a:path w="9525" h="771525">
                  <a:moveTo>
                    <a:pt x="0" y="7715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2348865" y="245745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619750" y="5524500"/>
              <a:ext cx="1905000" cy="323850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36473" y="5630227"/>
              <a:ext cx="10715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Output Embedding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911488" y="5892641"/>
              <a:ext cx="13215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Outputs (shifted right)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620000" y="5334000"/>
              <a:ext cx="1238250" cy="2667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767003" y="5420678"/>
              <a:ext cx="94424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Positional Encoding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572250" y="51435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A1A1A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6734175" y="5467350"/>
              <a:ext cx="885825" cy="9525"/>
            </a:xfrm>
            <a:custGeom>
              <a:avLst/>
              <a:gdLst/>
              <a:ahLst/>
              <a:cxnLst/>
              <a:rect l="l" t="t" r="r" b="b"/>
              <a:pathLst>
                <a:path w="885825" h="9525">
                  <a:moveTo>
                    <a:pt x="88582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9" name="Polygon 39"/>
            <p:cNvSpPr/>
            <p:nvPr/>
          </p:nvSpPr>
          <p:spPr>
            <a:xfrm>
              <a:off x="6648450" y="54349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0" y="32385"/>
                  </a:moveTo>
                  <a:lnTo>
                    <a:pt x="79057" y="0"/>
                  </a:lnTo>
                  <a:lnTo>
                    <a:pt x="79057" y="6477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619750" y="1905000"/>
              <a:ext cx="1905000" cy="3238500"/>
            </a:xfrm>
            <a:prstGeom prst="roundRect">
              <a:avLst>
                <a:gd name="adj" fmla="val 1500"/>
              </a:avLst>
            </a:prstGeom>
            <a:noFill/>
            <a:ln w="11430">
              <a:solidFill>
                <a:srgbClr val="999999"/>
              </a:solidFill>
              <a:custDash>
                <a:ds d="500000" sp="333333"/>
              </a:custDash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710238" y="2017395"/>
              <a:ext cx="7255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Decoder × N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715000" y="4762500"/>
              <a:ext cx="1714500" cy="28575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854065" y="4858702"/>
              <a:ext cx="143637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Masked Multi-Head Attention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715000" y="4381500"/>
              <a:ext cx="1714500" cy="247650"/>
            </a:xfrm>
            <a:prstGeom prst="roundRect">
              <a:avLst>
                <a:gd name="adj" fmla="val 11538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00733" y="4458652"/>
              <a:ext cx="54303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Add &amp; Norm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715000" y="3905250"/>
              <a:ext cx="1714500" cy="28575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9050">
              <a:solidFill>
                <a:srgbClr val="E30613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073489" y="3997166"/>
              <a:ext cx="9975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Enc-Dec Attention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192081" y="4308634"/>
              <a:ext cx="76033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(K, V ← Encoder)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715000" y="3505200"/>
              <a:ext cx="1714500" cy="247650"/>
            </a:xfrm>
            <a:prstGeom prst="roundRect">
              <a:avLst>
                <a:gd name="adj" fmla="val 11538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00733" y="3582352"/>
              <a:ext cx="54303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Add &amp; Norm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715000" y="3009900"/>
              <a:ext cx="1714500" cy="28575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202245" y="3101816"/>
              <a:ext cx="74001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Feed Forward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715000" y="2628900"/>
              <a:ext cx="1714500" cy="247650"/>
            </a:xfrm>
            <a:prstGeom prst="roundRect">
              <a:avLst>
                <a:gd name="adj" fmla="val 11538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00733" y="2706052"/>
              <a:ext cx="54303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Add &amp; Norm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6572250" y="4714875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476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56" name="Polygon 56"/>
            <p:cNvSpPr/>
            <p:nvPr/>
          </p:nvSpPr>
          <p:spPr>
            <a:xfrm>
              <a:off x="6539865" y="462915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57" name="Line 57"/>
            <p:cNvSpPr/>
            <p:nvPr/>
          </p:nvSpPr>
          <p:spPr>
            <a:xfrm>
              <a:off x="6572250" y="4276725"/>
              <a:ext cx="9525" cy="104775"/>
            </a:xfrm>
            <a:custGeom>
              <a:avLst/>
              <a:gdLst/>
              <a:ahLst/>
              <a:cxnLst/>
              <a:rect l="l" t="t" r="r" b="b"/>
              <a:pathLst>
                <a:path w="9525" h="104775">
                  <a:moveTo>
                    <a:pt x="0" y="1047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58" name="Polygon 58"/>
            <p:cNvSpPr/>
            <p:nvPr/>
          </p:nvSpPr>
          <p:spPr>
            <a:xfrm>
              <a:off x="6539865" y="419100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59" name="Line 59"/>
            <p:cNvSpPr/>
            <p:nvPr/>
          </p:nvSpPr>
          <p:spPr>
            <a:xfrm>
              <a:off x="6572250" y="383857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60" name="Polygon 60"/>
            <p:cNvSpPr/>
            <p:nvPr/>
          </p:nvSpPr>
          <p:spPr>
            <a:xfrm>
              <a:off x="6539865" y="375285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61" name="Line 61"/>
            <p:cNvSpPr/>
            <p:nvPr/>
          </p:nvSpPr>
          <p:spPr>
            <a:xfrm>
              <a:off x="6572250" y="3381375"/>
              <a:ext cx="9525" cy="123825"/>
            </a:xfrm>
            <a:custGeom>
              <a:avLst/>
              <a:gdLst/>
              <a:ahLst/>
              <a:cxnLst/>
              <a:rect l="l" t="t" r="r" b="b"/>
              <a:pathLst>
                <a:path w="9525" h="123825">
                  <a:moveTo>
                    <a:pt x="0" y="1238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62" name="Polygon 62"/>
            <p:cNvSpPr/>
            <p:nvPr/>
          </p:nvSpPr>
          <p:spPr>
            <a:xfrm>
              <a:off x="6539865" y="329565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63" name="Line 63"/>
            <p:cNvSpPr/>
            <p:nvPr/>
          </p:nvSpPr>
          <p:spPr>
            <a:xfrm>
              <a:off x="6572250" y="2962275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476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64" name="Polygon 64"/>
            <p:cNvSpPr/>
            <p:nvPr/>
          </p:nvSpPr>
          <p:spPr>
            <a:xfrm>
              <a:off x="6539865" y="287655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65" name="Line 65"/>
            <p:cNvSpPr/>
            <p:nvPr/>
          </p:nvSpPr>
          <p:spPr>
            <a:xfrm>
              <a:off x="6572250" y="2085975"/>
              <a:ext cx="9525" cy="542925"/>
            </a:xfrm>
            <a:custGeom>
              <a:avLst/>
              <a:gdLst/>
              <a:ahLst/>
              <a:cxnLst/>
              <a:rect l="l" t="t" r="r" b="b"/>
              <a:pathLst>
                <a:path w="9525" h="542925">
                  <a:moveTo>
                    <a:pt x="0" y="5429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66" name="Polygon 66"/>
            <p:cNvSpPr/>
            <p:nvPr/>
          </p:nvSpPr>
          <p:spPr>
            <a:xfrm>
              <a:off x="6539865" y="200025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67" name="Polyline 67"/>
            <p:cNvSpPr/>
            <p:nvPr/>
          </p:nvSpPr>
          <p:spPr>
            <a:xfrm>
              <a:off x="2381250" y="2381250"/>
              <a:ext cx="3333750" cy="1666875"/>
            </a:xfrm>
            <a:custGeom>
              <a:avLst/>
              <a:gdLst/>
              <a:ahLst/>
              <a:cxnLst/>
              <a:rect l="l" t="t" r="r" b="b"/>
              <a:pathLst>
                <a:path w="3333750" h="1666875">
                  <a:moveTo>
                    <a:pt x="0" y="0"/>
                  </a:moveTo>
                  <a:lnTo>
                    <a:pt x="2095500" y="0"/>
                  </a:lnTo>
                  <a:lnTo>
                    <a:pt x="2095500" y="1666875"/>
                  </a:lnTo>
                  <a:lnTo>
                    <a:pt x="3333750" y="1666875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68" name="Polygon 68"/>
            <p:cNvSpPr/>
            <p:nvPr/>
          </p:nvSpPr>
          <p:spPr>
            <a:xfrm>
              <a:off x="5635942" y="40157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504981" y="2215991"/>
              <a:ext cx="2483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K, V</a:t>
              </a:r>
            </a:p>
          </p:txBody>
        </p:sp>
        <p:sp>
          <p:nvSpPr>
            <p:cNvPr id="70" name="Polyline 70"/>
            <p:cNvSpPr/>
            <p:nvPr/>
          </p:nvSpPr>
          <p:spPr>
            <a:xfrm>
              <a:off x="6572250" y="1666875"/>
              <a:ext cx="3048000" cy="1476375"/>
            </a:xfrm>
            <a:custGeom>
              <a:avLst/>
              <a:gdLst/>
              <a:ahLst/>
              <a:cxnLst/>
              <a:rect l="l" t="t" r="r" b="b"/>
              <a:pathLst>
                <a:path w="3048000" h="1476375">
                  <a:moveTo>
                    <a:pt x="0" y="238125"/>
                  </a:moveTo>
                  <a:lnTo>
                    <a:pt x="0" y="0"/>
                  </a:lnTo>
                  <a:lnTo>
                    <a:pt x="3048000" y="0"/>
                  </a:lnTo>
                  <a:lnTo>
                    <a:pt x="3048000" y="147637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71" name="Polygon 71"/>
            <p:cNvSpPr/>
            <p:nvPr/>
          </p:nvSpPr>
          <p:spPr>
            <a:xfrm>
              <a:off x="9587865" y="306419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8763000" y="3143250"/>
              <a:ext cx="1714500" cy="323850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419653" y="3248978"/>
              <a:ext cx="4011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Linear</a:t>
              </a:r>
            </a:p>
          </p:txBody>
        </p:sp>
        <p:sp>
          <p:nvSpPr>
            <p:cNvPr id="74" name="Line 74"/>
            <p:cNvSpPr/>
            <p:nvPr/>
          </p:nvSpPr>
          <p:spPr>
            <a:xfrm>
              <a:off x="9620250" y="3467100"/>
              <a:ext cx="9525" cy="104775"/>
            </a:xfrm>
            <a:custGeom>
              <a:avLst/>
              <a:gdLst/>
              <a:ahLst/>
              <a:cxnLst/>
              <a:rect l="l" t="t" r="r" b="b"/>
              <a:pathLst>
                <a:path w="9525" h="104775">
                  <a:moveTo>
                    <a:pt x="0" y="0"/>
                  </a:moveTo>
                  <a:lnTo>
                    <a:pt x="0" y="10477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75" name="Polygon 75"/>
            <p:cNvSpPr/>
            <p:nvPr/>
          </p:nvSpPr>
          <p:spPr>
            <a:xfrm>
              <a:off x="9587865" y="357854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8763000" y="3657600"/>
              <a:ext cx="1714500" cy="323850"/>
            </a:xfrm>
            <a:prstGeom prst="roundRect">
              <a:avLst>
                <a:gd name="adj" fmla="val 8824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355792" y="3763328"/>
              <a:ext cx="5289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Softmax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978817" y="4112895"/>
              <a:ext cx="12828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Output Probabilities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4581915" y="6205538"/>
              <a:ext cx="264717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来源：Vaswani et al., 2017 · Attention Is All You Need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81" name="TextBox 81"/>
            <p:cNvSpPr txBox="1"/>
            <p:nvPr/>
          </p:nvSpPr>
          <p:spPr>
            <a:xfrm>
              <a:off x="604838" y="6613684"/>
              <a:ext cx="117020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大模型原理与 API 开发入门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5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633105" cy="738854"/>
            <a:chOff x="595122" y="501491"/>
            <a:chExt cx="463310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注意力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63310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自注意力机制：Q / K / V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1905000"/>
            <a:chOff x="609600" y="1619250"/>
            <a:chExt cx="52578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1905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公式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555081"/>
              <a:ext cx="14400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CCCCC"/>
                  </a:solidFill>
                  <a:latin typeface="Arial"/>
                  <a:ea typeface="Arial"/>
                  <a:cs typeface="Arial"/>
                </a:rPr>
                <a:t>Attention(Q,K,V)=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802731"/>
              <a:ext cx="15883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CCCCC"/>
                  </a:solidFill>
                  <a:latin typeface="Arial"/>
                  <a:ea typeface="Arial"/>
                  <a:cs typeface="Arial"/>
                </a:rPr>
                <a:t>softmax(QKᵀ/√dₖ)·V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24600" y="1619250"/>
            <a:ext cx="5257800" cy="1905000"/>
            <a:chOff x="6324600" y="1619250"/>
            <a:chExt cx="5257800" cy="1905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三要素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2431256"/>
              <a:ext cx="16124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Q 查询：当前在问什么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2678906"/>
              <a:ext cx="1580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K 键：可被匹配的信息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2926556"/>
              <a:ext cx="1580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V 值：实际取用的内容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19" name="Rectangle 19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6018" y="4050982"/>
              <a:ext cx="52261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例：“it”指代 road 还是 animal？由注意力权重决定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8304" y="4947285"/>
              <a:ext cx="27566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来源：NICADD、ZOOZ Engineering。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3" name="TextBox 23"/>
            <p:cNvSpPr txBox="1"/>
            <p:nvPr/>
          </p:nvSpPr>
          <p:spPr>
            <a:xfrm>
              <a:off x="604838" y="6613684"/>
              <a:ext cx="117020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大模型原理与 API 开发入门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6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8896546" cy="738854"/>
            <a:chOff x="595122" y="501491"/>
            <a:chExt cx="889654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10039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注意力详图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889654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缩放点积注意力计算流程（Scaled Dot-Product）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1047750" y="1799749"/>
            <a:ext cx="9525000" cy="3562827"/>
            <a:chOff x="1047750" y="1799749"/>
            <a:chExt cx="9525000" cy="3562827"/>
          </a:xfrm>
        </p:grpSpPr>
        <p:sp>
          <p:nvSpPr>
            <p:cNvPr id="6" name="TextBox 6"/>
            <p:cNvSpPr txBox="1"/>
            <p:nvPr/>
          </p:nvSpPr>
          <p:spPr>
            <a:xfrm>
              <a:off x="4205277" y="1799749"/>
              <a:ext cx="34004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逐位置：每个 token 对全部 token 算相关度，再加权取值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47750" y="2381250"/>
              <a:ext cx="1143000" cy="323850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83966" y="2486978"/>
              <a:ext cx="6705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Q (Query)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047750" y="2819400"/>
              <a:ext cx="1143000" cy="323850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79018" y="2925128"/>
              <a:ext cx="4804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K (Key)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047750" y="3810000"/>
              <a:ext cx="1143000" cy="323850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26091" y="3915728"/>
              <a:ext cx="5863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V (Value)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857500" y="2857500"/>
              <a:ext cx="123825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 w="14288">
              <a:solidFill>
                <a:srgbClr val="1A1A1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228210" y="3006566"/>
              <a:ext cx="4968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MatMul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63973" y="3339941"/>
              <a:ext cx="2253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QKᵀ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190750" y="2543175"/>
              <a:ext cx="594360" cy="381953"/>
            </a:xfrm>
            <a:custGeom>
              <a:avLst/>
              <a:gdLst/>
              <a:ahLst/>
              <a:cxnLst/>
              <a:rect l="l" t="t" r="r" b="b"/>
              <a:pathLst>
                <a:path w="594360" h="381953">
                  <a:moveTo>
                    <a:pt x="0" y="0"/>
                  </a:moveTo>
                  <a:lnTo>
                    <a:pt x="594360" y="381953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2773680" y="2902268"/>
              <a:ext cx="83820" cy="69533"/>
            </a:xfrm>
            <a:custGeom>
              <a:avLst/>
              <a:gdLst/>
              <a:ahLst/>
              <a:cxnLst/>
              <a:rect l="l" t="t" r="r" b="b"/>
              <a:pathLst>
                <a:path w="83820" h="69533">
                  <a:moveTo>
                    <a:pt x="83820" y="69533"/>
                  </a:moveTo>
                  <a:lnTo>
                    <a:pt x="0" y="53340"/>
                  </a:lnTo>
                  <a:lnTo>
                    <a:pt x="3429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2190750" y="2981325"/>
              <a:ext cx="581978" cy="75247"/>
            </a:xfrm>
            <a:custGeom>
              <a:avLst/>
              <a:gdLst/>
              <a:ahLst/>
              <a:cxnLst/>
              <a:rect l="l" t="t" r="r" b="b"/>
              <a:pathLst>
                <a:path w="581978" h="75247">
                  <a:moveTo>
                    <a:pt x="0" y="0"/>
                  </a:moveTo>
                  <a:lnTo>
                    <a:pt x="581978" y="75247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2774632" y="3025140"/>
              <a:ext cx="82867" cy="63817"/>
            </a:xfrm>
            <a:custGeom>
              <a:avLst/>
              <a:gdLst/>
              <a:ahLst/>
              <a:cxnLst/>
              <a:rect l="l" t="t" r="r" b="b"/>
              <a:pathLst>
                <a:path w="82867" h="63817">
                  <a:moveTo>
                    <a:pt x="82867" y="41910"/>
                  </a:moveTo>
                  <a:lnTo>
                    <a:pt x="0" y="63817"/>
                  </a:lnTo>
                  <a:lnTo>
                    <a:pt x="8572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476750" y="2857500"/>
              <a:ext cx="1238250" cy="419100"/>
            </a:xfrm>
            <a:prstGeom prst="roundRect">
              <a:avLst>
                <a:gd name="adj" fmla="val 6818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924146" y="3006566"/>
              <a:ext cx="3434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Scale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953127" y="3339941"/>
              <a:ext cx="2854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÷ √dₖ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4095750" y="3067050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4397692" y="303466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96000" y="2857500"/>
              <a:ext cx="1238250" cy="419100"/>
            </a:xfrm>
            <a:prstGeom prst="roundRect">
              <a:avLst>
                <a:gd name="adj" fmla="val 6818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27393" y="3006566"/>
              <a:ext cx="5754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Softmax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715000" y="3067050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6016942" y="30346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715250" y="2857500"/>
              <a:ext cx="123825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 w="14288">
              <a:solidFill>
                <a:srgbClr val="1A1A1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085960" y="3006566"/>
              <a:ext cx="4968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MatMul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7334250" y="3067050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7636192" y="30346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3" name="Polyline 33"/>
            <p:cNvSpPr/>
            <p:nvPr/>
          </p:nvSpPr>
          <p:spPr>
            <a:xfrm>
              <a:off x="2190750" y="3276600"/>
              <a:ext cx="6143625" cy="695325"/>
            </a:xfrm>
            <a:custGeom>
              <a:avLst/>
              <a:gdLst/>
              <a:ahLst/>
              <a:cxnLst/>
              <a:rect l="l" t="t" r="r" b="b"/>
              <a:pathLst>
                <a:path w="6143625" h="695325">
                  <a:moveTo>
                    <a:pt x="0" y="695325"/>
                  </a:moveTo>
                  <a:lnTo>
                    <a:pt x="6143625" y="695325"/>
                  </a:lnTo>
                  <a:lnTo>
                    <a:pt x="61436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8301990" y="327660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452688" y="38080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V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334500" y="2857500"/>
              <a:ext cx="1238250" cy="419100"/>
            </a:xfrm>
            <a:prstGeom prst="roundRect">
              <a:avLst>
                <a:gd name="adj" fmla="val 6818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703968" y="3006566"/>
              <a:ext cx="4993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Output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8953500" y="3067050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9" name="Polygon 39"/>
            <p:cNvSpPr/>
            <p:nvPr/>
          </p:nvSpPr>
          <p:spPr>
            <a:xfrm>
              <a:off x="9255442" y="30346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1047750" y="4476750"/>
              <a:ext cx="9525000" cy="5334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609935" y="4654868"/>
              <a:ext cx="4400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Attention(Q, K, V) = softmax( QKᵀ / √dₖ ) · V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87073" y="5214938"/>
              <a:ext cx="263685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来源：Vaswani et al., 2017；√dₖ 点积缩放避免梯度消失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4" name="TextBox 44"/>
            <p:cNvSpPr txBox="1"/>
            <p:nvPr/>
          </p:nvSpPr>
          <p:spPr>
            <a:xfrm>
              <a:off x="604838" y="6613684"/>
              <a:ext cx="117020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大模型原理与 API 开发入门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7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869579" cy="738854"/>
            <a:chOff x="595122" y="501491"/>
            <a:chExt cx="486957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注意力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86957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多头注意力（Multi-Head）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并行多头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6980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多个头各看不同关系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945731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语法 / 语义多维理解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收益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35742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表征更丰富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8219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多面文本理解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4069556"/>
              <a:ext cx="999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翻译/问答更强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9" name="TextBox 19"/>
            <p:cNvSpPr txBox="1"/>
            <p:nvPr/>
          </p:nvSpPr>
          <p:spPr>
            <a:xfrm>
              <a:off x="604838" y="6613684"/>
              <a:ext cx="117020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大模型原理与 API 开发入门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8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8366016" cy="738854"/>
            <a:chOff x="595122" y="501491"/>
            <a:chExt cx="836601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10039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注意力详图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836601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多头注意力：并行子空间再拼接（Multi-Head）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1524000" y="1619250"/>
            <a:ext cx="9048750" cy="2105026"/>
            <a:chOff x="1524000" y="1619250"/>
            <a:chExt cx="9048750" cy="2105026"/>
          </a:xfrm>
        </p:grpSpPr>
        <p:sp>
          <p:nvSpPr>
            <p:cNvPr id="6" name="Rectangle 6"/>
            <p:cNvSpPr/>
            <p:nvPr/>
          </p:nvSpPr>
          <p:spPr>
            <a:xfrm>
              <a:off x="1524000" y="1666875"/>
              <a:ext cx="857250" cy="2667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892785" y="1739741"/>
              <a:ext cx="1196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Q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524000" y="2028825"/>
              <a:ext cx="857250" cy="2667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07422" y="210169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K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524000" y="2390775"/>
              <a:ext cx="857250" cy="2667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907422" y="246364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V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667000" y="1666875"/>
              <a:ext cx="857250" cy="266700"/>
            </a:xfrm>
            <a:prstGeom prst="roundRect">
              <a:avLst>
                <a:gd name="adj" fmla="val 10714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920932" y="1749266"/>
              <a:ext cx="3493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Linear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667000" y="2028825"/>
              <a:ext cx="857250" cy="266700"/>
            </a:xfrm>
            <a:prstGeom prst="roundRect">
              <a:avLst>
                <a:gd name="adj" fmla="val 10714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920932" y="2111216"/>
              <a:ext cx="3493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Linear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667000" y="2390775"/>
              <a:ext cx="857250" cy="266700"/>
            </a:xfrm>
            <a:prstGeom prst="roundRect">
              <a:avLst>
                <a:gd name="adj" fmla="val 10714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20932" y="2473166"/>
              <a:ext cx="3493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Linear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2381250" y="1800225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2587942" y="176784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2381250" y="2162175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2587942" y="212979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2381250" y="2524125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2587942" y="249174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4476750" y="1619250"/>
              <a:ext cx="2095500" cy="361950"/>
            </a:xfrm>
            <a:prstGeom prst="roundRect">
              <a:avLst>
                <a:gd name="adj" fmla="val 7895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88695" y="1753552"/>
              <a:ext cx="187161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head₁ · Scaled Dot-Product Attention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476750" y="2038350"/>
              <a:ext cx="2095500" cy="361950"/>
            </a:xfrm>
            <a:prstGeom prst="roundRect">
              <a:avLst>
                <a:gd name="adj" fmla="val 7895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588695" y="2172652"/>
              <a:ext cx="187161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head₂ · Scaled Dot-Product Attention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476750" y="2457450"/>
              <a:ext cx="2095500" cy="361950"/>
            </a:xfrm>
            <a:prstGeom prst="roundRect">
              <a:avLst>
                <a:gd name="adj" fmla="val 7895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588695" y="2591752"/>
              <a:ext cx="187161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head₃ · Scaled Dot-Product Attention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83837" y="2969895"/>
              <a:ext cx="20813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⋮ (共 h 个头并行，各自学不同子空间)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3524250" y="1800225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9525">
              <a:solidFill>
                <a:srgbClr val="CCCCCC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3524250" y="1800225"/>
              <a:ext cx="952500" cy="419100"/>
            </a:xfrm>
            <a:custGeom>
              <a:avLst/>
              <a:gdLst/>
              <a:ahLst/>
              <a:cxnLst/>
              <a:rect l="l" t="t" r="r" b="b"/>
              <a:pathLst>
                <a:path w="952500" h="419100">
                  <a:moveTo>
                    <a:pt x="0" y="0"/>
                  </a:moveTo>
                  <a:lnTo>
                    <a:pt x="952500" y="419100"/>
                  </a:lnTo>
                </a:path>
              </a:pathLst>
            </a:custGeom>
            <a:noFill/>
            <a:ln w="9525">
              <a:solidFill>
                <a:srgbClr val="CCCCCC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3524250" y="1800225"/>
              <a:ext cx="952500" cy="838200"/>
            </a:xfrm>
            <a:custGeom>
              <a:avLst/>
              <a:gdLst/>
              <a:ahLst/>
              <a:cxnLst/>
              <a:rect l="l" t="t" r="r" b="b"/>
              <a:pathLst>
                <a:path w="952500" h="838200">
                  <a:moveTo>
                    <a:pt x="0" y="0"/>
                  </a:moveTo>
                  <a:lnTo>
                    <a:pt x="952500" y="838200"/>
                  </a:lnTo>
                </a:path>
              </a:pathLst>
            </a:custGeom>
            <a:noFill/>
            <a:ln w="9525">
              <a:solidFill>
                <a:srgbClr val="CCCCCC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3524250" y="1800225"/>
              <a:ext cx="952500" cy="361950"/>
            </a:xfrm>
            <a:custGeom>
              <a:avLst/>
              <a:gdLst/>
              <a:ahLst/>
              <a:cxnLst/>
              <a:rect l="l" t="t" r="r" b="b"/>
              <a:pathLst>
                <a:path w="952500" h="361950">
                  <a:moveTo>
                    <a:pt x="0" y="361950"/>
                  </a:moveTo>
                  <a:lnTo>
                    <a:pt x="952500" y="0"/>
                  </a:lnTo>
                </a:path>
              </a:pathLst>
            </a:custGeom>
            <a:noFill/>
            <a:ln w="9525">
              <a:solidFill>
                <a:srgbClr val="CCCCCC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3524250" y="2162175"/>
              <a:ext cx="952500" cy="57150"/>
            </a:xfrm>
            <a:custGeom>
              <a:avLst/>
              <a:gdLst/>
              <a:ahLst/>
              <a:cxnLst/>
              <a:rect l="l" t="t" r="r" b="b"/>
              <a:pathLst>
                <a:path w="952500" h="57150">
                  <a:moveTo>
                    <a:pt x="0" y="0"/>
                  </a:moveTo>
                  <a:lnTo>
                    <a:pt x="952500" y="57150"/>
                  </a:lnTo>
                </a:path>
              </a:pathLst>
            </a:custGeom>
            <a:noFill/>
            <a:ln w="9525">
              <a:solidFill>
                <a:srgbClr val="CCCCCC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3524250" y="2162175"/>
              <a:ext cx="952500" cy="476250"/>
            </a:xfrm>
            <a:custGeom>
              <a:avLst/>
              <a:gdLst/>
              <a:ahLst/>
              <a:cxnLst/>
              <a:rect l="l" t="t" r="r" b="b"/>
              <a:pathLst>
                <a:path w="952500" h="476250">
                  <a:moveTo>
                    <a:pt x="0" y="0"/>
                  </a:moveTo>
                  <a:lnTo>
                    <a:pt x="952500" y="476250"/>
                  </a:lnTo>
                </a:path>
              </a:pathLst>
            </a:custGeom>
            <a:noFill/>
            <a:ln w="9525">
              <a:solidFill>
                <a:srgbClr val="CCCCCC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3524250" y="1800225"/>
              <a:ext cx="952500" cy="723900"/>
            </a:xfrm>
            <a:custGeom>
              <a:avLst/>
              <a:gdLst/>
              <a:ahLst/>
              <a:cxnLst/>
              <a:rect l="l" t="t" r="r" b="b"/>
              <a:pathLst>
                <a:path w="952500" h="723900">
                  <a:moveTo>
                    <a:pt x="0" y="723900"/>
                  </a:moveTo>
                  <a:lnTo>
                    <a:pt x="952500" y="0"/>
                  </a:lnTo>
                </a:path>
              </a:pathLst>
            </a:custGeom>
            <a:noFill/>
            <a:ln w="9525">
              <a:solidFill>
                <a:srgbClr val="CCCCCC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3524250" y="2219325"/>
              <a:ext cx="952500" cy="304800"/>
            </a:xfrm>
            <a:custGeom>
              <a:avLst/>
              <a:gdLst/>
              <a:ahLst/>
              <a:cxnLst/>
              <a:rect l="l" t="t" r="r" b="b"/>
              <a:pathLst>
                <a:path w="952500" h="304800">
                  <a:moveTo>
                    <a:pt x="0" y="304800"/>
                  </a:moveTo>
                  <a:lnTo>
                    <a:pt x="952500" y="0"/>
                  </a:lnTo>
                </a:path>
              </a:pathLst>
            </a:custGeom>
            <a:noFill/>
            <a:ln w="9525">
              <a:solidFill>
                <a:srgbClr val="CCCCCC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3524250" y="2524125"/>
              <a:ext cx="952500" cy="114300"/>
            </a:xfrm>
            <a:custGeom>
              <a:avLst/>
              <a:gdLst/>
              <a:ahLst/>
              <a:cxnLst/>
              <a:rect l="l" t="t" r="r" b="b"/>
              <a:pathLst>
                <a:path w="952500" h="114300">
                  <a:moveTo>
                    <a:pt x="0" y="0"/>
                  </a:moveTo>
                  <a:lnTo>
                    <a:pt x="952500" y="114300"/>
                  </a:lnTo>
                </a:path>
              </a:pathLst>
            </a:custGeom>
            <a:noFill/>
            <a:ln w="9525">
              <a:solidFill>
                <a:srgbClr val="CCCCCC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953250" y="2000250"/>
              <a:ext cx="857250" cy="361950"/>
            </a:xfrm>
            <a:prstGeom prst="roundRect">
              <a:avLst>
                <a:gd name="adj" fmla="val 7895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165226" y="2125028"/>
              <a:ext cx="4332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Concat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572250" y="1800225"/>
              <a:ext cx="320040" cy="311467"/>
            </a:xfrm>
            <a:custGeom>
              <a:avLst/>
              <a:gdLst/>
              <a:ahLst/>
              <a:cxnLst/>
              <a:rect l="l" t="t" r="r" b="b"/>
              <a:pathLst>
                <a:path w="320040" h="311467">
                  <a:moveTo>
                    <a:pt x="0" y="0"/>
                  </a:moveTo>
                  <a:lnTo>
                    <a:pt x="320040" y="311467"/>
                  </a:lnTo>
                </a:path>
              </a:pathLst>
            </a:custGeom>
            <a:noFill/>
            <a:ln w="14288">
              <a:solidFill>
                <a:srgbClr val="1A1A1A"/>
              </a:solidFill>
            </a:ln>
          </p:spPr>
        </p:sp>
        <p:sp>
          <p:nvSpPr>
            <p:cNvPr id="43" name="Polygon 43"/>
            <p:cNvSpPr/>
            <p:nvPr/>
          </p:nvSpPr>
          <p:spPr>
            <a:xfrm>
              <a:off x="6874192" y="2093595"/>
              <a:ext cx="79057" cy="78105"/>
            </a:xfrm>
            <a:custGeom>
              <a:avLst/>
              <a:gdLst/>
              <a:ahLst/>
              <a:cxnLst/>
              <a:rect l="l" t="t" r="r" b="b"/>
              <a:pathLst>
                <a:path w="79057" h="78105">
                  <a:moveTo>
                    <a:pt x="79057" y="78105"/>
                  </a:moveTo>
                  <a:lnTo>
                    <a:pt x="0" y="45720"/>
                  </a:lnTo>
                  <a:lnTo>
                    <a:pt x="44767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4" name="Line 44"/>
            <p:cNvSpPr/>
            <p:nvPr/>
          </p:nvSpPr>
          <p:spPr>
            <a:xfrm>
              <a:off x="6572250" y="2189798"/>
              <a:ext cx="295275" cy="29527"/>
            </a:xfrm>
            <a:custGeom>
              <a:avLst/>
              <a:gdLst/>
              <a:ahLst/>
              <a:cxnLst/>
              <a:rect l="l" t="t" r="r" b="b"/>
              <a:pathLst>
                <a:path w="295275" h="29527">
                  <a:moveTo>
                    <a:pt x="0" y="29527"/>
                  </a:moveTo>
                  <a:lnTo>
                    <a:pt x="295275" y="0"/>
                  </a:lnTo>
                </a:path>
              </a:pathLst>
            </a:custGeom>
            <a:noFill/>
            <a:ln w="14288">
              <a:solidFill>
                <a:srgbClr val="1A1A1A"/>
              </a:solidFill>
            </a:ln>
          </p:spPr>
        </p:sp>
        <p:sp>
          <p:nvSpPr>
            <p:cNvPr id="45" name="Polygon 45"/>
            <p:cNvSpPr/>
            <p:nvPr/>
          </p:nvSpPr>
          <p:spPr>
            <a:xfrm>
              <a:off x="6871335" y="2157412"/>
              <a:ext cx="81915" cy="63817"/>
            </a:xfrm>
            <a:custGeom>
              <a:avLst/>
              <a:gdLst/>
              <a:ahLst/>
              <a:cxnLst/>
              <a:rect l="l" t="t" r="r" b="b"/>
              <a:pathLst>
                <a:path w="81915" h="63817">
                  <a:moveTo>
                    <a:pt x="81915" y="23812"/>
                  </a:moveTo>
                  <a:lnTo>
                    <a:pt x="5715" y="638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6" name="Line 46"/>
            <p:cNvSpPr/>
            <p:nvPr/>
          </p:nvSpPr>
          <p:spPr>
            <a:xfrm>
              <a:off x="6572250" y="2256472"/>
              <a:ext cx="325755" cy="381952"/>
            </a:xfrm>
            <a:custGeom>
              <a:avLst/>
              <a:gdLst/>
              <a:ahLst/>
              <a:cxnLst/>
              <a:rect l="l" t="t" r="r" b="b"/>
              <a:pathLst>
                <a:path w="325755" h="381952">
                  <a:moveTo>
                    <a:pt x="0" y="381952"/>
                  </a:moveTo>
                  <a:lnTo>
                    <a:pt x="325755" y="0"/>
                  </a:lnTo>
                </a:path>
              </a:pathLst>
            </a:custGeom>
            <a:noFill/>
            <a:ln w="14288">
              <a:solidFill>
                <a:srgbClr val="1A1A1A"/>
              </a:solidFill>
            </a:ln>
          </p:spPr>
        </p:sp>
        <p:sp>
          <p:nvSpPr>
            <p:cNvPr id="47" name="Polygon 47"/>
            <p:cNvSpPr/>
            <p:nvPr/>
          </p:nvSpPr>
          <p:spPr>
            <a:xfrm>
              <a:off x="6877050" y="2190750"/>
              <a:ext cx="76200" cy="80962"/>
            </a:xfrm>
            <a:custGeom>
              <a:avLst/>
              <a:gdLst/>
              <a:ahLst/>
              <a:cxnLst/>
              <a:rect l="l" t="t" r="r" b="b"/>
              <a:pathLst>
                <a:path w="76200" h="80962">
                  <a:moveTo>
                    <a:pt x="76200" y="0"/>
                  </a:moveTo>
                  <a:lnTo>
                    <a:pt x="49530" y="80962"/>
                  </a:lnTo>
                  <a:lnTo>
                    <a:pt x="0" y="40005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8191500" y="2000250"/>
              <a:ext cx="857250" cy="361950"/>
            </a:xfrm>
            <a:prstGeom prst="roundRect">
              <a:avLst>
                <a:gd name="adj" fmla="val 7895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428853" y="2125028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Linear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7810500" y="2181225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51" name="Polygon 51"/>
            <p:cNvSpPr/>
            <p:nvPr/>
          </p:nvSpPr>
          <p:spPr>
            <a:xfrm>
              <a:off x="8112442" y="21488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429750" y="2000250"/>
              <a:ext cx="1143000" cy="361950"/>
            </a:xfrm>
            <a:prstGeom prst="roundRect">
              <a:avLst>
                <a:gd name="adj" fmla="val 7895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751593" y="2120741"/>
              <a:ext cx="4993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Output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9048750" y="2181225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55" name="Polygon 55"/>
            <p:cNvSpPr/>
            <p:nvPr/>
          </p:nvSpPr>
          <p:spPr>
            <a:xfrm>
              <a:off x="9350692" y="21488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549826" y="3331845"/>
              <a:ext cx="27113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多头 = 在 h 个子空间并行注意力，拼接后线性融合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664435" y="3576638"/>
              <a:ext cx="248213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来源：Vaswani et al., 2017 · Multi-Head Attention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59" name="TextBox 59"/>
            <p:cNvSpPr txBox="1"/>
            <p:nvPr/>
          </p:nvSpPr>
          <p:spPr>
            <a:xfrm>
              <a:off x="604838" y="6613684"/>
              <a:ext cx="117020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大模型原理与 API 开发入门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9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078611" cy="738854"/>
            <a:chOff x="595122" y="501491"/>
            <a:chExt cx="307861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位置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07861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位置编码与 RoPE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1905000"/>
            <a:chOff x="609600" y="1619250"/>
            <a:chExt cx="52578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问题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555081"/>
              <a:ext cx="19133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Transformer 并行无位置感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80273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需注入顺序信息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24600" y="1619250"/>
            <a:ext cx="5257800" cy="1905000"/>
            <a:chOff x="6324600" y="1619250"/>
            <a:chExt cx="5257800" cy="1905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方案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2431256"/>
              <a:ext cx="1526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主流 Llama 等用 RoPE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26789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旋转位置编码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2926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相对位置更鲁棒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19" name="Rectangle 19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6018" y="4050982"/>
              <a:ext cx="38663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RoPE 已成为开源大模型默认位置编码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8304" y="4947285"/>
              <a:ext cx="18962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来源：wwsun LLM wiki。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3" name="TextBox 23"/>
            <p:cNvSpPr txBox="1"/>
            <p:nvPr/>
          </p:nvSpPr>
          <p:spPr>
            <a:xfrm>
              <a:off x="604838" y="6613684"/>
              <a:ext cx="117020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大模型原理与 API 开发入门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10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738179" cy="738854"/>
            <a:chOff x="595122" y="501491"/>
            <a:chExt cx="673817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06 · 表征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73817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分词（Tokenization）：子词而非单词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790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BPE 算法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69808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从字符迭代合并高频对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94573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词表可控、稀疏低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例子与要点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3698081"/>
              <a:ext cx="17453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“jumping”→“jump”+“ing”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945731"/>
              <a:ext cx="18259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Token ≠ 单词，是子词单元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8" name="TextBox 18"/>
            <p:cNvSpPr txBox="1"/>
            <p:nvPr/>
          </p:nvSpPr>
          <p:spPr>
            <a:xfrm>
              <a:off x="604838" y="6613684"/>
              <a:ext cx="117020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大模型原理与 API 开发入门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11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262218" cy="738854"/>
            <a:chOff x="595122" y="501491"/>
            <a:chExt cx="626221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表征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26221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词嵌入（Embedding）：文字变向量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1905000"/>
            <a:chOff x="609600" y="1619250"/>
            <a:chExt cx="52578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映射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555081"/>
              <a:ext cx="18508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每个 token → 高维稠密向量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802731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语义相近 → 向量相近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24600" y="1619250"/>
            <a:ext cx="5257800" cy="1905000"/>
            <a:chOff x="6324600" y="1619250"/>
            <a:chExt cx="5257800" cy="1905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规模例证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2431256"/>
              <a:ext cx="14133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GPT-3：词表 50257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2678906"/>
              <a:ext cx="7728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维度 12288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2926556"/>
              <a:ext cx="1381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嵌入矩阵约 2.34GB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19" name="Rectangle 19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6018" y="4050982"/>
              <a:ext cx="34768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嵌入质量决定语义检索/相似度上限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8304" y="4947285"/>
              <a:ext cx="38270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来源：腾讯云开发者（含 GPT-3 维度计算示例）。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3" name="TextBox 23"/>
            <p:cNvSpPr txBox="1"/>
            <p:nvPr/>
          </p:nvSpPr>
          <p:spPr>
            <a:xfrm>
              <a:off x="604838" y="6613684"/>
              <a:ext cx="117020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大模型原理与 API 开发入门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12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264261" cy="738854"/>
            <a:chOff x="595122" y="501491"/>
            <a:chExt cx="426426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08 · 形态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2642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Decoder-only 为何主流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1905000"/>
            <a:chOff x="609600" y="1619250"/>
            <a:chExt cx="52578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6353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原版 Transformer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555081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编码器 + 解码器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8027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用于翻译等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24600" y="1619250"/>
            <a:ext cx="5257800" cy="1905000"/>
            <a:chOff x="6324600" y="1619250"/>
            <a:chExt cx="5257800" cy="1905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12757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现代 LLM 选择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2431256"/>
              <a:ext cx="19009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GPT/Llama/Mistral 几乎均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2678906"/>
              <a:ext cx="13223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采用 Decoder-only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29265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生成更好、结构更简单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19" name="Rectangle 19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6018" y="4050982"/>
              <a:ext cx="3961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Decoder-only：自回归生成的最优形态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8304" y="4947285"/>
              <a:ext cx="18962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来源：wwsun LLM wiki。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3" name="TextBox 23"/>
            <p:cNvSpPr txBox="1"/>
            <p:nvPr/>
          </p:nvSpPr>
          <p:spPr>
            <a:xfrm>
              <a:off x="604838" y="6613684"/>
              <a:ext cx="117020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大模型原理与 API 开发入门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13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865396" cy="738854"/>
            <a:chOff x="595122" y="501491"/>
            <a:chExt cx="586539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09 · 训练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86539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预训练：Next Token Prediction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任务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698081"/>
              <a:ext cx="15719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数万亿 token 上自监督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9457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预测下一个词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意义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36980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获取常识与推理能力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9457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底座知识来源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8" name="TextBox 18"/>
            <p:cNvSpPr txBox="1"/>
            <p:nvPr/>
          </p:nvSpPr>
          <p:spPr>
            <a:xfrm>
              <a:off x="604838" y="6613684"/>
              <a:ext cx="117020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大模型原理与 API 开发入门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14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902898" cy="738854"/>
            <a:chOff x="595122" y="501491"/>
            <a:chExt cx="590289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10 · 对齐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90289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微调与对齐：从“会说话”到“听话”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1749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SFT 指令微调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6980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高质量问答对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94573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教模型遵循指令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对齐方法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3574256"/>
              <a:ext cx="1795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RLHF：人类反馈强化学习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821906"/>
              <a:ext cx="14213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DPO：直接偏好优化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4069556"/>
              <a:ext cx="1309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DPO 更主流、更稳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9" name="TextBox 19"/>
            <p:cNvSpPr txBox="1"/>
            <p:nvPr/>
          </p:nvSpPr>
          <p:spPr>
            <a:xfrm>
              <a:off x="604838" y="6613684"/>
              <a:ext cx="117020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大模型原理与 API 开发入门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15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741545" cy="738854"/>
            <a:chOff x="595122" y="501491"/>
            <a:chExt cx="474154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11 · 对齐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74154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RLHF 三步走（教学简化）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1905000"/>
            <a:chOff x="609600" y="1619250"/>
            <a:chExt cx="52578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①→②→③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人类标注偏好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2221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训练奖励模型 RM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9911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PPO 优化策略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4600" y="1619250"/>
            <a:ext cx="5257800" cy="1905000"/>
            <a:chOff x="6324600" y="1619250"/>
            <a:chExt cx="52578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8312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DPO 捷径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24312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跳过奖励模型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26789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直接在偏好数据优化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29265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（示意，非工程全貌）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0" name="Rectangle 20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6018" y="4050982"/>
              <a:ext cx="43117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RLHF/DPO 让模型“听话且无害”（示意）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8304" y="4947285"/>
              <a:ext cx="40613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来源：CSDN、wwsun（教学简化，建议标注“示意”）。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4" name="TextBox 24"/>
            <p:cNvSpPr txBox="1"/>
            <p:nvPr/>
          </p:nvSpPr>
          <p:spPr>
            <a:xfrm>
              <a:off x="604838" y="6613684"/>
              <a:ext cx="117020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大模型原理与 API 开发入门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16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865626" cy="738854"/>
            <a:chOff x="595122" y="501491"/>
            <a:chExt cx="386562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12 · 推理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8656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推理过程：自回归生成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流程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574256"/>
              <a:ext cx="13005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输入编码→概率分布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821906"/>
              <a:ext cx="10743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采样下一 token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40695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拼回序列循环至停止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采样策略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5742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贪心：确定性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3821906"/>
              <a:ext cx="16399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Top-k / Top-p：多样性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4069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温度调节创造性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0" name="TextBox 20"/>
            <p:cNvSpPr txBox="1"/>
            <p:nvPr/>
          </p:nvSpPr>
          <p:spPr>
            <a:xfrm>
              <a:off x="604838" y="6613684"/>
              <a:ext cx="117020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大模型原理与 API 开发入门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17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537247" cy="738854"/>
            <a:chOff x="595122" y="501491"/>
            <a:chExt cx="753724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12 · 推理详图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53724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自回归生成循环（Autoregressive Loop）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143000" y="2237899"/>
            <a:ext cx="9429750" cy="2610327"/>
            <a:chOff x="1143000" y="2237899"/>
            <a:chExt cx="9429750" cy="2610327"/>
          </a:xfrm>
        </p:grpSpPr>
        <p:sp>
          <p:nvSpPr>
            <p:cNvPr id="6" name="Rectangle 6"/>
            <p:cNvSpPr/>
            <p:nvPr/>
          </p:nvSpPr>
          <p:spPr>
            <a:xfrm>
              <a:off x="1143000" y="3048000"/>
              <a:ext cx="1428750" cy="47625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438012" y="3229928"/>
              <a:ext cx="8387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上下文 Tokens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3048000" y="3048000"/>
              <a:ext cx="1524000" cy="476250"/>
            </a:xfrm>
            <a:prstGeom prst="roundRect">
              <a:avLst>
                <a:gd name="adj" fmla="val 6000"/>
              </a:avLst>
            </a:prstGeom>
            <a:solidFill>
              <a:srgbClr val="E30613"/>
            </a:solidFill>
            <a:ln w="20955">
              <a:solidFill>
                <a:srgbClr val="1A1A1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64680" y="3229928"/>
              <a:ext cx="109064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Transformer 模型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048250" y="3048000"/>
              <a:ext cx="1524000" cy="47625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345789" y="3229928"/>
              <a:ext cx="9289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Logits 概率分布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048500" y="3048000"/>
              <a:ext cx="1714500" cy="47625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111946" y="3229928"/>
              <a:ext cx="15876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采样 temp / top-k / top-p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239250" y="3048000"/>
              <a:ext cx="1333500" cy="47625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521243" y="3229928"/>
              <a:ext cx="7695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下一个 Token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571750" y="3286125"/>
              <a:ext cx="390525" cy="9525"/>
            </a:xfrm>
            <a:custGeom>
              <a:avLst/>
              <a:gdLst/>
              <a:ahLst/>
              <a:cxnLst/>
              <a:rect l="l" t="t" r="r" b="b"/>
              <a:pathLst>
                <a:path w="390525" h="9525">
                  <a:moveTo>
                    <a:pt x="0" y="0"/>
                  </a:moveTo>
                  <a:lnTo>
                    <a:pt x="3905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2968942" y="325374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4572000" y="3286125"/>
              <a:ext cx="390525" cy="9525"/>
            </a:xfrm>
            <a:custGeom>
              <a:avLst/>
              <a:gdLst/>
              <a:ahLst/>
              <a:cxnLst/>
              <a:rect l="l" t="t" r="r" b="b"/>
              <a:pathLst>
                <a:path w="390525" h="9525">
                  <a:moveTo>
                    <a:pt x="0" y="0"/>
                  </a:moveTo>
                  <a:lnTo>
                    <a:pt x="3905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4969192" y="32537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6572250" y="3286125"/>
              <a:ext cx="390525" cy="9525"/>
            </a:xfrm>
            <a:custGeom>
              <a:avLst/>
              <a:gdLst/>
              <a:ahLst/>
              <a:cxnLst/>
              <a:rect l="l" t="t" r="r" b="b"/>
              <a:pathLst>
                <a:path w="390525" h="9525">
                  <a:moveTo>
                    <a:pt x="0" y="0"/>
                  </a:moveTo>
                  <a:lnTo>
                    <a:pt x="3905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6969442" y="32537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8763000" y="3286125"/>
              <a:ext cx="390525" cy="9525"/>
            </a:xfrm>
            <a:custGeom>
              <a:avLst/>
              <a:gdLst/>
              <a:ahLst/>
              <a:cxnLst/>
              <a:rect l="l" t="t" r="r" b="b"/>
              <a:pathLst>
                <a:path w="390525" h="9525">
                  <a:moveTo>
                    <a:pt x="0" y="0"/>
                  </a:moveTo>
                  <a:lnTo>
                    <a:pt x="3905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9160192" y="32537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4" name="Polyline 24"/>
            <p:cNvSpPr/>
            <p:nvPr/>
          </p:nvSpPr>
          <p:spPr>
            <a:xfrm>
              <a:off x="1857375" y="2428875"/>
              <a:ext cx="8048625" cy="619125"/>
            </a:xfrm>
            <a:custGeom>
              <a:avLst/>
              <a:gdLst/>
              <a:ahLst/>
              <a:cxnLst/>
              <a:rect l="l" t="t" r="r" b="b"/>
              <a:pathLst>
                <a:path w="8048625" h="619125">
                  <a:moveTo>
                    <a:pt x="8048625" y="619125"/>
                  </a:moveTo>
                  <a:lnTo>
                    <a:pt x="8048625" y="0"/>
                  </a:lnTo>
                  <a:lnTo>
                    <a:pt x="0" y="0"/>
                  </a:lnTo>
                  <a:lnTo>
                    <a:pt x="0" y="619125"/>
                  </a:lnTo>
                </a:path>
              </a:pathLst>
            </a:custGeom>
            <a:noFill/>
            <a:ln w="19050">
              <a:solidFill>
                <a:srgbClr val="E30613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1824990" y="296894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948479" y="22378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拼回序列，循环生成（自回归）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048000" y="3905250"/>
              <a:ext cx="752475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 w="0">
              <a:solidFill>
                <a:srgbClr val="1A1A1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349573" y="4039552"/>
              <a:ext cx="292160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停止：遇到 &lt;EOS&gt; 或达到 max_tokens / 上下文上限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82453" y="4455795"/>
              <a:ext cx="26460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例："The cat sat on the" → [the] → [mat] → 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65894" y="4700588"/>
              <a:ext cx="227921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来源：GPT/Llama 等 Decoder-only 生成流程示意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2" name="TextBox 32"/>
            <p:cNvSpPr txBox="1"/>
            <p:nvPr/>
          </p:nvSpPr>
          <p:spPr>
            <a:xfrm>
              <a:off x="604838" y="6613684"/>
              <a:ext cx="117020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大模型原理与 API 开发入门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18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481959" cy="738854"/>
            <a:chOff x="595122" y="501491"/>
            <a:chExt cx="348195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13 · 规模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48195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缩放定律与涌现能力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1800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Scaling Laws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698081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参数/数据/算力幂律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945731"/>
              <a:ext cx="1081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决定“为何要大”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涌现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35742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规模达临界点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8219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出现小模型无能力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4069556"/>
              <a:ext cx="11497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推理/多步骤跃升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9" name="TextBox 19"/>
            <p:cNvSpPr txBox="1"/>
            <p:nvPr/>
          </p:nvSpPr>
          <p:spPr>
            <a:xfrm>
              <a:off x="604838" y="6613684"/>
              <a:ext cx="117020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大模型原理与 API 开发入门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19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256419" cy="738854"/>
            <a:chOff x="595122" y="501491"/>
            <a:chExt cx="525641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14 · 前沿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25641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上下文工程（2026 关键技能）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1905000"/>
            <a:chOff x="609600" y="1619250"/>
            <a:chExt cx="52578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定义与现象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5719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优化采样时 token 效用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6397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context rot：越长越差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759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Lost-in-Middle 降 &gt;30pp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4600" y="1619250"/>
            <a:ext cx="5257800" cy="1905000"/>
            <a:chOff x="6324600" y="1619250"/>
            <a:chExt cx="52578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1323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四策略 · 三原语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2431256"/>
              <a:ext cx="23459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Write/Select/Compress/Isolate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2678906"/>
              <a:ext cx="23107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compaction/tool-clear/memory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2926556"/>
              <a:ext cx="16443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峰值上下文 330K→&lt;14K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0" name="Rectangle 20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6018" y="4050982"/>
              <a:ext cx="57439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上下文工程衔接 RAG / 框架 / 安全，是 2026 一等技能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8304" y="4947285"/>
              <a:ext cx="51026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来源：Anthropic 2026-03 Cookbook、Chroma 评测、wangjun.dev。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4" name="TextBox 24"/>
            <p:cNvSpPr txBox="1"/>
            <p:nvPr/>
          </p:nvSpPr>
          <p:spPr>
            <a:xfrm>
              <a:off x="604838" y="6613684"/>
              <a:ext cx="117020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大模型原理与 API 开发入门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806406" cy="738854"/>
            <a:chOff x="595122" y="501491"/>
            <a:chExt cx="480640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15 · 实战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80640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API 开发入门（风格示例）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1905000"/>
            <a:chOff x="609600" y="1619250"/>
            <a:chExt cx="52578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最小调用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2854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model + messages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3005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system/user 角色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max_tokens 上限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4600" y="1619250"/>
            <a:ext cx="5257800" cy="1905000"/>
            <a:chOff x="6324600" y="1619250"/>
            <a:chExt cx="52578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关键参数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2431256"/>
              <a:ext cx="14513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temperature 创造性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2678906"/>
              <a:ext cx="923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top_p 核采样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2926556"/>
              <a:ext cx="11874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stream 流式输出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0" name="Rectangle 20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6018" y="4050982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不同厂商字段相近但命名有差异（示例不贴密钥）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8304" y="4947285"/>
              <a:ext cx="45053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来源：OpenAI / Anthropic 风格文档（示例，非真实密钥）。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4" name="TextBox 24"/>
            <p:cNvSpPr txBox="1"/>
            <p:nvPr/>
          </p:nvSpPr>
          <p:spPr>
            <a:xfrm>
              <a:off x="604838" y="6613684"/>
              <a:ext cx="117020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大模型原理与 API 开发入门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21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151663" cy="738854"/>
            <a:chOff x="595122" y="501491"/>
            <a:chExt cx="515166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16 · 成本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15166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Token 计费、窗口与提示缓存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1905000"/>
            <a:chOff x="609600" y="1619250"/>
            <a:chExt cx="52578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计费与窗口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9111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按 token（输入+输出）累计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窗口限制单次长度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240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见第 1 讲窗口演进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4600" y="1619250"/>
            <a:ext cx="5257800" cy="1905000"/>
            <a:chOff x="6324600" y="1619250"/>
            <a:chExt cx="52578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提示缓存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2431256"/>
              <a:ext cx="2005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Claude 2026 门槛 4096→1024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26789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长会话成本明显下降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2926556"/>
              <a:ext cx="11186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长文档配合 RAG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0" name="Rectangle 20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6018" y="4050982"/>
              <a:ext cx="50642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提示缓存门槛降至 1024 tokens，Agent 会话更省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8304" y="4947285"/>
              <a:ext cx="2556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来源：learnagent.org 框架更新。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4" name="TextBox 24"/>
            <p:cNvSpPr txBox="1"/>
            <p:nvPr/>
          </p:nvSpPr>
          <p:spPr>
            <a:xfrm>
              <a:off x="604838" y="6613684"/>
              <a:ext cx="117020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大模型原理与 API 开发入门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22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714625" cy="738854"/>
            <a:chOff x="595122" y="501491"/>
            <a:chExt cx="271462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17 · 建议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实践建议与延伸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学习路径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574256"/>
              <a:ext cx="14452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先托管 API 跑通链路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8219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再深入原理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406955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把上下文工程当一等技能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警惕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698081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幻觉 / 知识截止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3945731"/>
              <a:ext cx="1323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衔接第 4、6 讲对策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9" name="TextBox 19"/>
            <p:cNvSpPr txBox="1"/>
            <p:nvPr/>
          </p:nvSpPr>
          <p:spPr>
            <a:xfrm>
              <a:off x="604838" y="6613684"/>
              <a:ext cx="117020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大模型原理与 API 开发入门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23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rinciples_v6">
  <a:themeElements>
    <a:clrScheme name="principles_v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inciples_v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inciples_v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2026-09-01T01:09:40Z</dcterms:created>
  <dcterms:modified xsi:type="dcterms:W3CDTF">2026-09-01T01:09:40Z</dcterms:modified>
  <cp:category/>
  <cp:contentStatus/>
</cp:coreProperties>
</file>