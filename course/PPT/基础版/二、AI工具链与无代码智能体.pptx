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tools_v6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tools_v6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2209800"/>
            <a:ext cx="95250" cy="1981200"/>
          </a:xfrm>
          <a:prstGeom prst="rect">
            <a:avLst/>
          </a:prstGeom>
          <a:solidFill>
            <a:srgbClr val="E30613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895350" y="2295049"/>
            <a:ext cx="6733550" cy="1760696"/>
            <a:chOff x="895350" y="2295049"/>
            <a:chExt cx="6733550" cy="1760696"/>
          </a:xfrm>
        </p:grpSpPr>
        <p:sp>
          <p:nvSpPr>
            <p:cNvPr id="3" name="TextBox 3"/>
            <p:cNvSpPr txBox="1"/>
            <p:nvPr/>
          </p:nvSpPr>
          <p:spPr>
            <a:xfrm>
              <a:off x="909447" y="2295049"/>
              <a:ext cx="27010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225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EDUCATIONAL SERIES · 基础版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5350" y="2708910"/>
              <a:ext cx="673355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AI 工具链与无代码智能体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06780" y="3495675"/>
              <a:ext cx="63999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Dify · n8n · Coze Studio · Langflow · FastGPT · Ragflow 选型速览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06780" y="37623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（2026）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4266" y="5943600"/>
            <a:ext cx="10983469" cy="358711"/>
            <a:chOff x="604266" y="5943600"/>
            <a:chExt cx="10983469" cy="358711"/>
          </a:xfrm>
        </p:grpSpPr>
        <p:sp>
          <p:nvSpPr>
            <p:cNvPr id="8" name="Line 8"/>
            <p:cNvSpPr/>
            <p:nvPr/>
          </p:nvSpPr>
          <p:spPr>
            <a:xfrm>
              <a:off x="609600" y="5943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4266" y="6096952"/>
              <a:ext cx="17132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AIGC 教育平台 · 课程讲义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799636" y="6096952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2026-08-31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1563624" cy="738854"/>
            <a:chOff x="595122" y="501491"/>
            <a:chExt cx="156362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2504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15636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本讲目录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01218" y="1898332"/>
            <a:ext cx="2527554" cy="322707"/>
            <a:chOff x="601218" y="1898332"/>
            <a:chExt cx="2527554" cy="322707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898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7280" y="1914525"/>
              <a:ext cx="20314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为什么需要 AI 工具链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1218" y="2431732"/>
            <a:ext cx="3045524" cy="322707"/>
            <a:chOff x="601218" y="2431732"/>
            <a:chExt cx="3045524" cy="322707"/>
          </a:xfrm>
        </p:grpSpPr>
        <p:sp>
          <p:nvSpPr>
            <p:cNvPr id="9" name="TextBox 9"/>
            <p:cNvSpPr txBox="1"/>
            <p:nvPr/>
          </p:nvSpPr>
          <p:spPr>
            <a:xfrm>
              <a:off x="601218" y="24317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7280" y="2447925"/>
              <a:ext cx="25494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什么是无代码/低代码智能体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1218" y="2965132"/>
            <a:ext cx="3012948" cy="322707"/>
            <a:chOff x="601218" y="2965132"/>
            <a:chExt cx="3012948" cy="322707"/>
          </a:xfrm>
        </p:grpSpPr>
        <p:sp>
          <p:nvSpPr>
            <p:cNvPr id="12" name="TextBox 12"/>
            <p:cNvSpPr txBox="1"/>
            <p:nvPr/>
          </p:nvSpPr>
          <p:spPr>
            <a:xfrm>
              <a:off x="601218" y="29651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7280" y="2981325"/>
              <a:ext cx="2516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2026：Agent 成为企业标配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1218" y="3498532"/>
            <a:ext cx="2227707" cy="322707"/>
            <a:chOff x="601218" y="3498532"/>
            <a:chExt cx="2227707" cy="322707"/>
          </a:xfrm>
        </p:grpSpPr>
        <p:sp>
          <p:nvSpPr>
            <p:cNvPr id="15" name="TextBox 15"/>
            <p:cNvSpPr txBox="1"/>
            <p:nvPr/>
          </p:nvSpPr>
          <p:spPr>
            <a:xfrm>
              <a:off x="601218" y="34985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7280" y="3514725"/>
              <a:ext cx="17316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2026 主流平台全景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68618" y="1898332"/>
            <a:ext cx="3666439" cy="322707"/>
            <a:chOff x="6468618" y="1898332"/>
            <a:chExt cx="3666439" cy="322707"/>
          </a:xfrm>
        </p:grpSpPr>
        <p:sp>
          <p:nvSpPr>
            <p:cNvPr id="18" name="TextBox 18"/>
            <p:cNvSpPr txBox="1"/>
            <p:nvPr/>
          </p:nvSpPr>
          <p:spPr>
            <a:xfrm>
              <a:off x="6468618" y="1898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64680" y="1914525"/>
              <a:ext cx="31703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代表平台深读（Dify/n8n/Coze…）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68618" y="2431732"/>
            <a:ext cx="2328672" cy="322707"/>
            <a:chOff x="6468618" y="2431732"/>
            <a:chExt cx="2328672" cy="322707"/>
          </a:xfrm>
        </p:grpSpPr>
        <p:sp>
          <p:nvSpPr>
            <p:cNvPr id="21" name="TextBox 21"/>
            <p:cNvSpPr txBox="1"/>
            <p:nvPr/>
          </p:nvSpPr>
          <p:spPr>
            <a:xfrm>
              <a:off x="6468618" y="24317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64680" y="24479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新锐与六维能力对比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468618" y="2965132"/>
            <a:ext cx="2666238" cy="322707"/>
            <a:chOff x="6468618" y="2965132"/>
            <a:chExt cx="2666238" cy="322707"/>
          </a:xfrm>
        </p:grpSpPr>
        <p:sp>
          <p:nvSpPr>
            <p:cNvPr id="24" name="TextBox 24"/>
            <p:cNvSpPr txBox="1"/>
            <p:nvPr/>
          </p:nvSpPr>
          <p:spPr>
            <a:xfrm>
              <a:off x="6468618" y="29651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07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64680" y="2981325"/>
              <a:ext cx="21701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工具调用 · MCP · HITL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468618" y="3498532"/>
            <a:ext cx="2823400" cy="322707"/>
            <a:chOff x="6468618" y="3498532"/>
            <a:chExt cx="2823400" cy="322707"/>
          </a:xfrm>
        </p:grpSpPr>
        <p:sp>
          <p:nvSpPr>
            <p:cNvPr id="27" name="TextBox 27"/>
            <p:cNvSpPr txBox="1"/>
            <p:nvPr/>
          </p:nvSpPr>
          <p:spPr>
            <a:xfrm>
              <a:off x="6468618" y="34985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08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64680" y="3514725"/>
              <a:ext cx="23273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选型 · 部署 · 成本 · 风险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0" name="TextBox 30"/>
            <p:cNvSpPr txBox="1"/>
            <p:nvPr/>
          </p:nvSpPr>
          <p:spPr>
            <a:xfrm>
              <a:off x="604838" y="6613684"/>
              <a:ext cx="10879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工具链与无代码智能体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889225" cy="738854"/>
            <a:chOff x="595122" y="501491"/>
            <a:chExt cx="388922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01 · 动机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88922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为什么需要 AI 工具链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23165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痛点：裸调 API ≠ 可用产品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33242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3935" y="3298031"/>
              <a:ext cx="21419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RAG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缺检索增强，答非私有知识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38200" y="364807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3935" y="3621881"/>
              <a:ext cx="18659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鉴权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无统一身份与权限管理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39719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03935" y="3945731"/>
              <a:ext cx="18659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版本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模型迭代无隔离与回滚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38200" y="429577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03935" y="4269581"/>
              <a:ext cx="18659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监控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缺日志、追踪与可观测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8" name="Rectangle 18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4634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工具链价值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553200" y="33242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18935" y="3298031"/>
              <a:ext cx="21675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封装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把模型能力变成可运营应用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553200" y="364807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18935" y="3621881"/>
              <a:ext cx="2333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编排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可视化串接知识库/工具/流程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553200" y="39719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18935" y="3945731"/>
              <a:ext cx="21675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治理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版本、权限、审计一站管理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553200" y="429577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18935" y="4269581"/>
              <a:ext cx="21937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落地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从 Demo 到生产的工程桥梁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0" name="TextBox 30"/>
            <p:cNvSpPr txBox="1"/>
            <p:nvPr/>
          </p:nvSpPr>
          <p:spPr>
            <a:xfrm>
              <a:off x="604838" y="6613684"/>
              <a:ext cx="10879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工具链与无代码智能体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3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854528" cy="738854"/>
            <a:chOff x="595122" y="501491"/>
            <a:chExt cx="4854528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概念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85452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什么是无代码/低代码智能体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3486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3935" y="3459956"/>
              <a:ext cx="29892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组成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可视化编排 + 模型 + 知识库 + 工具调用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38200" y="3810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3935" y="3783806"/>
              <a:ext cx="21848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产物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面向业务的可交互 AI 应用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4133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03935" y="4107656"/>
              <a:ext cx="18911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门槛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非工程师也能搭 Agent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6" name="Rectangle 16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46342" y="18926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三类定位口诀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553200" y="3486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18935" y="3459956"/>
              <a:ext cx="28132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Coze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Bot as a Service（机器人即服务）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553200" y="3810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18935" y="3783806"/>
              <a:ext cx="31598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Dify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LLM App as a Service（AI 应用即服务）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553200" y="4133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18935" y="4107656"/>
              <a:ext cx="31553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n8n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Workflow as a Service（工作流即服务）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6" name="TextBox 26"/>
            <p:cNvSpPr txBox="1"/>
            <p:nvPr/>
          </p:nvSpPr>
          <p:spPr>
            <a:xfrm>
              <a:off x="604838" y="6613684"/>
              <a:ext cx="10879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工具链与无代码智能体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4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825928" cy="738854"/>
            <a:chOff x="595122" y="501491"/>
            <a:chExt cx="6825928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概念详图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82592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无代码 Agent 编排流程（画布即应用）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1143000" y="1914049"/>
            <a:ext cx="9525000" cy="3143727"/>
            <a:chOff x="1143000" y="1914049"/>
            <a:chExt cx="9525000" cy="3143727"/>
          </a:xfrm>
        </p:grpSpPr>
        <p:sp>
          <p:nvSpPr>
            <p:cNvPr id="6" name="Rectangle 6"/>
            <p:cNvSpPr/>
            <p:nvPr/>
          </p:nvSpPr>
          <p:spPr>
            <a:xfrm>
              <a:off x="1143000" y="3238500"/>
              <a:ext cx="1238250" cy="381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15046" y="3372802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用户输入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2381250" y="3429000"/>
              <a:ext cx="676275" cy="9525"/>
            </a:xfrm>
            <a:custGeom>
              <a:avLst/>
              <a:gdLst/>
              <a:ahLst/>
              <a:cxnLst/>
              <a:rect l="l" t="t" r="r" b="b"/>
              <a:pathLst>
                <a:path w="676275" h="9525">
                  <a:moveTo>
                    <a:pt x="0" y="0"/>
                  </a:moveTo>
                  <a:lnTo>
                    <a:pt x="6762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9" name="Polygon 9"/>
            <p:cNvSpPr/>
            <p:nvPr/>
          </p:nvSpPr>
          <p:spPr>
            <a:xfrm>
              <a:off x="3064192" y="339661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3143250" y="2095500"/>
              <a:ext cx="5334000" cy="2381250"/>
            </a:xfrm>
            <a:prstGeom prst="roundRect">
              <a:avLst>
                <a:gd name="adj" fmla="val 1200"/>
              </a:avLst>
            </a:prstGeom>
            <a:noFill/>
            <a:ln w="11430">
              <a:solidFill>
                <a:srgbClr val="999999"/>
              </a:solidFill>
              <a:custDash>
                <a:ds d="500000" sp="333333"/>
              </a:custDash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736189" y="1914049"/>
              <a:ext cx="21481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可视化编排画布（低代码 / 无代码）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429000" y="2381250"/>
              <a:ext cx="1524000" cy="666750"/>
            </a:xfrm>
            <a:prstGeom prst="roundRect">
              <a:avLst>
                <a:gd name="adj" fmla="val 4286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889309" y="2654141"/>
              <a:ext cx="6033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LLM 模型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691055" y="2852738"/>
              <a:ext cx="99989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GPT / Claude / Qwen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143500" y="2381250"/>
              <a:ext cx="1524000" cy="666750"/>
            </a:xfrm>
            <a:prstGeom prst="roundRect">
              <a:avLst>
                <a:gd name="adj" fmla="val 4286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548748" y="2654141"/>
              <a:ext cx="7135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知识库 RAG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90270" y="2852738"/>
              <a:ext cx="63046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向量库 + 检索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858000" y="2381250"/>
              <a:ext cx="1428750" cy="666750"/>
            </a:xfrm>
            <a:prstGeom prst="roundRect">
              <a:avLst>
                <a:gd name="adj" fmla="val 4286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223916" y="2654141"/>
              <a:ext cx="6969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工具 / 集成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32916" y="2852738"/>
              <a:ext cx="47891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MCP / API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96981" y="3712845"/>
              <a:ext cx="26265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编排：串联 模型 × 知识 × 工具，按业务流程落地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8477250" y="3429000"/>
              <a:ext cx="485775" cy="9525"/>
            </a:xfrm>
            <a:custGeom>
              <a:avLst/>
              <a:gdLst/>
              <a:ahLst/>
              <a:cxnLst/>
              <a:rect l="l" t="t" r="r" b="b"/>
              <a:pathLst>
                <a:path w="485775" h="9525">
                  <a:moveTo>
                    <a:pt x="0" y="0"/>
                  </a:moveTo>
                  <a:lnTo>
                    <a:pt x="4857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8969692" y="33966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9048750" y="3238500"/>
              <a:ext cx="1619250" cy="381000"/>
            </a:xfrm>
            <a:prstGeom prst="roundRect">
              <a:avLst>
                <a:gd name="adj" fmla="val 7500"/>
              </a:avLst>
            </a:prstGeom>
            <a:solidFill>
              <a:srgbClr val="E30613"/>
            </a:solidFill>
            <a:ln w="0">
              <a:solidFill>
                <a:srgbClr val="1A1A1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611296" y="3372802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应用输出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19019" y="4665345"/>
              <a:ext cx="33729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非工程师也能搭 Agent：画布即应用，承启 Dify / n8n / Coze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959239" y="4910138"/>
              <a:ext cx="189252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来源：rodak.pro、htdocs.dev（2026）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9" name="TextBox 29"/>
            <p:cNvSpPr txBox="1"/>
            <p:nvPr/>
          </p:nvSpPr>
          <p:spPr>
            <a:xfrm>
              <a:off x="604838" y="6613684"/>
              <a:ext cx="10879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工具链与无代码智能体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5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883936" cy="738854"/>
            <a:chOff x="595122" y="501491"/>
            <a:chExt cx="4883936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趋势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88393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2026：Agent 成为企业标配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5257800" cy="1905000"/>
            <a:chOff x="609600" y="1619250"/>
            <a:chExt cx="52578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3326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渗透率突破 85%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19709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AI 代码生成渗透率已破 85%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20113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Agent/Workflow 平台成企业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1516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落地 AI 核心基础设施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24600" y="1619250"/>
            <a:ext cx="5257800" cy="1905000"/>
            <a:chOff x="6324600" y="1619250"/>
            <a:chExt cx="52578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46342" y="18926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生产工程鸿沟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2431256"/>
              <a:ext cx="18508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“可视化画布”与“生产工程”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26789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存在巨大落差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7485" y="2926556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需监控/权限/回滚才可用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0" name="Rectangle 20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6018" y="4050982"/>
              <a:ext cx="42461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2026 定调：Agent 是基础设施，不是玩具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8304" y="4947285"/>
              <a:ext cx="60285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来源：toutiao 2026 横评；企业 RAG 与 Demo 是不同物种，落地须补齐工程能力。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4" name="TextBox 24"/>
            <p:cNvSpPr txBox="1"/>
            <p:nvPr/>
          </p:nvSpPr>
          <p:spPr>
            <a:xfrm>
              <a:off x="604838" y="6613684"/>
              <a:ext cx="10879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工具链与无代码智能体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6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338084" cy="738854"/>
            <a:chOff x="595122" y="501491"/>
            <a:chExt cx="333808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04 · 全景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33808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2026 主流平台定位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2057400" cy="2000250"/>
            <a:chOff x="609600" y="1619250"/>
            <a:chExt cx="2057400" cy="200025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20574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2057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3910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Dify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602706"/>
              <a:ext cx="13100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开源 LLMOps 领跑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850356"/>
              <a:ext cx="14378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v1.13.x / 原生 MCP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838450" y="1619250"/>
            <a:ext cx="2057400" cy="2000250"/>
            <a:chOff x="2838450" y="1619250"/>
            <a:chExt cx="2057400" cy="2000250"/>
          </a:xfrm>
        </p:grpSpPr>
        <p:sp>
          <p:nvSpPr>
            <p:cNvPr id="12" name="Rectangle 12"/>
            <p:cNvSpPr/>
            <p:nvPr/>
          </p:nvSpPr>
          <p:spPr>
            <a:xfrm>
              <a:off x="2838450" y="1619250"/>
              <a:ext cx="20574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2838450" y="1619250"/>
              <a:ext cx="2057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060192" y="1892618"/>
              <a:ext cx="328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n8n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61335" y="2478881"/>
              <a:ext cx="15625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工作流自动化 + AI Age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061335" y="272653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nt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61335" y="2974181"/>
              <a:ext cx="14437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v2.17.7 / 500+ 节点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067300" y="1619250"/>
            <a:ext cx="2057400" cy="2000250"/>
            <a:chOff x="5067300" y="1619250"/>
            <a:chExt cx="2057400" cy="2000250"/>
          </a:xfrm>
        </p:grpSpPr>
        <p:sp>
          <p:nvSpPr>
            <p:cNvPr id="19" name="Rectangle 19"/>
            <p:cNvSpPr/>
            <p:nvPr/>
          </p:nvSpPr>
          <p:spPr>
            <a:xfrm>
              <a:off x="5067300" y="1619250"/>
              <a:ext cx="20574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067300" y="1619250"/>
              <a:ext cx="2057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89042" y="1892618"/>
              <a:ext cx="10847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Coze Studio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90185" y="26027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字节开源一站式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90185" y="2850356"/>
              <a:ext cx="8485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Apache-2.0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296150" y="1619250"/>
            <a:ext cx="2057400" cy="2000250"/>
            <a:chOff x="7296150" y="1619250"/>
            <a:chExt cx="2057400" cy="2000250"/>
          </a:xfrm>
        </p:grpSpPr>
        <p:sp>
          <p:nvSpPr>
            <p:cNvPr id="25" name="Rectangle 25"/>
            <p:cNvSpPr/>
            <p:nvPr/>
          </p:nvSpPr>
          <p:spPr>
            <a:xfrm>
              <a:off x="7296150" y="1619250"/>
              <a:ext cx="20574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296150" y="1619250"/>
              <a:ext cx="2057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517892" y="1892618"/>
              <a:ext cx="8496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Langflow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19035" y="2602706"/>
              <a:ext cx="13414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IBM 收购 DataStax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19035" y="2850356"/>
              <a:ext cx="6407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RAG 专精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25000" y="1619250"/>
            <a:ext cx="2057400" cy="2000250"/>
            <a:chOff x="9525000" y="1619250"/>
            <a:chExt cx="2057400" cy="2000250"/>
          </a:xfrm>
        </p:grpSpPr>
        <p:sp>
          <p:nvSpPr>
            <p:cNvPr id="31" name="Rectangle 31"/>
            <p:cNvSpPr/>
            <p:nvPr/>
          </p:nvSpPr>
          <p:spPr>
            <a:xfrm>
              <a:off x="9525000" y="1619250"/>
              <a:ext cx="20574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9525000" y="1619250"/>
              <a:ext cx="2057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746742" y="1892618"/>
              <a:ext cx="11832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Activepieces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747885" y="2602706"/>
              <a:ext cx="1124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MIT / AI-native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747885" y="2850356"/>
              <a:ext cx="689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450+ 集成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9600" y="3810000"/>
            <a:ext cx="2057400" cy="2000250"/>
            <a:chOff x="609600" y="3810000"/>
            <a:chExt cx="2057400" cy="2000250"/>
          </a:xfrm>
        </p:grpSpPr>
        <p:sp>
          <p:nvSpPr>
            <p:cNvPr id="37" name="Rectangle 37"/>
            <p:cNvSpPr/>
            <p:nvPr/>
          </p:nvSpPr>
          <p:spPr>
            <a:xfrm>
              <a:off x="609600" y="3810000"/>
              <a:ext cx="20574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09600" y="3810000"/>
              <a:ext cx="2057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31342" y="4083368"/>
              <a:ext cx="6966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Flowise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2485" y="4793456"/>
              <a:ext cx="14160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AgentFlow 多智能体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2485" y="504110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低代码编排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2838450" y="3810000"/>
            <a:ext cx="2057400" cy="2000250"/>
            <a:chOff x="2838450" y="3810000"/>
            <a:chExt cx="2057400" cy="2000250"/>
          </a:xfrm>
        </p:grpSpPr>
        <p:sp>
          <p:nvSpPr>
            <p:cNvPr id="43" name="Rectangle 43"/>
            <p:cNvSpPr/>
            <p:nvPr/>
          </p:nvSpPr>
          <p:spPr>
            <a:xfrm>
              <a:off x="2838450" y="3810000"/>
              <a:ext cx="20574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2838450" y="3810000"/>
              <a:ext cx="2057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060192" y="4083368"/>
              <a:ext cx="7721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FastGPT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061335" y="4793456"/>
              <a:ext cx="11186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国产高并发 RAG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061335" y="504110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知识库优先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067300" y="3810000"/>
            <a:ext cx="2057400" cy="2000250"/>
            <a:chOff x="5067300" y="3810000"/>
            <a:chExt cx="2057400" cy="2000250"/>
          </a:xfrm>
        </p:grpSpPr>
        <p:sp>
          <p:nvSpPr>
            <p:cNvPr id="49" name="Rectangle 49"/>
            <p:cNvSpPr/>
            <p:nvPr/>
          </p:nvSpPr>
          <p:spPr>
            <a:xfrm>
              <a:off x="5067300" y="3810000"/>
              <a:ext cx="20574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067300" y="3810000"/>
              <a:ext cx="2057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289042" y="4083368"/>
              <a:ext cx="7447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Ragflow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290185" y="47934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深度文档理解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290185" y="50411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复杂格式问答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7296150" y="3810000"/>
            <a:ext cx="2057400" cy="2000250"/>
            <a:chOff x="7296150" y="3810000"/>
            <a:chExt cx="2057400" cy="2000250"/>
          </a:xfrm>
        </p:grpSpPr>
        <p:sp>
          <p:nvSpPr>
            <p:cNvPr id="55" name="Rectangle 55"/>
            <p:cNvSpPr/>
            <p:nvPr/>
          </p:nvSpPr>
          <p:spPr>
            <a:xfrm>
              <a:off x="7296150" y="3810000"/>
              <a:ext cx="20574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296150" y="3810000"/>
              <a:ext cx="2057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517892" y="4083368"/>
              <a:ext cx="9218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LangChain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519035" y="4793456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代码库 / 生态广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519035" y="5041106"/>
              <a:ext cx="781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Agent 框架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9525000" y="3810000"/>
            <a:ext cx="2057400" cy="2000250"/>
            <a:chOff x="9525000" y="3810000"/>
            <a:chExt cx="2057400" cy="2000250"/>
          </a:xfrm>
        </p:grpSpPr>
        <p:sp>
          <p:nvSpPr>
            <p:cNvPr id="61" name="Rectangle 61"/>
            <p:cNvSpPr/>
            <p:nvPr/>
          </p:nvSpPr>
          <p:spPr>
            <a:xfrm>
              <a:off x="9525000" y="3810000"/>
              <a:ext cx="20574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9525000" y="3810000"/>
              <a:ext cx="2057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746742" y="4083368"/>
              <a:ext cx="10172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LlamaIndex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747885" y="47934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检索优先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747885" y="50411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数据框架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67" name="TextBox 67"/>
            <p:cNvSpPr txBox="1"/>
            <p:nvPr/>
          </p:nvSpPr>
          <p:spPr>
            <a:xfrm>
              <a:off x="604838" y="6613684"/>
              <a:ext cx="10879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工具链与无代码智能体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7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439009" cy="738854"/>
            <a:chOff x="595122" y="501491"/>
            <a:chExt cx="6439009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961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05 · 平台①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43900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代表平台：Dify（LLMOps 领跑者）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09600" y="1619250"/>
            <a:ext cx="5257800" cy="1905000"/>
            <a:chOff x="609600" y="1619250"/>
            <a:chExt cx="52578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1887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Dify v1.13.x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307431"/>
              <a:ext cx="15860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原生 MCP：既作 client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555081"/>
              <a:ext cx="16628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也可暴露为 MCP server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802731"/>
              <a:ext cx="16093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2026 融资 $30M Pre-A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2485" y="3050381"/>
              <a:ext cx="8478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估值 $180M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324600" y="1619250"/>
            <a:ext cx="5257800" cy="1905000"/>
            <a:chOff x="6324600" y="1619250"/>
            <a:chExt cx="5257800" cy="1905000"/>
          </a:xfrm>
        </p:grpSpPr>
        <p:sp>
          <p:nvSpPr>
            <p:cNvPr id="14" name="Rectangle 14"/>
            <p:cNvSpPr/>
            <p:nvPr/>
          </p:nvSpPr>
          <p:spPr>
            <a:xfrm>
              <a:off x="6324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46342" y="1892618"/>
              <a:ext cx="10359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2026 新能力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2307431"/>
              <a:ext cx="18488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Human Input 人工审批节点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7485" y="2555081"/>
              <a:ext cx="17984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Creator Center 模板市场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47485" y="2802731"/>
              <a:ext cx="14102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Visual RAG 数据管线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47485" y="3050381"/>
              <a:ext cx="12834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OAuth 多凭证管理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2" name="Rectangle 22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6018" y="4050982"/>
              <a:ext cx="46756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适用：企业内部知识问答、AI SaaS 快速 MVP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8304" y="4947285"/>
              <a:ext cx="51169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来源：rodak.pro、htdocs.dev（版本迭代快，数据截至 2026-08）。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6" name="TextBox 26"/>
            <p:cNvSpPr txBox="1"/>
            <p:nvPr/>
          </p:nvSpPr>
          <p:spPr>
            <a:xfrm>
              <a:off x="604838" y="6613684"/>
              <a:ext cx="10879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工具链与无代码智能体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8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688040" cy="738854"/>
            <a:chOff x="595122" y="501491"/>
            <a:chExt cx="6688040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961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06 · 平台②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68804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代表平台：n8n（工作流 + AI Agent）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09600" y="1619250"/>
            <a:ext cx="5257800" cy="1905000"/>
            <a:chOff x="609600" y="1619250"/>
            <a:chExt cx="52578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1204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n8n v2.17.7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307431"/>
              <a:ext cx="1722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2026-04-24 / fair-code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555081"/>
              <a:ext cx="991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500+ 集成节点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802731"/>
              <a:ext cx="14785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内置 AI Agent 构建器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2485" y="3050381"/>
              <a:ext cx="17954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原生 MCP client + server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324600" y="1619250"/>
            <a:ext cx="5257800" cy="1905000"/>
            <a:chOff x="6324600" y="1619250"/>
            <a:chExt cx="5257800" cy="1905000"/>
          </a:xfrm>
        </p:grpSpPr>
        <p:sp>
          <p:nvSpPr>
            <p:cNvPr id="14" name="Rectangle 14"/>
            <p:cNvSpPr/>
            <p:nvPr/>
          </p:nvSpPr>
          <p:spPr>
            <a:xfrm>
              <a:off x="6324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46342" y="1892618"/>
              <a:ext cx="12354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人类在环 HITL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24312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工具级审批门控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7485" y="2678906"/>
              <a:ext cx="16021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删记录/发邮件等高风险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47485" y="29265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动作需人工确认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1" name="Rectangle 21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06018" y="4050982"/>
              <a:ext cx="59193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适用：跨系统数据流、Webhook、RPA、金融等强合规场景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8304" y="4947285"/>
              <a:ext cx="50765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来源：rodak.pro、ciphernutz（版本迭代快，数据截至 2026-08）。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5" name="TextBox 25"/>
            <p:cNvSpPr txBox="1"/>
            <p:nvPr/>
          </p:nvSpPr>
          <p:spPr>
            <a:xfrm>
              <a:off x="604838" y="6613684"/>
              <a:ext cx="10879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工具链与无代码智能体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9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558201" cy="738854"/>
            <a:chOff x="595122" y="501491"/>
            <a:chExt cx="655820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961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07 · 平台③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55820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代表平台：Coze Studio（字节开源）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5257800" cy="1905000"/>
            <a:chOff x="609600" y="1619250"/>
            <a:chExt cx="52578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5102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Coze Studio 开源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20813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2026 字节以 Apache-2.0 开源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开发→部署→优化全流程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1918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与豆包/扣子/抖音/飞书绑定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24600" y="1619250"/>
            <a:ext cx="5257800" cy="1905000"/>
            <a:chOff x="6324600" y="1619250"/>
            <a:chExt cx="52578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46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适用团队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2431256"/>
              <a:ext cx="13913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快速构建发布 Agent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26789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字节系产品集成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7485" y="29265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生态分发能力强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0" name="Rectangle 20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6018" y="4050982"/>
              <a:ext cx="45516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定位：一站式 AI Agent 开发 + 字节生态分发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8304" y="4947285"/>
              <a:ext cx="36550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来源：toutiao 2026 横评（数据截至 2026-08）。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4" name="TextBox 24"/>
            <p:cNvSpPr txBox="1"/>
            <p:nvPr/>
          </p:nvSpPr>
          <p:spPr>
            <a:xfrm>
              <a:off x="604838" y="6613684"/>
              <a:ext cx="10879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工具链与无代码智能体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10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823030" cy="738854"/>
            <a:chOff x="595122" y="501491"/>
            <a:chExt cx="5823030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8013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08 · 平台④⑤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82303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RAG 专精：FastGPT 与 Ragflow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09600" y="1619250"/>
            <a:ext cx="5257800" cy="1905000"/>
            <a:chOff x="609600" y="1619250"/>
            <a:chExt cx="52578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21097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FastGPT (Apache-2.0)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30743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知识库优先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555081"/>
              <a:ext cx="1405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父子分段 / QA 拆分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802731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混合检索 + 重排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2485" y="3050381"/>
              <a:ext cx="10071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企业 RAG 首选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324600" y="1619250"/>
            <a:ext cx="5257800" cy="1905000"/>
            <a:chOff x="6324600" y="1619250"/>
            <a:chExt cx="5257800" cy="1905000"/>
          </a:xfrm>
        </p:grpSpPr>
        <p:sp>
          <p:nvSpPr>
            <p:cNvPr id="14" name="Rectangle 14"/>
            <p:cNvSpPr/>
            <p:nvPr/>
          </p:nvSpPr>
          <p:spPr>
            <a:xfrm>
              <a:off x="6324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46342" y="1892618"/>
              <a:ext cx="2073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Ragflow (Apache-2.0)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24312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深度文档理解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7485" y="2678906"/>
              <a:ext cx="16021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复杂格式（合同/论文）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47485" y="29265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问答质量稳定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1" name="Rectangle 21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06018" y="4050982"/>
              <a:ext cx="38569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两者均开源，企业 RAG 落地高频选项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8304" y="4947285"/>
              <a:ext cx="34773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来源：agentlist.top 六维对比、htdocs.dev。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5" name="TextBox 25"/>
            <p:cNvSpPr txBox="1"/>
            <p:nvPr/>
          </p:nvSpPr>
          <p:spPr>
            <a:xfrm>
              <a:off x="604838" y="6613684"/>
              <a:ext cx="10879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工具链与无代码智能体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11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7794955" cy="738854"/>
            <a:chOff x="595122" y="501491"/>
            <a:chExt cx="779495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09 · 新锐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779495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新锐：Langflow / Activepieces / Flowise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4191000"/>
            <a:chOff x="609600" y="1619250"/>
            <a:chExt cx="34290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2244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Langflow 1.8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574256"/>
              <a:ext cx="1983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2026-03 IBM 收购 DataStax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821906"/>
              <a:ext cx="1353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MCP client+server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40695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知识库原生管理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4191000"/>
            <a:chOff x="4381500" y="1619250"/>
            <a:chExt cx="3429000" cy="4191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11832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Activepieces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3574256"/>
              <a:ext cx="11664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MIT / 450+ 集成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3821906"/>
              <a:ext cx="17396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280+ 暴露为 MCP server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4069556"/>
              <a:ext cx="10435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AI-native 平台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153400" y="1619250"/>
            <a:ext cx="3429000" cy="4191000"/>
            <a:chOff x="8153400" y="1619250"/>
            <a:chExt cx="3429000" cy="419100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6966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Flowise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3698081"/>
              <a:ext cx="14160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AgentFlow 多智能体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394573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低代码编排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6" name="TextBox 26"/>
            <p:cNvSpPr txBox="1"/>
            <p:nvPr/>
          </p:nvSpPr>
          <p:spPr>
            <a:xfrm>
              <a:off x="604838" y="6613684"/>
              <a:ext cx="10879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工具链与无代码智能体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12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632960" cy="738854"/>
            <a:chOff x="595122" y="501491"/>
            <a:chExt cx="4632960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10 · 对比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6329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六维能力对比矩阵（摘要）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609600" y="1619250"/>
            <a:ext cx="10972800" cy="4200525"/>
            <a:chOff x="609600" y="1619250"/>
            <a:chExt cx="10972800" cy="4200525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10972800" cy="419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10972800" cy="3810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0466" y="1753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平台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06115" y="1753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定位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964240" y="17535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可视化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860008" y="1753552"/>
              <a:ext cx="3007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MCP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04490" y="1753552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RAG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50640" y="17535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许可证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09600" y="200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80847" y="2323624"/>
              <a:ext cx="2708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Dify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937129" y="2323624"/>
              <a:ext cx="8313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LLMOps 领跑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10683" y="232362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73519" y="23236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原生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768283" y="232362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210262" y="2323624"/>
              <a:ext cx="9154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改 Apache-2.0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609600" y="2762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80847" y="3085624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n8n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927570" y="3085624"/>
              <a:ext cx="8504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工作流+Agent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110683" y="308562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强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66788" y="3085624"/>
              <a:ext cx="8872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client+server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68283" y="308562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中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353017" y="3085624"/>
              <a:ext cx="6299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fair-code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09600" y="3524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80847" y="3847624"/>
              <a:ext cx="75039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Coze Studio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18028" y="38476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一站式分发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110683" y="384762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强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41592" y="38476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字节网关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768283" y="384762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强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296823" y="3847624"/>
              <a:ext cx="7423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Apache-2.0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609600" y="4286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0847" y="4609624"/>
              <a:ext cx="5878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Langflow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072541" y="4609624"/>
              <a:ext cx="5605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RAG 专精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110683" y="460962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强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66788" y="4609624"/>
              <a:ext cx="8872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client+server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768283" y="460962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强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296823" y="4609624"/>
              <a:ext cx="7423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Apache-2.0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609600" y="5048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0847" y="5371624"/>
              <a:ext cx="5342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FastGPT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072541" y="5371624"/>
              <a:ext cx="5605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企业 RAG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110683" y="537162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中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75628" y="53716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自定义插件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768283" y="537162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296823" y="5371624"/>
              <a:ext cx="7423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Apache-2.0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609600" y="581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51" name="TextBox 51"/>
            <p:cNvSpPr txBox="1"/>
            <p:nvPr/>
          </p:nvSpPr>
          <p:spPr>
            <a:xfrm>
              <a:off x="604838" y="6613684"/>
              <a:ext cx="10879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工具链与无代码智能体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13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720262" cy="738854"/>
            <a:chOff x="595122" y="501491"/>
            <a:chExt cx="4720262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11 · 工具调用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72026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工具调用与 MCP 支持对比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5257800" cy="1905000"/>
            <a:chOff x="609600" y="1619250"/>
            <a:chExt cx="52578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21034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2026 主题：MCP 成标准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25488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Activepieces 暴露 280+ MCP server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18564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Dify v1.13 原生 280+ 工具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21117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n8n v2.17 MCP client+server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324600" y="1619250"/>
            <a:ext cx="5257800" cy="1905000"/>
            <a:chOff x="6324600" y="1619250"/>
            <a:chExt cx="52578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46342" y="18926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各平台接入方式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2307431"/>
              <a:ext cx="18870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Dify：原生 MCP + OpenAPI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2555081"/>
              <a:ext cx="1671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n8n：节点即工具 + MCP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7485" y="2802731"/>
              <a:ext cx="15445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FastGPT：自定义插件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47485" y="3050381"/>
              <a:ext cx="1513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Coze：字节 MCP 网关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1" name="Rectangle 21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06018" y="4050982"/>
              <a:ext cx="48096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含义：工具/互操作下沉到协议层，框架绑定弱化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8304" y="4947285"/>
              <a:ext cx="37438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来源：htdocs.dev、rodak.pro、agentlist.top。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5" name="TextBox 25"/>
            <p:cNvSpPr txBox="1"/>
            <p:nvPr/>
          </p:nvSpPr>
          <p:spPr>
            <a:xfrm>
              <a:off x="604838" y="6613684"/>
              <a:ext cx="10879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工具链与无代码智能体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14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7209734" cy="738854"/>
            <a:chOff x="595122" y="501491"/>
            <a:chExt cx="720973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11 · 协议详图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720973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MCP 协议交互：Host ↔ Client ↔ Server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1428750" y="1799749"/>
            <a:ext cx="8667750" cy="2877027"/>
            <a:chOff x="1428750" y="1799749"/>
            <a:chExt cx="8667750" cy="2877027"/>
          </a:xfrm>
        </p:grpSpPr>
        <p:sp>
          <p:nvSpPr>
            <p:cNvPr id="6" name="TextBox 6"/>
            <p:cNvSpPr txBox="1"/>
            <p:nvPr/>
          </p:nvSpPr>
          <p:spPr>
            <a:xfrm>
              <a:off x="4481678" y="1799749"/>
              <a:ext cx="28476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MCP：把工具 / 数据 / 能力下沉为协议层接入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428750" y="2476500"/>
              <a:ext cx="1619250" cy="571500"/>
            </a:xfrm>
            <a:prstGeom prst="roundRect">
              <a:avLst>
                <a:gd name="adj" fmla="val 5000"/>
              </a:avLst>
            </a:prstGeom>
            <a:solidFill>
              <a:srgbClr val="1A1A1A"/>
            </a:solidFill>
            <a:ln w="0">
              <a:solidFill>
                <a:srgbClr val="1A1A1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97815" y="2706052"/>
              <a:ext cx="10811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Host（LLM 应用）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4476750" y="2476500"/>
              <a:ext cx="1619250" cy="571500"/>
            </a:xfrm>
            <a:prstGeom prst="roundRect">
              <a:avLst>
                <a:gd name="adj" fmla="val 5000"/>
              </a:avLst>
            </a:prstGeom>
            <a:solidFill>
              <a:srgbClr val="F5F5F5"/>
            </a:solidFill>
            <a:ln w="14288">
              <a:solidFill>
                <a:srgbClr val="1A1A1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958832" y="2706052"/>
              <a:ext cx="65508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MCP Client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524750" y="2476500"/>
              <a:ext cx="1619250" cy="571500"/>
            </a:xfrm>
            <a:prstGeom prst="roundRect">
              <a:avLst>
                <a:gd name="adj" fmla="val 5000"/>
              </a:avLst>
            </a:prstGeom>
            <a:solidFill>
              <a:srgbClr val="F5F5F5"/>
            </a:solidFill>
            <a:ln w="14288">
              <a:solidFill>
                <a:srgbClr val="1A1A1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974228" y="2706052"/>
              <a:ext cx="7202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MCP Server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3095625" y="2714625"/>
              <a:ext cx="1247775" cy="9525"/>
            </a:xfrm>
            <a:custGeom>
              <a:avLst/>
              <a:gdLst/>
              <a:ahLst/>
              <a:cxnLst/>
              <a:rect l="l" t="t" r="r" b="b"/>
              <a:pathLst>
                <a:path w="1247775" h="9525">
                  <a:moveTo>
                    <a:pt x="0" y="0"/>
                  </a:moveTo>
                  <a:lnTo>
                    <a:pt x="12477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4350068" y="2682240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5" name="Line 15"/>
            <p:cNvSpPr/>
            <p:nvPr/>
          </p:nvSpPr>
          <p:spPr>
            <a:xfrm>
              <a:off x="3181350" y="2809875"/>
              <a:ext cx="1247775" cy="9525"/>
            </a:xfrm>
            <a:custGeom>
              <a:avLst/>
              <a:gdLst/>
              <a:ahLst/>
              <a:cxnLst/>
              <a:rect l="l" t="t" r="r" b="b"/>
              <a:pathLst>
                <a:path w="1247775" h="9525">
                  <a:moveTo>
                    <a:pt x="124777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3095625" y="2777490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0" y="32385"/>
                  </a:moveTo>
                  <a:lnTo>
                    <a:pt x="79058" y="0"/>
                  </a:lnTo>
                  <a:lnTo>
                    <a:pt x="79058" y="6477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6143625" y="2714625"/>
              <a:ext cx="1247775" cy="9525"/>
            </a:xfrm>
            <a:custGeom>
              <a:avLst/>
              <a:gdLst/>
              <a:ahLst/>
              <a:cxnLst/>
              <a:rect l="l" t="t" r="r" b="b"/>
              <a:pathLst>
                <a:path w="1247775" h="9525">
                  <a:moveTo>
                    <a:pt x="0" y="0"/>
                  </a:moveTo>
                  <a:lnTo>
                    <a:pt x="12477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7398068" y="268224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9" name="Line 19"/>
            <p:cNvSpPr/>
            <p:nvPr/>
          </p:nvSpPr>
          <p:spPr>
            <a:xfrm>
              <a:off x="6229350" y="2809875"/>
              <a:ext cx="1247775" cy="9525"/>
            </a:xfrm>
            <a:custGeom>
              <a:avLst/>
              <a:gdLst/>
              <a:ahLst/>
              <a:cxnLst/>
              <a:rect l="l" t="t" r="r" b="b"/>
              <a:pathLst>
                <a:path w="1247775" h="9525">
                  <a:moveTo>
                    <a:pt x="124777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6143625" y="277749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0" y="32385"/>
                  </a:moveTo>
                  <a:lnTo>
                    <a:pt x="79057" y="0"/>
                  </a:lnTo>
                  <a:lnTo>
                    <a:pt x="79057" y="6477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666071" y="2575084"/>
              <a:ext cx="1926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请求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66071" y="2898934"/>
              <a:ext cx="1926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响应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14071" y="2575084"/>
              <a:ext cx="1926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调用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14071" y="2898934"/>
              <a:ext cx="1926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返回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8334375" y="3048000"/>
              <a:ext cx="9525" cy="276225"/>
            </a:xfrm>
            <a:custGeom>
              <a:avLst/>
              <a:gdLst/>
              <a:ahLst/>
              <a:cxnLst/>
              <a:rect l="l" t="t" r="r" b="b"/>
              <a:pathLst>
                <a:path w="9525" h="276225">
                  <a:moveTo>
                    <a:pt x="0" y="0"/>
                  </a:moveTo>
                  <a:lnTo>
                    <a:pt x="0" y="276225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8301990" y="333089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667500" y="3429000"/>
              <a:ext cx="3429000" cy="381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9525">
              <a:solidFill>
                <a:srgbClr val="999999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207329" y="3568541"/>
              <a:ext cx="234934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工具 / 数据 / 资源（文件 · DB · API · Shell）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25550" y="4284345"/>
              <a:ext cx="25599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server 视为依赖：固定版本 + 审计 + allowlist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772660" y="4529138"/>
              <a:ext cx="226568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来源：MCP 捐 Linux Foundation（2025-12-09）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2" name="TextBox 32"/>
            <p:cNvSpPr txBox="1"/>
            <p:nvPr/>
          </p:nvSpPr>
          <p:spPr>
            <a:xfrm>
              <a:off x="604838" y="6613684"/>
              <a:ext cx="10879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工具链与无代码智能体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15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950033" cy="738854"/>
            <a:chOff x="595122" y="501491"/>
            <a:chExt cx="395003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12 · 人类在环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95003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HITL：2026 生产标配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5257800" cy="1905000"/>
            <a:chOff x="609600" y="1619250"/>
            <a:chExt cx="52578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8327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n8n / Dify / Flowise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10071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均加原生 HITL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关键决策点暂停审批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18581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Approve/Reject/Escalate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24600" y="1619250"/>
            <a:ext cx="5257800" cy="1905000"/>
            <a:chOff x="6324600" y="1619250"/>
            <a:chExt cx="52578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46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适用场景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2431256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高风险动作：退款/删库/发信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2678906"/>
              <a:ext cx="14513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合规行业：金融/医疗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7485" y="29265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可控性优先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0" name="Rectangle 20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6018" y="4050982"/>
              <a:ext cx="41071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最小权限 + 人类在环 = 生产默认安全基线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8304" y="4947285"/>
              <a:ext cx="2556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来源：htdocs.dev、ciphernutz。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4" name="TextBox 24"/>
            <p:cNvSpPr txBox="1"/>
            <p:nvPr/>
          </p:nvSpPr>
          <p:spPr>
            <a:xfrm>
              <a:off x="604838" y="6613684"/>
              <a:ext cx="10879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工具链与无代码智能体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16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229748" cy="738854"/>
            <a:chOff x="595122" y="501491"/>
            <a:chExt cx="4229748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12 · 治理详图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22974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HITL 人工审批门控流程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1143000" y="2952750"/>
            <a:ext cx="9239250" cy="1819276"/>
            <a:chOff x="1143000" y="2952750"/>
            <a:chExt cx="9239250" cy="1819276"/>
          </a:xfrm>
        </p:grpSpPr>
        <p:sp>
          <p:nvSpPr>
            <p:cNvPr id="6" name="Rectangle 6"/>
            <p:cNvSpPr/>
            <p:nvPr/>
          </p:nvSpPr>
          <p:spPr>
            <a:xfrm>
              <a:off x="1143000" y="3048000"/>
              <a:ext cx="1428750" cy="381000"/>
            </a:xfrm>
            <a:prstGeom prst="roundRect">
              <a:avLst>
                <a:gd name="adj" fmla="val 7500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43225" y="3182302"/>
              <a:ext cx="6282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Agent 执行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2571750" y="3238500"/>
              <a:ext cx="390525" cy="9525"/>
            </a:xfrm>
            <a:custGeom>
              <a:avLst/>
              <a:gdLst/>
              <a:ahLst/>
              <a:cxnLst/>
              <a:rect l="l" t="t" r="r" b="b"/>
              <a:pathLst>
                <a:path w="390525" h="9525">
                  <a:moveTo>
                    <a:pt x="0" y="0"/>
                  </a:moveTo>
                  <a:lnTo>
                    <a:pt x="3905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9" name="Polygon 9"/>
            <p:cNvSpPr/>
            <p:nvPr/>
          </p:nvSpPr>
          <p:spPr>
            <a:xfrm>
              <a:off x="2968942" y="320611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3048000" y="2952750"/>
              <a:ext cx="1524000" cy="5715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9050">
              <a:solidFill>
                <a:srgbClr val="E30613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467358" y="3182302"/>
              <a:ext cx="685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高风险动作?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4572000" y="3238500"/>
              <a:ext cx="390525" cy="9525"/>
            </a:xfrm>
            <a:custGeom>
              <a:avLst/>
              <a:gdLst/>
              <a:ahLst/>
              <a:cxnLst/>
              <a:rect l="l" t="t" r="r" b="b"/>
              <a:pathLst>
                <a:path w="390525" h="9525">
                  <a:moveTo>
                    <a:pt x="0" y="0"/>
                  </a:moveTo>
                  <a:lnTo>
                    <a:pt x="3905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4969192" y="32061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048250" y="3048000"/>
              <a:ext cx="1428750" cy="381000"/>
            </a:xfrm>
            <a:prstGeom prst="roundRect">
              <a:avLst>
                <a:gd name="adj" fmla="val 7500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515546" y="3182302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暂停待审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6477000" y="3238500"/>
              <a:ext cx="390525" cy="9525"/>
            </a:xfrm>
            <a:custGeom>
              <a:avLst/>
              <a:gdLst/>
              <a:ahLst/>
              <a:cxnLst/>
              <a:rect l="l" t="t" r="r" b="b"/>
              <a:pathLst>
                <a:path w="390525" h="9525">
                  <a:moveTo>
                    <a:pt x="0" y="0"/>
                  </a:moveTo>
                  <a:lnTo>
                    <a:pt x="3905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6874192" y="32061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953250" y="2952750"/>
              <a:ext cx="1428750" cy="571500"/>
            </a:xfrm>
            <a:prstGeom prst="roundRect">
              <a:avLst>
                <a:gd name="adj" fmla="val 5000"/>
              </a:avLst>
            </a:prstGeom>
            <a:solidFill>
              <a:srgbClr val="1A1A1A"/>
            </a:solidFill>
            <a:ln w="0">
              <a:solidFill>
                <a:srgbClr val="1A1A1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420546" y="3182302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人工审批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8382000" y="3143250"/>
              <a:ext cx="485775" cy="9525"/>
            </a:xfrm>
            <a:custGeom>
              <a:avLst/>
              <a:gdLst/>
              <a:ahLst/>
              <a:cxnLst/>
              <a:rect l="l" t="t" r="r" b="b"/>
              <a:pathLst>
                <a:path w="485775" h="9525">
                  <a:moveTo>
                    <a:pt x="0" y="0"/>
                  </a:moveTo>
                  <a:lnTo>
                    <a:pt x="4857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8874442" y="311086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8953500" y="2952750"/>
              <a:ext cx="1428750" cy="381000"/>
            </a:xfrm>
            <a:prstGeom prst="roundRect">
              <a:avLst>
                <a:gd name="adj" fmla="val 7500"/>
              </a:avLst>
            </a:prstGeom>
            <a:solidFill>
              <a:srgbClr val="E30613"/>
            </a:solidFill>
            <a:ln w="0">
              <a:solidFill>
                <a:srgbClr val="1A1A1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20796" y="3087052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放行执行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382000" y="3429000"/>
              <a:ext cx="485775" cy="9525"/>
            </a:xfrm>
            <a:custGeom>
              <a:avLst/>
              <a:gdLst/>
              <a:ahLst/>
              <a:cxnLst/>
              <a:rect l="l" t="t" r="r" b="b"/>
              <a:pathLst>
                <a:path w="485775" h="9525">
                  <a:moveTo>
                    <a:pt x="0" y="0"/>
                  </a:moveTo>
                  <a:lnTo>
                    <a:pt x="4857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8874442" y="33966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8953500" y="3429000"/>
              <a:ext cx="1428750" cy="28575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999999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378862" y="3520916"/>
              <a:ext cx="5780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拒绝 / 上报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15338" y="3024188"/>
              <a:ext cx="21145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批准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15338" y="3309938"/>
              <a:ext cx="21145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拒绝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784702" y="4379595"/>
              <a:ext cx="42415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高风险动作（退款 / 删库 / 发信）需人工确认：Approve / Reject / Escalate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333756" y="4624388"/>
              <a:ext cx="3143488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来源：n8n / Dify / Flowise 原生 HITL（htdocs.dev、ciphernutz）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3" name="TextBox 33"/>
            <p:cNvSpPr txBox="1"/>
            <p:nvPr/>
          </p:nvSpPr>
          <p:spPr>
            <a:xfrm>
              <a:off x="604838" y="6613684"/>
              <a:ext cx="10879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工具链与无代码智能体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17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632960" cy="738854"/>
            <a:chOff x="595122" y="501491"/>
            <a:chExt cx="4632960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13 · 选型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6329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选型决策树（三典型场景）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4191000"/>
            <a:chOff x="609600" y="1619250"/>
            <a:chExt cx="34290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5422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客服 Bot + 知识库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574256"/>
              <a:ext cx="17280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自托管 → FastGPT / Dify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821906"/>
              <a:ext cx="11353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字节生态 → Coze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4069556"/>
              <a:ext cx="10877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否则 Dify Cloud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381500" y="1619250"/>
            <a:ext cx="3429000" cy="4191000"/>
            <a:chOff x="4381500" y="1619250"/>
            <a:chExt cx="3429000" cy="4191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13463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RPA / 系统集成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369808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→ n8n（500+ 节点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3945731"/>
              <a:ext cx="13241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内置 AI Agent 节点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153400" y="1619250"/>
            <a:ext cx="3429000" cy="4191000"/>
            <a:chOff x="8153400" y="1619250"/>
            <a:chExt cx="3429000" cy="4191000"/>
          </a:xfrm>
        </p:grpSpPr>
        <p:sp>
          <p:nvSpPr>
            <p:cNvPr id="19" name="Rectangle 19"/>
            <p:cNvSpPr/>
            <p:nvPr/>
          </p:nvSpPr>
          <p:spPr>
            <a:xfrm>
              <a:off x="81534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75142" y="1892618"/>
              <a:ext cx="12057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AI 工程师原型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76285" y="3698081"/>
              <a:ext cx="15153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→ Flowise / Langflow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3945731"/>
              <a:ext cx="13854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直接映射 LangChain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5" name="TextBox 25"/>
            <p:cNvSpPr txBox="1"/>
            <p:nvPr/>
          </p:nvSpPr>
          <p:spPr>
            <a:xfrm>
              <a:off x="604838" y="6613684"/>
              <a:ext cx="10879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工具链与无代码智能体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18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1947291" cy="738854"/>
            <a:chOff x="595122" y="501491"/>
            <a:chExt cx="194729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14 · 部署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19472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部署与成本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09600" y="1619250"/>
            <a:ext cx="5257800" cy="1905000"/>
            <a:chOff x="609600" y="1619250"/>
            <a:chExt cx="52578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开源自托管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307431"/>
              <a:ext cx="13913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Dify 改 Apache-2.0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555081"/>
              <a:ext cx="1014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n8n fair-code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802731"/>
              <a:ext cx="17408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Coze Studio Apache-2.0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2485" y="3050381"/>
              <a:ext cx="19803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Langflow/Activepieces MIT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324600" y="1619250"/>
            <a:ext cx="5257800" cy="1905000"/>
            <a:chOff x="6324600" y="1619250"/>
            <a:chExt cx="5257800" cy="1905000"/>
          </a:xfrm>
        </p:grpSpPr>
        <p:sp>
          <p:nvSpPr>
            <p:cNvPr id="14" name="Rectangle 14"/>
            <p:cNvSpPr/>
            <p:nvPr/>
          </p:nvSpPr>
          <p:spPr>
            <a:xfrm>
              <a:off x="6324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46342" y="18926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商业版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2431256"/>
              <a:ext cx="19629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Dify 企业版 SOC2/GPU 优化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7485" y="2678906"/>
              <a:ext cx="1934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n8n 企业版 SSO/SAML/K8s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47485" y="2926556"/>
              <a:ext cx="15972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Coze Studio 免费+定制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1" name="Rectangle 21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06018" y="405098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成本随版本变动，列为参考价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8304" y="4947285"/>
              <a:ext cx="49392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来源：htdocs.dev、toutiao 横评（标注“参考价，随版本变动”）。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5" name="TextBox 25"/>
            <p:cNvSpPr txBox="1"/>
            <p:nvPr/>
          </p:nvSpPr>
          <p:spPr>
            <a:xfrm>
              <a:off x="604838" y="6613684"/>
              <a:ext cx="10879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工具链与无代码智能体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19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632960" cy="738854"/>
            <a:chOff x="595122" y="501491"/>
            <a:chExt cx="4632960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15 · 实战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6329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典型场景实战（数据佐证）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5257800" cy="1905000"/>
            <a:chOff x="609600" y="1619250"/>
            <a:chExt cx="52578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112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n8n 客服分流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555081"/>
              <a:ext cx="22973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Tier-1 工单 45% 自动 deflection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802731"/>
              <a:ext cx="1104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响应 24h → 3min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324600" y="1619250"/>
            <a:ext cx="5257800" cy="1905000"/>
            <a:chOff x="6324600" y="1619250"/>
            <a:chExt cx="5257800" cy="1905000"/>
          </a:xfrm>
        </p:grpSpPr>
        <p:sp>
          <p:nvSpPr>
            <p:cNvPr id="12" name="Rectangle 12"/>
            <p:cNvSpPr/>
            <p:nvPr/>
          </p:nvSpPr>
          <p:spPr>
            <a:xfrm>
              <a:off x="6324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4634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企业知识库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7485" y="2555081"/>
              <a:ext cx="15990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Dify RAG 结合历史订单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2802731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回复准确率提升（据公开实测）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18" name="Rectangle 18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018" y="4050982"/>
              <a:ext cx="44936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成效数据来自第三方，保留“据公开案例”前缀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8304" y="4947285"/>
              <a:ext cx="43173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来源：ciphernutz 案例、公开实测（符合“无争议”原则）。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2" name="TextBox 22"/>
            <p:cNvSpPr txBox="1"/>
            <p:nvPr/>
          </p:nvSpPr>
          <p:spPr>
            <a:xfrm>
              <a:off x="604838" y="6613684"/>
              <a:ext cx="10879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工具链与无代码智能体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20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632960" cy="738854"/>
            <a:chOff x="595122" y="501491"/>
            <a:chExt cx="4632960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16 · 风险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6329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风险与局限（无争议提醒）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3429000" cy="4191000"/>
            <a:chOff x="609600" y="1619250"/>
            <a:chExt cx="34290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960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画布 ≠ 生产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698081"/>
              <a:ext cx="19181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企业 RAG 与 Demo 不同物种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945731"/>
              <a:ext cx="1383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需补监控/权限/版本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381500" y="1619250"/>
            <a:ext cx="3429000" cy="4191000"/>
            <a:chOff x="4381500" y="1619250"/>
            <a:chExt cx="3429000" cy="4191000"/>
          </a:xfrm>
        </p:grpSpPr>
        <p:sp>
          <p:nvSpPr>
            <p:cNvPr id="12" name="Rectangle 12"/>
            <p:cNvSpPr/>
            <p:nvPr/>
          </p:nvSpPr>
          <p:spPr>
            <a:xfrm>
              <a:off x="43815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60324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许可证陷阱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04385" y="3698081"/>
              <a:ext cx="18131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n8n fair-code 托管需授权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3945731"/>
              <a:ext cx="1815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Dify 多租户/前端标识约束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153400" y="1619250"/>
            <a:ext cx="3429000" cy="4191000"/>
            <a:chOff x="8153400" y="1619250"/>
            <a:chExt cx="3429000" cy="4191000"/>
          </a:xfrm>
        </p:grpSpPr>
        <p:sp>
          <p:nvSpPr>
            <p:cNvPr id="18" name="Rectangle 18"/>
            <p:cNvSpPr/>
            <p:nvPr/>
          </p:nvSpPr>
          <p:spPr>
            <a:xfrm>
              <a:off x="81534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751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数据主权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76285" y="3698081"/>
              <a:ext cx="13005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权限粒度/版本管理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76285" y="394573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闭源生态限制互操作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4" name="TextBox 24"/>
            <p:cNvSpPr txBox="1"/>
            <p:nvPr/>
          </p:nvSpPr>
          <p:spPr>
            <a:xfrm>
              <a:off x="604838" y="6613684"/>
              <a:ext cx="10879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工具链与无代码智能体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21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328904" cy="738854"/>
            <a:chOff x="595122" y="501491"/>
            <a:chExt cx="432890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2504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32890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参考与延伸 · 下一讲预告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01218" y="1898332"/>
            <a:ext cx="4146204" cy="322707"/>
            <a:chOff x="601218" y="1898332"/>
            <a:chExt cx="4146204" cy="322707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8983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来源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7280" y="1914525"/>
              <a:ext cx="36501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Dify 官网 / toutiao 横评 / htdocs.dev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1218" y="2431732"/>
            <a:ext cx="4378262" cy="322707"/>
            <a:chOff x="601218" y="2431732"/>
            <a:chExt cx="4378262" cy="322707"/>
          </a:xfrm>
        </p:grpSpPr>
        <p:sp>
          <p:nvSpPr>
            <p:cNvPr id="9" name="TextBox 9"/>
            <p:cNvSpPr txBox="1"/>
            <p:nvPr/>
          </p:nvSpPr>
          <p:spPr>
            <a:xfrm>
              <a:off x="601218" y="24317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来源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7280" y="2447925"/>
              <a:ext cx="3882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ciphernutz / rodak.pro / agentlist.top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468618" y="1898332"/>
            <a:ext cx="3498342" cy="322707"/>
            <a:chOff x="6468618" y="1898332"/>
            <a:chExt cx="3498342" cy="322707"/>
          </a:xfrm>
        </p:grpSpPr>
        <p:sp>
          <p:nvSpPr>
            <p:cNvPr id="12" name="TextBox 12"/>
            <p:cNvSpPr txBox="1"/>
            <p:nvPr/>
          </p:nvSpPr>
          <p:spPr>
            <a:xfrm>
              <a:off x="6468618" y="18983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下一讲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964680" y="1914525"/>
              <a:ext cx="30022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三、大模型原理与 API 开发入门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468618" y="2431732"/>
            <a:ext cx="3368612" cy="322707"/>
            <a:chOff x="6468618" y="2431732"/>
            <a:chExt cx="3368612" cy="322707"/>
          </a:xfrm>
        </p:grpSpPr>
        <p:sp>
          <p:nvSpPr>
            <p:cNvPr id="15" name="TextBox 15"/>
            <p:cNvSpPr txBox="1"/>
            <p:nvPr/>
          </p:nvSpPr>
          <p:spPr>
            <a:xfrm>
              <a:off x="6468618" y="24317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提示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64680" y="2447925"/>
              <a:ext cx="28725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版本迭代快，数据截至 2026-08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18" name="TextBox 18"/>
            <p:cNvSpPr txBox="1"/>
            <p:nvPr/>
          </p:nvSpPr>
          <p:spPr>
            <a:xfrm>
              <a:off x="604838" y="6613684"/>
              <a:ext cx="10879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工具链与无代码智能体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19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tools_v6">
  <a:themeElements>
    <a:clrScheme name="tools_v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ools_v6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ools_v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2026-09-01T01:06:03Z</dcterms:created>
  <dcterms:modified xsi:type="dcterms:W3CDTF">2026-09-01T01:06:03Z</dcterms:modified>
  <cp:category/>
  <cp:contentStatus/>
</cp:coreProperties>
</file>