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ameworks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ameworks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6956902" cy="1760696"/>
            <a:chOff x="895350" y="2295049"/>
            <a:chExt cx="6956902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6945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LangGraph · OpenAI Agents SDK · Microsoft Agent Framework · Claude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4049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Agent SDK · CrewAI · Google ADK（2026）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216506" cy="322707"/>
            <a:chOff x="601218" y="1898332"/>
            <a:chExt cx="2216506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720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 Agent 框架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490216" cy="322707"/>
            <a:chOff x="601218" y="2431732"/>
            <a:chExt cx="2490216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994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核心能力与 2026 收敛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207514" cy="322707"/>
            <a:chOff x="601218" y="2965132"/>
            <a:chExt cx="2207514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协议层 MCP / A2A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1722882" cy="322707"/>
            <a:chOff x="601218" y="3498532"/>
            <a:chExt cx="172288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代表框架深读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1722882" cy="322707"/>
            <a:chOff x="6468618" y="1898332"/>
            <a:chExt cx="172288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选型对比矩阵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1520952" cy="322707"/>
            <a:chOff x="6468618" y="2431732"/>
            <a:chExt cx="152095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云厂商方案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1520952" cy="322707"/>
            <a:chOff x="6468618" y="2965132"/>
            <a:chExt cx="152095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趋势与风险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50631" cy="738854"/>
            <a:chOff x="595122" y="501491"/>
            <a:chExt cx="385063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概念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506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 AI Agent 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构建“理解/推理/决策/行动”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自主系统的平台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组成与现状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98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认知 + 记忆/工具/规划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57% 组织已生产运行 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故障多因工具/上下文而非模型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内核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智能体核心能力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四大能力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450431"/>
              <a:ext cx="1073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 Reasoning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698081"/>
              <a:ext cx="952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规划 Planning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3945731"/>
              <a:ext cx="1267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工具使用 Tool Use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4193381"/>
              <a:ext cx="924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574256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接口→控制/规划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382190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→执行→记忆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406955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→观测→反思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1" name="TextBox 21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588567" cy="738854"/>
            <a:chOff x="595122" y="501491"/>
            <a:chExt cx="858856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内核详图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5885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智能体四能力循环（推理→规划→工具→记忆→反思）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048000" y="2000250"/>
            <a:ext cx="5715000" cy="3057526"/>
            <a:chOff x="3048000" y="2000250"/>
            <a:chExt cx="5715000" cy="3057526"/>
          </a:xfrm>
        </p:grpSpPr>
        <p:sp>
          <p:nvSpPr>
            <p:cNvPr id="6" name="Rectangle 6"/>
            <p:cNvSpPr/>
            <p:nvPr/>
          </p:nvSpPr>
          <p:spPr>
            <a:xfrm>
              <a:off x="5143500" y="2000250"/>
              <a:ext cx="152400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19302" y="2149316"/>
              <a:ext cx="972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推理 Reasoning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239000" y="3048000"/>
              <a:ext cx="152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227" y="3197066"/>
              <a:ext cx="861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 Planning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4095750"/>
              <a:ext cx="152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70881" y="4244816"/>
              <a:ext cx="869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Tool Use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48000" y="3048000"/>
              <a:ext cx="152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92213" y="3197066"/>
              <a:ext cx="835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 Memory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98706" y="3209449"/>
              <a:ext cx="10135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反思 Reflection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79961" y="34351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反馈循环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667500" y="2209800"/>
              <a:ext cx="514350" cy="583883"/>
            </a:xfrm>
            <a:custGeom>
              <a:avLst/>
              <a:gdLst/>
              <a:ahLst/>
              <a:cxnLst/>
              <a:rect l="l" t="t" r="r" b="b"/>
              <a:pathLst>
                <a:path w="514350" h="583883">
                  <a:moveTo>
                    <a:pt x="0" y="0"/>
                  </a:moveTo>
                  <a:lnTo>
                    <a:pt x="514350" y="583883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7162800" y="2776538"/>
              <a:ext cx="76200" cy="80962"/>
            </a:xfrm>
            <a:custGeom>
              <a:avLst/>
              <a:gdLst/>
              <a:ahLst/>
              <a:cxnLst/>
              <a:rect l="l" t="t" r="r" b="b"/>
              <a:pathLst>
                <a:path w="76200" h="80962">
                  <a:moveTo>
                    <a:pt x="76200" y="80962"/>
                  </a:moveTo>
                  <a:lnTo>
                    <a:pt x="0" y="42862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6744652" y="3467100"/>
              <a:ext cx="1256347" cy="592455"/>
            </a:xfrm>
            <a:custGeom>
              <a:avLst/>
              <a:gdLst/>
              <a:ahLst/>
              <a:cxnLst/>
              <a:rect l="l" t="t" r="r" b="b"/>
              <a:pathLst>
                <a:path w="1256347" h="592455">
                  <a:moveTo>
                    <a:pt x="1256347" y="0"/>
                  </a:moveTo>
                  <a:lnTo>
                    <a:pt x="0" y="59245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667500" y="4032885"/>
              <a:ext cx="85725" cy="62865"/>
            </a:xfrm>
            <a:custGeom>
              <a:avLst/>
              <a:gdLst/>
              <a:ahLst/>
              <a:cxnLst/>
              <a:rect l="l" t="t" r="r" b="b"/>
              <a:pathLst>
                <a:path w="85725" h="62865">
                  <a:moveTo>
                    <a:pt x="0" y="62865"/>
                  </a:moveTo>
                  <a:lnTo>
                    <a:pt x="58103" y="0"/>
                  </a:lnTo>
                  <a:lnTo>
                    <a:pt x="85725" y="58103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620578" y="3537585"/>
              <a:ext cx="522922" cy="767715"/>
            </a:xfrm>
            <a:custGeom>
              <a:avLst/>
              <a:gdLst/>
              <a:ahLst/>
              <a:cxnLst/>
              <a:rect l="l" t="t" r="r" b="b"/>
              <a:pathLst>
                <a:path w="522922" h="767715">
                  <a:moveTo>
                    <a:pt x="522922" y="7677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572000" y="3467100"/>
              <a:ext cx="71438" cy="83820"/>
            </a:xfrm>
            <a:custGeom>
              <a:avLst/>
              <a:gdLst/>
              <a:ahLst/>
              <a:cxnLst/>
              <a:rect l="l" t="t" r="r" b="b"/>
              <a:pathLst>
                <a:path w="71438" h="83820">
                  <a:moveTo>
                    <a:pt x="0" y="0"/>
                  </a:moveTo>
                  <a:lnTo>
                    <a:pt x="71438" y="47625"/>
                  </a:lnTo>
                  <a:lnTo>
                    <a:pt x="18097" y="8382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0" y="2255520"/>
              <a:ext cx="1261110" cy="792480"/>
            </a:xfrm>
            <a:custGeom>
              <a:avLst/>
              <a:gdLst/>
              <a:ahLst/>
              <a:cxnLst/>
              <a:rect l="l" t="t" r="r" b="b"/>
              <a:pathLst>
                <a:path w="1261110" h="792480">
                  <a:moveTo>
                    <a:pt x="0" y="792480"/>
                  </a:moveTo>
                  <a:lnTo>
                    <a:pt x="126111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5058728" y="2209800"/>
              <a:ext cx="84772" cy="69533"/>
            </a:xfrm>
            <a:custGeom>
              <a:avLst/>
              <a:gdLst/>
              <a:ahLst/>
              <a:cxnLst/>
              <a:rect l="l" t="t" r="r" b="b"/>
              <a:pathLst>
                <a:path w="84772" h="69533">
                  <a:moveTo>
                    <a:pt x="84772" y="0"/>
                  </a:moveTo>
                  <a:lnTo>
                    <a:pt x="34290" y="69533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09351" y="4665345"/>
              <a:ext cx="2992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作认知中枢；故障多源于工具 / 上下文而非模型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69950" y="4910138"/>
              <a:ext cx="187110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来源：LangChain State of Agents 2026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56419" cy="738854"/>
            <a:chOff x="595122" y="501491"/>
            <a:chExt cx="525641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564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框架收敛：四大共识原语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97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 State 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有向图 + 类型化状态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图即 agent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2" name="Rectangle 12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41217" y="189261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结构化工具调用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42360" y="2555081"/>
              <a:ext cx="5132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经 MCP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802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成默认集成层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18" name="Rectangle 18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0617" y="1892618"/>
              <a:ext cx="1341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Handoff 委托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1760" y="255508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 agent 交控制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1760" y="2802731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给另一 agent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4" name="Rectangle 24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7049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生命周期钩子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71635" y="2555081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pre-tool/post/error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71635" y="28027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拦截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44310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要点：图即 agent，LLM 只是其中一个节点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4999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来源：turion.ai、devtoollab、LangChain State of Agents 2026。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56419" cy="738854"/>
            <a:chOff x="595122" y="501491"/>
            <a:chExt cx="525641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前沿详图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564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框架收敛：四大共识原语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428750" y="2190750"/>
            <a:ext cx="9239250" cy="2390776"/>
            <a:chOff x="1428750" y="2190750"/>
            <a:chExt cx="9239250" cy="2390776"/>
          </a:xfrm>
        </p:grpSpPr>
        <p:sp>
          <p:nvSpPr>
            <p:cNvPr id="6" name="Rectangle 6"/>
            <p:cNvSpPr/>
            <p:nvPr/>
          </p:nvSpPr>
          <p:spPr>
            <a:xfrm>
              <a:off x="1428750" y="2190750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43956" y="2426970"/>
              <a:ext cx="8650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 State Graph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09823" y="2662238"/>
              <a:ext cx="9333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有向图 + 类型化状态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76500" y="2857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444115" y="3349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0" y="2190750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74868" y="2426970"/>
              <a:ext cx="9657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结构化工具调用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64926" y="2662238"/>
              <a:ext cx="9856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经 MCP，默认集成层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857750" y="2857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825365" y="3349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2190750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91488" y="2426970"/>
              <a:ext cx="895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Handoff 委托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4364" y="2662238"/>
              <a:ext cx="102927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交控制给 agent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239000" y="2857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206615" y="3349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72500" y="2190750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97947" y="2426970"/>
              <a:ext cx="8446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生命周期钩子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50084" y="2662238"/>
              <a:ext cx="11403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pre / post / error 拦截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620250" y="2857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587865" y="3349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43500" y="3429000"/>
              <a:ext cx="1905000" cy="476250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21705" y="3606641"/>
              <a:ext cx="13485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Agent（图即 agent）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476500" y="2857500"/>
              <a:ext cx="2773680" cy="554355"/>
            </a:xfrm>
            <a:custGeom>
              <a:avLst/>
              <a:gdLst/>
              <a:ahLst/>
              <a:cxnLst/>
              <a:rect l="l" t="t" r="r" b="b"/>
              <a:pathLst>
                <a:path w="2773680" h="554355">
                  <a:moveTo>
                    <a:pt x="0" y="0"/>
                  </a:moveTo>
                  <a:lnTo>
                    <a:pt x="2773680" y="55435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250180" y="3382328"/>
              <a:ext cx="83820" cy="62865"/>
            </a:xfrm>
            <a:custGeom>
              <a:avLst/>
              <a:gdLst/>
              <a:ahLst/>
              <a:cxnLst/>
              <a:rect l="l" t="t" r="r" b="b"/>
              <a:pathLst>
                <a:path w="83820" h="62865">
                  <a:moveTo>
                    <a:pt x="83820" y="46672"/>
                  </a:moveTo>
                  <a:lnTo>
                    <a:pt x="0" y="62865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4857750" y="2857500"/>
              <a:ext cx="879157" cy="527685"/>
            </a:xfrm>
            <a:custGeom>
              <a:avLst/>
              <a:gdLst/>
              <a:ahLst/>
              <a:cxnLst/>
              <a:rect l="l" t="t" r="r" b="b"/>
              <a:pathLst>
                <a:path w="879157" h="527685">
                  <a:moveTo>
                    <a:pt x="0" y="0"/>
                  </a:moveTo>
                  <a:lnTo>
                    <a:pt x="879157" y="52768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725478" y="3360420"/>
              <a:ext cx="84772" cy="68580"/>
            </a:xfrm>
            <a:custGeom>
              <a:avLst/>
              <a:gdLst/>
              <a:ahLst/>
              <a:cxnLst/>
              <a:rect l="l" t="t" r="r" b="b"/>
              <a:pathLst>
                <a:path w="84772" h="68580">
                  <a:moveTo>
                    <a:pt x="84772" y="68580"/>
                  </a:moveTo>
                  <a:lnTo>
                    <a:pt x="0" y="5524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453188" y="2857500"/>
              <a:ext cx="785812" cy="523875"/>
            </a:xfrm>
            <a:custGeom>
              <a:avLst/>
              <a:gdLst/>
              <a:ahLst/>
              <a:cxnLst/>
              <a:rect l="l" t="t" r="r" b="b"/>
              <a:pathLst>
                <a:path w="785812" h="523875">
                  <a:moveTo>
                    <a:pt x="785812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6381750" y="3358515"/>
              <a:ext cx="83820" cy="70485"/>
            </a:xfrm>
            <a:custGeom>
              <a:avLst/>
              <a:gdLst/>
              <a:ahLst/>
              <a:cxnLst/>
              <a:rect l="l" t="t" r="r" b="b"/>
              <a:pathLst>
                <a:path w="83820" h="70485">
                  <a:moveTo>
                    <a:pt x="0" y="70485"/>
                  </a:moveTo>
                  <a:lnTo>
                    <a:pt x="48578" y="0"/>
                  </a:lnTo>
                  <a:lnTo>
                    <a:pt x="83820" y="5334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941820" y="2857500"/>
              <a:ext cx="2678430" cy="554355"/>
            </a:xfrm>
            <a:custGeom>
              <a:avLst/>
              <a:gdLst/>
              <a:ahLst/>
              <a:cxnLst/>
              <a:rect l="l" t="t" r="r" b="b"/>
              <a:pathLst>
                <a:path w="2678430" h="554355">
                  <a:moveTo>
                    <a:pt x="2678430" y="0"/>
                  </a:moveTo>
                  <a:lnTo>
                    <a:pt x="0" y="55435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858000" y="3381375"/>
              <a:ext cx="84772" cy="62865"/>
            </a:xfrm>
            <a:custGeom>
              <a:avLst/>
              <a:gdLst/>
              <a:ahLst/>
              <a:cxnLst/>
              <a:rect l="l" t="t" r="r" b="b"/>
              <a:pathLst>
                <a:path w="84772" h="62865">
                  <a:moveTo>
                    <a:pt x="0" y="47625"/>
                  </a:moveTo>
                  <a:lnTo>
                    <a:pt x="71438" y="0"/>
                  </a:lnTo>
                  <a:lnTo>
                    <a:pt x="84772" y="6286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23778" y="4189095"/>
              <a:ext cx="25634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只是图中一个节点；四原语成 2026 共识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92920" y="4433888"/>
              <a:ext cx="302515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来源：turion.ai、devtoollab、LangChain State of Agents 2026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11822" cy="738854"/>
            <a:chOff x="595122" y="501491"/>
            <a:chExt cx="461182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协议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118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协议层赢家：MCP 与 A2A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777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2025-12-09 捐 Linux Fdn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月下载 1 亿+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server 200+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A2A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v1.0 稳定(2026-04)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150+ 组织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ACP 并入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5265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含义：框架绑定弱化，互操作在协议层而非 SDK 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3937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来源：Fair Winds H2 2026、devtoollab、morphllm。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990613" cy="738854"/>
            <a:chOff x="595122" y="501491"/>
            <a:chExt cx="399061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框架①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99061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代表框架：LangGraph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59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LangGraph 1.2.0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2026-05-12 稳定双周更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生产级有状态图编排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适用 / 许可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589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checkpoint/分支/HITL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568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LangSmith 可视化调试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266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MIT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49929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适用：复杂多步、需人工介入(HITL)、可靠性高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来源：learnagent.org。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36691" cy="738854"/>
            <a:chOff x="595122" y="501491"/>
            <a:chExt cx="56366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框架②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366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代表框架：OpenAI Agents SDK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51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0.17.2（Python）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2026-05-12 增长最快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206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provider-agnostic 100+ LLM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差异能力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670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SandboxAgent 容器操作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05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RealtimeAgent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 0.x 锁版本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4606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适用：OpenAI 原生 + 沙箱代码生成/DevOps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来源：learnagent.org、devtoollab。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39529" cy="738854"/>
            <a:chOff x="595122" y="501491"/>
            <a:chExt cx="63395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框架③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395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Microsoft Agent Framework 1.0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40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2026-04-03 GA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2297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合并 AutoGen + Semantic Kernel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709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单一 .NET + Python SDK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能力 / 许可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原生 MCP + A2A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557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企业级多 agent、HITL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668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MIT（区别于 Foundry）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94575" cy="738854"/>
            <a:chOff x="595122" y="501491"/>
            <a:chExt cx="529457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框架④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9457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代表框架：Claude Agent SDK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来源与集成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2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 Code SDK 更名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847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最深 MCP（200+ server）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单行配置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能力 / 适用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862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内置 FS/Shell、subagents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hooks 生命周期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coding/research agent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347902" cy="738854"/>
            <a:chOff x="595122" y="501491"/>
            <a:chExt cx="334790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框架⑤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3479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代表框架：CrewAI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57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CrewAI 1.14.6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2026-05-28 / 52.4k stars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12 个月约 20 亿次执行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定位 / 开销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role-based crews + 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752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MCP + A2A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948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token≈LangGraph 3x(估算)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4504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角色协作首选；token 开销为估算，仅供参考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2329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来源：morphllm、Fair Winds。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60476" cy="738854"/>
            <a:chOff x="595122" y="501491"/>
            <a:chExt cx="406047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框架⑥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604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代表框架：Google ADK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64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1.33.0 + 2.0.0 beta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2026-05-08 推进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唯一原生对接 A2A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特色 / 生态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358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Vertex AI 沙箱执行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449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Python/TS/Java/Go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25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Google Cloud 默认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其他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其他值得关注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 / 类型安全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46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LlamaIndex 检索优先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790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Pydantic AI 类型安全输出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代码优先 / 全栈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838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Smolagents(HF) 代码优先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466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Agno 高性能 runtime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645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AWS Strands / Mastra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754878" cy="738854"/>
            <a:chOff x="595122" y="501491"/>
            <a:chExt cx="175487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协议深入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7548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深入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规范与生态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769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2025-11-25：OAuth 2.1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201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Tasks / Structured Output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646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Registry ~2000 server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工具即任意代码执行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157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server 视为依赖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固定版本+审计+allowlist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669748" cy="738854"/>
            <a:chOff x="595122" y="501491"/>
            <a:chExt cx="166974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协议深入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6697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 深入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发现与协调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65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AgentCards 元数据发现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任务协调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跨域状态/记忆传递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083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与 MCP 互补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698081"/>
              <a:ext cx="175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MCP=工具/数据垂直接入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945731"/>
              <a:ext cx="17240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A2A=协作/委派水平互联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57622" cy="738854"/>
            <a:chOff x="595122" y="501491"/>
            <a:chExt cx="645762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协议详图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576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vs A2A：垂直接入 vs 水平协作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143000" y="1818799"/>
            <a:ext cx="9334500" cy="3391377"/>
            <a:chOff x="1143000" y="1818799"/>
            <a:chExt cx="9334500" cy="3391377"/>
          </a:xfrm>
        </p:grpSpPr>
        <p:sp>
          <p:nvSpPr>
            <p:cNvPr id="6" name="Rectangle 6"/>
            <p:cNvSpPr/>
            <p:nvPr/>
          </p:nvSpPr>
          <p:spPr>
            <a:xfrm>
              <a:off x="1143000" y="2000250"/>
              <a:ext cx="4381500" cy="2857500"/>
            </a:xfrm>
            <a:prstGeom prst="roundRect">
              <a:avLst>
                <a:gd name="adj" fmla="val 10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328114" y="1818799"/>
              <a:ext cx="2011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— 垂直接入（工具 / 数据）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14500" y="2286000"/>
              <a:ext cx="32385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936098" y="2439352"/>
              <a:ext cx="7953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Host / Agent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33750" y="27051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301365" y="29498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714500" y="3048000"/>
              <a:ext cx="3238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21578" y="3201352"/>
              <a:ext cx="6243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Client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333750" y="34671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301365" y="37118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14500" y="3810000"/>
              <a:ext cx="3238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56878" y="3963352"/>
              <a:ext cx="17537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Server ×N（工具 / 资源）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000250"/>
              <a:ext cx="4381500" cy="2857500"/>
            </a:xfrm>
            <a:prstGeom prst="roundRect">
              <a:avLst>
                <a:gd name="adj" fmla="val 10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00847" y="1818799"/>
              <a:ext cx="1771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 — 水平协作（agent 间）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72250" y="3048000"/>
              <a:ext cx="14287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48553" y="3201352"/>
              <a:ext cx="476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Agent 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0" y="2381250"/>
              <a:ext cx="14287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8303" y="2534602"/>
              <a:ext cx="476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 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14287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58303" y="3868102"/>
              <a:ext cx="476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 C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001000" y="2807018"/>
              <a:ext cx="322897" cy="355283"/>
            </a:xfrm>
            <a:custGeom>
              <a:avLst/>
              <a:gdLst/>
              <a:ahLst/>
              <a:cxnLst/>
              <a:rect l="l" t="t" r="r" b="b"/>
              <a:pathLst>
                <a:path w="322897" h="355283">
                  <a:moveTo>
                    <a:pt x="0" y="355283"/>
                  </a:moveTo>
                  <a:lnTo>
                    <a:pt x="322897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304848" y="2743200"/>
              <a:ext cx="77153" cy="80010"/>
            </a:xfrm>
            <a:custGeom>
              <a:avLst/>
              <a:gdLst/>
              <a:ahLst/>
              <a:cxnLst/>
              <a:rect l="l" t="t" r="r" b="b"/>
              <a:pathLst>
                <a:path w="77153" h="80010">
                  <a:moveTo>
                    <a:pt x="77153" y="0"/>
                  </a:moveTo>
                  <a:lnTo>
                    <a:pt x="47625" y="80010"/>
                  </a:lnTo>
                  <a:lnTo>
                    <a:pt x="0" y="37147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059102" y="2819400"/>
              <a:ext cx="322897" cy="355283"/>
            </a:xfrm>
            <a:custGeom>
              <a:avLst/>
              <a:gdLst/>
              <a:ahLst/>
              <a:cxnLst/>
              <a:rect l="l" t="t" r="r" b="b"/>
              <a:pathLst>
                <a:path w="322897" h="355283">
                  <a:moveTo>
                    <a:pt x="322897" y="0"/>
                  </a:moveTo>
                  <a:lnTo>
                    <a:pt x="0" y="355283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001000" y="3158490"/>
              <a:ext cx="77153" cy="80010"/>
            </a:xfrm>
            <a:custGeom>
              <a:avLst/>
              <a:gdLst/>
              <a:ahLst/>
              <a:cxnLst/>
              <a:rect l="l" t="t" r="r" b="b"/>
              <a:pathLst>
                <a:path w="77153" h="80010">
                  <a:moveTo>
                    <a:pt x="0" y="80010"/>
                  </a:moveTo>
                  <a:lnTo>
                    <a:pt x="29528" y="0"/>
                  </a:lnTo>
                  <a:lnTo>
                    <a:pt x="77153" y="42862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001000" y="3352800"/>
              <a:ext cx="322897" cy="355283"/>
            </a:xfrm>
            <a:custGeom>
              <a:avLst/>
              <a:gdLst/>
              <a:ahLst/>
              <a:cxnLst/>
              <a:rect l="l" t="t" r="r" b="b"/>
              <a:pathLst>
                <a:path w="322897" h="355283">
                  <a:moveTo>
                    <a:pt x="0" y="0"/>
                  </a:moveTo>
                  <a:lnTo>
                    <a:pt x="322897" y="355283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04848" y="3691890"/>
              <a:ext cx="77153" cy="80010"/>
            </a:xfrm>
            <a:custGeom>
              <a:avLst/>
              <a:gdLst/>
              <a:ahLst/>
              <a:cxnLst/>
              <a:rect l="l" t="t" r="r" b="b"/>
              <a:pathLst>
                <a:path w="77153" h="80010">
                  <a:moveTo>
                    <a:pt x="77153" y="80010"/>
                  </a:moveTo>
                  <a:lnTo>
                    <a:pt x="0" y="42862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059102" y="3492818"/>
              <a:ext cx="322897" cy="355283"/>
            </a:xfrm>
            <a:custGeom>
              <a:avLst/>
              <a:gdLst/>
              <a:ahLst/>
              <a:cxnLst/>
              <a:rect l="l" t="t" r="r" b="b"/>
              <a:pathLst>
                <a:path w="322897" h="355283">
                  <a:moveTo>
                    <a:pt x="322897" y="35528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8001000" y="3429000"/>
              <a:ext cx="77153" cy="80010"/>
            </a:xfrm>
            <a:custGeom>
              <a:avLst/>
              <a:gdLst/>
              <a:ahLst/>
              <a:cxnLst/>
              <a:rect l="l" t="t" r="r" b="b"/>
              <a:pathLst>
                <a:path w="77153" h="80010">
                  <a:moveTo>
                    <a:pt x="0" y="0"/>
                  </a:moveTo>
                  <a:lnTo>
                    <a:pt x="77153" y="37147"/>
                  </a:lnTo>
                  <a:lnTo>
                    <a:pt x="29528" y="8001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67688" y="3290888"/>
              <a:ext cx="5408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AgentCard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67688" y="3451384"/>
              <a:ext cx="4809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任务 / 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73039" y="4379595"/>
              <a:ext cx="28649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互补：MCP 给能力（垂直），A2A 做协作（水平）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8129" y="5062538"/>
              <a:ext cx="32747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来源：MCP 捐 Linux Fdn(2025-12)；A2A v1.0(2026-04)，150+ 组织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选型对比矩阵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框架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40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架构取向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079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最佳场景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2327" y="1753552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HITL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2226" y="175355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MCP/A2A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847" y="2256949"/>
              <a:ext cx="671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LangGraph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8596" y="2256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61228" y="22569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生产状态机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9643" y="22569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4203" y="22569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2895124"/>
              <a:ext cx="721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OpenAI SDK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6352" y="2895124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原生+沙箱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14587" y="2895124"/>
              <a:ext cx="762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OpenAI 生态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9643" y="28951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14203" y="28951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847" y="3523774"/>
              <a:ext cx="490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MS MAF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23418" y="3523774"/>
              <a:ext cx="756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.NET/Azure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91966" y="3523774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企业多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19643" y="35237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4203" y="35237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161949"/>
              <a:ext cx="686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Claude SDK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68690" y="4161949"/>
              <a:ext cx="6654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coding/OS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70438" y="4161949"/>
              <a:ext cx="6511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OS 级访问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19643" y="41619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14203" y="41619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847" y="4800124"/>
              <a:ext cx="450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CrewAI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32632" y="4800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角色协作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7192" y="4800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角色组队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19643" y="48001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14203" y="48001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847" y="5428774"/>
              <a:ext cx="686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Google ADK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81486" y="5428774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GCP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34811" y="5428774"/>
              <a:ext cx="722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Google 生态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19643" y="54287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4203" y="54287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15 · 云厂商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云厂商方案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19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AWS Bedrock AgentCore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2025-10 发布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214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2026-03 策略 GA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内存/网关/身份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931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Azure Foundry 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698081"/>
              <a:ext cx="1731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2026-04 GA / 1万+ 客户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945731"/>
              <a:ext cx="173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Entra Agent ID 一等身份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1658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Google / Temporal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698081"/>
              <a:ext cx="954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Vertex + ADK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945731"/>
              <a:ext cx="1324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Temporal 持久执行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16 · 趋势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趋势：框架融合 + 互操作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收敛与标配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四原语收敛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本地优先、可观测成标配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失败可观测可恢复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编排升级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480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Code Dynamic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20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Workflows 编排数百子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126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 CLI 升框架级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17 · 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风险与安全（承上启下）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注入与权限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提示注入经工具输出进入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工具权限最小化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可观测 / 警示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5550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审计与监控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802731"/>
              <a:ext cx="1991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“OpenClaw 事件”为年度警示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018" y="4050982"/>
              <a:ext cx="3116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衔接第六讲《AI 安全与伦理》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947285"/>
              <a:ext cx="2123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来源：Fair Winds H2 2026。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2" name="TextBox 22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561570" cy="738854"/>
            <a:chOff x="595122" y="501491"/>
            <a:chExt cx="356157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5615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参考与延伸 · 下一讲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622427" cy="322707"/>
            <a:chOff x="601218" y="1898332"/>
            <a:chExt cx="3622427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126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LangChain State of Agents 2026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897672" cy="322707"/>
            <a:chOff x="601218" y="2431732"/>
            <a:chExt cx="389767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3401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Fair Winds / turion.ai / devtoollab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116199" cy="322707"/>
            <a:chOff x="6468618" y="1898332"/>
            <a:chExt cx="3116199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learnagent.org / morphllm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2250186" cy="322707"/>
            <a:chOff x="6468618" y="2431732"/>
            <a:chExt cx="2250186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下一讲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六、AI 安全与伦理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主流智能体开发框架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ameworks_v6">
  <a:themeElements>
    <a:clrScheme name="frameworks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ameworks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ameworks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2026-09-01T01:11:10Z</dcterms:created>
  <dcterms:modified xsi:type="dcterms:W3CDTF">2026-09-01T01:11:10Z</dcterms:modified>
  <cp:category/>
  <cp:contentStatus/>
</cp:coreProperties>
</file>