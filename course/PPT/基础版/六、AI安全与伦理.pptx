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afety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afety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4307586" cy="1493996"/>
            <a:chOff x="895350" y="2295049"/>
            <a:chExt cx="4307586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基础版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374651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296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从幻觉到监管 —— 负责任的智能体（2026 视角）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1520952" cy="322707"/>
            <a:chOff x="601218" y="1898332"/>
            <a:chExt cx="152095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为什么关注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1722882" cy="322707"/>
            <a:chOff x="601218" y="2431732"/>
            <a:chExt cx="172288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核心风险图谱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1722882" cy="322707"/>
            <a:chOff x="601218" y="2965132"/>
            <a:chExt cx="172288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技术风险深挖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915162" cy="322707"/>
            <a:chOff x="601218" y="3498532"/>
            <a:chExt cx="91516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2367534" cy="322707"/>
            <a:chOff x="6468618" y="1898332"/>
            <a:chExt cx="2367534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871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全球监管 EU/US/CN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1924812" cy="322707"/>
            <a:chOff x="6468618" y="2431732"/>
            <a:chExt cx="192481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国际协调与治理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1520952" cy="322707"/>
            <a:chOff x="6468618" y="2965132"/>
            <a:chExt cx="152095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智能体安全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3841" cy="738854"/>
            <a:chOff x="595122" y="501491"/>
            <a:chExt cx="348384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动机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384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为什么关注 AI 安全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显现的问题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训练偏见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虚假信息放大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隐私窥探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854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语境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391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自主执行动作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安全从“内容可信”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扩展到“行为可控”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图谱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核心风险图谱（五大类）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619250"/>
            <a:ext cx="2057400" cy="1905000"/>
            <a:chOff x="609600" y="1619250"/>
            <a:chExt cx="20574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失控性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7890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目标漂移/不可控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38450" y="1619250"/>
            <a:ext cx="2057400" cy="1905000"/>
            <a:chOff x="2838450" y="1619250"/>
            <a:chExt cx="2057400" cy="1905000"/>
          </a:xfrm>
        </p:grpSpPr>
        <p:sp>
          <p:nvSpPr>
            <p:cNvPr id="11" name="Rectangle 11"/>
            <p:cNvSpPr/>
            <p:nvPr/>
          </p:nvSpPr>
          <p:spPr>
            <a:xfrm>
              <a:off x="28384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8384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6019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社会性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61335" y="267890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舆论/社会影响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67300" y="1619250"/>
            <a:ext cx="2057400" cy="1905000"/>
            <a:chOff x="5067300" y="1619250"/>
            <a:chExt cx="20574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50673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0673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90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侵权性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0185" y="267890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肖像/著作权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96150" y="1619250"/>
            <a:ext cx="2057400" cy="1905000"/>
            <a:chOff x="7296150" y="1619250"/>
            <a:chExt cx="20574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72961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961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1789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歧视性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903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偏见加剧不公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25000" y="1619250"/>
            <a:ext cx="2057400" cy="1905000"/>
            <a:chOff x="9525000" y="1619250"/>
            <a:chExt cx="2057400" cy="1905000"/>
          </a:xfrm>
        </p:grpSpPr>
        <p:sp>
          <p:nvSpPr>
            <p:cNvPr id="26" name="Rectangle 26"/>
            <p:cNvSpPr/>
            <p:nvPr/>
          </p:nvSpPr>
          <p:spPr>
            <a:xfrm>
              <a:off x="95250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5250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467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责任性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47885" y="2678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归责不清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1" name="Rectangle 31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018" y="4050982"/>
              <a:ext cx="5833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据《网络安全标准实践指南—AI 伦理安全风险防范指引》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304" y="4947285"/>
              <a:ext cx="2911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来源：lawyers.org.cn 伦理治理综述。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878489" cy="738854"/>
            <a:chOff x="595122" y="501491"/>
            <a:chExt cx="887848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图谱详图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8784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风险分层金字塔（内容 → 行为 → 系统 → 社会）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333500" y="1905000"/>
            <a:ext cx="8572500" cy="3317557"/>
            <a:chOff x="1333500" y="1905000"/>
            <a:chExt cx="8572500" cy="3317557"/>
          </a:xfrm>
        </p:grpSpPr>
        <p:sp>
          <p:nvSpPr>
            <p:cNvPr id="6" name="Rectangle 6"/>
            <p:cNvSpPr/>
            <p:nvPr/>
          </p:nvSpPr>
          <p:spPr>
            <a:xfrm>
              <a:off x="4191000" y="1905000"/>
              <a:ext cx="2857500" cy="666750"/>
            </a:xfrm>
            <a:prstGeom prst="roundRect">
              <a:avLst>
                <a:gd name="adj" fmla="val 4286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331714" y="2077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内容可信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20349" y="231124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幻觉 / 虚假信息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38500" y="2667000"/>
              <a:ext cx="4762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 w="9525">
              <a:solidFill>
                <a:srgbClr val="99999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331714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行为可控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20349" y="307324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提示注入 / 越权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86000" y="3429000"/>
              <a:ext cx="6667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31714" y="3601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系统安全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30737" y="3835241"/>
              <a:ext cx="578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失控 / 权限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4191000"/>
              <a:ext cx="8572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46373" y="436340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社会 / 责任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56876" y="4597241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偏见 / 歧视 / 归责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38791" y="5046345"/>
              <a:ext cx="39524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安全四层：内容 → 行为 → 系统 → 社会（2026：行为可控成新焦点）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058623" cy="738854"/>
            <a:chOff x="595122" y="501491"/>
            <a:chExt cx="405862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风险①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0586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幻觉（Hallucination）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表现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听起来合理但错误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来源混淆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RAG 基于证据生成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引文 + 验证器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承启第 4 讲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595457" cy="738854"/>
            <a:chOff x="595122" y="501491"/>
            <a:chExt cx="559545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风险②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5954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提示注入（Prompt Injection）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表现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攻击者经输入操纵模型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越权调用工具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输入隔离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权限最小化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工具调用审计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风险③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数据隐私与训练数据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风险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训练含虚假/个人信息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合规压力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合规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数据最小化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隐私影响评估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退出机制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风险④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偏见与歧视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训练数据偏见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输出偏见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多样化数据集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平等影响评估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持续监控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74792" cy="738854"/>
            <a:chOff x="595122" y="501491"/>
            <a:chExt cx="57747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对齐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747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对齐（Alignment）：听话且无害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输出符合人类价值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安全准则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方法与系统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839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RLHF / DPO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1664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GPAI 需对抗测试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承启监管页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764981" cy="738854"/>
            <a:chOff x="595122" y="501491"/>
            <a:chExt cx="876498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对齐详图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7649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对齐三步流程：预训练 → SFT → RM → RLHF/DPO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43000" y="2857500"/>
            <a:ext cx="10001250" cy="1673066"/>
            <a:chOff x="1143000" y="2857500"/>
            <a:chExt cx="10001250" cy="1673066"/>
          </a:xfrm>
        </p:grpSpPr>
        <p:sp>
          <p:nvSpPr>
            <p:cNvPr id="6" name="Rectangle 6"/>
            <p:cNvSpPr/>
            <p:nvPr/>
          </p:nvSpPr>
          <p:spPr>
            <a:xfrm>
              <a:off x="1143000" y="285750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61375" y="308705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预训练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39926" y="3538538"/>
              <a:ext cx="121589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Next-Token 预测，学常识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85750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56274" y="3087052"/>
              <a:ext cx="7837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指令微调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985" y="35385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教模型遵循指令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143500" y="285750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80047" y="3087052"/>
              <a:ext cx="7366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奖励模型 RM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40718" y="3538538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人类偏好打分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0" y="285750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94379" y="3087052"/>
              <a:ext cx="7084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RLHF / DPO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2913" y="3538538"/>
              <a:ext cx="7314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强化 / 偏好优化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334500" y="285750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92296" y="308705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对齐模型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82200" y="3538538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听话且无害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952750" y="31432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064192" y="31108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953000" y="31432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064442" y="3110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6953250" y="314325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7064692" y="3110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953500" y="31432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9255442" y="3110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55884" y="3903345"/>
              <a:ext cx="26992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三步走（教学简化）：从“会说话”到“听话且无害”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51079" y="4148138"/>
              <a:ext cx="190884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来源：CSDN、wwsun（教学简化，示意）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57697" y="4368641"/>
              <a:ext cx="22956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2026：DPO 更主流、更稳；GPAI 需对抗测试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风险⑤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深度伪造与合成内容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要求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机器可读标识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516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告知用户正与 AI 交互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854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中国 2026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网信办 6 月开举报专区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1481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12377 受理 14 类问题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监管①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欧盟《人工智能法案》框架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地位与分级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全球首部综合立法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476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Reg (EU) 2024/1689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禁止/高风险/有限/最小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罚款（取高）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381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禁止类 €35M 或 7%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779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高风险/GPAI €15M 或 3%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62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信息不实 €7.5M 或 1%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21529" cy="738854"/>
            <a:chOff x="595122" y="501491"/>
            <a:chExt cx="632152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监管详图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215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欧盟 AI 法案：四级风险分级与罚款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143000" y="2000250"/>
            <a:ext cx="9144000" cy="3152776"/>
            <a:chOff x="1143000" y="2000250"/>
            <a:chExt cx="9144000" cy="3152776"/>
          </a:xfrm>
        </p:grpSpPr>
        <p:sp>
          <p:nvSpPr>
            <p:cNvPr id="6" name="Rectangle 6"/>
            <p:cNvSpPr/>
            <p:nvPr/>
          </p:nvSpPr>
          <p:spPr>
            <a:xfrm>
              <a:off x="4000500" y="2000250"/>
              <a:ext cx="3429000" cy="609600"/>
            </a:xfrm>
            <a:prstGeom prst="roundRect">
              <a:avLst>
                <a:gd name="adj" fmla="val 4688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147566" y="21536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禁止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48138" y="238744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社会评分 / 操纵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66329" y="2169795"/>
              <a:ext cx="7155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€35M 或 7%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5475" y="2403634"/>
              <a:ext cx="47638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8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罚款(取高)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2686050"/>
              <a:ext cx="5334000" cy="609600"/>
            </a:xfrm>
            <a:prstGeom prst="roundRect">
              <a:avLst>
                <a:gd name="adj" fmla="val 4688"/>
              </a:avLst>
            </a:prstGeom>
            <a:solidFill>
              <a:srgbClr val="1A1A1A"/>
            </a:solidFill>
            <a:ln w="9525">
              <a:solidFill>
                <a:srgbClr val="99999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95066" y="28394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高风险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5638" y="3073241"/>
              <a:ext cx="14942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招聘 / 教育 / 医疗 / 生物识别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8829" y="2855595"/>
              <a:ext cx="7155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€15M 或 3%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57975" y="3089434"/>
              <a:ext cx="47638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8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罚款(取高)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3371850"/>
              <a:ext cx="7239000" cy="609600"/>
            </a:xfrm>
            <a:prstGeom prst="roundRect">
              <a:avLst>
                <a:gd name="adj" fmla="val 468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42566" y="3525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有限风险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43138" y="375904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聊天机器人 / 情感识别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71548" y="35413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透明度义务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0475" y="3775234"/>
              <a:ext cx="47638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罚款(取高)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4057650"/>
              <a:ext cx="9144000" cy="609600"/>
            </a:xfrm>
            <a:prstGeom prst="roundRect">
              <a:avLst>
                <a:gd name="adj" fmla="val 468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4211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最小风险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638" y="444484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垃圾过滤 / 推荐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24048" y="42271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无强制义务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62975" y="4461034"/>
              <a:ext cx="47638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罚款(取高)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17928" y="4760595"/>
              <a:ext cx="3394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欧盟 AI 法案：基于风险的分级监管（Reg (EU) 2024/1689）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22340" y="5005388"/>
              <a:ext cx="21853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来源：artificialintelligenceact.eu、aiwiki.ai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38774" cy="738854"/>
            <a:chOff x="595122" y="501491"/>
            <a:chExt cx="603877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前沿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3877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欧盟 AI 法案：GPAI 与 2026 节点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执法权生效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1664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GPAI 监管执法权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2026-08-02 正式生效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4372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Digital Omnibus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2026-05 临时协议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透明度义务推至 2027-12-02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部分高风险推至 2028-08-02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64222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欧盟“技术主权一揽子”（2026-06-03）强化本土 AI/云/开源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5734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来源：artificialintelligenceact.eu Chapter V、aiwiki.ai、deheheng.com。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96238" cy="738854"/>
            <a:chOff x="595122" y="501491"/>
            <a:chExt cx="509623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监管②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9623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美国（碎片化 + 去监管倾向）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无综合联邦法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下沉各州：45 州提 1561 法案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21274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Colorado SB26-189(2026-05)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前沿模型 / 联邦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21780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CA SB53 / NY RAISE(2027-01)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3781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Trump EO 国安审查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11664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CISA 约束性指令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28904" cy="738854"/>
            <a:chOff x="595122" y="501491"/>
            <a:chExt cx="43289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961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监管③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28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中国（精细化 + 强制化）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99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2023 暂行办法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算法推荐/深度合成规定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217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密集新规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574256"/>
              <a:ext cx="15726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“AI+消费”意见(6-18)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82190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银保指导意见(6-18)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40695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上交所指引/海南广告标识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国际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国际协调与标准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条约与框架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398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CoE《AI 框架公约》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首部约束性国际条约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9115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G7 HAIP 报告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标准层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062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ISO/IEC 42001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NIST AI 600-1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078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OECD 事件报告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治理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企业治理实践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831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素养培训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伦理审查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模型/数据登记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技术层 / 身份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698081"/>
              <a:ext cx="1708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红队、评测、ACL、审计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945731"/>
              <a:ext cx="173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Entra Agent ID 一等身份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15 · 应对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个人与开发者应对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使用侧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198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透明标注 AI 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关键事实不盲信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关注数据授权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选型侧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698081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安全/合规作一等约束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945731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呼应第 2、5 讲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68230" cy="738854"/>
            <a:chOff x="595122" y="501491"/>
            <a:chExt cx="436823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16 · 前沿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682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智能体安全专项（2026）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74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MCP/A2A 安全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工具即代码执行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157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server 视为依赖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固定版本+审计+allowlist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默认基线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14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最小权限 + HITL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模型外做调用门控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衔接第二讲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17 · 总结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总结与延伸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全生命周期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贯穿设计-训练-部署-运行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非“上线后”才考虑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854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信号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700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监管从“原则”走向“执法”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1696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行为可控成新焦点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6043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安全与伦理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afety_v6">
  <a:themeElements>
    <a:clrScheme name="safety_v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afety_v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fety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2026-09-01T01:14:39Z</dcterms:created>
  <dcterms:modified xsi:type="dcterms:W3CDTF">2026-09-01T01:14:39Z</dcterms:modified>
  <cp:category/>
  <cp:contentStatus/>
</cp:coreProperties>
</file>