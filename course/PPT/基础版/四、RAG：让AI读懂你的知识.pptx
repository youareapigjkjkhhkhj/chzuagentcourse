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ag_v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ag_v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609600" y="2209800"/>
            <a:ext cx="95250" cy="1981200"/>
          </a:xfrm>
          <a:prstGeom prst="rect">
            <a:avLst/>
          </a:prstGeom>
          <a:solidFill>
            <a:srgbClr val="E30613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895350" y="2295049"/>
            <a:ext cx="7230892" cy="1493996"/>
            <a:chOff x="895350" y="2295049"/>
            <a:chExt cx="7230892" cy="1493996"/>
          </a:xfrm>
        </p:grpSpPr>
        <p:sp>
          <p:nvSpPr>
            <p:cNvPr id="3" name="TextBox 3"/>
            <p:cNvSpPr txBox="1"/>
            <p:nvPr/>
          </p:nvSpPr>
          <p:spPr>
            <a:xfrm>
              <a:off x="909447" y="2295049"/>
              <a:ext cx="270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225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EDUCATIONAL SERIES · 基础版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08910"/>
              <a:ext cx="723089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RAG —— 让 AI 读懂你的知识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780" y="3495675"/>
              <a:ext cx="4800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检索增强生成：从“幻觉”到“有据可依”（2026 视角）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4266" y="5943600"/>
            <a:ext cx="10983469" cy="358711"/>
            <a:chOff x="604266" y="5943600"/>
            <a:chExt cx="10983469" cy="358711"/>
          </a:xfrm>
        </p:grpSpPr>
        <p:sp>
          <p:nvSpPr>
            <p:cNvPr id="7" name="Line 7"/>
            <p:cNvSpPr/>
            <p:nvPr/>
          </p:nvSpPr>
          <p:spPr>
            <a:xfrm>
              <a:off x="609600" y="594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04266" y="6096952"/>
              <a:ext cx="1713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AIGC 教育平台 · 课程讲义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799636" y="6096952"/>
              <a:ext cx="7880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2026-08-31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563624" cy="738854"/>
            <a:chOff x="595122" y="501491"/>
            <a:chExt cx="1563624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25049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目录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5636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本讲目录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01218" y="1898332"/>
            <a:ext cx="1780794" cy="322707"/>
            <a:chOff x="601218" y="1898332"/>
            <a:chExt cx="1780794" cy="322707"/>
          </a:xfrm>
        </p:grpSpPr>
        <p:sp>
          <p:nvSpPr>
            <p:cNvPr id="6" name="TextBox 6"/>
            <p:cNvSpPr txBox="1"/>
            <p:nvPr/>
          </p:nvSpPr>
          <p:spPr>
            <a:xfrm>
              <a:off x="6012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7280" y="1914525"/>
              <a:ext cx="12847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为什么要 RAG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1218" y="2431732"/>
            <a:ext cx="2126742" cy="322707"/>
            <a:chOff x="601218" y="2431732"/>
            <a:chExt cx="2126742" cy="322707"/>
          </a:xfrm>
        </p:grpSpPr>
        <p:sp>
          <p:nvSpPr>
            <p:cNvPr id="9" name="TextBox 9"/>
            <p:cNvSpPr txBox="1"/>
            <p:nvPr/>
          </p:nvSpPr>
          <p:spPr>
            <a:xfrm>
              <a:off x="6012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7280" y="24479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定义与三段式框架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01218" y="2965132"/>
            <a:ext cx="1319022" cy="322707"/>
            <a:chOff x="601218" y="2965132"/>
            <a:chExt cx="1319022" cy="322707"/>
          </a:xfrm>
        </p:grpSpPr>
        <p:sp>
          <p:nvSpPr>
            <p:cNvPr id="12" name="TextBox 12"/>
            <p:cNvSpPr txBox="1"/>
            <p:nvPr/>
          </p:nvSpPr>
          <p:spPr>
            <a:xfrm>
              <a:off x="6012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7280" y="29813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范式演进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1218" y="3498532"/>
            <a:ext cx="1520952" cy="322707"/>
            <a:chOff x="601218" y="3498532"/>
            <a:chExt cx="1520952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012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5147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索引与分块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1218" y="4031932"/>
            <a:ext cx="1319022" cy="322707"/>
            <a:chOff x="601218" y="4031932"/>
            <a:chExt cx="1319022" cy="322707"/>
          </a:xfrm>
        </p:grpSpPr>
        <p:sp>
          <p:nvSpPr>
            <p:cNvPr id="18" name="TextBox 18"/>
            <p:cNvSpPr txBox="1"/>
            <p:nvPr/>
          </p:nvSpPr>
          <p:spPr>
            <a:xfrm>
              <a:off x="601218" y="40319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7280" y="4048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检索引擎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8618" y="1898332"/>
            <a:ext cx="1319022" cy="322707"/>
            <a:chOff x="6468618" y="1898332"/>
            <a:chExt cx="1319022" cy="322707"/>
          </a:xfrm>
        </p:grpSpPr>
        <p:sp>
          <p:nvSpPr>
            <p:cNvPr id="21" name="TextBox 21"/>
            <p:cNvSpPr txBox="1"/>
            <p:nvPr/>
          </p:nvSpPr>
          <p:spPr>
            <a:xfrm>
              <a:off x="6468618" y="18983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64680" y="1914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高级技巧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68618" y="2431732"/>
            <a:ext cx="2393823" cy="322707"/>
            <a:chOff x="6468618" y="2431732"/>
            <a:chExt cx="2393823" cy="322707"/>
          </a:xfrm>
        </p:grpSpPr>
        <p:sp>
          <p:nvSpPr>
            <p:cNvPr id="24" name="TextBox 24"/>
            <p:cNvSpPr txBox="1"/>
            <p:nvPr/>
          </p:nvSpPr>
          <p:spPr>
            <a:xfrm>
              <a:off x="6468618" y="24317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64680" y="2447925"/>
              <a:ext cx="18977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Agentic / GraphRAG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68618" y="2965132"/>
            <a:ext cx="1722882" cy="322707"/>
            <a:chOff x="6468618" y="2965132"/>
            <a:chExt cx="1722882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6468618" y="29651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64680" y="2981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长上下文辩证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468618" y="3498532"/>
            <a:ext cx="1520952" cy="322707"/>
            <a:chOff x="6468618" y="3498532"/>
            <a:chExt cx="1520952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6468618" y="349853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30613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64680" y="35147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评估与生产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480516" cy="738854"/>
            <a:chOff x="595122" y="501491"/>
            <a:chExt cx="248051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01 · 动机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48051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为什么要 RAG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三大痛点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知识截止：训练有截止日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事实不一致 / 易幻觉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无法访问私有/领域数据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核心价值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减少幻觉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提高事实准确性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生成可引用、可审计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075132" cy="738854"/>
            <a:chOff x="595122" y="501491"/>
            <a:chExt cx="207513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02 · 定义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07513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RAG 是什么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定义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5514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Retrieval-Augmented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4139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Generation：推理时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结合外部知识源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价值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31256"/>
              <a:ext cx="13834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响应“基于检索证据”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67890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可引用、可审计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缓解知识截止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018" y="4050982"/>
              <a:ext cx="32749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让 LLM 从“凭记忆”变“凭证据”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4947285"/>
              <a:ext cx="22374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来源：CSDN / adg RAG 综述。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框架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三段式框架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3429000" cy="4191000"/>
            <a:chOff x="609600" y="1619250"/>
            <a:chExt cx="34290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849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① 索引 / 摄入（离线）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698081"/>
              <a:ext cx="10819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加载→清洗→分块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945731"/>
              <a:ext cx="6974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嵌入→入库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81500" y="1619250"/>
            <a:ext cx="3429000" cy="4191000"/>
            <a:chOff x="4381500" y="1619250"/>
            <a:chExt cx="3429000" cy="4191000"/>
          </a:xfrm>
        </p:grpSpPr>
        <p:sp>
          <p:nvSpPr>
            <p:cNvPr id="12" name="Rectangle 12"/>
            <p:cNvSpPr/>
            <p:nvPr/>
          </p:nvSpPr>
          <p:spPr>
            <a:xfrm>
              <a:off x="43815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3815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03242" y="1892618"/>
              <a:ext cx="12663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② 检索（在线）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04385" y="3574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查询嵌入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04385" y="3821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向量相似搜索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04385" y="4069556"/>
              <a:ext cx="6393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取 Top-K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53400" y="1619250"/>
            <a:ext cx="3429000" cy="4191000"/>
            <a:chOff x="8153400" y="1619250"/>
            <a:chExt cx="3429000" cy="4191000"/>
          </a:xfrm>
        </p:grpSpPr>
        <p:sp>
          <p:nvSpPr>
            <p:cNvPr id="19" name="Rectangle 19"/>
            <p:cNvSpPr/>
            <p:nvPr/>
          </p:nvSpPr>
          <p:spPr>
            <a:xfrm>
              <a:off x="8153400" y="1619250"/>
              <a:ext cx="34290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153400" y="1619250"/>
              <a:ext cx="34290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75142" y="1892618"/>
              <a:ext cx="1084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③ 增强与生成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76285" y="357425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检索块 + 查询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6285" y="38219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增强提示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6285" y="4069556"/>
              <a:ext cx="672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LLM 生成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5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429241" cy="738854"/>
            <a:chOff x="595122" y="501491"/>
            <a:chExt cx="742924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03 · 框架详图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42924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RAG 完整流程：离线索引 × 在线检索增强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1143000" y="1760220"/>
            <a:ext cx="10191750" cy="3259456"/>
            <a:chOff x="1143000" y="1760220"/>
            <a:chExt cx="10191750" cy="3259456"/>
          </a:xfrm>
        </p:grpSpPr>
        <p:sp>
          <p:nvSpPr>
            <p:cNvPr id="6" name="TextBox 6"/>
            <p:cNvSpPr txBox="1"/>
            <p:nvPr/>
          </p:nvSpPr>
          <p:spPr>
            <a:xfrm>
              <a:off x="1519238" y="1760220"/>
              <a:ext cx="159669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① 离线索引（摄入 / 一次性）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143000" y="2047875"/>
              <a:ext cx="104775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40954" y="218217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文档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190750" y="223837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492692" y="220599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571750" y="2047875"/>
              <a:ext cx="123825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74131" y="2182178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加载 / 清洗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3810000" y="223837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4111942" y="220599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91000" y="2047875"/>
              <a:ext cx="142875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507113" y="2182178"/>
              <a:ext cx="79652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分块 Chunking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619750" y="223837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5921692" y="22059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00750" y="2047875"/>
              <a:ext cx="142875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271450" y="2182178"/>
              <a:ext cx="88734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嵌入 Embedding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429500" y="223837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7731442" y="220599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810500" y="2047875"/>
              <a:ext cx="1714500" cy="381000"/>
            </a:xfrm>
            <a:prstGeom prst="roundRect">
              <a:avLst>
                <a:gd name="adj" fmla="val 7500"/>
              </a:avLst>
            </a:prstGeom>
            <a:solidFill>
              <a:srgbClr val="1A1A1A"/>
            </a:solidFill>
            <a:ln w="0">
              <a:solidFill>
                <a:srgbClr val="1A1A1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60092" y="2182178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向量数据库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1143000" y="3190875"/>
              <a:ext cx="10191750" cy="9525"/>
            </a:xfrm>
            <a:custGeom>
              <a:avLst/>
              <a:gdLst/>
              <a:ahLst/>
              <a:cxnLst/>
              <a:rect l="l" t="t" r="r" b="b"/>
              <a:pathLst>
                <a:path w="10191750" h="9525">
                  <a:moveTo>
                    <a:pt x="0" y="0"/>
                  </a:moveTo>
                  <a:lnTo>
                    <a:pt x="10191750" y="0"/>
                  </a:lnTo>
                </a:path>
              </a:pathLst>
            </a:custGeom>
            <a:noFill/>
            <a:ln w="15240">
              <a:solidFill>
                <a:srgbClr val="DDDDDD"/>
              </a:solidFill>
              <a:custDash>
                <a:ds d="375000" sp="250000"/>
              </a:custDash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716667" y="3043238"/>
              <a:ext cx="104441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── 离线 / 在线 分界 ──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19238" y="3522345"/>
              <a:ext cx="15715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② 在线检索增强（每次查询）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43000" y="4238625"/>
              <a:ext cx="123825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515046" y="437292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用户查询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2381250" y="442912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2683192" y="43967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762250" y="4238625"/>
              <a:ext cx="123825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134296" y="4372928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查询嵌入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000500" y="442912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4302442" y="4396740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81500" y="4238625"/>
              <a:ext cx="161925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747193" y="4372928"/>
              <a:ext cx="88786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向量检索 Top-K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000750" y="442912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6302692" y="4396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381750" y="4238625"/>
              <a:ext cx="200025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39619" y="4378166"/>
              <a:ext cx="12845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增强提示（上下文+查询）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8382000" y="442912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3" name="Polygon 43"/>
            <p:cNvSpPr/>
            <p:nvPr/>
          </p:nvSpPr>
          <p:spPr>
            <a:xfrm>
              <a:off x="8683942" y="4396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763000" y="4238625"/>
              <a:ext cx="1143000" cy="381000"/>
            </a:xfrm>
            <a:prstGeom prst="roundRect">
              <a:avLst>
                <a:gd name="adj" fmla="val 75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057223" y="4372928"/>
              <a:ext cx="55455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LLM 生成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906000" y="4429125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10207942" y="4396740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0287000" y="4238625"/>
              <a:ext cx="104775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684954" y="4372928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回答</a:t>
              </a:r>
            </a:p>
          </p:txBody>
        </p:sp>
        <p:sp>
          <p:nvSpPr>
            <p:cNvPr id="50" name="Polyline 50"/>
            <p:cNvSpPr/>
            <p:nvPr/>
          </p:nvSpPr>
          <p:spPr>
            <a:xfrm>
              <a:off x="5191125" y="2428875"/>
              <a:ext cx="3476625" cy="1809750"/>
            </a:xfrm>
            <a:custGeom>
              <a:avLst/>
              <a:gdLst/>
              <a:ahLst/>
              <a:cxnLst/>
              <a:rect l="l" t="t" r="r" b="b"/>
              <a:pathLst>
                <a:path w="3476625" h="1809750">
                  <a:moveTo>
                    <a:pt x="3476625" y="0"/>
                  </a:moveTo>
                  <a:lnTo>
                    <a:pt x="3476625" y="619125"/>
                  </a:lnTo>
                  <a:lnTo>
                    <a:pt x="0" y="619125"/>
                  </a:lnTo>
                  <a:lnTo>
                    <a:pt x="0" y="180975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5158740" y="4159568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515102" y="2900362"/>
              <a:ext cx="83819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检索匹配 / 相似度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714552" y="4872038"/>
              <a:ext cx="238189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来源：Lewis et al., 2020 · RAG；CSDN / adg 综述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55" name="TextBox 55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6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480516" cy="738854"/>
            <a:chOff x="595122" y="501491"/>
            <a:chExt cx="2480516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04 · 演进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480516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RAG 范式演进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609600" y="1619250"/>
            <a:ext cx="10972800" cy="4200525"/>
            <a:chOff x="609600" y="1619250"/>
            <a:chExt cx="10972800" cy="4200525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10972800" cy="419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10972800" cy="381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80466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范式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36364" y="17535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核心原则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3209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优势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064115" y="1753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局限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609600" y="200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0847" y="241887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朴素 RAG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19312" y="2418874"/>
              <a:ext cx="6101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检索-阅读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98792" y="24188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简单直接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39748" y="2418874"/>
              <a:ext cx="7421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易噪声/冗余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" y="2952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80847" y="3371374"/>
              <a:ext cx="5605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高级 RAG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389628" y="33713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加优化钩子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98792" y="33713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质量更高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41992" y="33713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工程复杂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9600" y="3905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0847" y="4323874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模块化 RAG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89628" y="43238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可替换模块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198792" y="43238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灵活组合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41992" y="43238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设计成本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09600" y="48577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80847" y="5276374"/>
              <a:ext cx="69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智能体 RAG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90807" y="5276374"/>
              <a:ext cx="8671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LLM 自主规划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98792" y="52763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生产默认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76028" y="527637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可控性挑战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609600" y="5810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DDDD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4" name="TextBox 34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7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05 · 索引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分块策略（一）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固定大小分块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按字符数切分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简单直接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易切断语义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递归分块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11497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按段落/句子层次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更保语义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推荐起步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8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索引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分块策略（二）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语义分块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嵌入聚类相近句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前沿、保主题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智能体分块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555081"/>
              <a:ext cx="11504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LLM 决定如何切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8027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实验性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18" name="Rectangle 18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6018" y="4050982"/>
              <a:ext cx="53876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最佳实践：重叠 50–100 token / 10–20% 防边界丢失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8304" y="4947285"/>
              <a:ext cx="2084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来源：CSDN/adg、AI Wiki。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2" name="TextBox 22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978421" y="6613684"/>
              <a:ext cx="26584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9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943183" cy="738854"/>
            <a:chOff x="595122" y="501491"/>
            <a:chExt cx="594318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06 · 索引详图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94318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分块策略对比：固定 / 递归 / 语义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524000" y="1752124"/>
            <a:ext cx="7239000" cy="3613308"/>
            <a:chOff x="1524000" y="1752124"/>
            <a:chExt cx="7239000" cy="3613308"/>
          </a:xfrm>
        </p:grpSpPr>
        <p:sp>
          <p:nvSpPr>
            <p:cNvPr id="6" name="TextBox 6"/>
            <p:cNvSpPr txBox="1"/>
            <p:nvPr/>
          </p:nvSpPr>
          <p:spPr>
            <a:xfrm>
              <a:off x="2075764" y="17521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固定大小分块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524000" y="2000250"/>
              <a:ext cx="1905000" cy="2571750"/>
            </a:xfrm>
            <a:prstGeom prst="roundRect">
              <a:avLst>
                <a:gd name="adj" fmla="val 1500"/>
              </a:avLst>
            </a:prstGeom>
            <a:noFill/>
            <a:ln w="11430">
              <a:solidFill>
                <a:srgbClr val="DDDDDD"/>
              </a:solidFill>
              <a:custDash>
                <a:ds d="500000" sp="333333"/>
              </a:custDash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874692" y="1752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递归分块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0" y="2000250"/>
              <a:ext cx="1905000" cy="2571750"/>
            </a:xfrm>
            <a:prstGeom prst="roundRect">
              <a:avLst>
                <a:gd name="adj" fmla="val 1500"/>
              </a:avLst>
            </a:prstGeom>
            <a:noFill/>
            <a:ln w="11430">
              <a:solidFill>
                <a:srgbClr val="DDDDDD"/>
              </a:solidFill>
              <a:custDash>
                <a:ds d="500000" sp="333333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41692" y="1752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语义分块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858000" y="2000250"/>
              <a:ext cx="1905000" cy="2571750"/>
            </a:xfrm>
            <a:prstGeom prst="roundRect">
              <a:avLst>
                <a:gd name="adj" fmla="val 1500"/>
              </a:avLst>
            </a:prstGeom>
            <a:noFill/>
            <a:ln w="11430">
              <a:solidFill>
                <a:srgbClr val="DDDDDD"/>
              </a:solidFill>
              <a:custDash>
                <a:ds d="500000" sp="333333"/>
              </a:custDash>
            </a:ln>
          </p:spPr>
        </p:sp>
        <p:sp>
          <p:nvSpPr>
            <p:cNvPr id="12" name="Rectangle 12"/>
            <p:cNvSpPr/>
            <p:nvPr/>
          </p:nvSpPr>
          <p:spPr>
            <a:xfrm>
              <a:off x="1619250" y="2076450"/>
              <a:ext cx="1714500" cy="342900"/>
            </a:xfrm>
            <a:prstGeom prst="roundRect">
              <a:avLst>
                <a:gd name="adj" fmla="val 8333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369628" y="2196941"/>
              <a:ext cx="213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块 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19250" y="2486025"/>
              <a:ext cx="1714500" cy="342900"/>
            </a:xfrm>
            <a:prstGeom prst="roundRect">
              <a:avLst>
                <a:gd name="adj" fmla="val 8333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69628" y="2606516"/>
              <a:ext cx="213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块 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619250" y="2895600"/>
              <a:ext cx="1714500" cy="342900"/>
            </a:xfrm>
            <a:prstGeom prst="roundRect">
              <a:avLst>
                <a:gd name="adj" fmla="val 8333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69628" y="3016091"/>
              <a:ext cx="213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块 3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619250" y="3305175"/>
              <a:ext cx="1714500" cy="342900"/>
            </a:xfrm>
            <a:prstGeom prst="roundRect">
              <a:avLst>
                <a:gd name="adj" fmla="val 8333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369628" y="3425666"/>
              <a:ext cx="213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块 4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619250" y="3714750"/>
              <a:ext cx="1714500" cy="342900"/>
            </a:xfrm>
            <a:prstGeom prst="roundRect">
              <a:avLst>
                <a:gd name="adj" fmla="val 8333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369628" y="3835241"/>
              <a:ext cx="213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块 5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619250" y="4124325"/>
              <a:ext cx="1714500" cy="342900"/>
            </a:xfrm>
            <a:prstGeom prst="roundRect">
              <a:avLst>
                <a:gd name="adj" fmla="val 8333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369628" y="4244816"/>
              <a:ext cx="2137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块 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04988" y="3403759"/>
              <a:ext cx="1043945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✗ 等宽切，可能切断句子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10788" y="4681538"/>
              <a:ext cx="73142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简单 / 易断语义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286250" y="2076450"/>
              <a:ext cx="1714500" cy="533400"/>
            </a:xfrm>
            <a:prstGeom prst="roundRect">
              <a:avLst>
                <a:gd name="adj" fmla="val 5357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997992" y="2292191"/>
              <a:ext cx="2910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段落1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286250" y="2686050"/>
              <a:ext cx="1714500" cy="666750"/>
            </a:xfrm>
            <a:prstGeom prst="roundRect">
              <a:avLst>
                <a:gd name="adj" fmla="val 4286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942798" y="2968466"/>
              <a:ext cx="40140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句子组2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4286250" y="3429000"/>
              <a:ext cx="1714500" cy="476250"/>
            </a:xfrm>
            <a:prstGeom prst="roundRect">
              <a:avLst>
                <a:gd name="adj" fmla="val 60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97992" y="3616166"/>
              <a:ext cx="2910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段落3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286250" y="3981450"/>
              <a:ext cx="1714500" cy="523875"/>
            </a:xfrm>
            <a:prstGeom prst="roundRect">
              <a:avLst>
                <a:gd name="adj" fmla="val 5455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997992" y="4192429"/>
              <a:ext cx="2910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句子4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471988" y="3403759"/>
              <a:ext cx="76932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✓ 在语义边界切分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28270" y="4681538"/>
              <a:ext cx="63046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保语义 / 推荐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953250" y="2076450"/>
              <a:ext cx="1714500" cy="819150"/>
            </a:xfrm>
            <a:prstGeom prst="roundRect">
              <a:avLst>
                <a:gd name="adj" fmla="val 3488"/>
              </a:avLst>
            </a:prstGeom>
            <a:solidFill>
              <a:srgbClr val="FFFFFF"/>
            </a:solidFill>
            <a:ln w="14288">
              <a:solidFill>
                <a:srgbClr val="E30613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594" y="2429828"/>
              <a:ext cx="3798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主题 A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953250" y="2971800"/>
              <a:ext cx="1714500" cy="62865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14288">
              <a:solidFill>
                <a:srgbClr val="E3061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594" y="3229928"/>
              <a:ext cx="3798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主题 B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953250" y="3657600"/>
              <a:ext cx="1714500" cy="857250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4288">
              <a:solidFill>
                <a:srgbClr val="E3061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594" y="4030028"/>
              <a:ext cx="37981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主题 C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38988" y="3403759"/>
              <a:ext cx="769320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✓ 相近句聚类成块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95270" y="4681538"/>
              <a:ext cx="630460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前沿 / 主题聚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021695" y="5189220"/>
              <a:ext cx="34816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最佳实践：块间重叠 50–100 token（10–20%）防边界信息丢失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6" name="TextBox 46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10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205140" cy="738854"/>
            <a:chOff x="595122" y="501491"/>
            <a:chExt cx="3205140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07 · 嵌入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2051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嵌入模型与 MTEB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421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MTEB 标准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已成行业评测基准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横向可比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顶级梯队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431256"/>
              <a:ext cx="17091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NV-Embed-v2 / BGE-M3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678906"/>
              <a:ext cx="14197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gte-Qwen2 / stella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926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榜单更新极快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018" y="4050982"/>
              <a:ext cx="48296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嵌入模型榜单更新极快，标注“2025–2026 口径”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304" y="4947285"/>
              <a:ext cx="29782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来源：CSDN/adg、HuggingFace MTEB。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3" name="TextBox 23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714625" cy="738854"/>
            <a:chOff x="595122" y="501491"/>
            <a:chExt cx="271462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08 · 存储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向量数据库选型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开源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8941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Chroma 轻量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9702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Milvus 大规模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3814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Qdrant / pgvector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托管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1483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Pinecone Serverless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1246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Notion/Gong 生产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数十亿文档级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056903" cy="738854"/>
            <a:chOff x="595122" y="501491"/>
            <a:chExt cx="505690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09 · 检索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05690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混合检索（Hybrid Search）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组合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5567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BM25 稀疏（关键词）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+ 稠密向量（语义）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9593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RRF 重排融合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收益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召回更稳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保护罕见词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13382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常比单法优 15–30%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478581" cy="738854"/>
            <a:chOff x="595122" y="501491"/>
            <a:chExt cx="347858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10 · 检索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47858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重排（Reranking）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做法与收益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555081"/>
              <a:ext cx="14784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对 Top-20~50 重打分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8027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精度常较点积翻倍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方案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47485" y="2431256"/>
              <a:ext cx="13583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Cohere Rerank 3.5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678906"/>
              <a:ext cx="13759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$2/千次、4096-tok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926556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开源 mxbai/交叉编码器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19" name="Rectangle 19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6018" y="4050982"/>
              <a:ext cx="31609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重排是“高精度”开关，成本可控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8304" y="4947285"/>
              <a:ext cx="3360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来源：keithtyser、AI Wiki、bestaiweb.ai。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3" name="TextBox 23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419351" cy="738854"/>
            <a:chOff x="595122" y="501491"/>
            <a:chExt cx="741935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10 · 检索详图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41935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混合检索 + 重排流程（Hybrid + Rerank）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1143000" y="2238375"/>
            <a:ext cx="10191750" cy="2590801"/>
            <a:chOff x="1143000" y="2238375"/>
            <a:chExt cx="10191750" cy="2590801"/>
          </a:xfrm>
        </p:grpSpPr>
        <p:sp>
          <p:nvSpPr>
            <p:cNvPr id="6" name="Rectangle 6"/>
            <p:cNvSpPr/>
            <p:nvPr/>
          </p:nvSpPr>
          <p:spPr>
            <a:xfrm>
              <a:off x="1143000" y="3048000"/>
              <a:ext cx="104775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19796" y="318230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用户查询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190750" y="2545080"/>
              <a:ext cx="520065" cy="693420"/>
            </a:xfrm>
            <a:custGeom>
              <a:avLst/>
              <a:gdLst/>
              <a:ahLst/>
              <a:cxnLst/>
              <a:rect l="l" t="t" r="r" b="b"/>
              <a:pathLst>
                <a:path w="520065" h="693420">
                  <a:moveTo>
                    <a:pt x="0" y="693420"/>
                  </a:moveTo>
                  <a:lnTo>
                    <a:pt x="52006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2688908" y="2476500"/>
              <a:ext cx="73342" cy="82867"/>
            </a:xfrm>
            <a:custGeom>
              <a:avLst/>
              <a:gdLst/>
              <a:ahLst/>
              <a:cxnLst/>
              <a:rect l="l" t="t" r="r" b="b"/>
              <a:pathLst>
                <a:path w="73342" h="82867">
                  <a:moveTo>
                    <a:pt x="73342" y="0"/>
                  </a:moveTo>
                  <a:lnTo>
                    <a:pt x="51435" y="82867"/>
                  </a:lnTo>
                  <a:lnTo>
                    <a:pt x="0" y="44767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2190750" y="3238500"/>
              <a:ext cx="520065" cy="693420"/>
            </a:xfrm>
            <a:custGeom>
              <a:avLst/>
              <a:gdLst/>
              <a:ahLst/>
              <a:cxnLst/>
              <a:rect l="l" t="t" r="r" b="b"/>
              <a:pathLst>
                <a:path w="520065" h="693420">
                  <a:moveTo>
                    <a:pt x="0" y="0"/>
                  </a:moveTo>
                  <a:lnTo>
                    <a:pt x="520065" y="69342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2688908" y="3917632"/>
              <a:ext cx="73342" cy="82867"/>
            </a:xfrm>
            <a:custGeom>
              <a:avLst/>
              <a:gdLst/>
              <a:ahLst/>
              <a:cxnLst/>
              <a:rect l="l" t="t" r="r" b="b"/>
              <a:pathLst>
                <a:path w="73342" h="82867">
                  <a:moveTo>
                    <a:pt x="73342" y="82867"/>
                  </a:moveTo>
                  <a:lnTo>
                    <a:pt x="0" y="38100"/>
                  </a:lnTo>
                  <a:lnTo>
                    <a:pt x="51435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762250" y="2238375"/>
              <a:ext cx="161925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01424" y="2377916"/>
              <a:ext cx="11409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BM25 稀疏（关键词）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762250" y="3857625"/>
              <a:ext cx="161925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125559" y="3997166"/>
              <a:ext cx="8926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稠密向量（语义）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385884" y="2737009"/>
              <a:ext cx="46723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保护罕见词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31654" y="3660934"/>
              <a:ext cx="375691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理解语义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4381500" y="2428875"/>
              <a:ext cx="342900" cy="685800"/>
            </a:xfrm>
            <a:custGeom>
              <a:avLst/>
              <a:gdLst/>
              <a:ahLst/>
              <a:cxnLst/>
              <a:rect l="l" t="t" r="r" b="b"/>
              <a:pathLst>
                <a:path w="342900" h="685800">
                  <a:moveTo>
                    <a:pt x="0" y="0"/>
                  </a:moveTo>
                  <a:lnTo>
                    <a:pt x="342900" y="68580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4698682" y="3105150"/>
              <a:ext cx="63817" cy="85725"/>
            </a:xfrm>
            <a:custGeom>
              <a:avLst/>
              <a:gdLst/>
              <a:ahLst/>
              <a:cxnLst/>
              <a:rect l="l" t="t" r="r" b="b"/>
              <a:pathLst>
                <a:path w="63817" h="85725">
                  <a:moveTo>
                    <a:pt x="63817" y="85725"/>
                  </a:moveTo>
                  <a:lnTo>
                    <a:pt x="0" y="2857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4381500" y="3362325"/>
              <a:ext cx="342900" cy="685800"/>
            </a:xfrm>
            <a:custGeom>
              <a:avLst/>
              <a:gdLst/>
              <a:ahLst/>
              <a:cxnLst/>
              <a:rect l="l" t="t" r="r" b="b"/>
              <a:pathLst>
                <a:path w="342900" h="685800">
                  <a:moveTo>
                    <a:pt x="0" y="685800"/>
                  </a:moveTo>
                  <a:lnTo>
                    <a:pt x="34290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4698682" y="3286125"/>
              <a:ext cx="63817" cy="85725"/>
            </a:xfrm>
            <a:custGeom>
              <a:avLst/>
              <a:gdLst/>
              <a:ahLst/>
              <a:cxnLst/>
              <a:rect l="l" t="t" r="r" b="b"/>
              <a:pathLst>
                <a:path w="63817" h="85725">
                  <a:moveTo>
                    <a:pt x="63817" y="0"/>
                  </a:moveTo>
                  <a:lnTo>
                    <a:pt x="57150" y="85725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762500" y="3048000"/>
              <a:ext cx="15240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14288">
              <a:solidFill>
                <a:srgbClr val="1A1A1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50420" y="3187541"/>
              <a:ext cx="94816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RRF 倒数排名融合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286500" y="323850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588442" y="32061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67500" y="3048000"/>
              <a:ext cx="142875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05958" y="3187541"/>
              <a:ext cx="75183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候选集 Top-50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096250" y="323850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9" name="Polygon 29"/>
            <p:cNvSpPr/>
            <p:nvPr/>
          </p:nvSpPr>
          <p:spPr>
            <a:xfrm>
              <a:off x="8398192" y="32061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477250" y="3048000"/>
              <a:ext cx="1428750" cy="381000"/>
            </a:xfrm>
            <a:prstGeom prst="roundRect">
              <a:avLst>
                <a:gd name="adj" fmla="val 75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763775" y="3182302"/>
              <a:ext cx="85570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Reranker 重排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0" y="323850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10207942" y="32061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287000" y="3048000"/>
              <a:ext cx="104775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454082" y="3187541"/>
              <a:ext cx="7135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Top-K 上下文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187403" y="4427220"/>
              <a:ext cx="343619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混合检索 + 重排 = 高精度 RAG 标配；常比单法提升 15–30%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05058" y="4681538"/>
              <a:ext cx="200088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来源：keithtyser、AI Wiki、bestaiweb.ai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39" name="TextBox 39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15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3696668" cy="738854"/>
            <a:chOff x="595122" y="501491"/>
            <a:chExt cx="369666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11 · 高级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369666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高级 RAG：查询转换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四种改写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4504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查询重写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698081"/>
              <a:ext cx="14258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退步提示 Step-Back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3945731"/>
              <a:ext cx="1033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HyDE 假设文档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485" y="419338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子问题分解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46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目的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698081"/>
              <a:ext cx="848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模糊/短查询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3945731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改写为易检索形式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16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607748" cy="738854"/>
            <a:chOff x="595122" y="501491"/>
            <a:chExt cx="660774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12 · 前沿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60774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模块化与 Agentic RAG（2026 核心）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5270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Agentic RAG 定义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11245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Singh 2025 四轴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3097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LLM 自主决定检索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生产栈默认形态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实践与变体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31256"/>
              <a:ext cx="15841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分层检索 + ReAct 循环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678906"/>
              <a:ext cx="12062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CRAG 评估再路由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926556"/>
              <a:ext cx="13266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Self-RAG 自我反思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018" y="4050982"/>
              <a:ext cx="37438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多跳 QA 基准超旧法且总 token 更少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4947285"/>
              <a:ext cx="31380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来源：bestaiweb.ai、zylos.ai 2026-05。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17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7702415" cy="738854"/>
            <a:chOff x="595122" y="501491"/>
            <a:chExt cx="7702415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873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12 · 前沿详图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770241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Agentic RAG 循环：自主检索 / 评估 / 反思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1333500" y="1739741"/>
            <a:ext cx="9810750" cy="3108485"/>
            <a:chOff x="1333500" y="1739741"/>
            <a:chExt cx="9810750" cy="3108485"/>
          </a:xfrm>
        </p:grpSpPr>
        <p:sp>
          <p:nvSpPr>
            <p:cNvPr id="6" name="Rectangle 6"/>
            <p:cNvSpPr/>
            <p:nvPr/>
          </p:nvSpPr>
          <p:spPr>
            <a:xfrm>
              <a:off x="1333500" y="2381250"/>
              <a:ext cx="114300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657922" y="251555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用户提问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476500" y="257175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2778442" y="25393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857500" y="2381250"/>
              <a:ext cx="13335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210100" y="2515552"/>
              <a:ext cx="6282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 规划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191000" y="257175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4492942" y="2539365"/>
              <a:ext cx="79058" cy="64770"/>
            </a:xfrm>
            <a:custGeom>
              <a:avLst/>
              <a:gdLst/>
              <a:ahLst/>
              <a:cxnLst/>
              <a:rect l="l" t="t" r="r" b="b"/>
              <a:pathLst>
                <a:path w="79058" h="64770">
                  <a:moveTo>
                    <a:pt x="79058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572000" y="2333625"/>
              <a:ext cx="1238250" cy="47625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E3061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909062" y="2515552"/>
              <a:ext cx="564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需要检索?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810250" y="257175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112192" y="25393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91250" y="2381250"/>
              <a:ext cx="161925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601474" y="2520791"/>
              <a:ext cx="79880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查询改写 / 分解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810500" y="257175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112442" y="25393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191500" y="2381250"/>
              <a:ext cx="1333500" cy="381000"/>
            </a:xfrm>
            <a:prstGeom prst="roundRect">
              <a:avLst>
                <a:gd name="adj" fmla="val 7500"/>
              </a:avLst>
            </a:prstGeom>
            <a:solidFill>
              <a:srgbClr val="F5F5F5"/>
            </a:solidFill>
            <a:ln w="9525">
              <a:solidFill>
                <a:srgbClr val="1A1A1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538905" y="2515552"/>
              <a:ext cx="6386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检索 Top-K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9525000" y="2571750"/>
              <a:ext cx="295275" cy="9525"/>
            </a:xfrm>
            <a:custGeom>
              <a:avLst/>
              <a:gdLst/>
              <a:ahLst/>
              <a:cxnLst/>
              <a:rect l="l" t="t" r="r" b="b"/>
              <a:pathLst>
                <a:path w="295275" h="9525">
                  <a:moveTo>
                    <a:pt x="0" y="0"/>
                  </a:moveTo>
                  <a:lnTo>
                    <a:pt x="295275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9826942" y="253936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79057" y="32385"/>
                  </a:moveTo>
                  <a:lnTo>
                    <a:pt x="0" y="647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9906000" y="2333625"/>
              <a:ext cx="1238250" cy="47625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19050">
              <a:solidFill>
                <a:srgbClr val="E3061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243062" y="2515552"/>
              <a:ext cx="56412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证据充分?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906000" y="3810000"/>
              <a:ext cx="1238250" cy="381000"/>
            </a:xfrm>
            <a:prstGeom prst="roundRect">
              <a:avLst>
                <a:gd name="adj" fmla="val 7500"/>
              </a:avLst>
            </a:prstGeom>
            <a:solidFill>
              <a:srgbClr val="E30613"/>
            </a:solidFill>
            <a:ln w="0">
              <a:solidFill>
                <a:srgbClr val="1A1A1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278046" y="3944302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生成回答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10525125" y="2809875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10492740" y="373094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615612" y="3244691"/>
              <a:ext cx="1199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是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9134475" y="4000500"/>
              <a:ext cx="771525" cy="9525"/>
            </a:xfrm>
            <a:custGeom>
              <a:avLst/>
              <a:gdLst/>
              <a:ahLst/>
              <a:cxnLst/>
              <a:rect l="l" t="t" r="r" b="b"/>
              <a:pathLst>
                <a:path w="771525" h="9525">
                  <a:moveTo>
                    <a:pt x="771525" y="0"/>
                  </a:moveTo>
                  <a:lnTo>
                    <a:pt x="0" y="0"/>
                  </a:lnTo>
                </a:path>
              </a:pathLst>
            </a:custGeom>
            <a:noFill/>
            <a:ln w="17145">
              <a:solidFill>
                <a:srgbClr val="1A1A1A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9048750" y="3968115"/>
              <a:ext cx="79057" cy="64770"/>
            </a:xfrm>
            <a:custGeom>
              <a:avLst/>
              <a:gdLst/>
              <a:ahLst/>
              <a:cxnLst/>
              <a:rect l="l" t="t" r="r" b="b"/>
              <a:pathLst>
                <a:path w="79057" h="64770">
                  <a:moveTo>
                    <a:pt x="0" y="32385"/>
                  </a:moveTo>
                  <a:lnTo>
                    <a:pt x="79057" y="0"/>
                  </a:lnTo>
                  <a:lnTo>
                    <a:pt x="79057" y="64770"/>
                  </a:lnTo>
                  <a:close/>
                </a:path>
              </a:pathLst>
            </a:custGeom>
            <a:solidFill>
              <a:srgbClr val="1A1A1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810500" y="3810000"/>
              <a:ext cx="1238250" cy="381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1A1A1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03704" y="394430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回答</a:t>
              </a:r>
            </a:p>
          </p:txBody>
        </p:sp>
        <p:sp>
          <p:nvSpPr>
            <p:cNvPr id="37" name="Polyline 37"/>
            <p:cNvSpPr/>
            <p:nvPr/>
          </p:nvSpPr>
          <p:spPr>
            <a:xfrm>
              <a:off x="7000875" y="1905000"/>
              <a:ext cx="2905125" cy="666750"/>
            </a:xfrm>
            <a:custGeom>
              <a:avLst/>
              <a:gdLst/>
              <a:ahLst/>
              <a:cxnLst/>
              <a:rect l="l" t="t" r="r" b="b"/>
              <a:pathLst>
                <a:path w="2905125" h="666750">
                  <a:moveTo>
                    <a:pt x="2905125" y="666750"/>
                  </a:moveTo>
                  <a:lnTo>
                    <a:pt x="2905125" y="0"/>
                  </a:lnTo>
                  <a:lnTo>
                    <a:pt x="0" y="0"/>
                  </a:lnTo>
                  <a:lnTo>
                    <a:pt x="0" y="476250"/>
                  </a:lnTo>
                </a:path>
              </a:pathLst>
            </a:custGeom>
            <a:noFill/>
            <a:ln w="17145">
              <a:solidFill>
                <a:srgbClr val="E30613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6968490" y="2302192"/>
              <a:ext cx="64770" cy="79058"/>
            </a:xfrm>
            <a:custGeom>
              <a:avLst/>
              <a:gdLst/>
              <a:ahLst/>
              <a:cxnLst/>
              <a:rect l="l" t="t" r="r" b="b"/>
              <a:pathLst>
                <a:path w="64770" h="79058">
                  <a:moveTo>
                    <a:pt x="32385" y="79058"/>
                  </a:moveTo>
                  <a:lnTo>
                    <a:pt x="0" y="0"/>
                  </a:lnTo>
                  <a:lnTo>
                    <a:pt x="64770" y="0"/>
                  </a:lnTo>
                  <a:close/>
                </a:path>
              </a:pathLst>
            </a:custGeom>
            <a:solidFill>
              <a:srgbClr val="E3061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06262" y="1739741"/>
              <a:ext cx="19514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b="1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否：证据不足，再检索（ReAct 循环）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785482" y="4455795"/>
              <a:ext cx="42400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Agentic RAG：LLM 自主决定检索/改写/评估，多跳 QA 超旧法且 token 更少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44477" y="4700588"/>
              <a:ext cx="272204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5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来源：Singh 2025 四轴；bestaiweb.ai / zylos.ai 2026-05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43" name="TextBox 43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18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648972" cy="738854"/>
            <a:chOff x="595122" y="501491"/>
            <a:chExt cx="5648972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13 · 前沿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64897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GraphRAG 与多跳问答（2026）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13097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微软 GraphRAG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7920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2024 末 GA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886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LazyGraphRAG 成本 ~0.1%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923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查询降 700x+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研究与变体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31256"/>
              <a:ext cx="17858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MemGraphRAG(KDD2026)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6789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共享记忆建全局图谱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926556"/>
              <a:ext cx="14780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LinearRAG(ICLR'26)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018" y="4050982"/>
              <a:ext cx="39436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GraphRAG 多跳失败率较纯向量降 68%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4947285"/>
              <a:ext cx="4529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来源：Microsoft Research、arXiv 2606.00610、zylos.ai。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19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5381038" cy="738854"/>
            <a:chOff x="595122" y="501491"/>
            <a:chExt cx="538103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14 · 辩证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538103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长上下文的“威胁”：RAG 没死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1905000"/>
            <a:chOff x="609600" y="1619250"/>
            <a:chExt cx="5257800" cy="1905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现状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2431256"/>
              <a:ext cx="20415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Claude 1M token 2026-03 GA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2678906"/>
              <a:ext cx="13147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Gemini 2.5 Pro 1M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2926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标准定价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1905000"/>
            <a:chOff x="6324600" y="1619250"/>
            <a:chExt cx="52578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1905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1141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但 ≠ 取代检索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2431256"/>
              <a:ext cx="1624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中段信息准确率降 ~30%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26789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仍需为读不准付费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2926556"/>
              <a:ext cx="16858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Menlo：RAG 占生产 51%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9600" y="3810000"/>
            <a:ext cx="10972800" cy="2000250"/>
            <a:chOff x="609600" y="3810000"/>
            <a:chExt cx="10972800" cy="2000250"/>
          </a:xfrm>
        </p:grpSpPr>
        <p:sp>
          <p:nvSpPr>
            <p:cNvPr id="20" name="Rectangle 20"/>
            <p:cNvSpPr/>
            <p:nvPr/>
          </p:nvSpPr>
          <p:spPr>
            <a:xfrm>
              <a:off x="609600" y="3810000"/>
              <a:ext cx="10972800" cy="2000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6018" y="4050982"/>
              <a:ext cx="51864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生产默认 = 混合：上层 Agentic + 下层向量/图检索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8304" y="4947285"/>
              <a:ext cx="4316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CCCCC"/>
                  </a:solidFill>
                  <a:latin typeface="Arial"/>
                  <a:ea typeface="Microsoft YaHei"/>
                  <a:cs typeface="Arial"/>
                </a:rPr>
                <a:t>来源：Anthropic Docs、Liu et al. 2023、bestaiweb.ai。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20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6085393" cy="738854"/>
            <a:chOff x="595122" y="501491"/>
            <a:chExt cx="6085393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15 · 前沿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60853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上下文工程 × RAG：检索原生记忆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缺口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5838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AMA-Bench(ICML'26)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测记忆四能力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现有弱于长上下文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8907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GEM 2026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698081"/>
              <a:ext cx="1609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token 用量降 19%–53%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945731"/>
              <a:ext cx="14664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指出“检索-生成鸿沟”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21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330958" cy="738854"/>
            <a:chOff x="595122" y="501491"/>
            <a:chExt cx="233095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16 · 评估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评估与可观测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5681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A1A1A"/>
                  </a:solidFill>
                  <a:latin typeface="Arial"/>
                  <a:ea typeface="Arial"/>
                  <a:cs typeface="Arial"/>
                </a:rPr>
                <a:t>RAGAS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3172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Context Precision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5134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Answer Faithfulness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无参考指标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线上与工具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1647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55555"/>
                  </a:solidFill>
                  <a:latin typeface="Arial"/>
                  <a:ea typeface="Arial"/>
                  <a:cs typeface="Arial"/>
                </a:rPr>
                <a:t>recall@3 / latency_p95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14714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OpenTelemetry 链路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11902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DSPy 编译期优化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22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2330958" cy="738854"/>
            <a:chOff x="595122" y="501491"/>
            <a:chExt cx="2330958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17 · 生产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2330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生产工程实践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性能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流式检索先到先生成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13231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热缓存降延迟 ~40%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（据生产手册）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安全与案例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14372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ACL 限制检索再生成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15940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M365 Copilot 混合检索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12722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RAGFlow 语义分块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23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95122" y="501491"/>
            <a:ext cx="1947291" cy="738854"/>
            <a:chOff x="595122" y="501491"/>
            <a:chExt cx="1947291" cy="738854"/>
          </a:xfrm>
        </p:grpSpPr>
        <p:sp>
          <p:nvSpPr>
            <p:cNvPr id="2" name="TextBox 2"/>
            <p:cNvSpPr txBox="1"/>
            <p:nvPr/>
          </p:nvSpPr>
          <p:spPr>
            <a:xfrm>
              <a:off x="604838" y="501491"/>
              <a:ext cx="6122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b="1" spc="150" dirty="0">
                  <a:solidFill>
                    <a:srgbClr val="E30613"/>
                  </a:solidFill>
                  <a:latin typeface="Arial"/>
                  <a:ea typeface="Microsoft YaHei"/>
                  <a:cs typeface="Arial"/>
                </a:rPr>
                <a:t>18 · 总结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682942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总结与延伸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181100"/>
              <a:ext cx="609600" cy="381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09600" y="1619250"/>
            <a:ext cx="5257800" cy="4191000"/>
            <a:chOff x="609600" y="1619250"/>
            <a:chExt cx="5257800" cy="4191000"/>
          </a:xfrm>
        </p:grpSpPr>
        <p:sp>
          <p:nvSpPr>
            <p:cNvPr id="6" name="Rectangle 6"/>
            <p:cNvSpPr/>
            <p:nvPr/>
          </p:nvSpPr>
          <p:spPr>
            <a:xfrm>
              <a:off x="609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1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默认起点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485" y="3574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混合检索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485" y="382190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父子分块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485" y="40695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轻量重排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24600" y="1619250"/>
            <a:ext cx="5257800" cy="4191000"/>
            <a:chOff x="6324600" y="1619250"/>
            <a:chExt cx="5257800" cy="4191000"/>
          </a:xfrm>
        </p:grpSpPr>
        <p:sp>
          <p:nvSpPr>
            <p:cNvPr id="13" name="Rectangle 13"/>
            <p:cNvSpPr/>
            <p:nvPr/>
          </p:nvSpPr>
          <p:spPr>
            <a:xfrm>
              <a:off x="6324600" y="1619250"/>
              <a:ext cx="5257800" cy="419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324600" y="1619250"/>
              <a:ext cx="5257800" cy="5715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4634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Arial"/>
                  <a:ea typeface="Microsoft YaHei"/>
                  <a:cs typeface="Arial"/>
                </a:rPr>
                <a:t>何时升级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47485" y="357425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精度用重排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47485" y="3821906"/>
              <a:ext cx="8876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不稳用 CRAG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47485" y="4069556"/>
              <a:ext cx="12052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55555"/>
                  </a:solidFill>
                  <a:latin typeface="Arial"/>
                  <a:ea typeface="Microsoft YaHei"/>
                  <a:cs typeface="Arial"/>
                </a:rPr>
                <a:t>多跳用 GraphRAG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04838" y="6610350"/>
            <a:ext cx="10787062" cy="136684"/>
            <a:chOff x="604838" y="6610350"/>
            <a:chExt cx="10787062" cy="136684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613684"/>
              <a:ext cx="1083153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80" dirty="0">
                  <a:solidFill>
                    <a:srgbClr val="999999"/>
                  </a:solidFill>
                  <a:latin typeface="Arial"/>
                  <a:ea typeface="Microsoft YaHei"/>
                  <a:cs typeface="Arial"/>
                </a:rPr>
                <a:t>RAG：让 AI 读懂你的知识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1315700" y="6610350"/>
              <a:ext cx="76200" cy="76200"/>
            </a:xfrm>
            <a:prstGeom prst="rect">
              <a:avLst/>
            </a:prstGeom>
            <a:solidFill>
              <a:srgbClr val="E3061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928073" y="6613684"/>
              <a:ext cx="316189" cy="133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680" dirty="0">
                  <a:solidFill>
                    <a:srgbClr val="999999"/>
                  </a:solidFill>
                  <a:latin typeface="Arial"/>
                  <a:ea typeface="Arial"/>
                  <a:cs typeface="Arial"/>
                </a:rPr>
                <a:t>24 / 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ag_v6">
  <a:themeElements>
    <a:clrScheme name="rag_v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rag_v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ag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2026-09-01T01:10:29Z</dcterms:created>
  <dcterms:modified xsi:type="dcterms:W3CDTF">2026-09-01T01:10:29Z</dcterms:modified>
  <cp:category/>
  <cp:contentStatus/>
</cp:coreProperties>
</file>