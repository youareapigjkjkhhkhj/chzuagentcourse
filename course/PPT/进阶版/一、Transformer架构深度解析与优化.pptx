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ransformer_adv_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ransformer_adv_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9061497" cy="1493996"/>
            <a:chOff x="895350" y="2295049"/>
            <a:chExt cx="9061497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90614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181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Seq2Seq 到 2026 现代化改造的全链路拆解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393823" cy="322707"/>
            <a:chOff x="601218" y="1898332"/>
            <a:chExt cx="2393823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89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Seq2Seq 与应用全景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530602" cy="322707"/>
            <a:chOff x="601218" y="2431732"/>
            <a:chExt cx="253060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编码器解剖：块与残差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136392" cy="322707"/>
            <a:chOff x="601218" y="2965132"/>
            <a:chExt cx="313639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解码器：自回归与掩蔽注意力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126742" cy="322707"/>
            <a:chOff x="601218" y="3498532"/>
            <a:chExt cx="212674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交叉注意力与训练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762250" cy="322707"/>
            <a:chOff x="6468618" y="1898332"/>
            <a:chExt cx="2762250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266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注意力头演进 GQA→MLA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852275" cy="322707"/>
            <a:chOff x="6468618" y="2431732"/>
            <a:chExt cx="2852275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356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FlashAttention 与推理栈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1722882" cy="322707"/>
            <a:chOff x="6468618" y="2965132"/>
            <a:chExt cx="172288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位置编码演进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530602" cy="322707"/>
            <a:chOff x="6468618" y="3498532"/>
            <a:chExt cx="25306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现代化配方与生产映射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本质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序列到序列：输入输出都是序列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两种长度关系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567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相等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输入 N → 输出 N（如词性标注）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597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机器决定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输入 T → 输出 N 由模型决定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26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典型模型就是 Transformer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统一视角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一个向量序列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另一个向量序列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解码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输出长度由解码器自己决定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295953" cy="738854"/>
            <a:chOff x="595122" y="501491"/>
            <a:chExt cx="329595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2959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Seq2Seq 应用全景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语音识别 / 机器翻译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声音信号→文字；中文→英文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长度关系由机器决定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语音翻译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6027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闽南语→白话文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8503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无文字语言的出路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聊天机器人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26027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输入输出都是文字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8503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电视剧台词训练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342" y="40833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语音合成 TTS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79345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文字→拼音→声音两阶段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5041106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echotron 序列到序列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32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问答任务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7934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翻译 / 摘要 / 情感分析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041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都能统一成问答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75142" y="408336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句法分析 / 多标签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285" y="4793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树结构转序列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50411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输出类别数由机器决定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349277" cy="738854"/>
            <a:chOff x="595122" y="501491"/>
            <a:chExt cx="834927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总览详图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3492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Transformer 完整架构（Encoder–Decoder）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428750" y="1666875"/>
            <a:ext cx="9048750" cy="4686301"/>
            <a:chOff x="1428750" y="1666875"/>
            <a:chExt cx="9048750" cy="4686301"/>
          </a:xfrm>
        </p:grpSpPr>
        <p:sp>
          <p:nvSpPr>
            <p:cNvPr id="6" name="Rectangle 6"/>
            <p:cNvSpPr/>
            <p:nvPr/>
          </p:nvSpPr>
          <p:spPr>
            <a:xfrm>
              <a:off x="1428750" y="5524500"/>
              <a:ext cx="1905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6257" y="5630227"/>
              <a:ext cx="9499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Input Embedding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9978" y="5884545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Inputs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29000" y="5334000"/>
              <a:ext cx="1238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76002" y="5420678"/>
              <a:ext cx="944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Positional Encoding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381250" y="5143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43175" y="5467350"/>
              <a:ext cx="885825" cy="9525"/>
            </a:xfrm>
            <a:custGeom>
              <a:avLst/>
              <a:gdLst/>
              <a:ahLst/>
              <a:cxnLst/>
              <a:rect l="l" t="t" r="r" b="b"/>
              <a:pathLst>
                <a:path w="885825" h="9525">
                  <a:moveTo>
                    <a:pt x="8858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457450" y="54349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2381250"/>
              <a:ext cx="1905000" cy="276225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9238" y="2493645"/>
              <a:ext cx="725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Encoder × 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24000" y="4648200"/>
              <a:ext cx="1714500" cy="3048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28762" y="4753928"/>
              <a:ext cx="13049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Multi-Head Self-Attention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524000" y="4229100"/>
              <a:ext cx="171450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84836" y="431149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24000" y="3733800"/>
              <a:ext cx="1714500" cy="3048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11245" y="3835241"/>
              <a:ext cx="7400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 Forward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3314700"/>
              <a:ext cx="1714500" cy="266700"/>
            </a:xfrm>
            <a:prstGeom prst="roundRect">
              <a:avLst>
                <a:gd name="adj" fmla="val 1071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84836" y="339709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381250" y="45815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348865" y="44958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2381250" y="412432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348865" y="40386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2381250" y="36671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348865" y="35814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2381250" y="2543175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771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348865" y="24574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19750" y="5524500"/>
              <a:ext cx="1905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6473" y="5630227"/>
              <a:ext cx="10715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 Embedding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1488" y="5892641"/>
              <a:ext cx="13215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Outputs (shifted right)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0" y="5334000"/>
              <a:ext cx="12382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67003" y="5420678"/>
              <a:ext cx="944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Positional Encoding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572250" y="5143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734175" y="5467350"/>
              <a:ext cx="885825" cy="9525"/>
            </a:xfrm>
            <a:custGeom>
              <a:avLst/>
              <a:gdLst/>
              <a:ahLst/>
              <a:cxnLst/>
              <a:rect l="l" t="t" r="r" b="b"/>
              <a:pathLst>
                <a:path w="885825" h="9525">
                  <a:moveTo>
                    <a:pt x="8858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648450" y="54349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19750" y="1905000"/>
              <a:ext cx="1905000" cy="323850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10238" y="2017395"/>
              <a:ext cx="725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Decoder × 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0" y="476250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54065" y="4858702"/>
              <a:ext cx="14363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Masked Multi-Head Attention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0" y="43815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0733" y="44586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15000" y="390525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73489" y="3997166"/>
              <a:ext cx="997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Enc-Dec Attention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92081" y="4308634"/>
              <a:ext cx="76033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(K, V ← Encoder)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0" y="35052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0733" y="35823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3009900"/>
              <a:ext cx="171450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02245" y="3101816"/>
              <a:ext cx="7400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 Forward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0" y="2628900"/>
              <a:ext cx="1714500" cy="247650"/>
            </a:xfrm>
            <a:prstGeom prst="roundRect">
              <a:avLst>
                <a:gd name="adj" fmla="val 1153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0733" y="2706052"/>
              <a:ext cx="5430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572250" y="47148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539865" y="46291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6572250" y="427672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6539865" y="41910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6572250" y="383857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539865" y="37528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6572250" y="33813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6539865" y="32956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6572250" y="29622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6539865" y="28765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6572250" y="2085975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5429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6539865" y="20002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7" name="Polyline 67"/>
            <p:cNvSpPr/>
            <p:nvPr/>
          </p:nvSpPr>
          <p:spPr>
            <a:xfrm>
              <a:off x="2381250" y="2381250"/>
              <a:ext cx="3333750" cy="1666875"/>
            </a:xfrm>
            <a:custGeom>
              <a:avLst/>
              <a:gdLst/>
              <a:ahLst/>
              <a:cxnLst/>
              <a:rect l="l" t="t" r="r" b="b"/>
              <a:pathLst>
                <a:path w="3333750" h="1666875">
                  <a:moveTo>
                    <a:pt x="0" y="0"/>
                  </a:moveTo>
                  <a:lnTo>
                    <a:pt x="2095500" y="0"/>
                  </a:lnTo>
                  <a:lnTo>
                    <a:pt x="2095500" y="1666875"/>
                  </a:lnTo>
                  <a:lnTo>
                    <a:pt x="3333750" y="1666875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5635942" y="4015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504981" y="2215991"/>
              <a:ext cx="2483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K, V</a:t>
              </a:r>
            </a:p>
          </p:txBody>
        </p:sp>
        <p:sp>
          <p:nvSpPr>
            <p:cNvPr id="70" name="Polyline 70"/>
            <p:cNvSpPr/>
            <p:nvPr/>
          </p:nvSpPr>
          <p:spPr>
            <a:xfrm>
              <a:off x="6572250" y="1666875"/>
              <a:ext cx="3048000" cy="1476375"/>
            </a:xfrm>
            <a:custGeom>
              <a:avLst/>
              <a:gdLst/>
              <a:ahLst/>
              <a:cxnLst/>
              <a:rect l="l" t="t" r="r" b="b"/>
              <a:pathLst>
                <a:path w="3048000" h="1476375">
                  <a:moveTo>
                    <a:pt x="0" y="238125"/>
                  </a:moveTo>
                  <a:lnTo>
                    <a:pt x="0" y="0"/>
                  </a:lnTo>
                  <a:lnTo>
                    <a:pt x="3048000" y="0"/>
                  </a:lnTo>
                  <a:lnTo>
                    <a:pt x="3048000" y="14763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9587865" y="30641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3143250"/>
              <a:ext cx="17145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19653" y="3248978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Linear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620250" y="3467100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75" name="Polygon 75"/>
            <p:cNvSpPr/>
            <p:nvPr/>
          </p:nvSpPr>
          <p:spPr>
            <a:xfrm>
              <a:off x="9587865" y="35785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763000" y="3657600"/>
              <a:ext cx="17145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5792" y="3763328"/>
              <a:ext cx="528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Softmax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78817" y="4112895"/>
              <a:ext cx="1282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 Probabilities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581915" y="6205538"/>
              <a:ext cx="26471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来源：Vaswani et al., 2017 · Attention Is All You Need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81" name="TextBox 81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77851" cy="738854"/>
            <a:chOff x="595122" y="501491"/>
            <a:chExt cx="747785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编码器解剖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7785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编码器块内部：自注意力 × 残差 × 层归一化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619250" y="1863566"/>
            <a:ext cx="9239250" cy="3584734"/>
            <a:chOff x="1619250" y="1863566"/>
            <a:chExt cx="9239250" cy="3584734"/>
          </a:xfrm>
        </p:grpSpPr>
        <p:sp>
          <p:nvSpPr>
            <p:cNvPr id="6" name="TextBox 6"/>
            <p:cNvSpPr txBox="1"/>
            <p:nvPr/>
          </p:nvSpPr>
          <p:spPr>
            <a:xfrm>
              <a:off x="1960029" y="1863566"/>
              <a:ext cx="17949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输出 → 下一块（整个块 × N 重复）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2381250"/>
              <a:ext cx="2476500" cy="304800"/>
            </a:xfrm>
            <a:prstGeom prst="roundRect">
              <a:avLst>
                <a:gd name="adj" fmla="val 9375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80307" y="2477452"/>
              <a:ext cx="754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 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619250" y="2857500"/>
              <a:ext cx="2476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70909" y="2972752"/>
              <a:ext cx="13731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Feed-Forward Network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3543300"/>
              <a:ext cx="2476500" cy="304800"/>
            </a:xfrm>
            <a:prstGeom prst="roundRect">
              <a:avLst>
                <a:gd name="adj" fmla="val 9375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80307" y="3639502"/>
              <a:ext cx="754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&amp; Norm ①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619250" y="4019550"/>
              <a:ext cx="2476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75466" y="4134802"/>
              <a:ext cx="1564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Multi-Head Self-Attention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97430" y="4471988"/>
              <a:ext cx="1120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（考虑整个序列的信息）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19250" y="4762500"/>
              <a:ext cx="2476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94956" y="4877752"/>
              <a:ext cx="11250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输入向量 + 位置编码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57500" y="4448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25115" y="43624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857500" y="393382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857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825115" y="38481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857500" y="32861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2571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825115" y="32004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2857500" y="277177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857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825115" y="26860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2857500" y="212407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2571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825115" y="20383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Polyline 28"/>
            <p:cNvSpPr/>
            <p:nvPr/>
          </p:nvSpPr>
          <p:spPr>
            <a:xfrm>
              <a:off x="4095750" y="3695700"/>
              <a:ext cx="400050" cy="1238250"/>
            </a:xfrm>
            <a:custGeom>
              <a:avLst/>
              <a:gdLst/>
              <a:ahLst/>
              <a:cxnLst/>
              <a:rect l="l" t="t" r="r" b="b"/>
              <a:pathLst>
                <a:path w="400050" h="1238250">
                  <a:moveTo>
                    <a:pt x="0" y="1238250"/>
                  </a:moveTo>
                  <a:lnTo>
                    <a:pt x="400050" y="1238250"/>
                  </a:lnTo>
                  <a:lnTo>
                    <a:pt x="400050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4095750" y="36633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86288" y="4252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残差连接</a:t>
              </a:r>
            </a:p>
          </p:txBody>
        </p:sp>
        <p:sp>
          <p:nvSpPr>
            <p:cNvPr id="31" name="Polyline 31"/>
            <p:cNvSpPr/>
            <p:nvPr/>
          </p:nvSpPr>
          <p:spPr>
            <a:xfrm>
              <a:off x="4095750" y="2533650"/>
              <a:ext cx="666750" cy="495300"/>
            </a:xfrm>
            <a:custGeom>
              <a:avLst/>
              <a:gdLst/>
              <a:ahLst/>
              <a:cxnLst/>
              <a:rect l="l" t="t" r="r" b="b"/>
              <a:pathLst>
                <a:path w="666750" h="495300">
                  <a:moveTo>
                    <a:pt x="0" y="495300"/>
                  </a:moveTo>
                  <a:lnTo>
                    <a:pt x="666750" y="495300"/>
                  </a:lnTo>
                  <a:lnTo>
                    <a:pt x="666750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095750" y="25012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0" y="2381250"/>
              <a:ext cx="5524500" cy="1047750"/>
            </a:xfrm>
            <a:prstGeom prst="roundRect">
              <a:avLst>
                <a:gd name="adj" fmla="val 2727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57647" y="2580799"/>
              <a:ext cx="1308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层归一化 LayerNorm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57647" y="2847499"/>
              <a:ext cx="2519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x′ᵢ = (xᵢ − m) / σ （m、σ 为同一样本、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7647" y="30760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同一特征里不同维度的均值与标准差）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57838" y="3309938"/>
              <a:ext cx="18268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对每个维度减均值、除标准差后再归一化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0" y="3619500"/>
              <a:ext cx="55245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57647" y="3799999"/>
              <a:ext cx="1127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残差连接 Residual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57838" y="4055745"/>
              <a:ext cx="1378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 = 层输入 + 子层输出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57838" y="4262438"/>
              <a:ext cx="22307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保留原始信息通路，缓解梯度消失，支撑深层堆叠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0" y="4629150"/>
              <a:ext cx="5524500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57647" y="4809649"/>
              <a:ext cx="1575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为什么不是 BatchNorm？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57838" y="5065395"/>
              <a:ext cx="2749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BN 对不同样本的同一维度统计；序列长度可变、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57838" y="5255895"/>
              <a:ext cx="26943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batch 内统计不稳 → LN 按单样本统计更适合 NLP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解码器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自回归的两难：误差传播与停止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自回归生成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机制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解码器输入 = 上一步的输出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208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&lt;BOS&gt;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开始符号，独热向量表示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词表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输出单位决定向量长度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两个关键问题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误差传播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一步错步步错（器→气）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停不下来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机器不知何时停止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19070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&lt;EOS&gt;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特殊结束符终结生成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537247" cy="738854"/>
            <a:chOff x="595122" y="501491"/>
            <a:chExt cx="753724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生成详图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5372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自回归生成循环（Autoregressive Loop）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43000" y="2237899"/>
            <a:ext cx="9429750" cy="2610327"/>
            <a:chOff x="1143000" y="2237899"/>
            <a:chExt cx="9429750" cy="2610327"/>
          </a:xfrm>
        </p:grpSpPr>
        <p:sp>
          <p:nvSpPr>
            <p:cNvPr id="6" name="Rectangle 6"/>
            <p:cNvSpPr/>
            <p:nvPr/>
          </p:nvSpPr>
          <p:spPr>
            <a:xfrm>
              <a:off x="1143000" y="3048000"/>
              <a:ext cx="142875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38012" y="3229928"/>
              <a:ext cx="8387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 Tokens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048000" y="3048000"/>
              <a:ext cx="1524000" cy="476250"/>
            </a:xfrm>
            <a:prstGeom prst="roundRect">
              <a:avLst>
                <a:gd name="adj" fmla="val 6000"/>
              </a:avLst>
            </a:prstGeom>
            <a:solidFill>
              <a:srgbClr val="E30613"/>
            </a:solidFill>
            <a:ln w="2095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64680" y="3229928"/>
              <a:ext cx="10906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Transformer 模型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048250" y="3048000"/>
              <a:ext cx="15240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45789" y="3229928"/>
              <a:ext cx="9289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Logits 概率分布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0" y="3048000"/>
              <a:ext cx="17145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1946" y="3229928"/>
              <a:ext cx="1587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采样 temp / top-k / top-p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239250" y="3048000"/>
              <a:ext cx="133350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21243" y="3229928"/>
              <a:ext cx="769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下一个 Token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7175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968942" y="3253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57200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96919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57225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96944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763000" y="32861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160192" y="3253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Polyline 24"/>
            <p:cNvSpPr/>
            <p:nvPr/>
          </p:nvSpPr>
          <p:spPr>
            <a:xfrm>
              <a:off x="1857375" y="2428875"/>
              <a:ext cx="8048625" cy="619125"/>
            </a:xfrm>
            <a:custGeom>
              <a:avLst/>
              <a:gdLst/>
              <a:ahLst/>
              <a:cxnLst/>
              <a:rect l="l" t="t" r="r" b="b"/>
              <a:pathLst>
                <a:path w="8048625" h="619125">
                  <a:moveTo>
                    <a:pt x="8048625" y="619125"/>
                  </a:moveTo>
                  <a:lnTo>
                    <a:pt x="8048625" y="0"/>
                  </a:lnTo>
                  <a:lnTo>
                    <a:pt x="0" y="0"/>
                  </a:lnTo>
                  <a:lnTo>
                    <a:pt x="0" y="619125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1824990" y="2968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48479" y="2237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拼回序列，循环生成（自回归）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48000" y="3905250"/>
              <a:ext cx="7524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0">
              <a:solidFill>
                <a:srgbClr val="1A1A1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49573" y="4039552"/>
              <a:ext cx="29216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停止：遇到 &lt;EOS&gt; 或达到 max_tokens / 上下文上限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2453" y="4455795"/>
              <a:ext cx="264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例："The cat sat on the" → [the] → [mat] → 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65894" y="4700588"/>
              <a:ext cx="22792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来源：GPT/Llama 等 Decoder-only 生成流程示意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51295" cy="738854"/>
            <a:chOff x="595122" y="501491"/>
            <a:chExt cx="65512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掩蔽注意力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掩蔽自注意力：只看左边，未来不存在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143000" y="2205038"/>
            <a:ext cx="9715500" cy="2652712"/>
            <a:chOff x="1143000" y="2205038"/>
            <a:chExt cx="9715500" cy="2652712"/>
          </a:xfrm>
        </p:grpSpPr>
        <p:sp>
          <p:nvSpPr>
            <p:cNvPr id="6" name="Rectangle 6"/>
            <p:cNvSpPr/>
            <p:nvPr/>
          </p:nvSpPr>
          <p:spPr>
            <a:xfrm>
              <a:off x="1143000" y="2381250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49269" y="24869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a¹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905000" y="254317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416492" y="25107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43000" y="2905125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9269" y="30108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a²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905000" y="30670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416492" y="30346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43000" y="3429000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49269" y="35347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a³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905000" y="35909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416492" y="35585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3000" y="3952875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49269" y="40586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a⁴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905000" y="41148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416492" y="40824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63857" y="22050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78182" y="22050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92507" y="22050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6832" y="22050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41626" y="25098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q1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71750" y="2381250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86075" y="2381250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82801" y="2458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00400" y="2381250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97126" y="2458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514725" y="2381250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11451" y="2458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41626" y="2824162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q2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71750" y="269557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86075" y="269557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200400" y="2695575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97126" y="2772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514725" y="2695575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11451" y="2772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41626" y="313848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q3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571750" y="3009900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886075" y="3009900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200400" y="3009900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514725" y="3009900"/>
              <a:ext cx="295275" cy="295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11451" y="3087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41626" y="3452812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q4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571750" y="332422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886075" y="332422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200400" y="332422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514725" y="3324225"/>
              <a:ext cx="295275" cy="29527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44130" y="3729038"/>
              <a:ext cx="11410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下三角可见 · 上三角禁止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3857625" y="2595562"/>
              <a:ext cx="551497" cy="423862"/>
            </a:xfrm>
            <a:custGeom>
              <a:avLst/>
              <a:gdLst/>
              <a:ahLst/>
              <a:cxnLst/>
              <a:rect l="l" t="t" r="r" b="b"/>
              <a:pathLst>
                <a:path w="551497" h="423862">
                  <a:moveTo>
                    <a:pt x="0" y="423862"/>
                  </a:moveTo>
                  <a:lnTo>
                    <a:pt x="551497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4393882" y="2543175"/>
              <a:ext cx="82867" cy="74295"/>
            </a:xfrm>
            <a:custGeom>
              <a:avLst/>
              <a:gdLst/>
              <a:ahLst/>
              <a:cxnLst/>
              <a:rect l="l" t="t" r="r" b="b"/>
              <a:pathLst>
                <a:path w="82867" h="74295">
                  <a:moveTo>
                    <a:pt x="82867" y="0"/>
                  </a:moveTo>
                  <a:lnTo>
                    <a:pt x="39052" y="7429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476750" y="2381250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83019" y="24869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b1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3857625" y="3019425"/>
              <a:ext cx="533400" cy="40958"/>
            </a:xfrm>
            <a:custGeom>
              <a:avLst/>
              <a:gdLst/>
              <a:ahLst/>
              <a:cxnLst/>
              <a:rect l="l" t="t" r="r" b="b"/>
              <a:pathLst>
                <a:path w="533400" h="40958">
                  <a:moveTo>
                    <a:pt x="0" y="0"/>
                  </a:moveTo>
                  <a:lnTo>
                    <a:pt x="533400" y="40958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4394835" y="3028950"/>
              <a:ext cx="81915" cy="63817"/>
            </a:xfrm>
            <a:custGeom>
              <a:avLst/>
              <a:gdLst/>
              <a:ahLst/>
              <a:cxnLst/>
              <a:rect l="l" t="t" r="r" b="b"/>
              <a:pathLst>
                <a:path w="81915" h="63817">
                  <a:moveTo>
                    <a:pt x="81915" y="38100"/>
                  </a:moveTo>
                  <a:lnTo>
                    <a:pt x="0" y="63817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76750" y="2905125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783019" y="30108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b2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3857625" y="3019425"/>
              <a:ext cx="556260" cy="513397"/>
            </a:xfrm>
            <a:custGeom>
              <a:avLst/>
              <a:gdLst/>
              <a:ahLst/>
              <a:cxnLst/>
              <a:rect l="l" t="t" r="r" b="b"/>
              <a:pathLst>
                <a:path w="556260" h="513397">
                  <a:moveTo>
                    <a:pt x="0" y="0"/>
                  </a:moveTo>
                  <a:lnTo>
                    <a:pt x="556260" y="513397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4396740" y="3513772"/>
              <a:ext cx="80010" cy="77153"/>
            </a:xfrm>
            <a:custGeom>
              <a:avLst/>
              <a:gdLst/>
              <a:ahLst/>
              <a:cxnLst/>
              <a:rect l="l" t="t" r="r" b="b"/>
              <a:pathLst>
                <a:path w="80010" h="77153">
                  <a:moveTo>
                    <a:pt x="80010" y="77153"/>
                  </a:moveTo>
                  <a:lnTo>
                    <a:pt x="0" y="466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476750" y="3429000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83019" y="35347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b3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3857625" y="3019425"/>
              <a:ext cx="577215" cy="1021080"/>
            </a:xfrm>
            <a:custGeom>
              <a:avLst/>
              <a:gdLst/>
              <a:ahLst/>
              <a:cxnLst/>
              <a:rect l="l" t="t" r="r" b="b"/>
              <a:pathLst>
                <a:path w="577215" h="1021080">
                  <a:moveTo>
                    <a:pt x="0" y="0"/>
                  </a:moveTo>
                  <a:lnTo>
                    <a:pt x="577215" y="102108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4410075" y="4030028"/>
              <a:ext cx="66675" cy="84772"/>
            </a:xfrm>
            <a:custGeom>
              <a:avLst/>
              <a:gdLst/>
              <a:ahLst/>
              <a:cxnLst/>
              <a:rect l="l" t="t" r="r" b="b"/>
              <a:pathLst>
                <a:path w="66675" h="84772">
                  <a:moveTo>
                    <a:pt x="66675" y="84772"/>
                  </a:moveTo>
                  <a:lnTo>
                    <a:pt x="0" y="31432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476750" y="3952875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783019" y="40586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715000" y="2381250"/>
              <a:ext cx="5143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38647" y="2580799"/>
              <a:ext cx="13832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产生 b² 时只用 a¹、a²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38838" y="2855595"/>
              <a:ext cx="2008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只拿 q² 与 k¹、k² 计算注意力分数，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38838" y="3065145"/>
              <a:ext cx="18026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最后只计算 v¹ 跟 v² 的加权和 ——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938838" y="327469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完全不看右边（未来）的信息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715000" y="3714750"/>
              <a:ext cx="5143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38647" y="39142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为什么必须掩蔽？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38838" y="4189095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编码器一次读入整个序列；解码器逐位生成，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938838" y="4398645"/>
              <a:ext cx="2578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先有 a¹ 才有 a²、a³、a⁴ —— 产生 b² 时 a³、a⁴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938838" y="4608195"/>
              <a:ext cx="23490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根本还不存在，不是“不允许看”，是“没有”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80" name="TextBox 80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68807" cy="738854"/>
            <a:chOff x="595122" y="501491"/>
            <a:chExt cx="646880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交叉注意力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6880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编码器-解码器注意力：凭 q 抽取信息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428750" y="1979295"/>
            <a:ext cx="9906000" cy="4399121"/>
            <a:chOff x="1428750" y="1979295"/>
            <a:chExt cx="9906000" cy="4399121"/>
          </a:xfrm>
        </p:grpSpPr>
        <p:sp>
          <p:nvSpPr>
            <p:cNvPr id="6" name="TextBox 6"/>
            <p:cNvSpPr txBox="1"/>
            <p:nvPr/>
          </p:nvSpPr>
          <p:spPr>
            <a:xfrm>
              <a:off x="2549842" y="1979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编码器输出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428750" y="2190750"/>
              <a:ext cx="104775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77894" y="23060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62250" y="2190750"/>
              <a:ext cx="104775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11394" y="23060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2190750"/>
              <a:ext cx="104775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44894" y="23060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49986" y="2768441"/>
              <a:ext cx="22722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各自产生 K¹ K² K³（键）与 V¹ V² V³（值）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28750" y="533400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21274" y="5487352"/>
              <a:ext cx="1672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解码器隐藏态（&lt;BOS&gt;, 机）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286250" y="55435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83442" y="55111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62500" y="5334000"/>
              <a:ext cx="180975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3442" y="5487352"/>
              <a:ext cx="9078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× W^Q → 查询 q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667375" y="48482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4857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634990" y="47625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0" y="4095750"/>
              <a:ext cx="2476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75719" y="4372928"/>
              <a:ext cx="14690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打分：q·K¹, q·K², q·K³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33419" y="4521041"/>
              <a:ext cx="17536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α₁ α₂ α₃ → softmax → α′₁ α′₂ α′₃</a:t>
              </a:r>
            </a:p>
          </p:txBody>
        </p:sp>
        <p:sp>
          <p:nvSpPr>
            <p:cNvPr id="25" name="Polyline 25"/>
            <p:cNvSpPr/>
            <p:nvPr/>
          </p:nvSpPr>
          <p:spPr>
            <a:xfrm>
              <a:off x="3286125" y="2533650"/>
              <a:ext cx="2524125" cy="1562100"/>
            </a:xfrm>
            <a:custGeom>
              <a:avLst/>
              <a:gdLst/>
              <a:ahLst/>
              <a:cxnLst/>
              <a:rect l="l" t="t" r="r" b="b"/>
              <a:pathLst>
                <a:path w="2524125" h="1562100">
                  <a:moveTo>
                    <a:pt x="0" y="0"/>
                  </a:moveTo>
                  <a:lnTo>
                    <a:pt x="0" y="514350"/>
                  </a:lnTo>
                  <a:lnTo>
                    <a:pt x="2524125" y="514350"/>
                  </a:lnTo>
                  <a:lnTo>
                    <a:pt x="2524125" y="156210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777865" y="4016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81688" y="3119438"/>
              <a:ext cx="3911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K（键）</a:t>
              </a:r>
            </a:p>
          </p:txBody>
        </p:sp>
        <p:sp>
          <p:nvSpPr>
            <p:cNvPr id="28" name="Polyline 28"/>
            <p:cNvSpPr/>
            <p:nvPr/>
          </p:nvSpPr>
          <p:spPr>
            <a:xfrm>
              <a:off x="2000250" y="2533650"/>
              <a:ext cx="2571750" cy="1562100"/>
            </a:xfrm>
            <a:custGeom>
              <a:avLst/>
              <a:gdLst/>
              <a:ahLst/>
              <a:cxnLst/>
              <a:rect l="l" t="t" r="r" b="b"/>
              <a:pathLst>
                <a:path w="2571750" h="1562100">
                  <a:moveTo>
                    <a:pt x="0" y="0"/>
                  </a:moveTo>
                  <a:lnTo>
                    <a:pt x="0" y="704850"/>
                  </a:lnTo>
                  <a:lnTo>
                    <a:pt x="2571750" y="704850"/>
                  </a:lnTo>
                  <a:lnTo>
                    <a:pt x="2571750" y="1562100"/>
                  </a:lnTo>
                </a:path>
              </a:pathLst>
            </a:custGeom>
            <a:noFill/>
            <a:ln w="14288">
              <a:solidFill>
                <a:srgbClr val="999999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4539615" y="4016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71688" y="3309938"/>
              <a:ext cx="3911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V（值）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048500" y="4429125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54094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0" y="4095750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81250" y="437292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加权和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41105" y="4512945"/>
              <a:ext cx="8532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v = Σ α′ᵢ · Vⁱ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71550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1001744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096500" y="4095750"/>
              <a:ext cx="123825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51790" y="4372928"/>
              <a:ext cx="527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交给 FFN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73715" y="5990749"/>
              <a:ext cx="4263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q 来自解码器；K、V 来自编码器 —— 解码器凭一个 q 去编码器抽取信息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21337" y="6216491"/>
              <a:ext cx="3168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产生“机”后：以 &lt;BOS&gt;、“机” 重复该过程，得 q′ 再抽取一次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05511" cy="738854"/>
            <a:chOff x="595122" y="501491"/>
            <a:chExt cx="600551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055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训练：Teacher Forcing 与交叉熵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428750" y="2112645"/>
            <a:ext cx="9525000" cy="2709862"/>
            <a:chOff x="1428750" y="2112645"/>
            <a:chExt cx="9525000" cy="2709862"/>
          </a:xfrm>
        </p:grpSpPr>
        <p:sp>
          <p:nvSpPr>
            <p:cNvPr id="6" name="TextBox 6"/>
            <p:cNvSpPr txBox="1"/>
            <p:nvPr/>
          </p:nvSpPr>
          <p:spPr>
            <a:xfrm>
              <a:off x="1519238" y="2112645"/>
              <a:ext cx="3336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训练输入（= 正确答案直接喂给解码器 → Teacher Forcing）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428750" y="23812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22259" y="2511266"/>
              <a:ext cx="441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&lt;BOS&gt;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943100" y="2781300"/>
              <a:ext cx="9525" cy="1295400"/>
            </a:xfrm>
            <a:custGeom>
              <a:avLst/>
              <a:gdLst/>
              <a:ahLst/>
              <a:cxnLst/>
              <a:rect l="l" t="t" r="r" b="b"/>
              <a:pathLst>
                <a:path w="952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357143" sp="285714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4538" y="3395662"/>
              <a:ext cx="1327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428750" y="40957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72183" y="42257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47950" y="23812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91383" y="25112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62300" y="2781300"/>
              <a:ext cx="9525" cy="1295400"/>
            </a:xfrm>
            <a:custGeom>
              <a:avLst/>
              <a:gdLst/>
              <a:ahLst/>
              <a:cxnLst/>
              <a:rect l="l" t="t" r="r" b="b"/>
              <a:pathLst>
                <a:path w="952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357143" sp="285714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33738" y="3395662"/>
              <a:ext cx="1327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47950" y="40957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91383" y="42257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67150" y="23812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10583" y="25112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器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381500" y="2781300"/>
              <a:ext cx="9525" cy="1295400"/>
            </a:xfrm>
            <a:custGeom>
              <a:avLst/>
              <a:gdLst/>
              <a:ahLst/>
              <a:cxnLst/>
              <a:rect l="l" t="t" r="r" b="b"/>
              <a:pathLst>
                <a:path w="952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357143" sp="285714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52938" y="3395662"/>
              <a:ext cx="1327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67150" y="40957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10583" y="42257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086350" y="23812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29783" y="25112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600700" y="2781300"/>
              <a:ext cx="9525" cy="1295400"/>
            </a:xfrm>
            <a:custGeom>
              <a:avLst/>
              <a:gdLst/>
              <a:ahLst/>
              <a:cxnLst/>
              <a:rect l="l" t="t" r="r" b="b"/>
              <a:pathLst>
                <a:path w="952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357143" sp="285714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72138" y="3395662"/>
              <a:ext cx="1327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86350" y="40957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29783" y="42257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05550" y="23812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8983" y="25112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习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19900" y="2781300"/>
              <a:ext cx="9525" cy="1295400"/>
            </a:xfrm>
            <a:custGeom>
              <a:avLst/>
              <a:gdLst/>
              <a:ahLst/>
              <a:cxnLst/>
              <a:rect l="l" t="t" r="r" b="b"/>
              <a:pathLst>
                <a:path w="9525"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w="13335">
              <a:solidFill>
                <a:srgbClr val="999999"/>
              </a:solidFill>
              <a:custDash>
                <a:ds d="357143" sp="285714"/>
              </a:custDash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1338" y="3395662"/>
              <a:ext cx="1327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05550" y="4095750"/>
              <a:ext cx="10287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9059" y="4225766"/>
              <a:ext cx="441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&lt;EOS&gt;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9238" y="4646295"/>
              <a:ext cx="2738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期望输出（标准答案 Ground Truth 的独热向量）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01000" y="2381250"/>
              <a:ext cx="2952750" cy="2095500"/>
            </a:xfrm>
            <a:prstGeom prst="roundRect">
              <a:avLst>
                <a:gd name="adj" fmla="val 1364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4647" y="2580799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训练 = 五次并行分类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838" y="287464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每个位置的输出分布与其标准答案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4838" y="30841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独热向量之间计算交叉熵；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4838" y="32937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五个交叉熵总和越小越好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4838" y="36366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训练：并行（一次算完）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4838" y="384619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推理：自回归（一步步生成）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24838" y="4186238"/>
              <a:ext cx="14381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注：训练时第 5 个位置的输入是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4838" y="4357688"/>
              <a:ext cx="17697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“&lt;BOS&gt; 机 器 学 习”，目标是 &lt;EOS&gt;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699106" cy="738854"/>
            <a:chOff x="595122" y="501491"/>
            <a:chExt cx="86991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头演进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6991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MHA → MQA → GQA → MLA：压缩 KV 是同一条轴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43000" y="2095500"/>
            <a:ext cx="10191750" cy="2301716"/>
            <a:chOff x="1143000" y="2095500"/>
            <a:chExt cx="10191750" cy="2301716"/>
          </a:xfrm>
        </p:grpSpPr>
        <p:sp>
          <p:nvSpPr>
            <p:cNvPr id="6" name="Rectangle 6"/>
            <p:cNvSpPr/>
            <p:nvPr/>
          </p:nvSpPr>
          <p:spPr>
            <a:xfrm>
              <a:off x="1143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27592" y="2256949"/>
              <a:ext cx="1021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MHA 多头注意力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8738" y="2703195"/>
              <a:ext cx="1366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 头 = KV 头，全部独立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8738" y="2950845"/>
              <a:ext cx="8375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KV Cache 基准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8738" y="31984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质量最佳（原始形态）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8738" y="3462338"/>
              <a:ext cx="15863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KV 头：8/8 · 8/1 · 64/8 · latent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10258" y="2256949"/>
              <a:ext cx="1190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MQA 多查询注意力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95738" y="2703195"/>
              <a:ext cx="1276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所有 Q 头共享 1 组 KV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5738" y="2950845"/>
              <a:ext cx="697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 ↓ 约 8×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5738" y="31984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质量略降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5738" y="3462338"/>
              <a:ext cx="15863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KV 头：8/8 · 8/1 · 64/8 · latent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22196" y="2256949"/>
              <a:ext cx="1300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GQA 分组查询注意力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77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2738" y="2703195"/>
              <a:ext cx="14945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8 个 KV 头服务 64 个 Q 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2738" y="2950845"/>
              <a:ext cx="697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 ↓ 约 8×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738" y="3198495"/>
              <a:ext cx="1289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质量 ≈ MHA，性价比高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738" y="3462338"/>
              <a:ext cx="15863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KV 头：8/8 · 8/1 · 64/8 · latent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89196" y="2256949"/>
              <a:ext cx="1300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MLA 多头潜在注意力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144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29738" y="2703195"/>
              <a:ext cx="12998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低秩压缩存 latent 向量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29738" y="2950845"/>
              <a:ext cx="1058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比 GQA 再省 4–6×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29738" y="3198495"/>
              <a:ext cx="1426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质量 ≈ MHA（DeepSeek）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738" y="3462338"/>
              <a:ext cx="158638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KV 头：8/8 · 8/1 · 64/8 · latent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47561" y="3998595"/>
              <a:ext cx="41921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核心收益在显存 / 带宽 / 并发，而非计算量本身；GQA 至今仍是商用主力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4355" y="4235291"/>
              <a:ext cx="38585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演进逻辑：压缩 K 和 V 是同一条设计轴 —— 压得越狠，缓存越省、风险越高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96746" cy="738854"/>
            <a:chOff x="595122" y="501491"/>
            <a:chExt cx="509674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95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MLA 深拆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967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MLA：DeepSeek 的极致压缩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低秩降维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2432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7168 维 → 1536（Q）/ 576（KV）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过滤冗余保留核心语义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153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Partial RoPE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仅 64 维加位置编码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2334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解耦 RoPE：位置头与 latent 分离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2381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SnapMLA + FP8 成长上下文新默认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1668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V4 进一步压缩为记忆块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37860" cy="738854"/>
            <a:chOff x="595122" y="501491"/>
            <a:chExt cx="64378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5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IO 感知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378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FlashAttention：把计算搬进 SRAM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143000" y="2095500"/>
            <a:ext cx="9715500" cy="3533776"/>
            <a:chOff x="1143000" y="2095500"/>
            <a:chExt cx="9715500" cy="3533776"/>
          </a:xfrm>
        </p:grpSpPr>
        <p:sp>
          <p:nvSpPr>
            <p:cNvPr id="6" name="Rectangle 6"/>
            <p:cNvSpPr/>
            <p:nvPr/>
          </p:nvSpPr>
          <p:spPr>
            <a:xfrm>
              <a:off x="1143000" y="2095500"/>
              <a:ext cx="41910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770576" y="2244566"/>
              <a:ext cx="935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朴素实现 Naive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514600"/>
              <a:ext cx="41910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857500" y="2667000"/>
              <a:ext cx="7620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93773" y="2777966"/>
              <a:ext cx="289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SRAM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38100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95283" y="3830002"/>
              <a:ext cx="8864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HBM（大而慢）</a:t>
              </a:r>
            </a:p>
          </p:txBody>
        </p:sp>
        <p:sp>
          <p:nvSpPr>
            <p:cNvPr id="13" name="Polyline 13"/>
            <p:cNvSpPr/>
            <p:nvPr/>
          </p:nvSpPr>
          <p:spPr>
            <a:xfrm>
              <a:off x="3048000" y="29908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015615" y="35404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3619500" y="29908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587115" y="29908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54944" y="3301841"/>
              <a:ext cx="4816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N×N 矩阵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8738" y="4608195"/>
              <a:ext cx="18529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中间 N×N 分数矩阵反复读写 HBM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8738" y="4836795"/>
              <a:ext cx="22915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内存带宽占用高达 ~97%（长上下文元凶）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2095500"/>
              <a:ext cx="457200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99388" y="2244566"/>
              <a:ext cx="17462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FlashAttention（IO 感知）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514600"/>
              <a:ext cx="45720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72250" y="2724150"/>
              <a:ext cx="53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4288">
              <a:solidFill>
                <a:srgbClr val="E3061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4923" y="2881312"/>
              <a:ext cx="2480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tile1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39000" y="2724150"/>
              <a:ext cx="53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4288">
              <a:solidFill>
                <a:srgbClr val="E3061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81673" y="2881312"/>
              <a:ext cx="2480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tile2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05750" y="2724150"/>
              <a:ext cx="53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4288">
              <a:solidFill>
                <a:srgbClr val="E3061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48423" y="2881312"/>
              <a:ext cx="2480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tile3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572500" y="2724150"/>
              <a:ext cx="53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4288">
              <a:solidFill>
                <a:srgbClr val="E3061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15173" y="2881312"/>
              <a:ext cx="2480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tile4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7488" y="3331845"/>
              <a:ext cx="2112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分块驻留 SRAM · 在线 Softmax 递推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619500"/>
              <a:ext cx="41910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09243" y="3830002"/>
              <a:ext cx="1526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HBM（中间结果不再落盘）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21294" y="3827145"/>
              <a:ext cx="7024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✗ 不写 N×N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238" y="4608195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内存流量降数十倍，长上下文从不可行变可行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2238" y="4836795"/>
              <a:ext cx="27685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FA-3/4 与硬件耦合（Hopper TMA / Blackwell）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67502" y="5244941"/>
              <a:ext cx="4675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Decode 阶段增益有限（Q 维度塌陷为 1）→ Flash-Decoding 沿序列分块并行，端到端最高 ~8×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37772" y="5481638"/>
              <a:ext cx="33354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来源：arXiv 2407.08608（FA-3）、wwucla 推理优化 2026、lumevalley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22974" cy="738854"/>
            <a:chOff x="595122" y="501491"/>
            <a:chExt cx="422297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推理栈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229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KV Cache 与推理工程栈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缓存管理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2253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PagedAttention 分块管理成标准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2315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vLLM / TensorRT-LLM / SGLang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低精度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602706"/>
              <a:ext cx="1860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FP4 / NVFP4（Blackwell）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850356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2–4× 吞吐，精度损失可忽略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786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Token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2602706"/>
              <a:ext cx="2106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MTP 自投机：一次前向出多个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850356"/>
              <a:ext cx="229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DeepSeek-V3 / Qwen3 / GPT-5o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3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前缀复用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793456"/>
              <a:ext cx="23376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RadixAttention / Prefix Caching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50411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相同前缀秒级命中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32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投机解码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793456"/>
              <a:ext cx="151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Draft-Target 双模型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041106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P-EAGLE 并行起草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751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量化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285" y="4793456"/>
              <a:ext cx="1495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AWQ / SmoothQuant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5041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显存与带宽双降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92401" cy="738854"/>
            <a:chOff x="595122" y="501491"/>
            <a:chExt cx="509240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位置编码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9240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位置编码演进（2017–2024）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69576" y="3188018"/>
            <a:ext cx="10274343" cy="1247393"/>
            <a:chOff x="969576" y="3188018"/>
            <a:chExt cx="10274343" cy="124739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48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2017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9576" y="4020502"/>
              <a:ext cx="804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Sine/Cosine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3564" y="4230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数学公式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1718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4078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0190" y="40205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可学习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57246" y="4230052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GPT 系列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0577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267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76079" y="4020502"/>
              <a:ext cx="334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RoPE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55464" y="4230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旋转矩阵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5325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22211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9220" y="4020502"/>
              <a:ext cx="339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ALiBi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0939" y="4230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相对偏置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8392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08161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47024" y="4020502"/>
              <a:ext cx="555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PI / NTK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7504" y="4230052"/>
              <a:ext cx="334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YaRN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036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95293" y="4020502"/>
              <a:ext cx="65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LongRoPE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96880" y="4230052"/>
              <a:ext cx="847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进化搜索 2M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638" y="6017895"/>
              <a:ext cx="37251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来源：卷云小生 位置编码演进史、tanulsingh RoPE 实验（2026）。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78520" cy="738854"/>
            <a:chOff x="595122" y="501491"/>
            <a:chExt cx="387852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生产打补丁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7852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生产中没人用裸 RoPE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89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DeepSeek-V3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11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YaRN factor 40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453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4K 训练 → 163K 推理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631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解耦 RoPE 包在 MLA 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107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Qwen 2.5/3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602706"/>
              <a:ext cx="624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YaRN × 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850356"/>
              <a:ext cx="1174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32K 训练 → 131K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698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Llama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602706"/>
              <a:ext cx="1353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rope_theta = 500K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850356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训练时拉大 base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4083368"/>
              <a:ext cx="785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Gemma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4793456"/>
              <a:ext cx="151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5:1 滑窗 + 每层不同 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485" y="5041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用架构做局部性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032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共识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4793456"/>
              <a:ext cx="108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裸 RoPE 不外推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385" y="5041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人人都在打补丁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751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方向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4793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动态位置编码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6285" y="5041106"/>
              <a:ext cx="1457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LongRoPE 2M 上下文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60102" cy="738854"/>
            <a:chOff x="595122" y="501491"/>
            <a:chExt cx="486010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现代化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601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Norm 与 FFN 的现代化改造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9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Pre-LN 取代 Post-LN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85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Post-LN 深层训练不稳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528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Pre-Norm 梯度更顺畅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72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DeepNorm 折中探索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850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RMSNorm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只算均方根不减均值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计算量省 ~40%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878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Llama/Qwen/Mistral 默认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798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SwiGLU 与 QK-Norm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698081"/>
              <a:ext cx="1406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ReLU → SwiGLU 门控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945731"/>
              <a:ext cx="2365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QK-Norm：Gemma/OLMo/Qwen3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55679" cy="738854"/>
            <a:chOff x="595122" y="501491"/>
            <a:chExt cx="555567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新旧对照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556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一层的前世今生：2017 vs 2026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1238250" y="2095500"/>
            <a:ext cx="8477250" cy="4073366"/>
            <a:chOff x="1238250" y="2095500"/>
            <a:chExt cx="8477250" cy="4073366"/>
          </a:xfrm>
        </p:grpSpPr>
        <p:sp>
          <p:nvSpPr>
            <p:cNvPr id="6" name="Rectangle 6"/>
            <p:cNvSpPr/>
            <p:nvPr/>
          </p:nvSpPr>
          <p:spPr>
            <a:xfrm>
              <a:off x="1238250" y="20955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38463" y="2225516"/>
              <a:ext cx="1457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2017 原版（Post-LN）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38250" y="262890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1430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71032" y="2753678"/>
              <a:ext cx="1191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Input + 正弦位置编码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667000" y="29908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634615" y="30260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238250" y="310515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8502" y="3229928"/>
              <a:ext cx="12569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Multi-Head Attention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667000" y="34671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634615" y="35023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38250" y="358140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1430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73819" y="3706178"/>
              <a:ext cx="9863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→ LayerNorm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667000" y="39433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634615" y="39785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238250" y="405765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20329" y="4182428"/>
              <a:ext cx="1293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Feed-Forward (ReLU)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667000" y="44196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634615" y="44548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38250" y="453390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1430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73819" y="4658678"/>
              <a:ext cx="9863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 → LayerNorm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48958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634615" y="4931092"/>
              <a:ext cx="64770" cy="79057"/>
            </a:xfrm>
            <a:custGeom>
              <a:avLst/>
              <a:gdLst/>
              <a:ahLst/>
              <a:cxnLst/>
              <a:rect l="l" t="t" r="r" b="b"/>
              <a:pathLst>
                <a:path w="64770" h="79057">
                  <a:moveTo>
                    <a:pt x="32385" y="79057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38250" y="5010150"/>
              <a:ext cx="2857500" cy="361950"/>
            </a:xfrm>
            <a:prstGeom prst="roundRect">
              <a:avLst>
                <a:gd name="adj" fmla="val 789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448211" y="5134927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77854" y="5538788"/>
              <a:ext cx="157829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残差在 Add 中，归一化在残差之后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0" y="20955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57210" y="2225516"/>
              <a:ext cx="1659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现代主流（Pre-LN）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58000" y="26289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42440" y="2749391"/>
              <a:ext cx="2886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Input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86750" y="29622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254365" y="2968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58000" y="30480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39825" y="3168491"/>
              <a:ext cx="4938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RMSNorm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286750" y="33813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8254365" y="33880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0" y="34671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042" y="3587591"/>
              <a:ext cx="1441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GQA + RoPE（作用在 Q,K）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286750" y="3800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8254365" y="38071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0" y="38862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E3061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24684" y="400669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⊕ 残差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286750" y="42195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8254365" y="42262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0" y="43053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39825" y="4425791"/>
              <a:ext cx="4938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RMSNorm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286750" y="46386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8254365" y="46453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58000" y="47244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82342" y="4844891"/>
              <a:ext cx="608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SwiGLU FFN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286750" y="50577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254365" y="5064442"/>
              <a:ext cx="64770" cy="79057"/>
            </a:xfrm>
            <a:custGeom>
              <a:avLst/>
              <a:gdLst/>
              <a:ahLst/>
              <a:cxnLst/>
              <a:rect l="l" t="t" r="r" b="b"/>
              <a:pathLst>
                <a:path w="64770" h="79057">
                  <a:moveTo>
                    <a:pt x="32385" y="79057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0" y="51435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E3061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24684" y="526399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⊕ 残差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286750" y="54768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9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254365" y="5483542"/>
              <a:ext cx="64770" cy="79057"/>
            </a:xfrm>
            <a:custGeom>
              <a:avLst/>
              <a:gdLst/>
              <a:ahLst/>
              <a:cxnLst/>
              <a:rect l="l" t="t" r="r" b="b"/>
              <a:pathLst>
                <a:path w="64770" h="79057">
                  <a:moveTo>
                    <a:pt x="32385" y="79057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58000" y="5562600"/>
              <a:ext cx="2857500" cy="3429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86985" y="5683091"/>
              <a:ext cx="3995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Output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4476750" y="4095750"/>
              <a:ext cx="2009775" cy="9525"/>
            </a:xfrm>
            <a:custGeom>
              <a:avLst/>
              <a:gdLst/>
              <a:ahLst/>
              <a:cxnLst/>
              <a:rect l="l" t="t" r="r" b="b"/>
              <a:pathLst>
                <a:path w="2009775" h="9525">
                  <a:moveTo>
                    <a:pt x="0" y="0"/>
                  </a:moveTo>
                  <a:lnTo>
                    <a:pt x="2009775" y="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6493192" y="4063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022990" y="386381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骨干相同，处处精修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479327" y="6006941"/>
              <a:ext cx="2090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残差在两列中都存在；右侧把它显式画成 ⊕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8" name="TextBox 68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507309" cy="738854"/>
            <a:chOff x="595122" y="501491"/>
            <a:chExt cx="450730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混合架构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50730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趋势：3:1 混合记忆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固定状态记忆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24571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KDA / GDN 固定大小 Memory State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吸收绝大多数历史信息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稀疏全局检索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2074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每隔数层用 MLA / DSA / QSA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做一次精确长程检索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教训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2577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MiniMax：线性注意力多跳推理损信息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分层记忆而非替代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751897" cy="738854"/>
            <a:chOff x="595122" y="501491"/>
            <a:chExt cx="475189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生产映射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75189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生产模型架构映射（2026）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55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关键创新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823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DeepSeek-V3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3554" y="2323624"/>
              <a:ext cx="1144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Decoder-only MoE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56518" y="2323624"/>
              <a:ext cx="17941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MLA + FP8 + 免辅助损失路由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471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Qwen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0021" y="3085624"/>
              <a:ext cx="851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Decoder-only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7822" y="3085624"/>
              <a:ext cx="13315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GQA + SwiGLU + YaRN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733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Nemotron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79081" y="3847624"/>
              <a:ext cx="10338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Mamba 混合 MoE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1291" y="3847624"/>
              <a:ext cx="21046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Mamba-2 + Attention，1M 上下文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1002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Mistral Large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23554" y="4609624"/>
              <a:ext cx="1144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Decoder-only MoE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9852" y="4609624"/>
              <a:ext cx="1487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滑窗注意力 + GQA/MQA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371624"/>
              <a:ext cx="1095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GPT-5.x / Claude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70021" y="5371624"/>
              <a:ext cx="851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Decoder-only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47533" y="5371624"/>
              <a:ext cx="1412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闭源；疑似 GQA / MoE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4469130" cy="322707"/>
            <a:chOff x="601218" y="1898332"/>
            <a:chExt cx="4469130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解析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总览 / 编码器 / 解码器 / 交叉注意力 / 训练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4201227" cy="322707"/>
            <a:chOff x="601218" y="2431732"/>
            <a:chExt cx="4201227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优化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3705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头演进 / MLA / FlashAttention / KV 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583115" cy="322707"/>
            <a:chOff x="6468618" y="1898332"/>
            <a:chExt cx="3583115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优化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3087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位置编码 / 现代 Norm / 混合架构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5319442" cy="322707"/>
            <a:chOff x="6468618" y="2431732"/>
            <a:chExt cx="531944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4823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李宏毅讲义 · Vaswani 2017 · Raschka 2026 · arXiv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1440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Transformer 架构深度解析与优化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ransformer_adv_k">
  <a:themeElements>
    <a:clrScheme name="transformer_adv_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ansformer_adv_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nsformer_adv_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2026-09-01T05:16:30Z</dcterms:created>
  <dcterms:modified xsi:type="dcterms:W3CDTF">2026-09-01T05:16:30Z</dcterms:modified>
  <cp:category/>
  <cp:contentStatus/>
</cp:coreProperties>
</file>