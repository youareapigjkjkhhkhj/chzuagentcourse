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harnesseng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harnesseng_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2209800"/>
            <a:ext cx="95250" cy="1981200"/>
          </a:xfrm>
          <a:prstGeom prst="rect">
            <a:avLst/>
          </a:prstGeom>
          <a:solidFill>
            <a:srgbClr val="E30613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895350" y="2295049"/>
            <a:ext cx="8288020" cy="1493996"/>
            <a:chOff x="895350" y="2295049"/>
            <a:chExt cx="8288020" cy="1493996"/>
          </a:xfrm>
        </p:grpSpPr>
        <p:sp>
          <p:nvSpPr>
            <p:cNvPr id="3" name="TextBox 3"/>
            <p:cNvSpPr txBox="1"/>
            <p:nvPr/>
          </p:nvSpPr>
          <p:spPr>
            <a:xfrm>
              <a:off x="909447" y="2295049"/>
              <a:ext cx="27010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225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EDUCATIONAL SERIES · 进阶版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5350" y="2708910"/>
              <a:ext cx="82880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Harness Engineering 驾驭工程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6780" y="3495675"/>
              <a:ext cx="62968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Agent = Model + Harness：把模型智能变成可交付的生产力（2026）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4266" y="5943600"/>
            <a:ext cx="10983469" cy="358711"/>
            <a:chOff x="604266" y="5943600"/>
            <a:chExt cx="10983469" cy="358711"/>
          </a:xfrm>
        </p:grpSpPr>
        <p:sp>
          <p:nvSpPr>
            <p:cNvPr id="7" name="Line 7"/>
            <p:cNvSpPr/>
            <p:nvPr/>
          </p:nvSpPr>
          <p:spPr>
            <a:xfrm>
              <a:off x="609600" y="594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4266" y="6096952"/>
              <a:ext cx="1713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AIGC 教育平台 · 课程讲义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799636" y="6096952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2026-08-31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563624" cy="738854"/>
            <a:chOff x="595122" y="501491"/>
            <a:chExt cx="156362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本讲目录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3595279" cy="322707"/>
            <a:chOff x="601218" y="1898332"/>
            <a:chExt cx="3595279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7280" y="1914525"/>
              <a:ext cx="30992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第三代范式：为什么需要 Harness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2984591" cy="322707"/>
            <a:chOff x="601218" y="2431732"/>
            <a:chExt cx="2984591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7280" y="2447925"/>
              <a:ext cx="24885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Harness 解剖：五层能力栈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2965132"/>
            <a:ext cx="3178302" cy="322707"/>
            <a:chOff x="601218" y="2965132"/>
            <a:chExt cx="3178302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7280" y="2981325"/>
              <a:ext cx="26822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运行机理：REPL 与工具调用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1218" y="3498532"/>
            <a:ext cx="2732532" cy="322707"/>
            <a:chOff x="601218" y="3498532"/>
            <a:chExt cx="2732532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012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7280" y="35147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硬证据：不改模型涨多少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8618" y="1898332"/>
            <a:ext cx="2530602" cy="322707"/>
            <a:chOff x="6468618" y="1898332"/>
            <a:chExt cx="2530602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64686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64680" y="19145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记忆与上下文：四道闸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8618" y="2431732"/>
            <a:ext cx="2934462" cy="322707"/>
            <a:chOff x="6468618" y="2431732"/>
            <a:chExt cx="2934462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4686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64680" y="24479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沙箱与安全：能力风险权衡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68618" y="2965132"/>
            <a:ext cx="2376392" cy="322707"/>
            <a:chOff x="6468618" y="2965132"/>
            <a:chExt cx="2376392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4686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4680" y="2981325"/>
              <a:ext cx="188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工具箱与 Skills 复用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68618" y="3498532"/>
            <a:ext cx="2328672" cy="322707"/>
            <a:chOff x="6468618" y="3498532"/>
            <a:chExt cx="2328672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64686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64680" y="35147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诊断、度量与反模式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0" name="TextBox 30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Harness Engineering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551295" cy="738854"/>
            <a:chOff x="595122" y="501491"/>
            <a:chExt cx="655129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范式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55129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四层范式：每一层回答一个不同的问题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754755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时间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07964" y="17535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回答什么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02524" y="17535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核心技能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97084" y="17535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工作单元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80847" y="2323624"/>
              <a:ext cx="8114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Prompt Eng.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69966" y="2323624"/>
              <a:ext cx="6629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2022–2024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95264" y="23236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这一轮怎么说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55788" y="23236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语言精确性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093968" y="2323624"/>
              <a:ext cx="7823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一条 Prompt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2762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0847" y="3085624"/>
              <a:ext cx="8571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Context Eng.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69966" y="3085624"/>
              <a:ext cx="6629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2024–2025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29300" y="30856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这一轮看到什么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21752" y="3085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数据工程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18420" y="30856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一个上下文窗口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09600" y="3524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0847" y="3847624"/>
              <a:ext cx="8571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Harness Eng.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65614" y="3847624"/>
              <a:ext cx="4716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2026 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97373" y="38476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能干什么不能干什么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21752" y="3847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系统设计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084384" y="38476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一整套运行时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9600" y="4286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0847" y="4609624"/>
              <a:ext cx="11605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Loop / Graph Eng.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94108" y="4609624"/>
              <a:ext cx="8146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2026-06 / 07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695264" y="46096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怎么自主推进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55788" y="46096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控制流设计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952457" y="46096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一次迭代或一张图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09600" y="5048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0847" y="5371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边界判据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489967" y="5371624"/>
              <a:ext cx="8229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Hugging Face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549095" y="5371624"/>
              <a:ext cx="10938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Harness 控制循环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10660" y="5371624"/>
              <a:ext cx="13597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Context 控制每轮输入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084384" y="53716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两层不可互吞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5" name="TextBox 45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Harness Engineering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645760" cy="738854"/>
            <a:chOff x="595122" y="501491"/>
            <a:chExt cx="564576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公式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6457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Agent = Model + Harness 解剖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1042988" y="1952625"/>
            <a:ext cx="10101262" cy="3835241"/>
            <a:chOff x="1042988" y="1952625"/>
            <a:chExt cx="10101262" cy="3835241"/>
          </a:xfrm>
        </p:grpSpPr>
        <p:sp>
          <p:nvSpPr>
            <p:cNvPr id="6" name="Rectangle 6"/>
            <p:cNvSpPr/>
            <p:nvPr/>
          </p:nvSpPr>
          <p:spPr>
            <a:xfrm>
              <a:off x="1047750" y="1952625"/>
              <a:ext cx="3143250" cy="685800"/>
            </a:xfrm>
            <a:prstGeom prst="roundRect">
              <a:avLst>
                <a:gd name="adj" fmla="val 4167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95197" y="20950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系统提示词装配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95388" y="2290762"/>
              <a:ext cx="122630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System Prompt Assembly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95388" y="2454116"/>
              <a:ext cx="11465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角色 · 范围 · 禁止动作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47750" y="2790825"/>
              <a:ext cx="3143250" cy="685800"/>
            </a:xfrm>
            <a:prstGeom prst="roundRect">
              <a:avLst>
                <a:gd name="adj" fmla="val 4167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95197" y="29332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工具注册与调度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95388" y="3128962"/>
              <a:ext cx="120084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Tool Registry &amp; Dispatch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95388" y="3292316"/>
              <a:ext cx="11015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Schema · 命名 · 路由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47750" y="3629025"/>
              <a:ext cx="3143250" cy="685800"/>
            </a:xfrm>
            <a:prstGeom prst="roundRect">
              <a:avLst>
                <a:gd name="adj" fmla="val 4167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95197" y="37714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权限与策略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95388" y="3967162"/>
              <a:ext cx="99540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Permissions &amp; Policy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95388" y="4130516"/>
              <a:ext cx="15712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allow / deny · OPA · 审批闸门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01000" y="1952625"/>
              <a:ext cx="3143250" cy="685800"/>
            </a:xfrm>
            <a:prstGeom prst="roundRect">
              <a:avLst>
                <a:gd name="adj" fmla="val 4167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48447" y="20950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沙箱与工作区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48638" y="2290762"/>
              <a:ext cx="104157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Sandbox &amp; Workspace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8638" y="2454116"/>
              <a:ext cx="1367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容器 · 资源限额 · 网络隔离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001000" y="2790825"/>
              <a:ext cx="3143250" cy="685800"/>
            </a:xfrm>
            <a:prstGeom prst="roundRect">
              <a:avLst>
                <a:gd name="adj" fmla="val 4167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48447" y="29332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上下文窗口管理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48638" y="3128962"/>
              <a:ext cx="108024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Context Window Mgmt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48638" y="3292316"/>
              <a:ext cx="11465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压缩 · 卸载 · 即时检索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001000" y="3629025"/>
              <a:ext cx="3143250" cy="685800"/>
            </a:xfrm>
            <a:prstGeom prst="roundRect">
              <a:avLst>
                <a:gd name="adj" fmla="val 4167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148447" y="37714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记忆持久化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48638" y="3967162"/>
              <a:ext cx="100557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Memory Persistence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48638" y="4130516"/>
              <a:ext cx="124421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AGENTS.md · 日志 · git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762500" y="3048000"/>
              <a:ext cx="2667000" cy="952500"/>
            </a:xfrm>
            <a:prstGeom prst="roundRect">
              <a:avLst>
                <a:gd name="adj" fmla="val 3000"/>
              </a:avLst>
            </a:prstGeom>
            <a:solidFill>
              <a:srgbClr val="E30613"/>
            </a:solidFill>
            <a:ln w="9525">
              <a:solidFill>
                <a:srgbClr val="999999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40792" y="3253264"/>
              <a:ext cx="910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Model 模型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15759" y="3549491"/>
              <a:ext cx="15604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只做一件事：预测下一个 token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68373" y="3748088"/>
              <a:ext cx="165525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不碰文件系统 · 不持密钥 · 不落审计</a:t>
              </a:r>
            </a:p>
          </p:txBody>
        </p:sp>
        <p:sp>
          <p:nvSpPr>
            <p:cNvPr id="34" name="Polyline 34"/>
            <p:cNvSpPr/>
            <p:nvPr/>
          </p:nvSpPr>
          <p:spPr>
            <a:xfrm>
              <a:off x="4191000" y="2295525"/>
              <a:ext cx="533400" cy="1057275"/>
            </a:xfrm>
            <a:custGeom>
              <a:avLst/>
              <a:gdLst/>
              <a:ahLst/>
              <a:cxnLst/>
              <a:rect l="l" t="t" r="r" b="b"/>
              <a:pathLst>
                <a:path w="533400" h="1057275">
                  <a:moveTo>
                    <a:pt x="0" y="0"/>
                  </a:moveTo>
                  <a:lnTo>
                    <a:pt x="285750" y="0"/>
                  </a:lnTo>
                  <a:lnTo>
                    <a:pt x="285750" y="1057275"/>
                  </a:lnTo>
                  <a:lnTo>
                    <a:pt x="533400" y="1057275"/>
                  </a:lnTo>
                </a:path>
              </a:pathLst>
            </a:custGeom>
            <a:noFill/>
            <a:ln w="15240">
              <a:solidFill>
                <a:srgbClr val="1A1A1A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4645342" y="33204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4191000" y="3133725"/>
              <a:ext cx="447675" cy="9525"/>
            </a:xfrm>
            <a:custGeom>
              <a:avLst/>
              <a:gdLst/>
              <a:ahLst/>
              <a:cxnLst/>
              <a:rect l="l" t="t" r="r" b="b"/>
              <a:pathLst>
                <a:path w="447675" h="9525">
                  <a:moveTo>
                    <a:pt x="0" y="0"/>
                  </a:moveTo>
                  <a:lnTo>
                    <a:pt x="4476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4645342" y="31013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8" name="Polyline 38"/>
            <p:cNvSpPr/>
            <p:nvPr/>
          </p:nvSpPr>
          <p:spPr>
            <a:xfrm>
              <a:off x="4191000" y="3695700"/>
              <a:ext cx="533400" cy="276225"/>
            </a:xfrm>
            <a:custGeom>
              <a:avLst/>
              <a:gdLst/>
              <a:ahLst/>
              <a:cxnLst/>
              <a:rect l="l" t="t" r="r" b="b"/>
              <a:pathLst>
                <a:path w="533400" h="276225">
                  <a:moveTo>
                    <a:pt x="0" y="276225"/>
                  </a:moveTo>
                  <a:lnTo>
                    <a:pt x="285750" y="276225"/>
                  </a:lnTo>
                  <a:lnTo>
                    <a:pt x="285750" y="0"/>
                  </a:lnTo>
                  <a:lnTo>
                    <a:pt x="533400" y="0"/>
                  </a:lnTo>
                </a:path>
              </a:pathLst>
            </a:custGeom>
            <a:noFill/>
            <a:ln w="15240">
              <a:solidFill>
                <a:srgbClr val="1A1A1A"/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4645342" y="36633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0" name="Polyline 40"/>
            <p:cNvSpPr/>
            <p:nvPr/>
          </p:nvSpPr>
          <p:spPr>
            <a:xfrm>
              <a:off x="7467600" y="2295525"/>
              <a:ext cx="533400" cy="1057275"/>
            </a:xfrm>
            <a:custGeom>
              <a:avLst/>
              <a:gdLst/>
              <a:ahLst/>
              <a:cxnLst/>
              <a:rect l="l" t="t" r="r" b="b"/>
              <a:pathLst>
                <a:path w="533400" h="1057275">
                  <a:moveTo>
                    <a:pt x="533400" y="0"/>
                  </a:moveTo>
                  <a:lnTo>
                    <a:pt x="247650" y="0"/>
                  </a:lnTo>
                  <a:lnTo>
                    <a:pt x="247650" y="1057275"/>
                  </a:lnTo>
                  <a:lnTo>
                    <a:pt x="0" y="1057275"/>
                  </a:lnTo>
                </a:path>
              </a:pathLst>
            </a:custGeom>
            <a:noFill/>
            <a:ln w="15240">
              <a:solidFill>
                <a:srgbClr val="1A1A1A"/>
              </a:solidFill>
            </a:ln>
          </p:spPr>
        </p:sp>
        <p:sp>
          <p:nvSpPr>
            <p:cNvPr id="41" name="Polygon 41"/>
            <p:cNvSpPr/>
            <p:nvPr/>
          </p:nvSpPr>
          <p:spPr>
            <a:xfrm>
              <a:off x="7467600" y="33204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0" y="32385"/>
                  </a:moveTo>
                  <a:lnTo>
                    <a:pt x="79057" y="0"/>
                  </a:lnTo>
                  <a:lnTo>
                    <a:pt x="79057" y="6477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2" name="Line 42"/>
            <p:cNvSpPr/>
            <p:nvPr/>
          </p:nvSpPr>
          <p:spPr>
            <a:xfrm>
              <a:off x="7553325" y="3133725"/>
              <a:ext cx="447675" cy="9525"/>
            </a:xfrm>
            <a:custGeom>
              <a:avLst/>
              <a:gdLst/>
              <a:ahLst/>
              <a:cxnLst/>
              <a:rect l="l" t="t" r="r" b="b"/>
              <a:pathLst>
                <a:path w="447675" h="9525">
                  <a:moveTo>
                    <a:pt x="44767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43" name="Polygon 43"/>
            <p:cNvSpPr/>
            <p:nvPr/>
          </p:nvSpPr>
          <p:spPr>
            <a:xfrm>
              <a:off x="7467600" y="31013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0" y="32385"/>
                  </a:moveTo>
                  <a:lnTo>
                    <a:pt x="79057" y="0"/>
                  </a:lnTo>
                  <a:lnTo>
                    <a:pt x="79057" y="6477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4" name="Polyline 44"/>
            <p:cNvSpPr/>
            <p:nvPr/>
          </p:nvSpPr>
          <p:spPr>
            <a:xfrm>
              <a:off x="7467600" y="3695700"/>
              <a:ext cx="533400" cy="276225"/>
            </a:xfrm>
            <a:custGeom>
              <a:avLst/>
              <a:gdLst/>
              <a:ahLst/>
              <a:cxnLst/>
              <a:rect l="l" t="t" r="r" b="b"/>
              <a:pathLst>
                <a:path w="533400" h="276225">
                  <a:moveTo>
                    <a:pt x="533400" y="276225"/>
                  </a:moveTo>
                  <a:lnTo>
                    <a:pt x="247650" y="276225"/>
                  </a:lnTo>
                  <a:lnTo>
                    <a:pt x="247650" y="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A1A1A"/>
              </a:solidFill>
            </a:ln>
          </p:spPr>
        </p:sp>
        <p:sp>
          <p:nvSpPr>
            <p:cNvPr id="45" name="Polygon 45"/>
            <p:cNvSpPr/>
            <p:nvPr/>
          </p:nvSpPr>
          <p:spPr>
            <a:xfrm>
              <a:off x="7467600" y="36633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0" y="32385"/>
                  </a:moveTo>
                  <a:lnTo>
                    <a:pt x="79057" y="0"/>
                  </a:lnTo>
                  <a:lnTo>
                    <a:pt x="79057" y="6477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47750" y="4667250"/>
              <a:ext cx="3238500" cy="6858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13335">
              <a:solidFill>
                <a:srgbClr val="1A1A1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95197" y="4809649"/>
              <a:ext cx="8697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子 agent 编排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95388" y="5005388"/>
              <a:ext cx="126316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Sub-agent Orchestration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95388" y="5168741"/>
              <a:ext cx="17647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独立 system prompt 与上下文窗口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476750" y="4667250"/>
              <a:ext cx="3238500" cy="6858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13335">
              <a:solidFill>
                <a:srgbClr val="1A1A1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624197" y="48096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评估与观测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624388" y="5005388"/>
              <a:ext cx="105092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Evals &amp; Observability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624388" y="5168741"/>
              <a:ext cx="16708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trace · 成本 · 每次成功完成成本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905750" y="4667250"/>
              <a:ext cx="3238500" cy="6858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13335">
              <a:solidFill>
                <a:srgbClr val="1A1A1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053197" y="48096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约束校验与恢复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53388" y="5005388"/>
              <a:ext cx="82937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Verify &amp; Recover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053388" y="5168741"/>
              <a:ext cx="14776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反压验证 · 检查点 · 人工上报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2714625" y="4305300"/>
              <a:ext cx="6810375" cy="9525"/>
            </a:xfrm>
            <a:custGeom>
              <a:avLst/>
              <a:gdLst/>
              <a:ahLst/>
              <a:cxnLst/>
              <a:rect l="l" t="t" r="r" b="b"/>
              <a:pathLst>
                <a:path w="6810375" h="9525">
                  <a:moveTo>
                    <a:pt x="0" y="0"/>
                  </a:moveTo>
                  <a:lnTo>
                    <a:pt x="6810375" y="0"/>
                  </a:lnTo>
                </a:path>
              </a:pathLst>
            </a:custGeom>
            <a:noFill/>
            <a:ln w="11430">
              <a:solidFill>
                <a:srgbClr val="999999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6096000" y="40005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11430">
              <a:solidFill>
                <a:srgbClr val="999999"/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2714625" y="430530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61" name="Polygon 61"/>
            <p:cNvSpPr/>
            <p:nvPr/>
          </p:nvSpPr>
          <p:spPr>
            <a:xfrm>
              <a:off x="2682240" y="45500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62" name="Line 62"/>
            <p:cNvSpPr/>
            <p:nvPr/>
          </p:nvSpPr>
          <p:spPr>
            <a:xfrm>
              <a:off x="9525000" y="430530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63" name="Polygon 63"/>
            <p:cNvSpPr/>
            <p:nvPr/>
          </p:nvSpPr>
          <p:spPr>
            <a:xfrm>
              <a:off x="9492615" y="45500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42988" y="5625941"/>
              <a:ext cx="377522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野马隐喻（Hashimoto）：不去改马的基因，而是给它配缰绳、马鞍与训练法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66" name="TextBox 66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Harness Engineering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4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632960" cy="738854"/>
            <a:chOff x="595122" y="501491"/>
            <a:chExt cx="463296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词源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6329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词源、出处与三条权威定义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8474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2026-02-05 概念首提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307431"/>
              <a:ext cx="24980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HashiCorp 联创 Mitchell Hashimoto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555081"/>
              <a:ext cx="20242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每当发现 agent 犯错，就设计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80273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一个方案让它不再犯同样的错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305038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核心是工程化修复，不是调提示词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03242" y="1892618"/>
              <a:ext cx="18474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2026-02-11 官方定调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307431"/>
              <a:ext cx="19964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OpenAI 发布 Codex 实践文章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55508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人类掌舵，智能体执行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04385" y="280273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把该词带入主流技术词汇表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04385" y="3050381"/>
              <a:ext cx="2005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Martin Fowler 撰文加速传播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2" name="Rectangle 22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75142" y="1892618"/>
              <a:ext cx="1532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2026-04 中文定名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30743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一般译为「驾驭工程」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76285" y="255508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野马与缰绳的隐喻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76285" y="280273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不改马的基因，改马具与训练法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76285" y="30503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第三次重心转移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30" name="Rectangle 30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6018" y="4050982"/>
              <a:ext cx="60907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配好 harness 的普通模型，胜过配了烂 harness 的顶级模型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8304" y="4947285"/>
              <a:ext cx="64313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Addy Osmani（Google，2026-04）；Hugging Face：harness 是 agent 内部的执行层。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4" name="TextBox 34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Harness Engineering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249293" cy="738854"/>
            <a:chOff x="595122" y="501491"/>
            <a:chExt cx="424929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结构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五层能力栈与成熟度断层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1042988" y="2000250"/>
            <a:ext cx="10101262" cy="4025741"/>
            <a:chOff x="1042988" y="2000250"/>
            <a:chExt cx="10101262" cy="4025741"/>
          </a:xfrm>
        </p:grpSpPr>
        <p:sp>
          <p:nvSpPr>
            <p:cNvPr id="6" name="Rectangle 6"/>
            <p:cNvSpPr/>
            <p:nvPr/>
          </p:nvSpPr>
          <p:spPr>
            <a:xfrm>
              <a:off x="1047750" y="2000250"/>
              <a:ext cx="5905500" cy="666750"/>
            </a:xfrm>
            <a:prstGeom prst="roundRect">
              <a:avLst>
                <a:gd name="adj" fmla="val 4286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047750" y="2000250"/>
              <a:ext cx="57150" cy="6667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32916" y="2172652"/>
              <a:ext cx="14498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5 Observability 观测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33488" y="2425541"/>
              <a:ext cx="14445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不知道它干了什么、花了多少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124700" y="2000250"/>
              <a:ext cx="2857500" cy="66675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9525">
              <a:solidFill>
                <a:srgbClr val="99999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272338" y="2330291"/>
              <a:ext cx="15715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session logs · 成本追踪 · 审计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153650" y="2000250"/>
              <a:ext cx="990600" cy="66675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1430">
              <a:solidFill>
                <a:srgbClr val="E3061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462450" y="232219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多数缺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47750" y="2781300"/>
              <a:ext cx="5905500" cy="666750"/>
            </a:xfrm>
            <a:prstGeom prst="roundRect">
              <a:avLst>
                <a:gd name="adj" fmla="val 4286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047750" y="2781300"/>
              <a:ext cx="57150" cy="6667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32916" y="2953702"/>
              <a:ext cx="8819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4 Hooks 钩子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33488" y="3206591"/>
              <a:ext cx="12237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上下文压力下指令被忽略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124700" y="2781300"/>
              <a:ext cx="2857500" cy="66675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9525">
              <a:solidFill>
                <a:srgbClr val="99999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72338" y="3111341"/>
              <a:ext cx="13780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PreToolUse / PostToolUse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0153650" y="2781300"/>
              <a:ext cx="990600" cy="66675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1430">
              <a:solidFill>
                <a:srgbClr val="E3061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462450" y="310324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多数缺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47750" y="3562350"/>
              <a:ext cx="5905500" cy="666750"/>
            </a:xfrm>
            <a:prstGeom prst="roundRect">
              <a:avLst>
                <a:gd name="adj" fmla="val 4286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47750" y="3562350"/>
              <a:ext cx="57150" cy="6667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32916" y="3734752"/>
              <a:ext cx="13241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3 Permissions 权限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33488" y="3987641"/>
              <a:ext cx="12237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改敏感文件、跑危险命令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124700" y="3562350"/>
              <a:ext cx="2857500" cy="66675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9525">
              <a:solidFill>
                <a:srgbClr val="999999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72338" y="3892391"/>
              <a:ext cx="141697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settings.json allow / deny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0153650" y="3562350"/>
              <a:ext cx="990600" cy="66675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1430">
              <a:solidFill>
                <a:srgbClr val="E30613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462450" y="388429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多数缺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47750" y="4343400"/>
              <a:ext cx="5905500" cy="666750"/>
            </a:xfrm>
            <a:prstGeom prst="roundRect">
              <a:avLst>
                <a:gd name="adj" fmla="val 4286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047750" y="4343400"/>
              <a:ext cx="57150" cy="66675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232916" y="4515802"/>
              <a:ext cx="8444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2 Tools 工具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33488" y="4768691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够不着外部系统与服务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124700" y="4343400"/>
              <a:ext cx="2857500" cy="66675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9525">
              <a:solidFill>
                <a:srgbClr val="999999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72338" y="4673441"/>
              <a:ext cx="137351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MCP servers · 自定义工具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0153650" y="4343400"/>
              <a:ext cx="990600" cy="66675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1430">
              <a:solidFill>
                <a:srgbClr val="DDDDDD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462450" y="466534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部分有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047750" y="5124450"/>
              <a:ext cx="5905500" cy="666750"/>
            </a:xfrm>
            <a:prstGeom prst="roundRect">
              <a:avLst>
                <a:gd name="adj" fmla="val 4286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47750" y="5124450"/>
              <a:ext cx="57150" cy="66675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232916" y="5296852"/>
              <a:ext cx="10226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1 Memory 记忆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233488" y="5549741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每会话都忘记你的约定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124700" y="5124450"/>
              <a:ext cx="2857500" cy="66675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9525">
              <a:solidFill>
                <a:srgbClr val="999999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72338" y="5454491"/>
              <a:ext cx="13961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CLAUDE.md · MEMORY.md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153650" y="5124450"/>
              <a:ext cx="990600" cy="66675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1430">
              <a:solidFill>
                <a:srgbClr val="DDDDDD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462450" y="544639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普遍有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42988" y="5864066"/>
              <a:ext cx="313351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多数团队停在第 1 层和第 2 层的一部分，把三层可靠性留在桌上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8" name="TextBox 48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Harness Engineering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6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400342" cy="738854"/>
            <a:chOff x="595122" y="501491"/>
            <a:chExt cx="640034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机理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40034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Harness = 带边界控制的 REPL 容器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042988" y="2047875"/>
            <a:ext cx="9815512" cy="3454241"/>
            <a:chOff x="1042988" y="2047875"/>
            <a:chExt cx="9815512" cy="3454241"/>
          </a:xfrm>
        </p:grpSpPr>
        <p:sp>
          <p:nvSpPr>
            <p:cNvPr id="6" name="Rectangle 6"/>
            <p:cNvSpPr/>
            <p:nvPr/>
          </p:nvSpPr>
          <p:spPr>
            <a:xfrm>
              <a:off x="1047750" y="2047875"/>
              <a:ext cx="2238375" cy="1571625"/>
            </a:xfrm>
            <a:prstGeom prst="roundRect">
              <a:avLst>
                <a:gd name="adj" fmla="val 1818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047750" y="2047875"/>
              <a:ext cx="2238375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94816" y="2248852"/>
              <a:ext cx="6736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Read 读取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95388" y="249364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上下文管理器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95388" y="2825591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把外部世界与内部记忆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95388" y="3035141"/>
              <a:ext cx="11015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翻译成结构化 Prompt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95388" y="3358991"/>
              <a:ext cx="3468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 感知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286125" y="282892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3454718" y="27965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571875" y="2047875"/>
              <a:ext cx="2238375" cy="1571625"/>
            </a:xfrm>
            <a:prstGeom prst="roundRect">
              <a:avLst>
                <a:gd name="adj" fmla="val 1818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571875" y="2047875"/>
              <a:ext cx="2238375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718941" y="2248852"/>
              <a:ext cx="6360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Eval 执行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19512" y="24936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调用拦截器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19512" y="2825591"/>
              <a:ext cx="11299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捕获意图 → 路由到工具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19512" y="3035141"/>
              <a:ext cx="11465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超时 · 配额 · 错误捕获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19512" y="3358991"/>
              <a:ext cx="8251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 规划 → A 行动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810250" y="282892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5978842" y="27965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96000" y="2047875"/>
              <a:ext cx="2238375" cy="1571625"/>
            </a:xfrm>
            <a:prstGeom prst="roundRect">
              <a:avLst>
                <a:gd name="adj" fmla="val 1818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96000" y="2047875"/>
              <a:ext cx="2238375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43066" y="2248852"/>
              <a:ext cx="716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Print 反馈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43638" y="24936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反馈汇编器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43638" y="2825591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成功数据或异常封装成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43638" y="3035141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结构化观测回灌上下文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43638" y="3358991"/>
              <a:ext cx="3468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F 反思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8334375" y="282892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8502968" y="27965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620125" y="2047875"/>
              <a:ext cx="2238375" cy="1571625"/>
            </a:xfrm>
            <a:prstGeom prst="roundRect">
              <a:avLst>
                <a:gd name="adj" fmla="val 1818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620125" y="2047875"/>
              <a:ext cx="2238375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767191" y="2248852"/>
              <a:ext cx="6736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Loop 循环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767762" y="24936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终止判定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67762" y="2825591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达到目标或触发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67762" y="3035141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停止条件即退出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67762" y="3358991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驱动下一轮</a:t>
              </a:r>
            </a:p>
          </p:txBody>
        </p:sp>
        <p:sp>
          <p:nvSpPr>
            <p:cNvPr id="40" name="Polyline 40"/>
            <p:cNvSpPr/>
            <p:nvPr/>
          </p:nvSpPr>
          <p:spPr>
            <a:xfrm>
              <a:off x="2162175" y="3657600"/>
              <a:ext cx="7762875" cy="1123950"/>
            </a:xfrm>
            <a:custGeom>
              <a:avLst/>
              <a:gdLst/>
              <a:ahLst/>
              <a:cxnLst/>
              <a:rect l="l" t="t" r="r" b="b"/>
              <a:pathLst>
                <a:path w="7762875" h="1123950">
                  <a:moveTo>
                    <a:pt x="7762875" y="0"/>
                  </a:moveTo>
                  <a:lnTo>
                    <a:pt x="7762875" y="1123950"/>
                  </a:lnTo>
                  <a:lnTo>
                    <a:pt x="0" y="1123950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41" name="Polygon 41"/>
            <p:cNvSpPr/>
            <p:nvPr/>
          </p:nvSpPr>
          <p:spPr>
            <a:xfrm>
              <a:off x="2129790" y="365760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160505" y="4882991"/>
              <a:ext cx="17757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循环：直到达成目标或触发终止条件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42988" y="5340191"/>
              <a:ext cx="47827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本质：用确定的工程外壳，包裹非确定的 LLM 大脑 —— Harness 是 REPL，模型只是其中的 Eval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5" name="TextBox 45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Harness Engineering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7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632960" cy="738854"/>
            <a:chOff x="595122" y="501491"/>
            <a:chExt cx="463296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链路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6329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工具调用生命周期与失败面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1042988" y="1952625"/>
            <a:ext cx="10006012" cy="3378041"/>
            <a:chOff x="1042988" y="1952625"/>
            <a:chExt cx="10006012" cy="3378041"/>
          </a:xfrm>
        </p:grpSpPr>
        <p:sp>
          <p:nvSpPr>
            <p:cNvPr id="6" name="Rectangle 6"/>
            <p:cNvSpPr/>
            <p:nvPr/>
          </p:nvSpPr>
          <p:spPr>
            <a:xfrm>
              <a:off x="1047750" y="1952625"/>
              <a:ext cx="2286000" cy="904875"/>
            </a:xfrm>
            <a:prstGeom prst="roundRect">
              <a:avLst>
                <a:gd name="adj" fmla="val 3158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76147" y="2104549"/>
              <a:ext cx="10596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Schema 序列化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76338" y="2368391"/>
              <a:ext cx="165540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工具 JSON Schema 注入 Prompt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76338" y="2624138"/>
              <a:ext cx="31242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失败面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47750" y="3143250"/>
              <a:ext cx="2286000" cy="142875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99999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76338" y="3320891"/>
              <a:ext cx="11299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工具过多 → 上下文饱和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181100" y="3619500"/>
              <a:ext cx="2019300" cy="9525"/>
            </a:xfrm>
            <a:custGeom>
              <a:avLst/>
              <a:gdLst/>
              <a:ahLst/>
              <a:cxnLst/>
              <a:rect l="l" t="t" r="r" b="b"/>
              <a:pathLst>
                <a:path w="2019300" h="9525">
                  <a:moveTo>
                    <a:pt x="0" y="0"/>
                  </a:moveTo>
                  <a:lnTo>
                    <a:pt x="20193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76338" y="376713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降级路径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76338" y="3987641"/>
              <a:ext cx="12575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只启用 2–3 个 MCP 工具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333750" y="24003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3502342" y="23679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3619500" y="1952625"/>
              <a:ext cx="2286000" cy="904875"/>
            </a:xfrm>
            <a:prstGeom prst="roundRect">
              <a:avLst>
                <a:gd name="adj" fmla="val 3158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47897" y="2104549"/>
              <a:ext cx="6553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触发生成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48088" y="2368391"/>
              <a:ext cx="89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模型输出调用文本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48088" y="2624138"/>
              <a:ext cx="31242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失败面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619500" y="3143250"/>
              <a:ext cx="2286000" cy="142875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999999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48088" y="3320891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幻觉出不存在的工具名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3752850" y="3619500"/>
              <a:ext cx="2019300" cy="9525"/>
            </a:xfrm>
            <a:custGeom>
              <a:avLst/>
              <a:gdLst/>
              <a:ahLst/>
              <a:cxnLst/>
              <a:rect l="l" t="t" r="r" b="b"/>
              <a:pathLst>
                <a:path w="2019300" h="9525">
                  <a:moveTo>
                    <a:pt x="0" y="0"/>
                  </a:moveTo>
                  <a:lnTo>
                    <a:pt x="20193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748088" y="376713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降级路径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48088" y="3987641"/>
              <a:ext cx="12296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Schema 约束 · 拒绝重试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5905500" y="24003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6074092" y="23679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191250" y="1952625"/>
              <a:ext cx="2286000" cy="904875"/>
            </a:xfrm>
            <a:prstGeom prst="roundRect">
              <a:avLst>
                <a:gd name="adj" fmla="val 3158"/>
              </a:avLst>
            </a:prstGeom>
            <a:solidFill>
              <a:srgbClr val="F5F5F5"/>
            </a:solidFill>
            <a:ln w="17145">
              <a:solidFill>
                <a:srgbClr val="E30613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19647" y="2104549"/>
              <a:ext cx="10511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③ 确定性反序列化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19838" y="2368391"/>
              <a:ext cx="11299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文本 → 结构化调用请求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19838" y="2624138"/>
              <a:ext cx="81724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失败面（最脆弱）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191250" y="3143250"/>
              <a:ext cx="2286000" cy="142875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999999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19838" y="3320891"/>
              <a:ext cx="13916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JSON 格式错 · 参数类型错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324600" y="3619500"/>
              <a:ext cx="2019300" cy="9525"/>
            </a:xfrm>
            <a:custGeom>
              <a:avLst/>
              <a:gdLst/>
              <a:ahLst/>
              <a:cxnLst/>
              <a:rect l="l" t="t" r="r" b="b"/>
              <a:pathLst>
                <a:path w="2019300" h="9525">
                  <a:moveTo>
                    <a:pt x="0" y="0"/>
                  </a:moveTo>
                  <a:lnTo>
                    <a:pt x="20193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19838" y="376713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降级路径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19838" y="3987641"/>
              <a:ext cx="10195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自动重试 + 报错回灌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8477250" y="24003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8645842" y="23679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8763000" y="1952625"/>
              <a:ext cx="2286000" cy="904875"/>
            </a:xfrm>
            <a:prstGeom prst="roundRect">
              <a:avLst>
                <a:gd name="adj" fmla="val 3158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891397" y="2104549"/>
              <a:ext cx="6553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④ 观测注入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91588" y="2368391"/>
              <a:ext cx="11015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结果封装回灌 Prompt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891588" y="2624138"/>
              <a:ext cx="31242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失败面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763000" y="3143250"/>
              <a:ext cx="2286000" cy="142875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999999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891588" y="3320891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结果过大挤爆上下文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8896350" y="3619500"/>
              <a:ext cx="2019300" cy="9525"/>
            </a:xfrm>
            <a:custGeom>
              <a:avLst/>
              <a:gdLst/>
              <a:ahLst/>
              <a:cxnLst/>
              <a:rect l="l" t="t" r="r" b="b"/>
              <a:pathLst>
                <a:path w="2019300" h="9525">
                  <a:moveTo>
                    <a:pt x="0" y="0"/>
                  </a:moveTo>
                  <a:lnTo>
                    <a:pt x="20193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891588" y="376713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降级路径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891588" y="3987641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大结果卸载到文件系统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42988" y="4940141"/>
              <a:ext cx="42992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Harness 必须为每一步都设计降级路径 —— LLM 生成的非确定性，让每一步都可能失败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42988" y="5168741"/>
              <a:ext cx="36689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整条链路的可靠性 = 四步可靠性的乘积，任何一环没有兜底，整体就会坍塌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51" name="TextBox 51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Harness Engineering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8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400294" cy="738854"/>
            <a:chOff x="595122" y="501491"/>
            <a:chExt cx="540029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证据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40029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三条硬证据：不改模型能涨多少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5121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正向 · LangChain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307431"/>
              <a:ext cx="2254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Terminal-Bench 2.0，89 个任务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555081"/>
              <a:ext cx="1737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模型钉死 gpt-5.2-codex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802731"/>
              <a:ext cx="20695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52.8% 涨到 66.5%，+13.7 pp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3050381"/>
              <a:ext cx="17703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排名从 Top 30 外进 Top 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03242" y="1892618"/>
              <a:ext cx="1323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反向 · 剥离对照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307431"/>
              <a:ext cx="2182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13 个模型 × 9 个一次性编码任务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555081"/>
              <a:ext cx="18885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无循环 / 工具 / 验证 / 重试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04385" y="2802731"/>
              <a:ext cx="14211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10 个模型拿满分 9/9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04385" y="3050381"/>
              <a:ext cx="16247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成本差 88 倍，分数相同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2" name="Rectangle 22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75142" y="1892618"/>
              <a:ext cx="1323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长任务 · 开与关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307431"/>
              <a:ext cx="1634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Anthropic：同一个模型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76285" y="2555081"/>
              <a:ext cx="23559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裸跑：20 分钟 9 美元，交付不可用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76285" y="2802731"/>
              <a:ext cx="2159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配齐 harness：6 小时 200 美元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76285" y="30503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能用：这才是可交付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30" name="Rectangle 30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6018" y="4050982"/>
              <a:ext cx="54243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剥掉 harness 模型趋同，钉死模型 harness 决定分数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8304" y="4947285"/>
              <a:ext cx="6241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LangChain 2026-02-17；DataLLM Lab 2026-07 反向对照；Anthropic 长任务对照。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4" name="TextBox 34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Harness Engineering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9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924472" cy="738854"/>
            <a:chOff x="595122" y="501491"/>
            <a:chExt cx="692447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方法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92447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Terminal-Bench 2.0：三个旋钮怎么拧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1042988" y="1952625"/>
            <a:ext cx="10101262" cy="3810000"/>
            <a:chOff x="1042988" y="1952625"/>
            <a:chExt cx="10101262" cy="3810000"/>
          </a:xfrm>
        </p:grpSpPr>
        <p:sp>
          <p:nvSpPr>
            <p:cNvPr id="6" name="Rectangle 6"/>
            <p:cNvSpPr/>
            <p:nvPr/>
          </p:nvSpPr>
          <p:spPr>
            <a:xfrm>
              <a:off x="1047750" y="1952625"/>
              <a:ext cx="2857500" cy="590550"/>
            </a:xfrm>
            <a:prstGeom prst="roundRect">
              <a:avLst>
                <a:gd name="adj" fmla="val 4839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95197" y="2104549"/>
              <a:ext cx="10306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System Prompt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95388" y="2311241"/>
              <a:ext cx="13341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强调自检：先跑测试再交付</a:t>
              </a:r>
            </a:p>
          </p:txBody>
        </p:sp>
        <p:sp>
          <p:nvSpPr>
            <p:cNvPr id="9" name="Polyline 9"/>
            <p:cNvSpPr/>
            <p:nvPr/>
          </p:nvSpPr>
          <p:spPr>
            <a:xfrm>
              <a:off x="3905250" y="2247900"/>
              <a:ext cx="247650" cy="609600"/>
            </a:xfrm>
            <a:custGeom>
              <a:avLst/>
              <a:gdLst/>
              <a:ahLst/>
              <a:cxnLst/>
              <a:rect l="l" t="t" r="r" b="b"/>
              <a:pathLst>
                <a:path w="247650" h="609600">
                  <a:moveTo>
                    <a:pt x="0" y="0"/>
                  </a:moveTo>
                  <a:lnTo>
                    <a:pt x="190500" y="0"/>
                  </a:lnTo>
                  <a:lnTo>
                    <a:pt x="190500" y="609600"/>
                  </a:lnTo>
                  <a:lnTo>
                    <a:pt x="247650" y="609600"/>
                  </a:lnTo>
                </a:path>
              </a:pathLst>
            </a:custGeom>
            <a:noFill/>
            <a:ln w="13335">
              <a:solidFill>
                <a:srgbClr val="999999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4073842" y="28251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47750" y="2619375"/>
              <a:ext cx="2857500" cy="590550"/>
            </a:xfrm>
            <a:prstGeom prst="roundRect">
              <a:avLst>
                <a:gd name="adj" fmla="val 4839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95197" y="2771299"/>
              <a:ext cx="3601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Tools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95388" y="2977991"/>
              <a:ext cx="13507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环境上下文注入 · 专用工具</a:t>
              </a:r>
            </a:p>
          </p:txBody>
        </p:sp>
        <p:sp>
          <p:nvSpPr>
            <p:cNvPr id="14" name="Polyline 14"/>
            <p:cNvSpPr/>
            <p:nvPr/>
          </p:nvSpPr>
          <p:spPr>
            <a:xfrm>
              <a:off x="3905250" y="2857500"/>
              <a:ext cx="247650" cy="57150"/>
            </a:xfrm>
            <a:custGeom>
              <a:avLst/>
              <a:gdLst/>
              <a:ahLst/>
              <a:cxnLst/>
              <a:rect l="l" t="t" r="r" b="b"/>
              <a:pathLst>
                <a:path w="247650" h="57150">
                  <a:moveTo>
                    <a:pt x="0" y="57150"/>
                  </a:moveTo>
                  <a:lnTo>
                    <a:pt x="190500" y="57150"/>
                  </a:lnTo>
                  <a:lnTo>
                    <a:pt x="190500" y="0"/>
                  </a:lnTo>
                  <a:lnTo>
                    <a:pt x="247650" y="0"/>
                  </a:lnTo>
                </a:path>
              </a:pathLst>
            </a:custGeom>
            <a:noFill/>
            <a:ln w="13335">
              <a:solidFill>
                <a:srgbClr val="999999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4073842" y="28251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047750" y="3286125"/>
              <a:ext cx="2857500" cy="590550"/>
            </a:xfrm>
            <a:prstGeom prst="roundRect">
              <a:avLst>
                <a:gd name="adj" fmla="val 4839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95197" y="3438049"/>
              <a:ext cx="7621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Middleware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95388" y="3644741"/>
              <a:ext cx="13341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模型与工具调用外围的钩子</a:t>
              </a:r>
            </a:p>
          </p:txBody>
        </p:sp>
        <p:sp>
          <p:nvSpPr>
            <p:cNvPr id="19" name="Polyline 19"/>
            <p:cNvSpPr/>
            <p:nvPr/>
          </p:nvSpPr>
          <p:spPr>
            <a:xfrm>
              <a:off x="3905250" y="2857500"/>
              <a:ext cx="247650" cy="723900"/>
            </a:xfrm>
            <a:custGeom>
              <a:avLst/>
              <a:gdLst/>
              <a:ahLst/>
              <a:cxnLst/>
              <a:rect l="l" t="t" r="r" b="b"/>
              <a:pathLst>
                <a:path w="247650" h="723900">
                  <a:moveTo>
                    <a:pt x="0" y="723900"/>
                  </a:moveTo>
                  <a:lnTo>
                    <a:pt x="190500" y="723900"/>
                  </a:lnTo>
                  <a:lnTo>
                    <a:pt x="190500" y="0"/>
                  </a:lnTo>
                  <a:lnTo>
                    <a:pt x="247650" y="0"/>
                  </a:lnTo>
                </a:path>
              </a:pathLst>
            </a:custGeom>
            <a:noFill/>
            <a:ln w="13335">
              <a:solidFill>
                <a:srgbClr val="999999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4073842" y="282511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42988" y="385572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三个旋钮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47750" y="4095750"/>
              <a:ext cx="2857500" cy="9525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1430">
              <a:solidFill>
                <a:srgbClr val="E30613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95388" y="42462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跨模型警告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95388" y="4482941"/>
              <a:ext cx="17263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同一 harness 换 Claude Opus 4.6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95388" y="4673441"/>
              <a:ext cx="14721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只有 59.6%；必须按模型定制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95388" y="4863941"/>
              <a:ext cx="15715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profiles → tau2-bench +10~20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191000" y="2047875"/>
              <a:ext cx="2381250" cy="762000"/>
            </a:xfrm>
            <a:prstGeom prst="roundRect">
              <a:avLst>
                <a:gd name="adj" fmla="val 375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767154" y="2232660"/>
              <a:ext cx="11336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Before 52.8%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28377" y="2501741"/>
              <a:ext cx="6112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Top 30 之外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191000" y="3143250"/>
              <a:ext cx="2381250" cy="762000"/>
            </a:xfrm>
            <a:prstGeom prst="roundRect">
              <a:avLst>
                <a:gd name="adj" fmla="val 3750"/>
              </a:avLst>
            </a:prstGeom>
            <a:solidFill>
              <a:srgbClr val="E30613"/>
            </a:solidFill>
            <a:ln w="9525">
              <a:solidFill>
                <a:srgbClr val="999999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813280" y="3328035"/>
              <a:ext cx="10414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After 66.5%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86564" y="3597116"/>
              <a:ext cx="10948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Top 5 · 模型全程钉死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5381625" y="2809875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5349240" y="30260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91047" y="2847499"/>
              <a:ext cx="5847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+13.7 pp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762750" y="1952625"/>
              <a:ext cx="4381500" cy="1428750"/>
            </a:xfrm>
            <a:prstGeom prst="roundRect">
              <a:avLst>
                <a:gd name="adj" fmla="val 200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10197" y="210454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推理预算分配：算力的三明治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915150" y="2400300"/>
              <a:ext cx="1428750" cy="2095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999999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005638" y="2471738"/>
              <a:ext cx="49415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xhigh 全开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29638" y="2463641"/>
              <a:ext cx="35145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53.9%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96388" y="247173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超时拖垮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915150" y="2705100"/>
              <a:ext cx="1428750" cy="2095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999999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05638" y="2776538"/>
              <a:ext cx="43862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high 全开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29638" y="2768441"/>
              <a:ext cx="35145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63.6%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96388" y="277653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基线可用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915150" y="3009900"/>
              <a:ext cx="1428750" cy="2095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E30613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05638" y="3081338"/>
              <a:ext cx="82229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xhigh-high-xhigh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29638" y="3073241"/>
              <a:ext cx="35145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66.5%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96388" y="3081338"/>
              <a:ext cx="115043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规划深 · 实现省 · 验证真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762750" y="3619500"/>
              <a:ext cx="4381500" cy="142875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999999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10197" y="376189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四个关键中间件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10388" y="3987641"/>
              <a:ext cx="13293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PreCompletionChecklist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043988" y="3987641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退出前拦截，强制自检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10388" y="4225766"/>
              <a:ext cx="8162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LoopDetection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43988" y="4225766"/>
              <a:ext cx="14445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同文件编辑次数超阈值即提示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910388" y="4463891"/>
              <a:ext cx="7524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LocalContext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043988" y="4463891"/>
              <a:ext cx="16653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启动时扫描目录与可用工具并注入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910388" y="4702016"/>
              <a:ext cx="6483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TimeBudget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43988" y="4702016"/>
              <a:ext cx="14445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时间临近耗尽，切换验证阶段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047750" y="5191125"/>
              <a:ext cx="10096500" cy="571500"/>
            </a:xfrm>
            <a:prstGeom prst="roundRect">
              <a:avLst>
                <a:gd name="adj" fmla="val 50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195388" y="5340191"/>
              <a:ext cx="526521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Trace Analyzer Skill：LangSmith 拉 trace → 并行错误分析 agent → 主 agent 聚合 → 定向改 harness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95388" y="5549741"/>
              <a:ext cx="46955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每轮只啃上一轮的错误，过程类似 boosting；人类在建议验证环节把关，防止对特定任务过拟合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64" name="TextBox 64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Harness Engineering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10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016627" cy="738854"/>
            <a:chOff x="595122" y="501491"/>
            <a:chExt cx="501662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强制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0166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一次工具调用要过的七道闸门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1047750" y="1952625"/>
            <a:ext cx="9696450" cy="3352800"/>
            <a:chOff x="1047750" y="1952625"/>
            <a:chExt cx="9696450" cy="3352800"/>
          </a:xfrm>
        </p:grpSpPr>
        <p:sp>
          <p:nvSpPr>
            <p:cNvPr id="6" name="Rectangle 6"/>
            <p:cNvSpPr/>
            <p:nvPr/>
          </p:nvSpPr>
          <p:spPr>
            <a:xfrm>
              <a:off x="1047750" y="1952625"/>
              <a:ext cx="2819400" cy="304800"/>
            </a:xfrm>
            <a:prstGeom prst="roundRect">
              <a:avLst>
                <a:gd name="adj" fmla="val 625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955940" y="2063591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模型侧：只输出意图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867150" y="1952625"/>
              <a:ext cx="4229100" cy="304800"/>
            </a:xfrm>
            <a:prstGeom prst="roundRect">
              <a:avLst>
                <a:gd name="adj" fmla="val 625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369801" y="2063591"/>
              <a:ext cx="12237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确定性强制：代码说了算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096250" y="1952625"/>
              <a:ext cx="2647950" cy="304800"/>
            </a:xfrm>
            <a:prstGeom prst="roundRect">
              <a:avLst>
                <a:gd name="adj" fmla="val 625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139492" y="2063591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回灌与留痕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2400300"/>
              <a:ext cx="1238250" cy="1238250"/>
            </a:xfrm>
            <a:prstGeom prst="roundRect">
              <a:avLst>
                <a:gd name="adj" fmla="val 2308"/>
              </a:avLst>
            </a:prstGeom>
            <a:solidFill>
              <a:srgbClr val="FFFFFF"/>
            </a:solidFill>
            <a:ln w="11430">
              <a:solidFill>
                <a:srgbClr val="1A1A1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19796" y="26460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模型输出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61148" y="2871788"/>
              <a:ext cx="21145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意图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08735" y="3233738"/>
              <a:ext cx="71628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结构化调用请求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286000" y="301942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2340292" y="29870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457450" y="2400300"/>
              <a:ext cx="1238250" cy="1238250"/>
            </a:xfrm>
            <a:prstGeom prst="roundRect">
              <a:avLst>
                <a:gd name="adj" fmla="val 2308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732200" y="2646045"/>
              <a:ext cx="6887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PreToolUse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70848" y="2871788"/>
              <a:ext cx="21145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钩子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18435" y="3233738"/>
              <a:ext cx="71628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生命周期拦截点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695700" y="301942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3749992" y="29870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867150" y="2400300"/>
              <a:ext cx="1238250" cy="1238250"/>
            </a:xfrm>
            <a:prstGeom prst="roundRect">
              <a:avLst>
                <a:gd name="adj" fmla="val 2308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360354" y="264604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权限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19004" y="2871788"/>
              <a:ext cx="53454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allow/deny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77652" y="3233738"/>
              <a:ext cx="81724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按工具与路径过滤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105400" y="301942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5159692" y="29870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276850" y="2400300"/>
              <a:ext cx="1238250" cy="1238250"/>
            </a:xfrm>
            <a:prstGeom prst="roundRect">
              <a:avLst>
                <a:gd name="adj" fmla="val 2308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18698" y="2646045"/>
              <a:ext cx="5545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OPA 策略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90248" y="2871788"/>
              <a:ext cx="21145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引擎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37835" y="3233738"/>
              <a:ext cx="71628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确定性规则判定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515100" y="301942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6569392" y="29870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86550" y="2400300"/>
              <a:ext cx="1238250" cy="1238250"/>
            </a:xfrm>
            <a:prstGeom prst="roundRect">
              <a:avLst>
                <a:gd name="adj" fmla="val 2308"/>
              </a:avLst>
            </a:prstGeom>
            <a:solidFill>
              <a:srgbClr val="FFFFFF"/>
            </a:solidFill>
            <a:ln w="15240">
              <a:solidFill>
                <a:srgbClr val="E30613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58596" y="26460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沙箱执行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99948" y="2871788"/>
              <a:ext cx="21145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隔离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81908" y="3233738"/>
              <a:ext cx="84753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资源 · 网络 · 超时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7924800" y="301942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41" name="Polygon 41"/>
            <p:cNvSpPr/>
            <p:nvPr/>
          </p:nvSpPr>
          <p:spPr>
            <a:xfrm>
              <a:off x="7979092" y="29870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096250" y="2400300"/>
              <a:ext cx="1238250" cy="1238250"/>
            </a:xfrm>
            <a:prstGeom prst="roundRect">
              <a:avLst>
                <a:gd name="adj" fmla="val 2308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68296" y="26460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结果卸载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85965" y="2871788"/>
              <a:ext cx="45881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head+tail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57235" y="3233738"/>
              <a:ext cx="71628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超大结果落磁盘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9334500" y="301942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47" name="Polygon 47"/>
            <p:cNvSpPr/>
            <p:nvPr/>
          </p:nvSpPr>
          <p:spPr>
            <a:xfrm>
              <a:off x="9388792" y="29870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505950" y="2400300"/>
              <a:ext cx="1238250" cy="1238250"/>
            </a:xfrm>
            <a:prstGeom prst="roundRect">
              <a:avLst>
                <a:gd name="adj" fmla="val 2308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745691" y="2646045"/>
              <a:ext cx="7587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PostToolUse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75472" y="2871788"/>
              <a:ext cx="49920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lint / 测试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655874" y="3233738"/>
              <a:ext cx="93840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错误回灌 + 落 trace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047750" y="3952875"/>
              <a:ext cx="9696450" cy="590550"/>
            </a:xfrm>
            <a:prstGeom prst="roundRect">
              <a:avLst>
                <a:gd name="adj" fmla="val 4839"/>
              </a:avLst>
            </a:prstGeom>
            <a:solidFill>
              <a:srgbClr val="FFFFFF"/>
            </a:solidFill>
            <a:ln w="11430">
              <a:solidFill>
                <a:srgbClr val="E30613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195388" y="40938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红线原则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185988" y="4101941"/>
              <a:ext cx="32880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不要用提示词承载必须由代码强制的安全 —— 自然语言护栏不是护栏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95388" y="4311491"/>
              <a:ext cx="418622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每一道检查都在服务端执行：控制台、API 与 agent 三条路径必须解析到同一个判定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047750" y="4714875"/>
              <a:ext cx="9696450" cy="590550"/>
            </a:xfrm>
            <a:prstGeom prst="roundRect">
              <a:avLst>
                <a:gd name="adj" fmla="val 4839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195388" y="48558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审批闸门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185988" y="4863941"/>
              <a:ext cx="40166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高风险动作（生产写入 · 数据删除 · 对外调用）暂停流程，人工显式批准后才继续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95388" y="5073491"/>
              <a:ext cx="34444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策略按风险分级：读日志可全自动，把 AI 生成的修复合入主干不行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61" name="TextBox 61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Harness Engineering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11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714625" cy="738854"/>
            <a:chOff x="595122" y="501491"/>
            <a:chExt cx="271462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记忆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三层记忆动力学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1042988" y="1892141"/>
            <a:ext cx="10101262" cy="3943350"/>
            <a:chOff x="1042988" y="1892141"/>
            <a:chExt cx="10101262" cy="3943350"/>
          </a:xfrm>
        </p:grpSpPr>
        <p:sp>
          <p:nvSpPr>
            <p:cNvPr id="6" name="Rectangle 6"/>
            <p:cNvSpPr/>
            <p:nvPr/>
          </p:nvSpPr>
          <p:spPr>
            <a:xfrm>
              <a:off x="1047750" y="2047875"/>
              <a:ext cx="5334000" cy="1000125"/>
            </a:xfrm>
            <a:prstGeom prst="roundRect">
              <a:avLst>
                <a:gd name="adj" fmla="val 2857"/>
              </a:avLst>
            </a:prstGeom>
            <a:solidFill>
              <a:srgbClr val="F5F5F5"/>
            </a:solidFill>
            <a:ln w="15240">
              <a:solidFill>
                <a:srgbClr val="E30613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047750" y="2047875"/>
              <a:ext cx="57150" cy="10001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51966" y="2220278"/>
              <a:ext cx="19062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上下文窗口 Context Window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52538" y="2454116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模型实际所见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52538" y="2682716"/>
              <a:ext cx="18861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最严约束：它知道的一切都必须塞进来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52538" y="2871788"/>
              <a:ext cx="125139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渐进披露 · 压缩 · 即时检索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3238500"/>
              <a:ext cx="5334000" cy="1000125"/>
            </a:xfrm>
            <a:prstGeom prst="roundRect">
              <a:avLst>
                <a:gd name="adj" fmla="val 2857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047750" y="3238500"/>
              <a:ext cx="57150" cy="1000125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51966" y="3410902"/>
              <a:ext cx="9452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RAM 工作记忆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52538" y="3644741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会话内状态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52538" y="3873341"/>
              <a:ext cx="15549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快但易失：对话历史与工具结果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52538" y="4062412"/>
              <a:ext cx="71628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会话结束即清空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47750" y="4429125"/>
              <a:ext cx="5334000" cy="1000125"/>
            </a:xfrm>
            <a:prstGeom prst="roundRect">
              <a:avLst>
                <a:gd name="adj" fmla="val 2857"/>
              </a:avLst>
            </a:prstGeom>
            <a:solidFill>
              <a:srgbClr val="F5F5F5"/>
            </a:solidFill>
            <a:ln w="11430">
              <a:solidFill>
                <a:srgbClr val="1A1A1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047750" y="4429125"/>
              <a:ext cx="57150" cy="1000125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51966" y="4601528"/>
              <a:ext cx="1400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文件系统 Filesystem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52538" y="4835366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长期记忆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52538" y="5063966"/>
              <a:ext cx="185301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持久、跨会话：进度 · git · 会话转储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52538" y="5253038"/>
              <a:ext cx="143818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人类可读可编辑 · 可随 git 审计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07543" y="1892141"/>
              <a:ext cx="1199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读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667500" y="432435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5715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6635115" y="4238625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6667500" y="3133725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5715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6635115" y="3048000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0"/>
                  </a:moveTo>
                  <a:lnTo>
                    <a:pt x="64770" y="79058"/>
                  </a:lnTo>
                  <a:lnTo>
                    <a:pt x="0" y="79058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6667500" y="3190875"/>
              <a:ext cx="9525" cy="1047750"/>
            </a:xfrm>
            <a:custGeom>
              <a:avLst/>
              <a:gdLst/>
              <a:ahLst/>
              <a:cxnLst/>
              <a:rect l="l" t="t" r="r" b="b"/>
              <a:pathLst>
                <a:path w="9525" h="1047750">
                  <a:moveTo>
                    <a:pt x="0" y="1047750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E3061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17093" y="1892141"/>
              <a:ext cx="1199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写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877050" y="306705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6844665" y="3130868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6877050" y="4257675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6844665" y="43214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6877050" y="3209925"/>
              <a:ext cx="9525" cy="1047750"/>
            </a:xfrm>
            <a:custGeom>
              <a:avLst/>
              <a:gdLst/>
              <a:ahLst/>
              <a:cxnLst/>
              <a:rect l="l" t="t" r="r" b="b"/>
              <a:pathLst>
                <a:path w="9525" h="1047750">
                  <a:moveTo>
                    <a:pt x="0" y="0"/>
                  </a:moveTo>
                  <a:lnTo>
                    <a:pt x="0" y="1047750"/>
                  </a:lnTo>
                </a:path>
              </a:pathLst>
            </a:custGeom>
            <a:noFill/>
            <a:ln w="11430">
              <a:solidFill>
                <a:srgbClr val="1A1A1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048500" y="2047875"/>
              <a:ext cx="4095750" cy="2286000"/>
            </a:xfrm>
            <a:prstGeom prst="roundRect">
              <a:avLst>
                <a:gd name="adj" fmla="val 1250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14997" y="221884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读路径：把状态搬进窗口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15188" y="2520791"/>
              <a:ext cx="15432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选择性把磁盘状态加载进 RAM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15188" y="2806541"/>
              <a:ext cx="13341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再用上下文工程组装窗口：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15188" y="3092291"/>
              <a:ext cx="9535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555555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compaction 压缩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15188" y="3378041"/>
              <a:ext cx="17980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555555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progressive disclosure 渐进披露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15188" y="3663791"/>
              <a:ext cx="17649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555555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just-in-time retrieval 即时检索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048500" y="4476750"/>
              <a:ext cx="4095750" cy="904875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9525">
              <a:solidFill>
                <a:srgbClr val="999999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214997" y="463819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写路径：把结果落回磁盘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15188" y="4882991"/>
              <a:ext cx="210690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一轮处理完，把重要状态持久化回文件系统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15188" y="5092541"/>
              <a:ext cx="17757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否则会话一结束，所有进展全部蒸发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2988" y="5673566"/>
              <a:ext cx="24744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Harness 的核心职责，就是编排这三层之间的搬运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9" name="TextBox 49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Harness Engineering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12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400294" cy="738854"/>
            <a:chOff x="595122" y="501491"/>
            <a:chExt cx="540029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熵增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40029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上下文腐烂与有界上下文三道闸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3429000" cy="2000250"/>
            <a:chOff x="609600" y="1619250"/>
            <a:chExt cx="3429000" cy="200025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病征一 · 信噪比下降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7888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重要信息被冗余内容淹没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7265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模型注意力被分散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7418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关键指令执行质量下降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619250"/>
            <a:ext cx="3429000" cy="2000250"/>
            <a:chOff x="4381500" y="1619250"/>
            <a:chExt cx="3429000" cy="2000250"/>
          </a:xfrm>
        </p:grpSpPr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3242" y="1892618"/>
              <a:ext cx="1505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病征二 · 矛盾累积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247888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早期决定已被推翻，旧信息仍在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72653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模型在新旧信息之间摇摆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9741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产出前后不一致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53400" y="1619250"/>
            <a:ext cx="3429000" cy="2000250"/>
            <a:chOff x="8153400" y="1619250"/>
            <a:chExt cx="34290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5142" y="1892618"/>
              <a:ext cx="1505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病征三 · 推理退化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24788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无关信息充斥上下文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272653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即使相关信息就在窗口里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97418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提取与推理能力仍显著下降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" y="3810000"/>
            <a:ext cx="3429000" cy="2000250"/>
            <a:chOff x="609600" y="3810000"/>
            <a:chExt cx="34290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96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1342" y="4083368"/>
              <a:ext cx="1505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闸一 · 压缩与卸载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485" y="4545806"/>
              <a:ext cx="18734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消息或 token 超阈值即触发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2485" y="4793456"/>
              <a:ext cx="2182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默认 50 条触发，保留最近 20 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2485" y="50411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超大工具结果写磁盘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2485" y="52887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上下文只留头尾预览与占位符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381500" y="3810000"/>
            <a:ext cx="3429000" cy="2000250"/>
            <a:chOff x="4381500" y="3810000"/>
            <a:chExt cx="3429000" cy="2000250"/>
          </a:xfrm>
        </p:grpSpPr>
        <p:sp>
          <p:nvSpPr>
            <p:cNvPr id="35" name="Rectangle 35"/>
            <p:cNvSpPr/>
            <p:nvPr/>
          </p:nvSpPr>
          <p:spPr>
            <a:xfrm>
              <a:off x="43815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815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03242" y="4083368"/>
              <a:ext cx="1323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闸二 · 先抽后压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04385" y="454580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压缩前先做长期记忆抽取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04385" y="47934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保证有价值信息先沉淀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04385" y="504110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默认开启，顺序不可颠倒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04385" y="528875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否则知识被压没了才想起来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153400" y="3810000"/>
            <a:ext cx="3429000" cy="2000250"/>
            <a:chOff x="8153400" y="3810000"/>
            <a:chExt cx="3429000" cy="2000250"/>
          </a:xfrm>
        </p:grpSpPr>
        <p:sp>
          <p:nvSpPr>
            <p:cNvPr id="43" name="Rectangle 43"/>
            <p:cNvSpPr/>
            <p:nvPr/>
          </p:nvSpPr>
          <p:spPr>
            <a:xfrm>
              <a:off x="8153400" y="3810000"/>
              <a:ext cx="34290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153400" y="381000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75142" y="4083368"/>
              <a:ext cx="1323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闸三 · 溢出自愈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76285" y="45458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捕获上下文溢出异常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76285" y="47934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强制压缩后自动重试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76285" y="50411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全过程对调用方透明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76285" y="52887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是最后的兜底安全网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51" name="TextBox 51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Harness Engineering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13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016627" cy="738854"/>
            <a:chOff x="595122" y="501491"/>
            <a:chExt cx="5016627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沙箱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0166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沙箱谱系：安全与能力的权衡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042988" y="1952625"/>
            <a:ext cx="10101262" cy="4006691"/>
            <a:chOff x="1042988" y="1952625"/>
            <a:chExt cx="10101262" cy="4006691"/>
          </a:xfrm>
        </p:grpSpPr>
        <p:sp>
          <p:nvSpPr>
            <p:cNvPr id="6" name="Rectangle 6"/>
            <p:cNvSpPr/>
            <p:nvPr/>
          </p:nvSpPr>
          <p:spPr>
            <a:xfrm>
              <a:off x="1047750" y="1952625"/>
              <a:ext cx="10096500" cy="361950"/>
            </a:xfrm>
            <a:prstGeom prst="roundRect">
              <a:avLst>
                <a:gd name="adj" fmla="val 5263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33488" y="2092166"/>
              <a:ext cx="11244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← 安全最高 / 能力最低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34065" y="2092166"/>
              <a:ext cx="11244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能力最高 / 安全最低 →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047750" y="2495550"/>
              <a:ext cx="3238500" cy="1905000"/>
            </a:xfrm>
            <a:prstGeom prst="roundRect">
              <a:avLst>
                <a:gd name="adj" fmla="val 1500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47750" y="2495550"/>
              <a:ext cx="3238500" cy="47625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95197" y="2676049"/>
              <a:ext cx="13404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硬沙箱 Hard Sandbox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95388" y="2920841"/>
              <a:ext cx="66679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代表：Codex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95388" y="3263741"/>
              <a:ext cx="24932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每任务起独立云容器，预装 repo，任务结束即销毁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95388" y="3739991"/>
              <a:ext cx="13341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代价：碰不到宿主文件系统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476750" y="2495550"/>
              <a:ext cx="3238500" cy="1905000"/>
            </a:xfrm>
            <a:prstGeom prst="roundRect">
              <a:avLst>
                <a:gd name="adj" fmla="val 1500"/>
              </a:avLst>
            </a:prstGeom>
            <a:solidFill>
              <a:srgbClr val="FFFFFF"/>
            </a:solidFill>
            <a:ln w="11430">
              <a:solidFill>
                <a:srgbClr val="999999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476750" y="2495550"/>
              <a:ext cx="3238500" cy="47625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624197" y="2676049"/>
              <a:ext cx="13742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中间态 Middle Ground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24388" y="2920841"/>
              <a:ext cx="15085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代表：Cursor / 本地 Docker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24388" y="3263741"/>
              <a:ext cx="210690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容器或隔离进程在本地运行，配置决定强度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24388" y="3739991"/>
              <a:ext cx="13341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代价：强度取决于你怎么配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905750" y="2495550"/>
              <a:ext cx="3238500" cy="1905000"/>
            </a:xfrm>
            <a:prstGeom prst="roundRect">
              <a:avLst>
                <a:gd name="adj" fmla="val 1500"/>
              </a:avLst>
            </a:prstGeom>
            <a:solidFill>
              <a:srgbClr val="FFFFFF"/>
            </a:solidFill>
            <a:ln w="15240">
              <a:solidFill>
                <a:srgbClr val="E30613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905750" y="2495550"/>
              <a:ext cx="3238500" cy="47625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053197" y="2676049"/>
              <a:ext cx="13404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软沙箱 Soft Sandbox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53388" y="2920841"/>
              <a:ext cx="88022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代表：OpenClaw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53388" y="3263741"/>
              <a:ext cx="25981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workspace 即默认工作目录，保留完整文件系统访问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53388" y="3739991"/>
              <a:ext cx="16653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代价：风险最高，刻意不做硬隔离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86221" y="4578191"/>
              <a:ext cx="581955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技术选型：Docker（主流）· gVisor / Firecracker（毫秒启停）· WASM（系统调用尚不完善）· Nix（环境可复现）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047750" y="4953000"/>
              <a:ext cx="2333625" cy="571500"/>
            </a:xfrm>
            <a:prstGeom prst="roundRect">
              <a:avLst>
                <a:gd name="adj" fmla="val 50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76338" y="51034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资源限额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76338" y="5321141"/>
              <a:ext cx="9367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CPU · 内存 · 磁盘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619500" y="4953000"/>
              <a:ext cx="2333625" cy="571500"/>
            </a:xfrm>
            <a:prstGeom prst="roundRect">
              <a:avLst>
                <a:gd name="adj" fmla="val 50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748088" y="51034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网络隔离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48088" y="5321141"/>
              <a:ext cx="10195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默认禁外部 · 白名单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191250" y="4953000"/>
              <a:ext cx="2333625" cy="571500"/>
            </a:xfrm>
            <a:prstGeom prst="roundRect">
              <a:avLst>
                <a:gd name="adj" fmla="val 50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19838" y="51034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文件系统隔离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19838" y="5321141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只见到自己的工作目录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763000" y="4953000"/>
              <a:ext cx="2333625" cy="571500"/>
            </a:xfrm>
            <a:prstGeom prst="roundRect">
              <a:avLst>
                <a:gd name="adj" fmla="val 5000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891588" y="51034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超时熔断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91588" y="5321141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超阈值自动终止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2988" y="5797391"/>
              <a:ext cx="387311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没有沙箱就不敢让它执行，不敢执行就失去自我验证，失去自我验证质量就断崖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2" name="TextBox 42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Harness Engineering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14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861654" cy="738854"/>
            <a:chOff x="595122" y="501491"/>
            <a:chExt cx="586165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安全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86165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安全三层：agent 不持有常设权限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047750" y="1905000"/>
            <a:ext cx="10096500" cy="4000500"/>
            <a:chOff x="1047750" y="1905000"/>
            <a:chExt cx="10096500" cy="4000500"/>
          </a:xfrm>
        </p:grpSpPr>
        <p:sp>
          <p:nvSpPr>
            <p:cNvPr id="6" name="Rectangle 6"/>
            <p:cNvSpPr/>
            <p:nvPr/>
          </p:nvSpPr>
          <p:spPr>
            <a:xfrm>
              <a:off x="1047750" y="1905000"/>
              <a:ext cx="10096500" cy="590550"/>
            </a:xfrm>
            <a:prstGeom prst="roundRect">
              <a:avLst>
                <a:gd name="adj" fmla="val 4839"/>
              </a:avLst>
            </a:prstGeom>
            <a:solidFill>
              <a:srgbClr val="FFFFFF"/>
            </a:solidFill>
            <a:ln w="15240">
              <a:solidFill>
                <a:srgbClr val="E3061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33297" y="20664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核心不变量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376488" y="2074545"/>
              <a:ext cx="39111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agent 自身不持有任何常设权限；其有效访问是触发主体权限的有界子集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33488" y="2292191"/>
              <a:ext cx="387311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按次签发的短期令牌，任务结束即销毁；签发环节拒绝任何父级无法证明的权限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47750" y="2762250"/>
              <a:ext cx="3238500" cy="904875"/>
            </a:xfrm>
            <a:prstGeom prst="roundRect">
              <a:avLst>
                <a:gd name="adj" fmla="val 3158"/>
              </a:avLst>
            </a:prstGeom>
            <a:solidFill>
              <a:srgbClr val="F5F5F5"/>
            </a:solidFill>
            <a:ln w="15240">
              <a:solidFill>
                <a:srgbClr val="E30613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95197" y="2942749"/>
              <a:ext cx="10978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01 Isolation 隔离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95388" y="3168491"/>
              <a:ext cx="91553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确定性 · 最后防线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47750" y="3905250"/>
              <a:ext cx="3238500" cy="1238250"/>
            </a:xfrm>
            <a:prstGeom prst="roundRect">
              <a:avLst>
                <a:gd name="adj" fmla="val 2308"/>
              </a:avLst>
            </a:prstGeom>
            <a:solidFill>
              <a:srgbClr val="FFFFFF"/>
            </a:solidFill>
            <a:ln w="9525">
              <a:solidFill>
                <a:srgbClr val="99999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95388" y="4063841"/>
              <a:ext cx="16819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镜像加固：无编译器 / 无包管理器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95388" y="4311491"/>
              <a:ext cx="14997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清除 setuid · 根文件系统只读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95388" y="4559141"/>
              <a:ext cx="15384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进程隔离（三用户）· 密钥隔离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95388" y="4806791"/>
              <a:ext cx="13341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网络隔离：唯一的出口路径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76750" y="2762250"/>
              <a:ext cx="3238500" cy="904875"/>
            </a:xfrm>
            <a:prstGeom prst="roundRect">
              <a:avLst>
                <a:gd name="adj" fmla="val 3158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624197" y="2942749"/>
              <a:ext cx="12954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02 Identity &amp; Authz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24388" y="3168491"/>
              <a:ext cx="91553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确定性 · 约束意图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24388" y="3405188"/>
              <a:ext cx="172593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隔离约束失陷范围，鉴权约束正确执行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476750" y="3905250"/>
              <a:ext cx="3238500" cy="1238250"/>
            </a:xfrm>
            <a:prstGeom prst="roundRect">
              <a:avLst>
                <a:gd name="adj" fmla="val 2308"/>
              </a:avLst>
            </a:prstGeom>
            <a:solidFill>
              <a:srgbClr val="FFFFFF"/>
            </a:solidFill>
            <a:ln w="9525">
              <a:solidFill>
                <a:srgbClr val="999999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24388" y="4063841"/>
              <a:ext cx="14445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委托身份：以触发者身份鉴权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24388" y="4311491"/>
              <a:ext cx="16653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同一条审计链，不是共享服务账号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24388" y="4559141"/>
              <a:ext cx="17007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RBAC + OPA 策略继承流水线治理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24388" y="4806791"/>
              <a:ext cx="210690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隔离约束的是失陷，鉴权约束的是正确执行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905750" y="2762250"/>
              <a:ext cx="3238500" cy="904875"/>
            </a:xfrm>
            <a:prstGeom prst="roundRect">
              <a:avLst>
                <a:gd name="adj" fmla="val 3158"/>
              </a:avLst>
            </a:prstGeom>
            <a:solidFill>
              <a:srgbClr val="F5F5F5"/>
            </a:solidFill>
            <a:ln w="11430">
              <a:solidFill>
                <a:srgbClr val="999999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053197" y="2942749"/>
              <a:ext cx="15223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03 Behavioral Controls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53388" y="3168491"/>
              <a:ext cx="91553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概率性 · 唯一一层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905750" y="3905250"/>
              <a:ext cx="3238500" cy="1238250"/>
            </a:xfrm>
            <a:prstGeom prst="roundRect">
              <a:avLst>
                <a:gd name="adj" fmla="val 2308"/>
              </a:avLst>
            </a:prstGeom>
            <a:solidFill>
              <a:srgbClr val="FFFFFF"/>
            </a:solidFill>
            <a:ln w="9525">
              <a:solidFill>
                <a:srgbClr val="999999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53388" y="4063841"/>
              <a:ext cx="13625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注入扫描 · PII 与毒性检测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53388" y="4311491"/>
              <a:ext cx="10767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MCP 网关的调用安全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53388" y="4559141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这一层不承重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53388" y="4806791"/>
              <a:ext cx="15660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设计成失败时安全落入 01 与 02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047750" y="5314950"/>
              <a:ext cx="4905375" cy="590550"/>
            </a:xfrm>
            <a:prstGeom prst="roundRect">
              <a:avLst>
                <a:gd name="adj" fmla="val 4839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95388" y="5473541"/>
              <a:ext cx="31004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起点假设：不问「模型会不会拒绝恶意指令」，直接假设它不会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95388" y="5683091"/>
              <a:ext cx="343156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要问的是：它此刻反水，操作系统、文件系统与网络会替它拒绝做什么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38875" y="5314950"/>
              <a:ext cx="4905375" cy="590550"/>
            </a:xfrm>
            <a:prstGeom prst="roundRect">
              <a:avLst>
                <a:gd name="adj" fmla="val 4839"/>
              </a:avLst>
            </a:prstGeom>
            <a:solidFill>
              <a:srgbClr val="F5F5F5"/>
            </a:solidFill>
            <a:ln w="9525">
              <a:solidFill>
                <a:srgbClr val="999999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86512" y="5473541"/>
              <a:ext cx="307124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验证方式：拿真实 CVSS-9.0 漏洞在自己的加固镜像上回放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86512" y="5683091"/>
              <a:ext cx="306728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逐层观察它在哪一环失败 —— 能被观测到的防御，才算真的存在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2" name="TextBox 42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Harness Engineering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15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098292" cy="738854"/>
            <a:chOff x="595122" y="501491"/>
            <a:chExt cx="309829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工具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0982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工具箱设计六原则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类别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49315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做法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536240" y="17535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为什么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0847" y="2209324"/>
              <a:ext cx="6035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通用 bash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51063" y="2209324"/>
              <a:ext cx="18898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python -c / main.py / -m mod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99958" y="2209324"/>
              <a:ext cx="15072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让 agent 能真正执行代码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25431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0847" y="27522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专用文件工具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98427" y="2752249"/>
              <a:ext cx="13951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read 限绝对路径与行数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04310" y="2752249"/>
              <a:ext cx="16985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用 bash 做文件操作慢且易错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3086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0847" y="3295174"/>
              <a:ext cx="5705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edit 工具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63337" y="329517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校验替换串唯一性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89009" y="329517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防止误改多处同名代码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36290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0847" y="3847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状态管理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29300" y="38476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会话内任务队列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65922" y="3847624"/>
              <a:ext cx="13753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给 agent 一个工作记忆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4171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847" y="43905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编排工具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03834" y="4390549"/>
              <a:ext cx="1784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子 agent 独立 prompt 与窗口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20937" y="43905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隔离重量级上下文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9600" y="47148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0847" y="49334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反馈回路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36951" y="4933474"/>
              <a:ext cx="111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LSP 实时诊断回灌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940590" y="4933474"/>
              <a:ext cx="16260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质量提升 2–3 倍，最高杠杆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09600" y="5257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0847" y="54763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访问控制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391831" y="5476399"/>
              <a:ext cx="14083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规划型 agent 禁调 edit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89009" y="54763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防止探索过程误改代码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1" name="TextBox 41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Harness Engineering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16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853328" cy="738854"/>
            <a:chOff x="595122" y="501491"/>
            <a:chExt cx="485332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复用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85332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Skills 与子 agent 怎么分工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2965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Skills 是能力包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307431"/>
              <a:ext cx="18885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指令 + 元数据 + 脚本 + 模板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55508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按需自动加载，不用每次重输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802731"/>
              <a:ext cx="16774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token 效率提升六到七成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305038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渐进式披露，别一次全暴露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03242" y="18926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加载时机很关键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307431"/>
              <a:ext cx="18662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ETH Zurich：过早加载有害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55508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同一失败出现两次后再固化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04385" y="2802731"/>
              <a:ext cx="19326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数十个 Skill 几乎无性能损失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04385" y="30503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但别在第一次就装上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2" name="Rectangle 22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75142" y="1892618"/>
              <a:ext cx="11981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子 agent 委派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307431"/>
              <a:ext cx="1926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超过 15 次工具调用就交出去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76285" y="255508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避免污染父线程上下文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76285" y="280273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默认叶子化，不能再派生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76285" y="305038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再加最大深度限制防递归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30" name="Rectangle 30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6018" y="4050982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重复出现的失败应变成工具、校验器或策略，而不是反复写进提示词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8304" y="4947285"/>
              <a:ext cx="53956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Agent Skills 规范；Decoding AI《Agentic Harness Engineering》2026。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4" name="TextBox 34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Harness Engineering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17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632960" cy="738854"/>
            <a:chOff x="595122" y="501491"/>
            <a:chExt cx="463296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08 · 诊断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6329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按失败现象反查该改哪一层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现象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878640" y="17535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归属层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06915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对策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0847" y="22093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输出格式不对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57996" y="2209324"/>
              <a:ext cx="4760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Prompt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52864" y="22093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约束输出格式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25431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0847" y="275224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幻觉出代码库没有的事实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35033" y="2752249"/>
              <a:ext cx="5219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Context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89009" y="275224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加检索或注入相关文件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3086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0847" y="32951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工具选错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35033" y="3295174"/>
              <a:ext cx="5219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Context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23045" y="329517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改工具描述或减少工具数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36290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0847" y="38476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长任务中途跑偏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835033" y="3847624"/>
              <a:ext cx="5219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Harness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99958" y="3847624"/>
              <a:ext cx="15072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子 agent 隔离加循环检测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4171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847" y="43905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执行了破坏性动作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35033" y="4390549"/>
              <a:ext cx="5219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Harness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54973" y="43905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权限钩子加审批闸门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9600" y="47148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0847" y="493347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静默失败，错误没浮上来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835033" y="4933474"/>
              <a:ext cx="5219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Harness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286900" y="493347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反压验证加钩子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09600" y="5257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0847" y="547639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好代码被悄悄改坏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835033" y="5476399"/>
              <a:ext cx="5219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Harness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20937" y="547639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熵管理与文档 lint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1" name="TextBox 41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Harness Engineering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18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865626" cy="738854"/>
            <a:chOff x="595122" y="501491"/>
            <a:chExt cx="386562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08 · 落地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8656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可以直接抄的六条实践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1266825"/>
            <a:chOff x="609600" y="1619250"/>
            <a:chExt cx="5257800" cy="12668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266825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23832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AGENTS.md 控制在 60 行内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2407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只放普适约束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488406"/>
              <a:ext cx="1903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自动生成的大文件会拉低性…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324600" y="1619250"/>
            <a:ext cx="5257800" cy="1266825"/>
            <a:chOff x="6324600" y="1619250"/>
            <a:chExt cx="5257800" cy="1266825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1266825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立刻加验证钩子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2240756"/>
              <a:ext cx="20544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每次写完跑 typecheck 与 lint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488406"/>
              <a:ext cx="14513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投入产出比最高的一…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3076575"/>
            <a:ext cx="5257800" cy="1266825"/>
            <a:chOff x="609600" y="3076575"/>
            <a:chExt cx="5257800" cy="1266825"/>
          </a:xfrm>
        </p:grpSpPr>
        <p:sp>
          <p:nvSpPr>
            <p:cNvPr id="18" name="Rectangle 18"/>
            <p:cNvSpPr/>
            <p:nvPr/>
          </p:nvSpPr>
          <p:spPr>
            <a:xfrm>
              <a:off x="609600" y="3076575"/>
              <a:ext cx="5257800" cy="1266825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9600" y="3076575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1342" y="3349942"/>
              <a:ext cx="21754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MCP 只留最常用的两三个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2485" y="3688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其余全部禁用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2485" y="3936206"/>
              <a:ext cx="20544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工具描述膨胀是上下文饱和主…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324600" y="3076575"/>
            <a:ext cx="5257800" cy="1266825"/>
            <a:chOff x="6324600" y="3076575"/>
            <a:chExt cx="5257800" cy="1266825"/>
          </a:xfrm>
        </p:grpSpPr>
        <p:sp>
          <p:nvSpPr>
            <p:cNvPr id="24" name="Rectangle 24"/>
            <p:cNvSpPr/>
            <p:nvPr/>
          </p:nvSpPr>
          <p:spPr>
            <a:xfrm>
              <a:off x="6324600" y="3076575"/>
              <a:ext cx="5257800" cy="1266825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324600" y="3076575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46342" y="33499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循环检测设阈值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47485" y="3688556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同一文件同会话编辑 3 次以上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47485" y="3936206"/>
              <a:ext cx="11497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就提示它换个思…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" y="4533900"/>
            <a:ext cx="5257800" cy="1266825"/>
            <a:chOff x="609600" y="4533900"/>
            <a:chExt cx="5257800" cy="1266825"/>
          </a:xfrm>
        </p:grpSpPr>
        <p:sp>
          <p:nvSpPr>
            <p:cNvPr id="30" name="Rectangle 30"/>
            <p:cNvSpPr/>
            <p:nvPr/>
          </p:nvSpPr>
          <p:spPr>
            <a:xfrm>
              <a:off x="609600" y="4533900"/>
              <a:ext cx="5257800" cy="1266825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9600" y="453390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1342" y="48072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阻塞三次就问人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2485" y="5155406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连续 3 次以上工具调用被阻塞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2485" y="5403056"/>
              <a:ext cx="14513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停下来上报而不是硬…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324600" y="4533900"/>
            <a:ext cx="5257800" cy="1266825"/>
            <a:chOff x="6324600" y="4533900"/>
            <a:chExt cx="5257800" cy="1266825"/>
          </a:xfrm>
        </p:grpSpPr>
        <p:sp>
          <p:nvSpPr>
            <p:cNvPr id="36" name="Rectangle 36"/>
            <p:cNvSpPr/>
            <p:nvPr/>
          </p:nvSpPr>
          <p:spPr>
            <a:xfrm>
              <a:off x="6324600" y="4533900"/>
              <a:ext cx="5257800" cy="1266825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324600" y="453390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46342" y="4807268"/>
              <a:ext cx="14857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把 git 当原生记忆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47485" y="51554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小步、语义清晰的提交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47485" y="5403056"/>
              <a:ext cx="999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便于回溯与查…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2" name="TextBox 42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Harness Engineering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19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034920" cy="738854"/>
            <a:chOff x="595122" y="501491"/>
            <a:chExt cx="403492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08 · 度量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03492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Harness 该看哪些指标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指标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49315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94888" y="17535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为什么重要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0847" y="22093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任务完成率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29300" y="22093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端到端达标比例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52864" y="22093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唯一的北极星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25431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0847" y="27522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每次成功完成成本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97373" y="27522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总成本除以成功次数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89009" y="275224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并行与重试的真实代价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3086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0847" y="3295174"/>
              <a:ext cx="8080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单任务 token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27192" y="32951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平均消耗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54973" y="329517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上下文效率的体温计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36290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0847" y="38476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首次通过率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63337" y="38476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一次跑通无需回退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54973" y="38476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衡量验证回路有效性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4171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847" y="43905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人工介入率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29300" y="43905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需人接管的比例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54973" y="43905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自主程度的真实水位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9600" y="47148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0847" y="493347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回滚率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63337" y="493347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改动被撤销的比例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89009" y="493347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权限与验证是否真生效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09600" y="5257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0847" y="547639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循环触发率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497373" y="547639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循环检测被触发次数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20937" y="547639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模型弱点的探测器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1" name="TextBox 41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Harness Engineering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947291" cy="738854"/>
            <a:chOff x="595122" y="501491"/>
            <a:chExt cx="194729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08 · 陷阱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反模式与坑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619250"/>
            <a:ext cx="3429000" cy="1905000"/>
            <a:chOff x="609600" y="161925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用提示词承载安全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30743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自然语言护栏不是护栏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55508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必须用确定性策略引擎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8027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模型自律不构成约束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305038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安全不能靠「请务必不要」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381500" y="1619250"/>
            <a:ext cx="3429000" cy="1905000"/>
            <a:chOff x="4381500" y="1619250"/>
            <a:chExt cx="3429000" cy="1905000"/>
          </a:xfrm>
        </p:grpSpPr>
        <p:sp>
          <p:nvSpPr>
            <p:cNvPr id="14" name="Rectangle 14"/>
            <p:cNvSpPr/>
            <p:nvPr/>
          </p:nvSpPr>
          <p:spPr>
            <a:xfrm>
              <a:off x="43815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03242" y="18926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工具与上下文失控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23074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工具越多越好是错觉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4385" y="255508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描述膨胀直接饱和上下文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04385" y="280273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单环没过评测就别堆多智能体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04385" y="305038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先证明一个循环能跑通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153400" y="1619250"/>
            <a:ext cx="3429000" cy="1905000"/>
            <a:chOff x="8153400" y="1619250"/>
            <a:chExt cx="3429000" cy="1905000"/>
          </a:xfrm>
        </p:grpSpPr>
        <p:sp>
          <p:nvSpPr>
            <p:cNvPr id="22" name="Rectangle 22"/>
            <p:cNvSpPr/>
            <p:nvPr/>
          </p:nvSpPr>
          <p:spPr>
            <a:xfrm>
              <a:off x="8153400" y="1619250"/>
              <a:ext cx="34290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75142" y="18926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状态丢失与盲调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6285" y="230743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压缩抹掉审批态与活跃计划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76285" y="25550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已加载规则必须幸存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76285" y="280273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网页邮件工单日志一律当数据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76285" y="3050381"/>
              <a:ext cx="14211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没有 trace 就是盲调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30" name="Rectangle 30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6018" y="4050982"/>
              <a:ext cx="5205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模型会越来越商品化，剩下的差距几乎全在 harness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8304" y="4947285"/>
              <a:ext cx="53377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LangChain harness profiles；OpenAI Codex 五个月百万行、零行手写。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4" name="TextBox 34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Harness Engineering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21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947291" cy="738854"/>
            <a:chOff x="595122" y="501491"/>
            <a:chExt cx="194729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总结与参考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3742182" cy="322707"/>
            <a:chOff x="601218" y="1898332"/>
            <a:chExt cx="3742182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一句话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7280" y="191452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能干什么不能干什么，以及怎么兜底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2877088" cy="322707"/>
            <a:chOff x="601218" y="2431732"/>
            <a:chExt cx="2877088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公式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7280" y="2447925"/>
              <a:ext cx="23810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Agent = Model + Harness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2965132"/>
            <a:ext cx="3459480" cy="322707"/>
            <a:chOff x="601218" y="2965132"/>
            <a:chExt cx="3459480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29651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五层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7280" y="2981325"/>
              <a:ext cx="29634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记忆 · 工具 · 权限 · 钩子 · 观测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1218" y="3498532"/>
            <a:ext cx="2793111" cy="322707"/>
            <a:chOff x="601218" y="3498532"/>
            <a:chExt cx="2793111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01218" y="34985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三旋钮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7280" y="3514725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系统提示 · 工具 · 中间件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8618" y="1898332"/>
            <a:ext cx="3338322" cy="322707"/>
            <a:chOff x="6468618" y="1898332"/>
            <a:chExt cx="3338322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6468618" y="18983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不变量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64680" y="19145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无自有权限，只借触发者的子集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8618" y="2431732"/>
            <a:ext cx="3338322" cy="322707"/>
            <a:chOff x="6468618" y="2431732"/>
            <a:chExt cx="3338322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468618" y="24317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度量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64680" y="24479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看每次成功完成成本，不看墙钟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68618" y="2965132"/>
            <a:ext cx="4312070" cy="322707"/>
            <a:chOff x="6468618" y="2965132"/>
            <a:chExt cx="4312070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468618" y="29651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来源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4680" y="2981325"/>
              <a:ext cx="38160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OpenAI · LangChain · Anthropic · HF 等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7" name="TextBox 27"/>
            <p:cNvSpPr txBox="1"/>
            <p:nvPr/>
          </p:nvSpPr>
          <p:spPr>
            <a:xfrm>
              <a:off x="604838" y="6613684"/>
              <a:ext cx="90306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Harness Engineering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22 / 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harnesseng_v2">
  <a:themeElements>
    <a:clrScheme name="harnesseng_v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harnesseng_v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rnesseng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2026-09-01T06:09:37Z</dcterms:created>
  <dcterms:modified xsi:type="dcterms:W3CDTF">2026-09-01T06:09:37Z</dcterms:modified>
  <cp:category/>
  <cp:contentStatus/>
</cp:coreProperties>
</file>