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88" r:id="rId4"/>
    <p:sldId id="389" r:id="rId5"/>
    <p:sldId id="390" r:id="rId6"/>
    <p:sldId id="391" r:id="rId7"/>
    <p:sldId id="393" r:id="rId8"/>
    <p:sldId id="386" r:id="rId9"/>
    <p:sldId id="399" r:id="rId10"/>
    <p:sldId id="400" r:id="rId11"/>
    <p:sldId id="401" r:id="rId12"/>
    <p:sldId id="402" r:id="rId13"/>
    <p:sldId id="40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5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6.xml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6.xml"/><Relationship Id="rId10" Type="http://schemas.openxmlformats.org/officeDocument/2006/relationships/tags" Target="../tags/tag51.xml"/><Relationship Id="rId4" Type="http://schemas.openxmlformats.org/officeDocument/2006/relationships/tags" Target="../tags/tag45.xml"/><Relationship Id="rId9" Type="http://schemas.openxmlformats.org/officeDocument/2006/relationships/tags" Target="../tags/tag5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9DEC3-CEE9-1236-C7B2-0638F64B4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5936BC-F13B-7BEF-8E1B-5C410F953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24AF76-5F25-A87F-4506-71AE2541F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B851-8D8A-4ADD-9997-6E63E6903B6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5BB73C-3BDF-A61F-49A9-C1729B43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95BB09-174A-852F-6505-E19B75F1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A6FB-7052-425A-ADED-C16F5253A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19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E45C5-CEF1-571D-5363-C2F46DED4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A24C2-B9F5-61C2-4804-2827CD943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EA75A9-D1BA-0872-E42B-6A20B1314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B851-8D8A-4ADD-9997-6E63E6903B6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F010A7-CADD-3451-36E3-32A0C734F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9CDC70-277A-E192-C807-1D66E16B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A6FB-7052-425A-ADED-C16F5253A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20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00EE5-F602-B3F7-8861-8135E205D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1CAB29-434B-F2D9-3C70-59A0DD7DD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22AF37-D363-DE2B-5216-36B22975A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B851-8D8A-4ADD-9997-6E63E6903B6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B93849-24F7-AC2F-8601-4A850688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FDD76E-761F-A28A-E591-2E401824B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A6FB-7052-425A-ADED-C16F5253A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322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4B3BD-85EC-A07C-85B4-7F28EB2E7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E3C0E3-3C0F-2632-2ED3-9EC4FB7232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23B5F3-9D3D-FBD9-D55D-DA3F5D1F2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CB7D5D-107D-4440-EA9F-406DBF7F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B851-8D8A-4ADD-9997-6E63E6903B6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7008DF-4C71-59AF-55BF-33E6AA49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87FB8E-D75B-96A6-2EF9-1E96B5751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A6FB-7052-425A-ADED-C16F5253A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621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06178-4D46-FF9A-C2BB-7C5BE893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E1AB70-E7CA-4604-A8C7-F5649D193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121218-4C20-368E-5D04-5AAB9D4CD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1DD36D-DF93-2557-0550-EF80D41136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BA1823-0E51-656D-914C-D3474D31E4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401B2F-34DE-6FE3-BBE8-74AD23EDF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B851-8D8A-4ADD-9997-6E63E6903B6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155AF4-5E33-9E77-DA18-FF959EFC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49037E-0B9F-22F8-AD36-B0980484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A6FB-7052-425A-ADED-C16F5253A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85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96A94-D1B2-7CA6-1CDD-5A0D62E0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61379E-5CEA-16CC-21EB-5FCE900EA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B851-8D8A-4ADD-9997-6E63E6903B6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CC888B-CE1E-2EE1-5FC0-330CA96CC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3FFD0A-DF86-4708-9B4F-FD6A371FC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A6FB-7052-425A-ADED-C16F5253A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799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6BA33D-6D1E-DA95-A1D5-F0EA07783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B851-8D8A-4ADD-9997-6E63E6903B6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AC611A-F885-876A-67BB-EF562FCF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76BCF6-4D36-2384-8A2A-5B29FB00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A6FB-7052-425A-ADED-C16F5253A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62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29255-6125-C9EE-1CFA-DF11229E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F919D5-2ED5-83FE-B82F-882C44CE4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83392D-C3C1-B126-86EF-3714676CE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1C5DD2-57F5-CFC2-5746-36D3FA091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B851-8D8A-4ADD-9997-6E63E6903B6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D1D060-BA9D-65FC-035D-2E88A9EBF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1417AD-C6EB-CD0E-3CBF-23C50F69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A6FB-7052-425A-ADED-C16F5253A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62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82E32-FF21-93CA-6305-617C581F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F8C68F-FCFB-F72B-F7B8-7A8FF3BED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EF459C-893E-F7BD-5B7E-1BEBC511B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F83FCD-B81F-0CE7-C806-13EB6400B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B851-8D8A-4ADD-9997-6E63E6903B6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88DF1B-E6AE-A22A-7CF9-5985D0D0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82ABA5-620F-BADE-239F-E34BE6C7F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A6FB-7052-425A-ADED-C16F5253A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10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50E8E-86CF-F317-89D0-A0DBCB20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55D336-7934-1FDE-8DFB-E10F0FD1A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73697-5788-73E2-F21F-C67293DEE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B851-8D8A-4ADD-9997-6E63E6903B6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6603F-F968-B481-51B9-4F960C906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209DDB-3871-1C00-1604-35CB3CB4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A6FB-7052-425A-ADED-C16F5253A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15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1F0DF0-376E-3D7F-7D40-1C9F5F4EF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C846D4-DAA0-E2C7-5D00-CECBB6D0A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2C3D57-A60E-857B-A0F0-4136CAF8F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B851-8D8A-4ADD-9997-6E63E6903B6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A2E68-F2CF-F423-3891-107FD2DE7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4B8B7B-D8B3-9B19-0D2D-AD4398FF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A6FB-7052-425A-ADED-C16F5253A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771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2366418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226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189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145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412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386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4023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2026/8/30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11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756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968102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34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图片占位符 6"/>
          <p:cNvSpPr>
            <a:spLocks noGrp="1"/>
          </p:cNvSpPr>
          <p:nvPr>
            <p:ph type="pic" idx="16394" hasCustomPrompt="1"/>
            <p:custDataLst>
              <p:tags r:id="rId2"/>
            </p:custDataLst>
          </p:nvPr>
        </p:nvSpPr>
        <p:spPr>
          <a:xfrm>
            <a:off x="609600" y="2184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2082800" y="19304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2082800" y="24384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idx="16395" hasCustomPrompt="1"/>
            <p:custDataLst>
              <p:tags r:id="rId5"/>
            </p:custDataLst>
          </p:nvPr>
        </p:nvSpPr>
        <p:spPr>
          <a:xfrm>
            <a:off x="6324600" y="2184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7797800" y="19304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7797800" y="24384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6" hasCustomPrompt="1"/>
            <p:custDataLst>
              <p:tags r:id="rId8"/>
            </p:custDataLst>
          </p:nvPr>
        </p:nvSpPr>
        <p:spPr>
          <a:xfrm>
            <a:off x="609600" y="4368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2082800" y="41148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2082800" y="46228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6324600" y="4368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7797800" y="41148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7797800" y="46228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  <p:extLst>
      <p:ext uri="{BB962C8B-B14F-4D97-AF65-F5344CB8AC3E}">
        <p14:creationId xmlns:p14="http://schemas.microsoft.com/office/powerpoint/2010/main" val="4014741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914400" y="1778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4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673600" y="1778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736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432800" y="1778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4328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  <p:extLst>
      <p:ext uri="{BB962C8B-B14F-4D97-AF65-F5344CB8AC3E}">
        <p14:creationId xmlns:p14="http://schemas.microsoft.com/office/powerpoint/2010/main" val="3068785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2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  <p:extLst>
      <p:ext uri="{BB962C8B-B14F-4D97-AF65-F5344CB8AC3E}">
        <p14:creationId xmlns:p14="http://schemas.microsoft.com/office/powerpoint/2010/main" val="23405745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6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4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3688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736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1280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4328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  <p:extLst>
      <p:ext uri="{BB962C8B-B14F-4D97-AF65-F5344CB8AC3E}">
        <p14:creationId xmlns:p14="http://schemas.microsoft.com/office/powerpoint/2010/main" val="15484916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正文页-10003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6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4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3688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736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1280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4328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  <p:extLst>
      <p:ext uri="{BB962C8B-B14F-4D97-AF65-F5344CB8AC3E}">
        <p14:creationId xmlns:p14="http://schemas.microsoft.com/office/powerpoint/2010/main" val="6935573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78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B68002-343B-E614-DEC4-D2F1E791C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36275B-6974-5122-2C69-365E8EE93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50E7BE-8C94-E242-516D-A63F5695C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7B851-8D8A-4ADD-9997-6E63E6903B6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2107F1-885E-9014-5506-7276F7111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77A781-EA29-2D8F-C561-8FE5E49F7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5A6FB-7052-425A-ADED-C16F5253A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001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45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26" Type="http://schemas.openxmlformats.org/officeDocument/2006/relationships/tags" Target="../tags/tag77.xml"/><Relationship Id="rId3" Type="http://schemas.openxmlformats.org/officeDocument/2006/relationships/tags" Target="../tags/tag54.xml"/><Relationship Id="rId21" Type="http://schemas.openxmlformats.org/officeDocument/2006/relationships/tags" Target="../tags/tag72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5" Type="http://schemas.openxmlformats.org/officeDocument/2006/relationships/tags" Target="../tags/tag76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0" Type="http://schemas.openxmlformats.org/officeDocument/2006/relationships/tags" Target="../tags/tag71.xml"/><Relationship Id="rId29" Type="http://schemas.openxmlformats.org/officeDocument/2006/relationships/image" Target="../media/image1.png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24" Type="http://schemas.openxmlformats.org/officeDocument/2006/relationships/tags" Target="../tags/tag75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23" Type="http://schemas.openxmlformats.org/officeDocument/2006/relationships/tags" Target="../tags/tag74.xml"/><Relationship Id="rId28" Type="http://schemas.openxmlformats.org/officeDocument/2006/relationships/slideLayout" Target="../slideLayouts/slideLayout13.xml"/><Relationship Id="rId10" Type="http://schemas.openxmlformats.org/officeDocument/2006/relationships/tags" Target="../tags/tag61.xml"/><Relationship Id="rId19" Type="http://schemas.openxmlformats.org/officeDocument/2006/relationships/tags" Target="../tags/tag70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Relationship Id="rId22" Type="http://schemas.openxmlformats.org/officeDocument/2006/relationships/tags" Target="../tags/tag73.xml"/><Relationship Id="rId27" Type="http://schemas.openxmlformats.org/officeDocument/2006/relationships/tags" Target="../tags/tag7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tags" Target="../tags/tag91.xml"/><Relationship Id="rId18" Type="http://schemas.openxmlformats.org/officeDocument/2006/relationships/tags" Target="../tags/tag96.xml"/><Relationship Id="rId3" Type="http://schemas.openxmlformats.org/officeDocument/2006/relationships/tags" Target="../tags/tag81.xml"/><Relationship Id="rId21" Type="http://schemas.openxmlformats.org/officeDocument/2006/relationships/tags" Target="../tags/tag99.xml"/><Relationship Id="rId7" Type="http://schemas.openxmlformats.org/officeDocument/2006/relationships/tags" Target="../tags/tag85.xml"/><Relationship Id="rId12" Type="http://schemas.openxmlformats.org/officeDocument/2006/relationships/tags" Target="../tags/tag90.xml"/><Relationship Id="rId17" Type="http://schemas.openxmlformats.org/officeDocument/2006/relationships/tags" Target="../tags/tag95.xml"/><Relationship Id="rId2" Type="http://schemas.openxmlformats.org/officeDocument/2006/relationships/tags" Target="../tags/tag80.xml"/><Relationship Id="rId16" Type="http://schemas.openxmlformats.org/officeDocument/2006/relationships/tags" Target="../tags/tag94.xml"/><Relationship Id="rId20" Type="http://schemas.openxmlformats.org/officeDocument/2006/relationships/tags" Target="../tags/tag98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9.xml"/><Relationship Id="rId5" Type="http://schemas.openxmlformats.org/officeDocument/2006/relationships/tags" Target="../tags/tag83.xml"/><Relationship Id="rId15" Type="http://schemas.openxmlformats.org/officeDocument/2006/relationships/tags" Target="../tags/tag93.xml"/><Relationship Id="rId23" Type="http://schemas.openxmlformats.org/officeDocument/2006/relationships/image" Target="../media/image2.png"/><Relationship Id="rId10" Type="http://schemas.openxmlformats.org/officeDocument/2006/relationships/tags" Target="../tags/tag88.xml"/><Relationship Id="rId19" Type="http://schemas.openxmlformats.org/officeDocument/2006/relationships/tags" Target="../tags/tag97.xml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tags" Target="../tags/tag92.xml"/><Relationship Id="rId22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tags" Target="../tags/tag112.xml"/><Relationship Id="rId18" Type="http://schemas.openxmlformats.org/officeDocument/2006/relationships/tags" Target="../tags/tag117.xml"/><Relationship Id="rId3" Type="http://schemas.openxmlformats.org/officeDocument/2006/relationships/tags" Target="../tags/tag102.xml"/><Relationship Id="rId21" Type="http://schemas.openxmlformats.org/officeDocument/2006/relationships/tags" Target="../tags/tag120.xml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17" Type="http://schemas.openxmlformats.org/officeDocument/2006/relationships/tags" Target="../tags/tag116.xml"/><Relationship Id="rId2" Type="http://schemas.openxmlformats.org/officeDocument/2006/relationships/tags" Target="../tags/tag101.xml"/><Relationship Id="rId16" Type="http://schemas.openxmlformats.org/officeDocument/2006/relationships/tags" Target="../tags/tag115.xml"/><Relationship Id="rId20" Type="http://schemas.openxmlformats.org/officeDocument/2006/relationships/tags" Target="../tags/tag119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24" Type="http://schemas.openxmlformats.org/officeDocument/2006/relationships/image" Target="../media/image4.png"/><Relationship Id="rId5" Type="http://schemas.openxmlformats.org/officeDocument/2006/relationships/tags" Target="../tags/tag104.xml"/><Relationship Id="rId15" Type="http://schemas.openxmlformats.org/officeDocument/2006/relationships/tags" Target="../tags/tag114.xml"/><Relationship Id="rId23" Type="http://schemas.openxmlformats.org/officeDocument/2006/relationships/image" Target="../media/image3.png"/><Relationship Id="rId10" Type="http://schemas.openxmlformats.org/officeDocument/2006/relationships/tags" Target="../tags/tag109.xml"/><Relationship Id="rId19" Type="http://schemas.openxmlformats.org/officeDocument/2006/relationships/tags" Target="../tags/tag118.xml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tags" Target="../tags/tag113.xml"/><Relationship Id="rId22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18" Type="http://schemas.openxmlformats.org/officeDocument/2006/relationships/tags" Target="../tags/tag138.xml"/><Relationship Id="rId3" Type="http://schemas.openxmlformats.org/officeDocument/2006/relationships/tags" Target="../tags/tag123.xml"/><Relationship Id="rId21" Type="http://schemas.openxmlformats.org/officeDocument/2006/relationships/tags" Target="../tags/tag141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17" Type="http://schemas.openxmlformats.org/officeDocument/2006/relationships/tags" Target="../tags/tag137.xml"/><Relationship Id="rId2" Type="http://schemas.openxmlformats.org/officeDocument/2006/relationships/tags" Target="../tags/tag122.xml"/><Relationship Id="rId16" Type="http://schemas.openxmlformats.org/officeDocument/2006/relationships/tags" Target="../tags/tag136.xml"/><Relationship Id="rId20" Type="http://schemas.openxmlformats.org/officeDocument/2006/relationships/tags" Target="../tags/tag140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5" Type="http://schemas.openxmlformats.org/officeDocument/2006/relationships/tags" Target="../tags/tag135.xml"/><Relationship Id="rId23" Type="http://schemas.openxmlformats.org/officeDocument/2006/relationships/image" Target="../media/image5.png"/><Relationship Id="rId10" Type="http://schemas.openxmlformats.org/officeDocument/2006/relationships/tags" Target="../tags/tag130.xml"/><Relationship Id="rId19" Type="http://schemas.openxmlformats.org/officeDocument/2006/relationships/tags" Target="../tags/tag139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tags" Target="../tags/tag134.xml"/><Relationship Id="rId22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49.xml"/><Relationship Id="rId13" Type="http://schemas.openxmlformats.org/officeDocument/2006/relationships/tags" Target="../tags/tag154.xml"/><Relationship Id="rId18" Type="http://schemas.openxmlformats.org/officeDocument/2006/relationships/tags" Target="../tags/tag159.xml"/><Relationship Id="rId3" Type="http://schemas.openxmlformats.org/officeDocument/2006/relationships/tags" Target="../tags/tag144.xml"/><Relationship Id="rId21" Type="http://schemas.openxmlformats.org/officeDocument/2006/relationships/tags" Target="../tags/tag162.xml"/><Relationship Id="rId7" Type="http://schemas.openxmlformats.org/officeDocument/2006/relationships/tags" Target="../tags/tag148.xml"/><Relationship Id="rId12" Type="http://schemas.openxmlformats.org/officeDocument/2006/relationships/tags" Target="../tags/tag153.xml"/><Relationship Id="rId17" Type="http://schemas.openxmlformats.org/officeDocument/2006/relationships/tags" Target="../tags/tag158.xml"/><Relationship Id="rId2" Type="http://schemas.openxmlformats.org/officeDocument/2006/relationships/tags" Target="../tags/tag143.xml"/><Relationship Id="rId16" Type="http://schemas.openxmlformats.org/officeDocument/2006/relationships/tags" Target="../tags/tag157.xml"/><Relationship Id="rId20" Type="http://schemas.openxmlformats.org/officeDocument/2006/relationships/tags" Target="../tags/tag161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1" Type="http://schemas.openxmlformats.org/officeDocument/2006/relationships/tags" Target="../tags/tag152.xml"/><Relationship Id="rId5" Type="http://schemas.openxmlformats.org/officeDocument/2006/relationships/tags" Target="../tags/tag146.xml"/><Relationship Id="rId15" Type="http://schemas.openxmlformats.org/officeDocument/2006/relationships/tags" Target="../tags/tag156.xml"/><Relationship Id="rId23" Type="http://schemas.openxmlformats.org/officeDocument/2006/relationships/image" Target="../media/image6.png"/><Relationship Id="rId10" Type="http://schemas.openxmlformats.org/officeDocument/2006/relationships/tags" Target="../tags/tag151.xml"/><Relationship Id="rId19" Type="http://schemas.openxmlformats.org/officeDocument/2006/relationships/tags" Target="../tags/tag160.xml"/><Relationship Id="rId4" Type="http://schemas.openxmlformats.org/officeDocument/2006/relationships/tags" Target="../tags/tag145.xml"/><Relationship Id="rId9" Type="http://schemas.openxmlformats.org/officeDocument/2006/relationships/tags" Target="../tags/tag150.xml"/><Relationship Id="rId14" Type="http://schemas.openxmlformats.org/officeDocument/2006/relationships/tags" Target="../tags/tag155.xml"/><Relationship Id="rId22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tags" Target="../tags/tag165.xml"/><Relationship Id="rId7" Type="http://schemas.openxmlformats.org/officeDocument/2006/relationships/tags" Target="../tags/tag169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tags" Target="../tags/tag179.xml"/><Relationship Id="rId7" Type="http://schemas.openxmlformats.org/officeDocument/2006/relationships/tags" Target="../tags/tag183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tags" Target="../tags/tag193.xml"/><Relationship Id="rId7" Type="http://schemas.openxmlformats.org/officeDocument/2006/relationships/tags" Target="../tags/tag197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0330127B-B724-91D7-3154-2F2866F55356}"/>
              </a:ext>
            </a:extLst>
          </p:cNvPr>
          <p:cNvSpPr txBox="1">
            <a:spLocks/>
          </p:cNvSpPr>
          <p:nvPr/>
        </p:nvSpPr>
        <p:spPr>
          <a:xfrm>
            <a:off x="1524000" y="1322962"/>
            <a:ext cx="9144000" cy="2187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宋体" panose="02010600030101010101" pitchFamily="2" charset="-122"/>
                <a:cs typeface="+mj-cs"/>
              </a:rPr>
              <a:t>5</a:t>
            </a:r>
            <a:r>
              <a:rPr kumimoji="0" lang="zh-CN" altLang="en-US" sz="6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宋体" panose="02010600030101010101" pitchFamily="2" charset="-122"/>
                <a:cs typeface="+mj-cs"/>
              </a:rPr>
              <a:t>种</a:t>
            </a:r>
            <a:r>
              <a:rPr kumimoji="0" lang="en-US" altLang="zh-CN" sz="6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宋体" panose="02010600030101010101" pitchFamily="2" charset="-122"/>
                <a:cs typeface="+mj-cs"/>
              </a:rPr>
              <a:t>Agentic AI</a:t>
            </a:r>
            <a:r>
              <a:rPr kumimoji="0" lang="zh-CN" altLang="en-US" sz="6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/>
                <a:ea typeface="宋体" panose="02010600030101010101" pitchFamily="2" charset="-122"/>
                <a:cs typeface="+mj-cs"/>
              </a:rPr>
              <a:t>设计模式</a:t>
            </a:r>
          </a:p>
        </p:txBody>
      </p:sp>
    </p:spTree>
    <p:extLst>
      <p:ext uri="{BB962C8B-B14F-4D97-AF65-F5344CB8AC3E}">
        <p14:creationId xmlns:p14="http://schemas.microsoft.com/office/powerpoint/2010/main" val="2880045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770255" y="1584325"/>
            <a:ext cx="10574020" cy="850900"/>
            <a:chOff x="1213" y="2495"/>
            <a:chExt cx="16652" cy="1340"/>
          </a:xfrm>
        </p:grpSpPr>
        <p:sp>
          <p:nvSpPr>
            <p:cNvPr id="13" name="矩形 12"/>
            <p:cNvSpPr/>
            <p:nvPr>
              <p:custDataLst>
                <p:tags r:id="rId24"/>
              </p:custDataLst>
            </p:nvPr>
          </p:nvSpPr>
          <p:spPr>
            <a:xfrm>
              <a:off x="1529" y="2495"/>
              <a:ext cx="16336" cy="1341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dist="38100" dir="2700000" algn="tl" rotWithShape="0">
                <a:schemeClr val="accent1">
                  <a:alpha val="10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" name="组合 13"/>
            <p:cNvGrpSpPr/>
            <p:nvPr>
              <p:custDataLst>
                <p:tags r:id="rId25"/>
              </p:custDataLst>
            </p:nvPr>
          </p:nvGrpSpPr>
          <p:grpSpPr>
            <a:xfrm>
              <a:off x="1213" y="2913"/>
              <a:ext cx="644" cy="745"/>
              <a:chOff x="2636582" y="2559050"/>
              <a:chExt cx="409098" cy="473075"/>
            </a:xfrm>
          </p:grpSpPr>
          <p:sp>
            <p:nvSpPr>
              <p:cNvPr id="15" name="矩形 14"/>
              <p:cNvSpPr/>
              <p:nvPr>
                <p:custDataLst>
                  <p:tags r:id="rId26"/>
                </p:custDataLst>
              </p:nvPr>
            </p:nvSpPr>
            <p:spPr>
              <a:xfrm>
                <a:off x="2826543" y="2559050"/>
                <a:ext cx="219137" cy="4730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PA_ImportSvg_636983900241446251"/>
              <p:cNvSpPr/>
              <p:nvPr>
                <p:custDataLst>
                  <p:tags r:id="rId27"/>
                </p:custDataLst>
              </p:nvPr>
            </p:nvSpPr>
            <p:spPr>
              <a:xfrm rot="10800000">
                <a:off x="2636582" y="2622187"/>
                <a:ext cx="401195" cy="346800"/>
              </a:xfrm>
              <a:custGeom>
                <a:avLst/>
                <a:gdLst/>
                <a:ahLst/>
                <a:cxnLst/>
                <a:rect l="l" t="t" r="r" b="b"/>
                <a:pathLst>
                  <a:path w="14292586" h="12354751">
                    <a:moveTo>
                      <a:pt x="1" y="0"/>
                    </a:moveTo>
                    <a:lnTo>
                      <a:pt x="6016804" y="0"/>
                    </a:lnTo>
                    <a:lnTo>
                      <a:pt x="6016804" y="4339700"/>
                    </a:lnTo>
                    <a:cubicBezTo>
                      <a:pt x="6016804" y="6110134"/>
                      <a:pt x="5863353" y="7499112"/>
                      <a:pt x="5556444" y="8506676"/>
                    </a:cubicBezTo>
                    <a:cubicBezTo>
                      <a:pt x="5249537" y="9514240"/>
                      <a:pt x="4930378" y="10186854"/>
                      <a:pt x="4095301" y="10992906"/>
                    </a:cubicBezTo>
                    <a:cubicBezTo>
                      <a:pt x="3260225" y="11798956"/>
                      <a:pt x="2680814" y="12040837"/>
                      <a:pt x="1455066" y="12354750"/>
                    </a:cubicBezTo>
                    <a:lnTo>
                      <a:pt x="598736" y="10512869"/>
                    </a:lnTo>
                    <a:cubicBezTo>
                      <a:pt x="1455066" y="10185628"/>
                      <a:pt x="1976770" y="10039677"/>
                      <a:pt x="2781416" y="9204842"/>
                    </a:cubicBezTo>
                    <a:cubicBezTo>
                      <a:pt x="3586062" y="8370008"/>
                      <a:pt x="3645413" y="7562531"/>
                      <a:pt x="3645413" y="6868493"/>
                    </a:cubicBezTo>
                    <a:lnTo>
                      <a:pt x="1" y="6868493"/>
                    </a:lnTo>
                    <a:close/>
                    <a:moveTo>
                      <a:pt x="8275783" y="0"/>
                    </a:moveTo>
                    <a:lnTo>
                      <a:pt x="14292586" y="0"/>
                    </a:lnTo>
                    <a:lnTo>
                      <a:pt x="14292586" y="4339700"/>
                    </a:lnTo>
                    <a:cubicBezTo>
                      <a:pt x="14292586" y="6110134"/>
                      <a:pt x="14139135" y="7499112"/>
                      <a:pt x="13832227" y="8506676"/>
                    </a:cubicBezTo>
                    <a:cubicBezTo>
                      <a:pt x="13525318" y="9514240"/>
                      <a:pt x="13206159" y="10186854"/>
                      <a:pt x="12371083" y="10992906"/>
                    </a:cubicBezTo>
                    <a:cubicBezTo>
                      <a:pt x="11536006" y="11798956"/>
                      <a:pt x="10956597" y="12040837"/>
                      <a:pt x="9730848" y="12354750"/>
                    </a:cubicBezTo>
                    <a:lnTo>
                      <a:pt x="8874518" y="10512869"/>
                    </a:lnTo>
                    <a:cubicBezTo>
                      <a:pt x="9730848" y="10185628"/>
                      <a:pt x="10252552" y="10039677"/>
                      <a:pt x="11057198" y="9204842"/>
                    </a:cubicBezTo>
                    <a:cubicBezTo>
                      <a:pt x="11861845" y="8370008"/>
                      <a:pt x="11921195" y="7562531"/>
                      <a:pt x="11921195" y="6868493"/>
                    </a:cubicBezTo>
                    <a:lnTo>
                      <a:pt x="8275783" y="6868493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7" name="Title 6"/>
          <p:cNvSpPr txBox="1"/>
          <p:nvPr>
            <p:custDataLst>
              <p:tags r:id="rId2"/>
            </p:custDataLst>
          </p:nvPr>
        </p:nvSpPr>
        <p:spPr>
          <a:xfrm>
            <a:off x="1450278" y="1834515"/>
            <a:ext cx="9415207" cy="351790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16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AI通过审查自身工作来发现错误并迭代改进，直至生成最终响应。</a:t>
            </a:r>
          </a:p>
        </p:txBody>
      </p:sp>
      <p:grpSp>
        <p:nvGrpSpPr>
          <p:cNvPr id="142" name="组合 141"/>
          <p:cNvGrpSpPr/>
          <p:nvPr>
            <p:custDataLst>
              <p:tags r:id="rId3"/>
            </p:custDataLst>
          </p:nvPr>
        </p:nvGrpSpPr>
        <p:grpSpPr>
          <a:xfrm>
            <a:off x="779780" y="2769870"/>
            <a:ext cx="5079365" cy="3399155"/>
            <a:chOff x="1529" y="5306"/>
            <a:chExt cx="7999" cy="5353"/>
          </a:xfrm>
        </p:grpSpPr>
        <p:cxnSp>
          <p:nvCxnSpPr>
            <p:cNvPr id="143" name="直接连接符 142"/>
            <p:cNvCxnSpPr/>
            <p:nvPr>
              <p:custDataLst>
                <p:tags r:id="rId12"/>
              </p:custDataLst>
            </p:nvPr>
          </p:nvCxnSpPr>
          <p:spPr>
            <a:xfrm>
              <a:off x="1529" y="5457"/>
              <a:ext cx="6121" cy="0"/>
            </a:xfrm>
            <a:prstGeom prst="lin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" name="组合 143"/>
            <p:cNvGrpSpPr/>
            <p:nvPr>
              <p:custDataLst>
                <p:tags r:id="rId13"/>
              </p:custDataLst>
            </p:nvPr>
          </p:nvGrpSpPr>
          <p:grpSpPr>
            <a:xfrm>
              <a:off x="7860" y="5306"/>
              <a:ext cx="1607" cy="240"/>
              <a:chOff x="12103" y="3344"/>
              <a:chExt cx="1607" cy="240"/>
            </a:xfrm>
          </p:grpSpPr>
          <p:sp>
            <p:nvSpPr>
              <p:cNvPr id="145" name="矩形 144"/>
              <p:cNvSpPr/>
              <p:nvPr>
                <p:custDataLst>
                  <p:tags r:id="rId20"/>
                </p:custDataLst>
              </p:nvPr>
            </p:nvSpPr>
            <p:spPr>
              <a:xfrm>
                <a:off x="12103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6" name="矩形 145"/>
              <p:cNvSpPr/>
              <p:nvPr>
                <p:custDataLst>
                  <p:tags r:id="rId21"/>
                </p:custDataLst>
              </p:nvPr>
            </p:nvSpPr>
            <p:spPr>
              <a:xfrm>
                <a:off x="12548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7" name="矩形 146"/>
              <p:cNvSpPr/>
              <p:nvPr>
                <p:custDataLst>
                  <p:tags r:id="rId22"/>
                </p:custDataLst>
              </p:nvPr>
            </p:nvSpPr>
            <p:spPr>
              <a:xfrm>
                <a:off x="13025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8" name="矩形 147"/>
              <p:cNvSpPr/>
              <p:nvPr>
                <p:custDataLst>
                  <p:tags r:id="rId23"/>
                </p:custDataLst>
              </p:nvPr>
            </p:nvSpPr>
            <p:spPr>
              <a:xfrm>
                <a:off x="13470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49" name="直接连接符 148"/>
            <p:cNvCxnSpPr/>
            <p:nvPr>
              <p:custDataLst>
                <p:tags r:id="rId14"/>
              </p:custDataLst>
            </p:nvPr>
          </p:nvCxnSpPr>
          <p:spPr>
            <a:xfrm>
              <a:off x="3408" y="10539"/>
              <a:ext cx="6121" cy="0"/>
            </a:xfrm>
            <a:prstGeom prst="lin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0" name="组合 149"/>
            <p:cNvGrpSpPr/>
            <p:nvPr>
              <p:custDataLst>
                <p:tags r:id="rId15"/>
              </p:custDataLst>
            </p:nvPr>
          </p:nvGrpSpPr>
          <p:grpSpPr>
            <a:xfrm>
              <a:off x="1529" y="10419"/>
              <a:ext cx="1607" cy="240"/>
              <a:chOff x="5368" y="6426"/>
              <a:chExt cx="1607" cy="240"/>
            </a:xfrm>
          </p:grpSpPr>
          <p:sp>
            <p:nvSpPr>
              <p:cNvPr id="151" name="矩形 150"/>
              <p:cNvSpPr/>
              <p:nvPr>
                <p:custDataLst>
                  <p:tags r:id="rId16"/>
                </p:custDataLst>
              </p:nvPr>
            </p:nvSpPr>
            <p:spPr>
              <a:xfrm>
                <a:off x="5368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2" name="矩形 151"/>
              <p:cNvSpPr/>
              <p:nvPr>
                <p:custDataLst>
                  <p:tags r:id="rId17"/>
                </p:custDataLst>
              </p:nvPr>
            </p:nvSpPr>
            <p:spPr>
              <a:xfrm>
                <a:off x="5813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3" name="矩形 152"/>
              <p:cNvSpPr/>
              <p:nvPr>
                <p:custDataLst>
                  <p:tags r:id="rId18"/>
                </p:custDataLst>
              </p:nvPr>
            </p:nvSpPr>
            <p:spPr>
              <a:xfrm>
                <a:off x="6290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4" name="矩形 153"/>
              <p:cNvSpPr/>
              <p:nvPr>
                <p:custDataLst>
                  <p:tags r:id="rId19"/>
                </p:custDataLst>
              </p:nvPr>
            </p:nvSpPr>
            <p:spPr>
              <a:xfrm>
                <a:off x="6735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55" name="Title 6"/>
          <p:cNvSpPr txBox="1"/>
          <p:nvPr>
            <p:custDataLst>
              <p:tags r:id="rId4"/>
            </p:custDataLst>
          </p:nvPr>
        </p:nvSpPr>
        <p:spPr>
          <a:xfrm>
            <a:off x="779780" y="3183255"/>
            <a:ext cx="5080000" cy="233362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16230" marR="0" lvl="0" indent="-31623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 3" panose="05040102010807070707" charset="0"/>
              <a:buChar char="u"/>
              <a:tabLst/>
              <a:defRPr/>
            </a:pPr>
            <a:r>
              <a:rPr kumimoji="0" lang="zh-CN" altLang="en-US" sz="140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工作流：​</a:t>
            </a:r>
          </a:p>
          <a:p>
            <a:pPr marL="742950" marR="0" lvl="1" indent="-28575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20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用户（User）提出查询（Query）​</a:t>
            </a:r>
          </a:p>
          <a:p>
            <a:pPr marL="742950" marR="0" lvl="1" indent="-28575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20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deepseek LLM（生成）创建初始输出（Initial output）​</a:t>
            </a:r>
          </a:p>
          <a:p>
            <a:pPr marL="742950" marR="0" lvl="1" indent="-28575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20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deepseek LLM（反思）审查并改进输出（Reflected output）​</a:t>
            </a:r>
          </a:p>
          <a:p>
            <a:pPr marL="742950" marR="0" lvl="1" indent="-28575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20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迭代（Iterate）优化直至生成最终响应</a:t>
            </a:r>
          </a:p>
        </p:txBody>
      </p:sp>
      <p:pic>
        <p:nvPicPr>
          <p:cNvPr id="156" name="图片 155" descr="1280X1280 (6)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21805" y="2769870"/>
            <a:ext cx="4500880" cy="3424555"/>
          </a:xfrm>
          <a:prstGeom prst="rect">
            <a:avLst/>
          </a:prstGeom>
        </p:spPr>
      </p:pic>
      <p:grpSp>
        <p:nvGrpSpPr>
          <p:cNvPr id="165" name="组合 164"/>
          <p:cNvGrpSpPr/>
          <p:nvPr>
            <p:custDataLst>
              <p:tags r:id="rId5"/>
            </p:custDataLst>
          </p:nvPr>
        </p:nvGrpSpPr>
        <p:grpSpPr>
          <a:xfrm>
            <a:off x="-396240" y="258445"/>
            <a:ext cx="12355830" cy="446405"/>
            <a:chOff x="-624" y="407"/>
            <a:chExt cx="16878" cy="703"/>
          </a:xfrm>
        </p:grpSpPr>
        <p:sp>
          <p:nvSpPr>
            <p:cNvPr id="166" name="矩形 165"/>
            <p:cNvSpPr/>
            <p:nvPr>
              <p:custDataLst>
                <p:tags r:id="rId7"/>
              </p:custDataLst>
            </p:nvPr>
          </p:nvSpPr>
          <p:spPr>
            <a:xfrm>
              <a:off x="-624" y="407"/>
              <a:ext cx="943" cy="7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7" name="矩形 166"/>
            <p:cNvSpPr/>
            <p:nvPr>
              <p:custDataLst>
                <p:tags r:id="rId8"/>
              </p:custDataLst>
            </p:nvPr>
          </p:nvSpPr>
          <p:spPr>
            <a:xfrm>
              <a:off x="436" y="407"/>
              <a:ext cx="187" cy="70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8" name="半闭框 167"/>
            <p:cNvSpPr/>
            <p:nvPr>
              <p:custDataLst>
                <p:tags r:id="rId9"/>
              </p:custDataLst>
            </p:nvPr>
          </p:nvSpPr>
          <p:spPr>
            <a:xfrm rot="8100000">
              <a:off x="14862" y="554"/>
              <a:ext cx="303" cy="303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9" name="半闭框 168"/>
            <p:cNvSpPr/>
            <p:nvPr>
              <p:custDataLst>
                <p:tags r:id="rId10"/>
              </p:custDataLst>
            </p:nvPr>
          </p:nvSpPr>
          <p:spPr>
            <a:xfrm rot="8100000">
              <a:off x="15197" y="554"/>
              <a:ext cx="303" cy="303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70" name="直接连接符 169"/>
            <p:cNvCxnSpPr/>
            <p:nvPr>
              <p:custDataLst>
                <p:tags r:id="rId11"/>
              </p:custDataLst>
            </p:nvPr>
          </p:nvCxnSpPr>
          <p:spPr>
            <a:xfrm>
              <a:off x="1020" y="1110"/>
              <a:ext cx="1523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Title 6"/>
          <p:cNvSpPr txBox="1"/>
          <p:nvPr>
            <p:custDataLst>
              <p:tags r:id="rId6"/>
            </p:custDataLst>
          </p:nvPr>
        </p:nvSpPr>
        <p:spPr>
          <a:xfrm>
            <a:off x="708660" y="258445"/>
            <a:ext cx="1804670" cy="379730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182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一、反思模式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7390" y="1540510"/>
            <a:ext cx="4457065" cy="1091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195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工具使</a:t>
            </a:r>
            <a:r>
              <a:rPr lang="en-US" altLang="zh-CN" sz="1600" b="1" i="0">
                <a:solidFill>
                  <a:srgbClr val="1F2329"/>
                </a:solidFill>
                <a:latin typeface="标准粗黑" panose="02000503000000000000" charset="-122"/>
                <a:ea typeface="标准粗黑" panose="02000503000000000000" charset="-122"/>
              </a:rPr>
              <a:t>LLM</a:t>
            </a:r>
            <a:r>
              <a:rPr lang="zh-CN" altLang="en-US" sz="1600" b="1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能够通过以下方式收集更多信息</a:t>
            </a:r>
            <a:r>
              <a:rPr lang="zh-CN" altLang="en-US" sz="1600" b="0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：</a:t>
            </a:r>
            <a:r>
              <a:rPr lang="en-US" altLang="zh-CN" sz="1600" b="0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​</a:t>
            </a:r>
          </a:p>
          <a:p>
            <a:pPr marL="285750" indent="-285750" algn="l">
              <a:lnSpc>
                <a:spcPts val="195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2EA121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查询向量数据库</a:t>
            </a:r>
            <a:r>
              <a:rPr lang="en-US" altLang="zh-CN" sz="1600" b="0" i="0">
                <a:solidFill>
                  <a:srgbClr val="1F2329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​</a:t>
            </a:r>
          </a:p>
          <a:p>
            <a:pPr marL="285750" indent="-285750" algn="l">
              <a:lnSpc>
                <a:spcPts val="195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2EA121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执行</a:t>
            </a:r>
            <a:r>
              <a:rPr lang="en-US" altLang="zh-CN" sz="1600" b="0" i="0">
                <a:solidFill>
                  <a:srgbClr val="2EA121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Python</a:t>
            </a:r>
            <a:r>
              <a:rPr lang="zh-CN" altLang="en-US" sz="1600" b="0" i="0">
                <a:solidFill>
                  <a:srgbClr val="2EA121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脚本</a:t>
            </a:r>
            <a:r>
              <a:rPr lang="en-US" altLang="zh-CN" sz="1600" b="0" i="0">
                <a:solidFill>
                  <a:srgbClr val="1F2329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​</a:t>
            </a:r>
          </a:p>
          <a:p>
            <a:pPr marL="285750" indent="-285750" algn="l">
              <a:lnSpc>
                <a:spcPts val="195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2EA121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调用</a:t>
            </a:r>
            <a:r>
              <a:rPr lang="en-US" altLang="zh-CN" sz="1600" b="0" i="0">
                <a:solidFill>
                  <a:srgbClr val="2EA121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API</a:t>
            </a:r>
            <a:r>
              <a:rPr lang="zh-CN" altLang="en-US" sz="1600" b="0" i="0">
                <a:solidFill>
                  <a:srgbClr val="2EA121"/>
                </a:solidFill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</a:rPr>
              <a:t>等</a:t>
            </a:r>
            <a:endParaRPr lang="en-US" altLang="zh-CN" sz="1600" b="0" i="0">
              <a:solidFill>
                <a:srgbClr val="2EA121"/>
              </a:solidFill>
              <a:latin typeface="标准粗黑" panose="02000503000000000000" charset="-122"/>
              <a:ea typeface="标准粗黑" panose="02000503000000000000" charset="-122"/>
              <a:cs typeface="标准粗黑" panose="02000503000000000000" charset="-122"/>
            </a:endParaRPr>
          </a:p>
        </p:txBody>
      </p:sp>
      <p:grpSp>
        <p:nvGrpSpPr>
          <p:cNvPr id="57" name="组合 56"/>
          <p:cNvGrpSpPr/>
          <p:nvPr>
            <p:custDataLst>
              <p:tags r:id="rId1"/>
            </p:custDataLst>
          </p:nvPr>
        </p:nvGrpSpPr>
        <p:grpSpPr>
          <a:xfrm>
            <a:off x="707390" y="2913380"/>
            <a:ext cx="5079365" cy="3119755"/>
            <a:chOff x="1114" y="5492"/>
            <a:chExt cx="7999" cy="4913"/>
          </a:xfrm>
        </p:grpSpPr>
        <p:cxnSp>
          <p:nvCxnSpPr>
            <p:cNvPr id="58" name="直接连接符 57"/>
            <p:cNvCxnSpPr/>
            <p:nvPr>
              <p:custDataLst>
                <p:tags r:id="rId10"/>
              </p:custDataLst>
            </p:nvPr>
          </p:nvCxnSpPr>
          <p:spPr>
            <a:xfrm>
              <a:off x="1114" y="5643"/>
              <a:ext cx="6121" cy="0"/>
            </a:xfrm>
            <a:prstGeom prst="lin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58"/>
            <p:cNvGrpSpPr/>
            <p:nvPr>
              <p:custDataLst>
                <p:tags r:id="rId11"/>
              </p:custDataLst>
            </p:nvPr>
          </p:nvGrpSpPr>
          <p:grpSpPr>
            <a:xfrm>
              <a:off x="7445" y="5492"/>
              <a:ext cx="1607" cy="240"/>
              <a:chOff x="12103" y="3344"/>
              <a:chExt cx="1607" cy="240"/>
            </a:xfrm>
          </p:grpSpPr>
          <p:sp>
            <p:nvSpPr>
              <p:cNvPr id="60" name="矩形 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12103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12548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13025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13470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4" name="直接连接符 63"/>
            <p:cNvCxnSpPr/>
            <p:nvPr>
              <p:custDataLst>
                <p:tags r:id="rId12"/>
              </p:custDataLst>
            </p:nvPr>
          </p:nvCxnSpPr>
          <p:spPr>
            <a:xfrm>
              <a:off x="2993" y="10285"/>
              <a:ext cx="6121" cy="0"/>
            </a:xfrm>
            <a:prstGeom prst="lin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组合 64"/>
            <p:cNvGrpSpPr/>
            <p:nvPr>
              <p:custDataLst>
                <p:tags r:id="rId13"/>
              </p:custDataLst>
            </p:nvPr>
          </p:nvGrpSpPr>
          <p:grpSpPr>
            <a:xfrm>
              <a:off x="1114" y="10165"/>
              <a:ext cx="1607" cy="240"/>
              <a:chOff x="5368" y="6426"/>
              <a:chExt cx="1607" cy="240"/>
            </a:xfrm>
          </p:grpSpPr>
          <p:sp>
            <p:nvSpPr>
              <p:cNvPr id="66" name="矩形 65"/>
              <p:cNvSpPr/>
              <p:nvPr>
                <p:custDataLst>
                  <p:tags r:id="rId14"/>
                </p:custDataLst>
              </p:nvPr>
            </p:nvSpPr>
            <p:spPr>
              <a:xfrm>
                <a:off x="5368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 66"/>
              <p:cNvSpPr/>
              <p:nvPr>
                <p:custDataLst>
                  <p:tags r:id="rId15"/>
                </p:custDataLst>
              </p:nvPr>
            </p:nvSpPr>
            <p:spPr>
              <a:xfrm>
                <a:off x="5813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矩形 67"/>
              <p:cNvSpPr/>
              <p:nvPr>
                <p:custDataLst>
                  <p:tags r:id="rId16"/>
                </p:custDataLst>
              </p:nvPr>
            </p:nvSpPr>
            <p:spPr>
              <a:xfrm>
                <a:off x="6290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矩形 68"/>
              <p:cNvSpPr/>
              <p:nvPr>
                <p:custDataLst>
                  <p:tags r:id="rId17"/>
                </p:custDataLst>
              </p:nvPr>
            </p:nvSpPr>
            <p:spPr>
              <a:xfrm>
                <a:off x="6735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70" name="Title 6"/>
          <p:cNvSpPr txBox="1"/>
          <p:nvPr>
            <p:custDataLst>
              <p:tags r:id="rId2"/>
            </p:custDataLst>
          </p:nvPr>
        </p:nvSpPr>
        <p:spPr>
          <a:xfrm>
            <a:off x="707390" y="3326765"/>
            <a:ext cx="5080000" cy="224472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16230" lvl="0" indent="-31623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3" panose="05040102010807070707" charset="0"/>
              <a:buChar char="u"/>
            </a:pPr>
            <a:r>
              <a:rPr lang="zh-CN" altLang="en-US" sz="14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工作流：​</a:t>
            </a:r>
          </a:p>
          <a:p>
            <a:pPr marL="628650" lvl="1" indent="-1714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</a:pPr>
            <a:r>
              <a:rPr lang="zh-CN" altLang="en-US" sz="135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用户提出查询​</a:t>
            </a:r>
          </a:p>
          <a:p>
            <a:pPr marL="628650" lvl="1" indent="-1714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</a:pPr>
            <a:r>
              <a:rPr lang="zh-CN" altLang="en-US" sz="135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deepseek LLM决定调用工具（Tool calling）​</a:t>
            </a:r>
          </a:p>
          <a:p>
            <a:pPr marL="628650" lvl="1" indent="-1714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</a:pPr>
            <a:r>
              <a:rPr lang="zh-CN" altLang="en-US" sz="135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访问向量数据库（Vector database）和工具与API（Tools &amp; APIs）​</a:t>
            </a:r>
          </a:p>
          <a:p>
            <a:pPr marL="628650" lvl="1" indent="-1714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</a:pPr>
            <a:r>
              <a:rPr lang="zh-CN" altLang="en-US" sz="135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基于工具返回结果生成最终响应</a:t>
            </a:r>
          </a:p>
        </p:txBody>
      </p:sp>
      <p:pic>
        <p:nvPicPr>
          <p:cNvPr id="71" name="图片 70" descr="1280X1280 (7)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32855" y="1540510"/>
            <a:ext cx="5607685" cy="4324350"/>
          </a:xfrm>
          <a:prstGeom prst="rect">
            <a:avLst/>
          </a:prstGeom>
        </p:spPr>
      </p:pic>
      <p:grpSp>
        <p:nvGrpSpPr>
          <p:cNvPr id="73" name="组合 72"/>
          <p:cNvGrpSpPr/>
          <p:nvPr>
            <p:custDataLst>
              <p:tags r:id="rId3"/>
            </p:custDataLst>
          </p:nvPr>
        </p:nvGrpSpPr>
        <p:grpSpPr>
          <a:xfrm>
            <a:off x="-396240" y="258445"/>
            <a:ext cx="12355830" cy="446405"/>
            <a:chOff x="-624" y="407"/>
            <a:chExt cx="16878" cy="703"/>
          </a:xfrm>
        </p:grpSpPr>
        <p:sp>
          <p:nvSpPr>
            <p:cNvPr id="74" name="矩形 73"/>
            <p:cNvSpPr/>
            <p:nvPr>
              <p:custDataLst>
                <p:tags r:id="rId5"/>
              </p:custDataLst>
            </p:nvPr>
          </p:nvSpPr>
          <p:spPr>
            <a:xfrm>
              <a:off x="-624" y="407"/>
              <a:ext cx="943" cy="7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>
              <p:custDataLst>
                <p:tags r:id="rId6"/>
              </p:custDataLst>
            </p:nvPr>
          </p:nvSpPr>
          <p:spPr>
            <a:xfrm>
              <a:off x="436" y="407"/>
              <a:ext cx="187" cy="70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半闭框 75"/>
            <p:cNvSpPr/>
            <p:nvPr>
              <p:custDataLst>
                <p:tags r:id="rId7"/>
              </p:custDataLst>
            </p:nvPr>
          </p:nvSpPr>
          <p:spPr>
            <a:xfrm rot="8100000">
              <a:off x="14862" y="554"/>
              <a:ext cx="303" cy="303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半闭框 76"/>
            <p:cNvSpPr/>
            <p:nvPr>
              <p:custDataLst>
                <p:tags r:id="rId8"/>
              </p:custDataLst>
            </p:nvPr>
          </p:nvSpPr>
          <p:spPr>
            <a:xfrm rot="8100000">
              <a:off x="15197" y="554"/>
              <a:ext cx="303" cy="303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78" name="直接连接符 77"/>
            <p:cNvCxnSpPr/>
            <p:nvPr>
              <p:custDataLst>
                <p:tags r:id="rId9"/>
              </p:custDataLst>
            </p:nvPr>
          </p:nvCxnSpPr>
          <p:spPr>
            <a:xfrm>
              <a:off x="1020" y="1110"/>
              <a:ext cx="1523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itle 6"/>
          <p:cNvSpPr txBox="1"/>
          <p:nvPr>
            <p:custDataLst>
              <p:tags r:id="rId4"/>
            </p:custDataLst>
          </p:nvPr>
        </p:nvSpPr>
        <p:spPr>
          <a:xfrm>
            <a:off x="708660" y="258445"/>
            <a:ext cx="1804670" cy="379730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b="1" spc="182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二、工具模式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21360" y="1437322"/>
            <a:ext cx="5080000" cy="20916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lnSpc>
                <a:spcPts val="19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1F2329"/>
                </a:solidFill>
                <a:latin typeface="标准粗黑" panose="02000503000000000000" charset="-122"/>
                <a:ea typeface="标准粗黑" panose="02000503000000000000" charset="-122"/>
              </a:rPr>
              <a:t>ReAct</a:t>
            </a:r>
            <a:r>
              <a:rPr lang="zh-CN" altLang="en-US" sz="1600" b="0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结合了上述两种模式：</a:t>
            </a:r>
            <a:r>
              <a:rPr lang="en-US" altLang="zh-CN" sz="1600" b="0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​</a:t>
            </a:r>
          </a:p>
          <a:p>
            <a:pPr marL="0" indent="0">
              <a:lnSpc>
                <a:spcPts val="19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​</a:t>
            </a:r>
          </a:p>
          <a:p>
            <a:pPr marL="285750" indent="-285750" algn="l">
              <a:lnSpc>
                <a:spcPts val="195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chemeClr val="accent1"/>
                </a:solidFill>
                <a:latin typeface="Segoe Print" panose="02000600000000000000" charset="0"/>
                <a:ea typeface="Segoe Print" panose="02000600000000000000" charset="0"/>
              </a:rPr>
              <a:t>智能体反思生成的输出</a:t>
            </a:r>
            <a:r>
              <a:rPr lang="en-US" altLang="zh-CN" sz="1600" b="0" i="0">
                <a:solidFill>
                  <a:schemeClr val="accent1"/>
                </a:solidFill>
                <a:latin typeface="Segoe Print" panose="02000600000000000000" charset="0"/>
                <a:ea typeface="Segoe Print" panose="02000600000000000000" charset="0"/>
              </a:rPr>
              <a:t>​</a:t>
            </a:r>
          </a:p>
          <a:p>
            <a:pPr marL="285750" indent="-285750" algn="l">
              <a:lnSpc>
                <a:spcPts val="195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chemeClr val="accent1"/>
                </a:solidFill>
                <a:latin typeface="Segoe Print" panose="02000600000000000000" charset="0"/>
                <a:ea typeface="Segoe Print" panose="02000600000000000000" charset="0"/>
              </a:rPr>
              <a:t>使用工具与世界交互</a:t>
            </a:r>
          </a:p>
          <a:p>
            <a:pPr indent="0" algn="l">
              <a:lnSpc>
                <a:spcPts val="195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endParaRPr lang="zh-CN" altLang="en-US" sz="1600" b="0" i="0">
              <a:solidFill>
                <a:schemeClr val="accent1"/>
              </a:solidFill>
              <a:latin typeface="Segoe Print" panose="02000600000000000000" charset="0"/>
              <a:ea typeface="Segoe Print" panose="02000600000000000000" charset="0"/>
            </a:endParaRPr>
          </a:p>
          <a:p>
            <a:pPr marL="0" indent="0" algn="l">
              <a:lnSpc>
                <a:spcPts val="19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1F2329"/>
                </a:solidFill>
                <a:latin typeface="标准粗黑" panose="02000503000000000000" charset="-122"/>
                <a:ea typeface="标准粗黑" panose="02000503000000000000" charset="-122"/>
                <a:sym typeface="+mn-ea"/>
              </a:rPr>
              <a:t>ReAct</a:t>
            </a:r>
            <a:r>
              <a:rPr lang="zh-CN" altLang="en-US" sz="160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  <a:sym typeface="+mn-ea"/>
              </a:rPr>
              <a:t>智能体以</a:t>
            </a:r>
            <a:r>
              <a:rPr lang="en-US" altLang="zh-CN" sz="160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  <a:sym typeface="+mn-ea"/>
              </a:rPr>
              <a:t>"</a:t>
            </a:r>
            <a:r>
              <a:rPr lang="zh-CN" altLang="en-US" sz="160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  <a:sym typeface="+mn-ea"/>
              </a:rPr>
              <a:t>思考</a:t>
            </a:r>
            <a:r>
              <a:rPr lang="en-US" altLang="zh-CN" sz="160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  <a:sym typeface="+mn-ea"/>
              </a:rPr>
              <a:t>→</a:t>
            </a:r>
            <a:r>
              <a:rPr lang="zh-CN" altLang="en-US" sz="160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  <a:sym typeface="+mn-ea"/>
              </a:rPr>
              <a:t>行动</a:t>
            </a:r>
            <a:r>
              <a:rPr lang="en-US" altLang="zh-CN" sz="160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  <a:sym typeface="+mn-ea"/>
              </a:rPr>
              <a:t>→</a:t>
            </a:r>
            <a:r>
              <a:rPr lang="zh-CN" altLang="en-US" sz="160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  <a:sym typeface="+mn-ea"/>
              </a:rPr>
              <a:t>观察</a:t>
            </a:r>
            <a:r>
              <a:rPr lang="en-US" altLang="zh-CN" sz="160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  <a:sym typeface="+mn-ea"/>
              </a:rPr>
              <a:t>"</a:t>
            </a:r>
            <a:r>
              <a:rPr lang="zh-CN" altLang="en-US" sz="160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  <a:sym typeface="+mn-ea"/>
              </a:rPr>
              <a:t>（</a:t>
            </a:r>
            <a:r>
              <a:rPr lang="en-US" altLang="zh-CN" sz="1600">
                <a:solidFill>
                  <a:schemeClr val="accent6"/>
                </a:solidFill>
                <a:latin typeface="标准粗黑" panose="02000503000000000000" charset="-122"/>
                <a:ea typeface="标准粗黑" panose="02000503000000000000" charset="-122"/>
                <a:sym typeface="+mn-ea"/>
              </a:rPr>
              <a:t>Thought → Action → Observation</a:t>
            </a:r>
            <a:r>
              <a:rPr lang="zh-CN" altLang="en-US" sz="160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  <a:sym typeface="+mn-ea"/>
              </a:rPr>
              <a:t>）的循环运行，重复直至达成解决方案或最终答案。这类似于人类解决问题的方式。</a:t>
            </a:r>
            <a:endParaRPr lang="zh-CN" altLang="en-US" sz="1600" b="0" i="0">
              <a:solidFill>
                <a:srgbClr val="1F2329"/>
              </a:solidFill>
              <a:latin typeface="Segoe Print" panose="02000600000000000000" charset="0"/>
              <a:ea typeface="Segoe Print" panose="02000600000000000000" charset="0"/>
            </a:endParaRPr>
          </a:p>
        </p:txBody>
      </p:sp>
      <p:grpSp>
        <p:nvGrpSpPr>
          <p:cNvPr id="137" name="组合 136"/>
          <p:cNvGrpSpPr/>
          <p:nvPr>
            <p:custDataLst>
              <p:tags r:id="rId1"/>
            </p:custDataLst>
          </p:nvPr>
        </p:nvGrpSpPr>
        <p:grpSpPr>
          <a:xfrm>
            <a:off x="721360" y="3584575"/>
            <a:ext cx="5079365" cy="3126740"/>
            <a:chOff x="898" y="7305"/>
            <a:chExt cx="7999" cy="5155"/>
          </a:xfrm>
        </p:grpSpPr>
        <p:cxnSp>
          <p:nvCxnSpPr>
            <p:cNvPr id="138" name="直接连接符 137"/>
            <p:cNvCxnSpPr/>
            <p:nvPr>
              <p:custDataLst>
                <p:tags r:id="rId10"/>
              </p:custDataLst>
            </p:nvPr>
          </p:nvCxnSpPr>
          <p:spPr>
            <a:xfrm>
              <a:off x="898" y="7456"/>
              <a:ext cx="6121" cy="0"/>
            </a:xfrm>
            <a:prstGeom prst="lin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组合 138"/>
            <p:cNvGrpSpPr/>
            <p:nvPr>
              <p:custDataLst>
                <p:tags r:id="rId11"/>
              </p:custDataLst>
            </p:nvPr>
          </p:nvGrpSpPr>
          <p:grpSpPr>
            <a:xfrm>
              <a:off x="7229" y="7305"/>
              <a:ext cx="1607" cy="240"/>
              <a:chOff x="12103" y="3344"/>
              <a:chExt cx="1607" cy="240"/>
            </a:xfrm>
          </p:grpSpPr>
          <p:sp>
            <p:nvSpPr>
              <p:cNvPr id="140" name="矩形 139"/>
              <p:cNvSpPr/>
              <p:nvPr>
                <p:custDataLst>
                  <p:tags r:id="rId18"/>
                </p:custDataLst>
              </p:nvPr>
            </p:nvSpPr>
            <p:spPr>
              <a:xfrm>
                <a:off x="12103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矩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12548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矩形 141"/>
              <p:cNvSpPr/>
              <p:nvPr>
                <p:custDataLst>
                  <p:tags r:id="rId20"/>
                </p:custDataLst>
              </p:nvPr>
            </p:nvSpPr>
            <p:spPr>
              <a:xfrm>
                <a:off x="13025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矩形 142"/>
              <p:cNvSpPr/>
              <p:nvPr>
                <p:custDataLst>
                  <p:tags r:id="rId21"/>
                </p:custDataLst>
              </p:nvPr>
            </p:nvSpPr>
            <p:spPr>
              <a:xfrm>
                <a:off x="13470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45" name="直接连接符 144"/>
            <p:cNvCxnSpPr/>
            <p:nvPr>
              <p:custDataLst>
                <p:tags r:id="rId12"/>
              </p:custDataLst>
            </p:nvPr>
          </p:nvCxnSpPr>
          <p:spPr>
            <a:xfrm>
              <a:off x="2777" y="12340"/>
              <a:ext cx="6121" cy="0"/>
            </a:xfrm>
            <a:prstGeom prst="lin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2" name="组合 151"/>
            <p:cNvGrpSpPr/>
            <p:nvPr>
              <p:custDataLst>
                <p:tags r:id="rId13"/>
              </p:custDataLst>
            </p:nvPr>
          </p:nvGrpSpPr>
          <p:grpSpPr>
            <a:xfrm>
              <a:off x="898" y="12220"/>
              <a:ext cx="1607" cy="240"/>
              <a:chOff x="5368" y="6426"/>
              <a:chExt cx="1607" cy="240"/>
            </a:xfrm>
          </p:grpSpPr>
          <p:sp>
            <p:nvSpPr>
              <p:cNvPr id="154" name="矩形 153"/>
              <p:cNvSpPr/>
              <p:nvPr>
                <p:custDataLst>
                  <p:tags r:id="rId14"/>
                </p:custDataLst>
              </p:nvPr>
            </p:nvSpPr>
            <p:spPr>
              <a:xfrm>
                <a:off x="5368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矩形 154"/>
              <p:cNvSpPr/>
              <p:nvPr>
                <p:custDataLst>
                  <p:tags r:id="rId15"/>
                </p:custDataLst>
              </p:nvPr>
            </p:nvSpPr>
            <p:spPr>
              <a:xfrm>
                <a:off x="5813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矩形 155"/>
              <p:cNvSpPr/>
              <p:nvPr>
                <p:custDataLst>
                  <p:tags r:id="rId16"/>
                </p:custDataLst>
              </p:nvPr>
            </p:nvSpPr>
            <p:spPr>
              <a:xfrm>
                <a:off x="6290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矩形 156"/>
              <p:cNvSpPr/>
              <p:nvPr>
                <p:custDataLst>
                  <p:tags r:id="rId17"/>
                </p:custDataLst>
              </p:nvPr>
            </p:nvSpPr>
            <p:spPr>
              <a:xfrm>
                <a:off x="6735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58" name="Title 6"/>
          <p:cNvSpPr txBox="1"/>
          <p:nvPr>
            <p:custDataLst>
              <p:tags r:id="rId2"/>
            </p:custDataLst>
          </p:nvPr>
        </p:nvSpPr>
        <p:spPr>
          <a:xfrm>
            <a:off x="721360" y="3832225"/>
            <a:ext cx="5080000" cy="2668270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16230" lvl="0" indent="-31623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3" panose="05040102010807070707" charset="0"/>
              <a:buChar char="u"/>
            </a:pPr>
            <a:r>
              <a:rPr lang="zh-CN" altLang="en-US" sz="14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​工作流：​</a:t>
            </a:r>
          </a:p>
          <a:p>
            <a:pPr marL="742950" lvl="1" indent="-2857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charset="0"/>
              <a:buChar char="Ø"/>
            </a:pPr>
            <a:r>
              <a:rPr lang="zh-CN" altLang="en-US" sz="135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用户提出查询​</a:t>
            </a:r>
          </a:p>
          <a:p>
            <a:pPr marL="742950" lvl="1" indent="-2857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charset="0"/>
              <a:buChar char="Ø"/>
            </a:pPr>
            <a:r>
              <a:rPr lang="zh-CN" altLang="en-US" sz="135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deepseek LLM（推理）分析问题并决定行动方案​</a:t>
            </a:r>
          </a:p>
          <a:p>
            <a:pPr marL="742950" lvl="1" indent="-2857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charset="0"/>
              <a:buChar char="Ø"/>
            </a:pPr>
            <a:r>
              <a:rPr lang="zh-CN" altLang="en-US" sz="135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调用工具（Tools）执行行动​</a:t>
            </a:r>
          </a:p>
          <a:p>
            <a:pPr marL="742950" lvl="1" indent="-2857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charset="0"/>
              <a:buChar char="Ø"/>
            </a:pPr>
            <a:r>
              <a:rPr lang="zh-CN" altLang="en-US" sz="135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观察环境（Environment）反馈结果​</a:t>
            </a:r>
          </a:p>
          <a:p>
            <a:pPr marL="742950" lvl="1" indent="-2857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charset="0"/>
              <a:buChar char="Ø"/>
            </a:pPr>
            <a:r>
              <a:rPr lang="zh-CN" altLang="en-US" sz="135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deepseek LLM（生成）基于结果生成响应</a:t>
            </a:r>
          </a:p>
        </p:txBody>
      </p:sp>
      <p:pic>
        <p:nvPicPr>
          <p:cNvPr id="159" name="图片 158" descr="1280X1280 (8)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63385" y="3141980"/>
            <a:ext cx="4715510" cy="3637280"/>
          </a:xfrm>
          <a:prstGeom prst="rect">
            <a:avLst/>
          </a:prstGeom>
        </p:spPr>
      </p:pic>
      <p:pic>
        <p:nvPicPr>
          <p:cNvPr id="160" name="图片 159" descr="276c0318-45c6-409c-99d4-54ee0e0c4b9f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67525" y="1584325"/>
            <a:ext cx="4400550" cy="1416050"/>
          </a:xfrm>
          <a:prstGeom prst="rect">
            <a:avLst/>
          </a:prstGeom>
        </p:spPr>
      </p:pic>
      <p:grpSp>
        <p:nvGrpSpPr>
          <p:cNvPr id="164" name="组合 163"/>
          <p:cNvGrpSpPr/>
          <p:nvPr>
            <p:custDataLst>
              <p:tags r:id="rId3"/>
            </p:custDataLst>
          </p:nvPr>
        </p:nvGrpSpPr>
        <p:grpSpPr>
          <a:xfrm>
            <a:off x="-396240" y="258445"/>
            <a:ext cx="12355830" cy="446405"/>
            <a:chOff x="-624" y="407"/>
            <a:chExt cx="16878" cy="703"/>
          </a:xfrm>
        </p:grpSpPr>
        <p:sp>
          <p:nvSpPr>
            <p:cNvPr id="165" name="矩形 164"/>
            <p:cNvSpPr/>
            <p:nvPr>
              <p:custDataLst>
                <p:tags r:id="rId5"/>
              </p:custDataLst>
            </p:nvPr>
          </p:nvSpPr>
          <p:spPr>
            <a:xfrm>
              <a:off x="-624" y="407"/>
              <a:ext cx="943" cy="7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矩形 166"/>
            <p:cNvSpPr/>
            <p:nvPr>
              <p:custDataLst>
                <p:tags r:id="rId6"/>
              </p:custDataLst>
            </p:nvPr>
          </p:nvSpPr>
          <p:spPr>
            <a:xfrm>
              <a:off x="436" y="407"/>
              <a:ext cx="187" cy="70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半闭框 167"/>
            <p:cNvSpPr/>
            <p:nvPr>
              <p:custDataLst>
                <p:tags r:id="rId7"/>
              </p:custDataLst>
            </p:nvPr>
          </p:nvSpPr>
          <p:spPr>
            <a:xfrm rot="8100000">
              <a:off x="14862" y="554"/>
              <a:ext cx="303" cy="303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2" name="半闭框 171"/>
            <p:cNvSpPr/>
            <p:nvPr>
              <p:custDataLst>
                <p:tags r:id="rId8"/>
              </p:custDataLst>
            </p:nvPr>
          </p:nvSpPr>
          <p:spPr>
            <a:xfrm rot="8100000">
              <a:off x="15197" y="554"/>
              <a:ext cx="303" cy="303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73" name="直接连接符 172"/>
            <p:cNvCxnSpPr/>
            <p:nvPr>
              <p:custDataLst>
                <p:tags r:id="rId9"/>
              </p:custDataLst>
            </p:nvPr>
          </p:nvCxnSpPr>
          <p:spPr>
            <a:xfrm>
              <a:off x="1020" y="1110"/>
              <a:ext cx="1523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Title 6"/>
          <p:cNvSpPr txBox="1"/>
          <p:nvPr>
            <p:custDataLst>
              <p:tags r:id="rId4"/>
            </p:custDataLst>
          </p:nvPr>
        </p:nvSpPr>
        <p:spPr>
          <a:xfrm>
            <a:off x="708660" y="258445"/>
            <a:ext cx="3649345" cy="379730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</a:t>
            </a:r>
            <a:r>
              <a:rPr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ReAct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（推理与行动）</a:t>
            </a:r>
            <a:r>
              <a:rPr lang="zh-CN" altLang="en-US" sz="2000" b="1" spc="182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77875" y="1494473"/>
            <a:ext cx="5080000" cy="18415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lnSpc>
                <a:spcPts val="195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不是一次性解决任务，</a:t>
            </a:r>
            <a:r>
              <a:rPr lang="en-US" altLang="zh-CN" sz="1600" b="0" i="0">
                <a:solidFill>
                  <a:srgbClr val="1F2329"/>
                </a:solidFill>
                <a:latin typeface="标准粗黑" panose="02000503000000000000" charset="-122"/>
                <a:ea typeface="标准粗黑" panose="02000503000000000000" charset="-122"/>
              </a:rPr>
              <a:t>AI</a:t>
            </a:r>
            <a:r>
              <a:rPr lang="zh-CN" altLang="en-US" sz="1600" b="0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通过以下方式创建路线图：</a:t>
            </a:r>
            <a:r>
              <a:rPr lang="en-US" altLang="zh-CN" sz="1600" b="0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​</a:t>
            </a:r>
          </a:p>
          <a:p>
            <a:pPr marL="0" indent="0">
              <a:lnSpc>
                <a:spcPts val="19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​</a:t>
            </a:r>
          </a:p>
          <a:p>
            <a:pPr marL="285750" indent="-285750" algn="l">
              <a:lnSpc>
                <a:spcPts val="195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chemeClr val="accent4"/>
                </a:solidFill>
                <a:latin typeface="Segoe Print" panose="02000600000000000000" charset="0"/>
                <a:ea typeface="Segoe Print" panose="02000600000000000000" charset="0"/>
              </a:rPr>
              <a:t>细分任务（</a:t>
            </a:r>
            <a:r>
              <a:rPr lang="en-US" altLang="zh-CN" sz="1600" b="0" i="0">
                <a:solidFill>
                  <a:schemeClr val="accent4"/>
                </a:solidFill>
                <a:latin typeface="标准粗黑" panose="02000503000000000000" charset="-122"/>
                <a:ea typeface="标准粗黑" panose="02000503000000000000" charset="-122"/>
              </a:rPr>
              <a:t>Subdividing tasks</a:t>
            </a:r>
            <a:r>
              <a:rPr lang="zh-CN" altLang="en-US" sz="1600" b="0" i="0">
                <a:solidFill>
                  <a:schemeClr val="accent4"/>
                </a:solidFill>
                <a:latin typeface="Segoe Print" panose="02000600000000000000" charset="0"/>
                <a:ea typeface="Segoe Print" panose="02000600000000000000" charset="0"/>
              </a:rPr>
              <a:t>）</a:t>
            </a:r>
            <a:r>
              <a:rPr lang="en-US" altLang="zh-CN" sz="1600" b="0" i="0">
                <a:solidFill>
                  <a:schemeClr val="accent4"/>
                </a:solidFill>
                <a:latin typeface="Segoe Print" panose="02000600000000000000" charset="0"/>
                <a:ea typeface="Segoe Print" panose="02000600000000000000" charset="0"/>
              </a:rPr>
              <a:t>​</a:t>
            </a:r>
          </a:p>
          <a:p>
            <a:pPr marL="285750" indent="-285750" algn="l">
              <a:lnSpc>
                <a:spcPts val="195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chemeClr val="accent4"/>
                </a:solidFill>
                <a:latin typeface="Segoe Print" panose="02000600000000000000" charset="0"/>
                <a:ea typeface="Segoe Print" panose="02000600000000000000" charset="0"/>
              </a:rPr>
              <a:t>概述目标（</a:t>
            </a:r>
            <a:r>
              <a:rPr lang="en-US" altLang="zh-CN" sz="1600" b="0" i="0">
                <a:solidFill>
                  <a:schemeClr val="accent4"/>
                </a:solidFill>
                <a:latin typeface="标准粗黑" panose="02000503000000000000" charset="-122"/>
                <a:ea typeface="标准粗黑" panose="02000503000000000000" charset="-122"/>
              </a:rPr>
              <a:t>Outlining objectives</a:t>
            </a:r>
            <a:r>
              <a:rPr lang="zh-CN" altLang="en-US" sz="1600" b="0" i="0">
                <a:solidFill>
                  <a:schemeClr val="accent4"/>
                </a:solidFill>
                <a:latin typeface="Segoe Print" panose="02000600000000000000" charset="0"/>
                <a:ea typeface="Segoe Print" panose="02000600000000000000" charset="0"/>
              </a:rPr>
              <a:t>）</a:t>
            </a:r>
            <a:r>
              <a:rPr lang="en-US" altLang="zh-CN" sz="1600" b="0" i="0">
                <a:solidFill>
                  <a:schemeClr val="accent4"/>
                </a:solidFill>
                <a:latin typeface="Segoe Print" panose="02000600000000000000" charset="0"/>
                <a:ea typeface="Segoe Print" panose="02000600000000000000" charset="0"/>
              </a:rPr>
              <a:t>​</a:t>
            </a:r>
            <a:endParaRPr lang="en-US" altLang="zh-CN" sz="1600" b="0" i="0">
              <a:solidFill>
                <a:srgbClr val="1F2329"/>
              </a:solidFill>
              <a:latin typeface="Segoe Print" panose="02000600000000000000" charset="0"/>
              <a:ea typeface="Segoe Print" panose="02000600000000000000" charset="0"/>
            </a:endParaRPr>
          </a:p>
          <a:p>
            <a:pPr marL="0" indent="0" algn="l">
              <a:lnSpc>
                <a:spcPts val="19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​</a:t>
            </a:r>
          </a:p>
          <a:p>
            <a:pPr marL="0" indent="0">
              <a:lnSpc>
                <a:spcPts val="195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这种战略思维能更有效地解决任务。</a:t>
            </a:r>
            <a:r>
              <a:rPr lang="en-US" altLang="zh-CN" sz="1600" b="0" i="0">
                <a:solidFill>
                  <a:srgbClr val="1F2329"/>
                </a:solidFill>
                <a:latin typeface="Segoe Print" panose="02000600000000000000" charset="0"/>
                <a:ea typeface="Segoe Print" panose="02000600000000000000" charset="0"/>
              </a:rPr>
              <a:t>​</a:t>
            </a:r>
          </a:p>
          <a:p>
            <a:pPr marL="0" indent="0">
              <a:lnSpc>
                <a:spcPts val="1950"/>
              </a:lnSpc>
              <a:spcBef>
                <a:spcPct val="0"/>
              </a:spcBef>
              <a:spcAft>
                <a:spcPct val="0"/>
              </a:spcAft>
            </a:pPr>
            <a:endParaRPr lang="zh-CN" sz="1600" b="0" i="0">
              <a:solidFill>
                <a:srgbClr val="1F2329"/>
              </a:solidFill>
              <a:latin typeface="Segoe Print" panose="02000600000000000000" charset="0"/>
              <a:ea typeface="宋体" panose="02010600030101010101" pitchFamily="2" charset="-122"/>
            </a:endParaRPr>
          </a:p>
        </p:txBody>
      </p:sp>
      <p:grpSp>
        <p:nvGrpSpPr>
          <p:cNvPr id="27" name="组合 26"/>
          <p:cNvGrpSpPr/>
          <p:nvPr>
            <p:custDataLst>
              <p:tags r:id="rId1"/>
            </p:custDataLst>
          </p:nvPr>
        </p:nvGrpSpPr>
        <p:grpSpPr>
          <a:xfrm>
            <a:off x="739140" y="3053715"/>
            <a:ext cx="5079365" cy="3580765"/>
            <a:chOff x="1225" y="6121"/>
            <a:chExt cx="7999" cy="6718"/>
          </a:xfrm>
        </p:grpSpPr>
        <p:cxnSp>
          <p:nvCxnSpPr>
            <p:cNvPr id="28" name="直接连接符 27"/>
            <p:cNvCxnSpPr/>
            <p:nvPr>
              <p:custDataLst>
                <p:tags r:id="rId10"/>
              </p:custDataLst>
            </p:nvPr>
          </p:nvCxnSpPr>
          <p:spPr>
            <a:xfrm>
              <a:off x="1225" y="6272"/>
              <a:ext cx="6121" cy="0"/>
            </a:xfrm>
            <a:prstGeom prst="lin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28"/>
            <p:cNvGrpSpPr/>
            <p:nvPr>
              <p:custDataLst>
                <p:tags r:id="rId11"/>
              </p:custDataLst>
            </p:nvPr>
          </p:nvGrpSpPr>
          <p:grpSpPr>
            <a:xfrm>
              <a:off x="7556" y="6121"/>
              <a:ext cx="1607" cy="240"/>
              <a:chOff x="12103" y="3344"/>
              <a:chExt cx="1607" cy="240"/>
            </a:xfrm>
          </p:grpSpPr>
          <p:sp>
            <p:nvSpPr>
              <p:cNvPr id="30" name="矩形 29"/>
              <p:cNvSpPr/>
              <p:nvPr>
                <p:custDataLst>
                  <p:tags r:id="rId18"/>
                </p:custDataLst>
              </p:nvPr>
            </p:nvSpPr>
            <p:spPr>
              <a:xfrm>
                <a:off x="12103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>
                <p:custDataLst>
                  <p:tags r:id="rId19"/>
                </p:custDataLst>
              </p:nvPr>
            </p:nvSpPr>
            <p:spPr>
              <a:xfrm>
                <a:off x="12548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/>
              <p:cNvSpPr/>
              <p:nvPr>
                <p:custDataLst>
                  <p:tags r:id="rId20"/>
                </p:custDataLst>
              </p:nvPr>
            </p:nvSpPr>
            <p:spPr>
              <a:xfrm>
                <a:off x="13025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/>
              <p:cNvSpPr/>
              <p:nvPr>
                <p:custDataLst>
                  <p:tags r:id="rId21"/>
                </p:custDataLst>
              </p:nvPr>
            </p:nvSpPr>
            <p:spPr>
              <a:xfrm>
                <a:off x="13470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4" name="直接连接符 33"/>
            <p:cNvCxnSpPr/>
            <p:nvPr>
              <p:custDataLst>
                <p:tags r:id="rId12"/>
              </p:custDataLst>
            </p:nvPr>
          </p:nvCxnSpPr>
          <p:spPr>
            <a:xfrm>
              <a:off x="3104" y="12719"/>
              <a:ext cx="6121" cy="0"/>
            </a:xfrm>
            <a:prstGeom prst="lin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>
              <p:custDataLst>
                <p:tags r:id="rId13"/>
              </p:custDataLst>
            </p:nvPr>
          </p:nvGrpSpPr>
          <p:grpSpPr>
            <a:xfrm>
              <a:off x="1225" y="12599"/>
              <a:ext cx="1607" cy="240"/>
              <a:chOff x="5368" y="6426"/>
              <a:chExt cx="1607" cy="240"/>
            </a:xfrm>
          </p:grpSpPr>
          <p:sp>
            <p:nvSpPr>
              <p:cNvPr id="36" name="矩形 35"/>
              <p:cNvSpPr/>
              <p:nvPr>
                <p:custDataLst>
                  <p:tags r:id="rId14"/>
                </p:custDataLst>
              </p:nvPr>
            </p:nvSpPr>
            <p:spPr>
              <a:xfrm>
                <a:off x="5368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>
                <p:custDataLst>
                  <p:tags r:id="rId15"/>
                </p:custDataLst>
              </p:nvPr>
            </p:nvSpPr>
            <p:spPr>
              <a:xfrm>
                <a:off x="5813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>
                <p:custDataLst>
                  <p:tags r:id="rId16"/>
                </p:custDataLst>
              </p:nvPr>
            </p:nvSpPr>
            <p:spPr>
              <a:xfrm>
                <a:off x="6290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>
                <p:custDataLst>
                  <p:tags r:id="rId17"/>
                </p:custDataLst>
              </p:nvPr>
            </p:nvSpPr>
            <p:spPr>
              <a:xfrm>
                <a:off x="6735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0" name="Title 6"/>
          <p:cNvSpPr txBox="1"/>
          <p:nvPr>
            <p:custDataLst>
              <p:tags r:id="rId2"/>
            </p:custDataLst>
          </p:nvPr>
        </p:nvSpPr>
        <p:spPr>
          <a:xfrm>
            <a:off x="739140" y="3467100"/>
            <a:ext cx="5080000" cy="2801620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16230" lvl="0" indent="-31623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3" panose="05040102010807070707" charset="0"/>
              <a:buChar char="u"/>
            </a:pPr>
            <a:r>
              <a:rPr lang="zh-CN" altLang="en-US" sz="14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工作流：​</a:t>
            </a:r>
          </a:p>
          <a:p>
            <a:pPr marL="628650" lvl="1" indent="-1714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</a:pPr>
            <a:r>
              <a:rPr lang="zh-CN" altLang="en-US" sz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用户提出查询​</a:t>
            </a:r>
          </a:p>
          <a:p>
            <a:pPr marL="628650" lvl="1" indent="-1714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</a:pPr>
            <a:r>
              <a:rPr lang="zh-CN" altLang="en-US" sz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规划器（Planner）生成任务计划（Generated tasks）​</a:t>
            </a:r>
          </a:p>
          <a:p>
            <a:pPr marL="628650" lvl="1" indent="-1714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</a:pPr>
            <a:r>
              <a:rPr lang="zh-CN" altLang="en-US" sz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ReAct智能体执行单个任务（Execute single task）​</a:t>
            </a:r>
          </a:p>
          <a:p>
            <a:pPr marL="628650" lvl="1" indent="-1714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</a:pPr>
            <a:r>
              <a:rPr lang="zh-CN" altLang="en-US" sz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检查任务是否完成（Finished?）​</a:t>
            </a:r>
          </a:p>
          <a:p>
            <a:pPr marL="1085850" lvl="2" indent="-1714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zh-CN" altLang="en-US" sz="10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是（YES）：生成最终响应​</a:t>
            </a:r>
          </a:p>
          <a:p>
            <a:pPr marL="1085850" lvl="2" indent="-17145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zh-CN" altLang="en-US" sz="10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否（NO）：返回规划器调整计划</a:t>
            </a:r>
          </a:p>
        </p:txBody>
      </p:sp>
      <p:pic>
        <p:nvPicPr>
          <p:cNvPr id="42" name="图片 41" descr="daa15c39-1c77-4ac1-b450-bdde356373fa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62675" y="1995170"/>
            <a:ext cx="5615305" cy="4105275"/>
          </a:xfrm>
          <a:prstGeom prst="rect">
            <a:avLst/>
          </a:prstGeom>
        </p:spPr>
      </p:pic>
      <p:grpSp>
        <p:nvGrpSpPr>
          <p:cNvPr id="44" name="组合 43"/>
          <p:cNvGrpSpPr/>
          <p:nvPr>
            <p:custDataLst>
              <p:tags r:id="rId3"/>
            </p:custDataLst>
          </p:nvPr>
        </p:nvGrpSpPr>
        <p:grpSpPr>
          <a:xfrm>
            <a:off x="-396240" y="258445"/>
            <a:ext cx="12355830" cy="446405"/>
            <a:chOff x="-624" y="407"/>
            <a:chExt cx="16878" cy="703"/>
          </a:xfrm>
        </p:grpSpPr>
        <p:sp>
          <p:nvSpPr>
            <p:cNvPr id="45" name="矩形 44"/>
            <p:cNvSpPr/>
            <p:nvPr>
              <p:custDataLst>
                <p:tags r:id="rId5"/>
              </p:custDataLst>
            </p:nvPr>
          </p:nvSpPr>
          <p:spPr>
            <a:xfrm>
              <a:off x="-624" y="407"/>
              <a:ext cx="943" cy="7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>
              <p:custDataLst>
                <p:tags r:id="rId6"/>
              </p:custDataLst>
            </p:nvPr>
          </p:nvSpPr>
          <p:spPr>
            <a:xfrm>
              <a:off x="436" y="407"/>
              <a:ext cx="187" cy="70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半闭框 46"/>
            <p:cNvSpPr/>
            <p:nvPr>
              <p:custDataLst>
                <p:tags r:id="rId7"/>
              </p:custDataLst>
            </p:nvPr>
          </p:nvSpPr>
          <p:spPr>
            <a:xfrm rot="8100000">
              <a:off x="14862" y="554"/>
              <a:ext cx="303" cy="303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半闭框 47"/>
            <p:cNvSpPr/>
            <p:nvPr>
              <p:custDataLst>
                <p:tags r:id="rId8"/>
              </p:custDataLst>
            </p:nvPr>
          </p:nvSpPr>
          <p:spPr>
            <a:xfrm rot="8100000">
              <a:off x="15197" y="554"/>
              <a:ext cx="303" cy="303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49" name="直接连接符 48"/>
            <p:cNvCxnSpPr/>
            <p:nvPr>
              <p:custDataLst>
                <p:tags r:id="rId9"/>
              </p:custDataLst>
            </p:nvPr>
          </p:nvCxnSpPr>
          <p:spPr>
            <a:xfrm>
              <a:off x="1020" y="1110"/>
              <a:ext cx="1523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itle 6"/>
          <p:cNvSpPr txBox="1"/>
          <p:nvPr>
            <p:custDataLst>
              <p:tags r:id="rId4"/>
            </p:custDataLst>
          </p:nvPr>
        </p:nvSpPr>
        <p:spPr>
          <a:xfrm>
            <a:off x="708660" y="258445"/>
            <a:ext cx="1690370" cy="379730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四、规划</a:t>
            </a:r>
            <a:r>
              <a:rPr lang="zh-CN" altLang="en-US" sz="2000" b="1" spc="182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56920" y="1145540"/>
            <a:ext cx="5080000" cy="1557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DE7802"/>
                </a:solidFill>
                <a:effectLst/>
                <a:uLnTx/>
                <a:uFillTx/>
                <a:latin typeface="Segoe Print" panose="02000600000000000000" charset="0"/>
                <a:ea typeface="Segoe Print" panose="02000600000000000000" charset="0"/>
                <a:cs typeface="+mn-cs"/>
              </a:rPr>
              <a:t>多智能体模式核心特点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DE7802"/>
                </a:solidFill>
                <a:effectLst/>
                <a:uLnTx/>
                <a:uFillTx/>
                <a:latin typeface="Segoe Print" panose="02000600000000000000" charset="0"/>
                <a:ea typeface="Segoe Print" panose="02000600000000000000" charset="0"/>
                <a:cs typeface="+mn-cs"/>
              </a:rPr>
              <a:t>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Segoe Print" panose="02000600000000000000" charset="0"/>
                <a:ea typeface="Segoe Print" panose="02000600000000000000" charset="0"/>
                <a:cs typeface="+mn-cs"/>
              </a:rPr>
              <a:t>​</a:t>
            </a:r>
          </a:p>
          <a:p>
            <a:pPr marL="0" marR="0" lvl="0" indent="0" algn="just" defTabSz="914400" rtl="0" eaLnBrk="1" fontAlgn="auto" latinLnBrk="0" hangingPunct="1">
              <a:lnSpc>
                <a:spcPts val="19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Segoe Print" panose="02000600000000000000" charset="0"/>
                <a:ea typeface="Segoe Print" panose="02000600000000000000" charset="0"/>
                <a:cs typeface="+mn-cs"/>
              </a:rPr>
              <a:t>存在多个智能体，每个智能体都有特定的角色和任务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Segoe Print" panose="02000600000000000000" charset="0"/>
                <a:ea typeface="Segoe Print" panose="02000600000000000000" charset="0"/>
                <a:cs typeface="+mn-cs"/>
              </a:rPr>
              <a:t>​</a:t>
            </a:r>
          </a:p>
          <a:p>
            <a:pPr marL="0" marR="0" lvl="0" indent="0" algn="just" defTabSz="914400" rtl="0" eaLnBrk="1" fontAlgn="auto" latinLnBrk="0" hangingPunct="1">
              <a:lnSpc>
                <a:spcPts val="19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Segoe Print" panose="02000600000000000000" charset="0"/>
                <a:ea typeface="Segoe Print" panose="02000600000000000000" charset="0"/>
                <a:cs typeface="+mn-cs"/>
              </a:rPr>
              <a:t>每个智能体也可以访问工具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Segoe Print" panose="02000600000000000000" charset="0"/>
                <a:ea typeface="Segoe Print" panose="02000600000000000000" charset="0"/>
                <a:cs typeface="+mn-cs"/>
              </a:rPr>
              <a:t>​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Segoe Print" panose="02000600000000000000" charset="0"/>
                <a:ea typeface="Segoe Print" panose="02000600000000000000" charset="0"/>
                <a:cs typeface="+mn-cs"/>
              </a:rPr>
              <a:t>​</a:t>
            </a:r>
          </a:p>
          <a:p>
            <a:pPr marL="0" marR="0" lvl="0" indent="0" algn="just" defTabSz="914400" rtl="0" eaLnBrk="1" fontAlgn="auto" latinLnBrk="0" hangingPunct="1">
              <a:lnSpc>
                <a:spcPts val="19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Segoe Print" panose="02000600000000000000" charset="0"/>
                <a:ea typeface="Segoe Print" panose="02000600000000000000" charset="0"/>
                <a:cs typeface="+mn-cs"/>
              </a:rPr>
              <a:t>所有智能体共同协作以交付最终结果，同时在需要时将任务委派给其他智能体。</a:t>
            </a:r>
          </a:p>
        </p:txBody>
      </p:sp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704215" y="2702560"/>
            <a:ext cx="5079365" cy="3734435"/>
            <a:chOff x="1020" y="5914"/>
            <a:chExt cx="7999" cy="6520"/>
          </a:xfrm>
        </p:grpSpPr>
        <p:cxnSp>
          <p:nvCxnSpPr>
            <p:cNvPr id="15" name="直接连接符 14"/>
            <p:cNvCxnSpPr/>
            <p:nvPr>
              <p:custDataLst>
                <p:tags r:id="rId10"/>
              </p:custDataLst>
            </p:nvPr>
          </p:nvCxnSpPr>
          <p:spPr>
            <a:xfrm>
              <a:off x="1020" y="6065"/>
              <a:ext cx="6121" cy="0"/>
            </a:xfrm>
            <a:prstGeom prst="lin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组合 15"/>
            <p:cNvGrpSpPr/>
            <p:nvPr>
              <p:custDataLst>
                <p:tags r:id="rId11"/>
              </p:custDataLst>
            </p:nvPr>
          </p:nvGrpSpPr>
          <p:grpSpPr>
            <a:xfrm>
              <a:off x="7351" y="5914"/>
              <a:ext cx="1607" cy="240"/>
              <a:chOff x="12103" y="3344"/>
              <a:chExt cx="1607" cy="240"/>
            </a:xfrm>
          </p:grpSpPr>
          <p:sp>
            <p:nvSpPr>
              <p:cNvPr id="17" name="矩形 16"/>
              <p:cNvSpPr/>
              <p:nvPr>
                <p:custDataLst>
                  <p:tags r:id="rId18"/>
                </p:custDataLst>
              </p:nvPr>
            </p:nvSpPr>
            <p:spPr>
              <a:xfrm>
                <a:off x="12103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>
                <p:custDataLst>
                  <p:tags r:id="rId19"/>
                </p:custDataLst>
              </p:nvPr>
            </p:nvSpPr>
            <p:spPr>
              <a:xfrm>
                <a:off x="12548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矩形 18"/>
              <p:cNvSpPr/>
              <p:nvPr>
                <p:custDataLst>
                  <p:tags r:id="rId20"/>
                </p:custDataLst>
              </p:nvPr>
            </p:nvSpPr>
            <p:spPr>
              <a:xfrm>
                <a:off x="13025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21"/>
                </p:custDataLst>
              </p:nvPr>
            </p:nvSpPr>
            <p:spPr>
              <a:xfrm>
                <a:off x="13470" y="3344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21" name="直接连接符 20"/>
            <p:cNvCxnSpPr/>
            <p:nvPr>
              <p:custDataLst>
                <p:tags r:id="rId12"/>
              </p:custDataLst>
            </p:nvPr>
          </p:nvCxnSpPr>
          <p:spPr>
            <a:xfrm>
              <a:off x="2899" y="12314"/>
              <a:ext cx="6121" cy="0"/>
            </a:xfrm>
            <a:prstGeom prst="lin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/>
            <p:cNvGrpSpPr/>
            <p:nvPr>
              <p:custDataLst>
                <p:tags r:id="rId13"/>
              </p:custDataLst>
            </p:nvPr>
          </p:nvGrpSpPr>
          <p:grpSpPr>
            <a:xfrm>
              <a:off x="1020" y="12194"/>
              <a:ext cx="1607" cy="240"/>
              <a:chOff x="5368" y="6426"/>
              <a:chExt cx="1607" cy="240"/>
            </a:xfrm>
          </p:grpSpPr>
          <p:sp>
            <p:nvSpPr>
              <p:cNvPr id="23" name="矩形 22"/>
              <p:cNvSpPr/>
              <p:nvPr>
                <p:custDataLst>
                  <p:tags r:id="rId14"/>
                </p:custDataLst>
              </p:nvPr>
            </p:nvSpPr>
            <p:spPr>
              <a:xfrm>
                <a:off x="5368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矩形 23"/>
              <p:cNvSpPr/>
              <p:nvPr>
                <p:custDataLst>
                  <p:tags r:id="rId15"/>
                </p:custDataLst>
              </p:nvPr>
            </p:nvSpPr>
            <p:spPr>
              <a:xfrm>
                <a:off x="5813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矩形 24"/>
              <p:cNvSpPr/>
              <p:nvPr>
                <p:custDataLst>
                  <p:tags r:id="rId16"/>
                </p:custDataLst>
              </p:nvPr>
            </p:nvSpPr>
            <p:spPr>
              <a:xfrm>
                <a:off x="6290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矩形 25"/>
              <p:cNvSpPr/>
              <p:nvPr>
                <p:custDataLst>
                  <p:tags r:id="rId17"/>
                </p:custDataLst>
              </p:nvPr>
            </p:nvSpPr>
            <p:spPr>
              <a:xfrm>
                <a:off x="6735" y="6426"/>
                <a:ext cx="240" cy="2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7" name="Title 6"/>
          <p:cNvSpPr txBox="1"/>
          <p:nvPr>
            <p:custDataLst>
              <p:tags r:id="rId2"/>
            </p:custDataLst>
          </p:nvPr>
        </p:nvSpPr>
        <p:spPr>
          <a:xfrm>
            <a:off x="704215" y="3115945"/>
            <a:ext cx="5080000" cy="3106420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16230" marR="0" lvl="0" indent="-31623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 3" panose="05040102010807070707" charset="0"/>
              <a:buChar char="u"/>
              <a:tabLst/>
              <a:defRPr/>
            </a:pPr>
            <a:r>
              <a:rPr kumimoji="0" lang="zh-CN" altLang="en-US" sz="140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工作流：​</a:t>
            </a:r>
          </a:p>
          <a:p>
            <a:pPr marL="628650" marR="0" lvl="1" indent="-17145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35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用户提出查询​</a:t>
            </a:r>
          </a:p>
          <a:p>
            <a:pPr marL="628650" marR="0" lvl="1" indent="-17145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35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PM智能体接收请求并进行初步处理​</a:t>
            </a:r>
          </a:p>
          <a:p>
            <a:pPr marL="628650" marR="0" lvl="1" indent="-17145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35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任务委派（Delegation）：​</a:t>
            </a:r>
          </a:p>
          <a:p>
            <a:pPr marL="1085850" marR="0" lvl="2" indent="-17145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PM智能体将任务分配给Tech lead智能体​</a:t>
            </a:r>
          </a:p>
          <a:p>
            <a:pPr marL="1085850" marR="0" lvl="2" indent="-17145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Tech lead智能体协调SDE智能体执行具体任务​</a:t>
            </a:r>
          </a:p>
          <a:p>
            <a:pPr marL="1085850" marR="0" lvl="2" indent="-17145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DevOps智能体提供技术支持并反馈结果</a:t>
            </a:r>
            <a:r>
              <a:rPr kumimoji="0" lang="zh-CN" altLang="en-US" sz="135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​</a:t>
            </a:r>
          </a:p>
          <a:p>
            <a:pPr marL="628650" marR="0" lvl="1" indent="-171450" algn="l" defTabSz="914400" rtl="0" eaLnBrk="1" fontAlgn="ctr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Wingdings" panose="05000000000000000000" charset="0"/>
              <a:buChar char="Ø"/>
              <a:tabLst/>
              <a:defRPr/>
            </a:pPr>
            <a:r>
              <a:rPr kumimoji="0" lang="zh-CN" altLang="en-US" sz="1350" b="0" i="0" u="none" strike="noStrike" kern="1200" cap="none" spc="16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各智能体协作完成任务后，生成最终响应</a:t>
            </a:r>
          </a:p>
        </p:txBody>
      </p:sp>
      <p:pic>
        <p:nvPicPr>
          <p:cNvPr id="28" name="图片 27" descr="bb670743-b19f-4153-90f0-7346ef1bd48f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50635" y="2033270"/>
            <a:ext cx="5351780" cy="3913505"/>
          </a:xfrm>
          <a:prstGeom prst="rect">
            <a:avLst/>
          </a:prstGeom>
        </p:spPr>
      </p:pic>
      <p:grpSp>
        <p:nvGrpSpPr>
          <p:cNvPr id="30" name="组合 29"/>
          <p:cNvGrpSpPr/>
          <p:nvPr>
            <p:custDataLst>
              <p:tags r:id="rId3"/>
            </p:custDataLst>
          </p:nvPr>
        </p:nvGrpSpPr>
        <p:grpSpPr>
          <a:xfrm>
            <a:off x="-396240" y="258445"/>
            <a:ext cx="12355830" cy="446405"/>
            <a:chOff x="-624" y="407"/>
            <a:chExt cx="16878" cy="703"/>
          </a:xfrm>
        </p:grpSpPr>
        <p:sp>
          <p:nvSpPr>
            <p:cNvPr id="31" name="矩形 30"/>
            <p:cNvSpPr/>
            <p:nvPr>
              <p:custDataLst>
                <p:tags r:id="rId5"/>
              </p:custDataLst>
            </p:nvPr>
          </p:nvSpPr>
          <p:spPr>
            <a:xfrm>
              <a:off x="-624" y="407"/>
              <a:ext cx="943" cy="7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6"/>
              </p:custDataLst>
            </p:nvPr>
          </p:nvSpPr>
          <p:spPr>
            <a:xfrm>
              <a:off x="436" y="407"/>
              <a:ext cx="187" cy="70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半闭框 32"/>
            <p:cNvSpPr/>
            <p:nvPr>
              <p:custDataLst>
                <p:tags r:id="rId7"/>
              </p:custDataLst>
            </p:nvPr>
          </p:nvSpPr>
          <p:spPr>
            <a:xfrm rot="8100000">
              <a:off x="14862" y="554"/>
              <a:ext cx="303" cy="303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半闭框 33"/>
            <p:cNvSpPr/>
            <p:nvPr>
              <p:custDataLst>
                <p:tags r:id="rId8"/>
              </p:custDataLst>
            </p:nvPr>
          </p:nvSpPr>
          <p:spPr>
            <a:xfrm rot="8100000">
              <a:off x="15197" y="554"/>
              <a:ext cx="303" cy="303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9"/>
              </p:custDataLst>
            </p:nvPr>
          </p:nvCxnSpPr>
          <p:spPr>
            <a:xfrm>
              <a:off x="1020" y="1110"/>
              <a:ext cx="1523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 6"/>
          <p:cNvSpPr txBox="1"/>
          <p:nvPr>
            <p:custDataLst>
              <p:tags r:id="rId4"/>
            </p:custDataLst>
          </p:nvPr>
        </p:nvSpPr>
        <p:spPr>
          <a:xfrm>
            <a:off x="708660" y="258445"/>
            <a:ext cx="2186940" cy="379730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-49" normalizeH="0" baseline="0" noProof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五、多智能体</a:t>
            </a:r>
            <a:r>
              <a:rPr kumimoji="0" lang="zh-CN" altLang="en-US" sz="2000" b="1" i="0" u="none" strike="noStrike" kern="1200" cap="none" spc="182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五级</a:t>
            </a:r>
            <a:r>
              <a:rPr lang="en-US" altLang="zh-CN"/>
              <a:t>Agentic AI</a:t>
            </a:r>
            <a:r>
              <a:rPr lang="zh-CN" altLang="en-US"/>
              <a:t>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>
            <p:custDataLst>
              <p:tags r:id="rId1"/>
            </p:custDataLst>
          </p:nvPr>
        </p:nvGrpSpPr>
        <p:grpSpPr>
          <a:xfrm>
            <a:off x="-396240" y="258445"/>
            <a:ext cx="12428855" cy="477520"/>
            <a:chOff x="-624" y="407"/>
            <a:chExt cx="13224" cy="752"/>
          </a:xfrm>
        </p:grpSpPr>
        <p:sp>
          <p:nvSpPr>
            <p:cNvPr id="16" name="矩形 15"/>
            <p:cNvSpPr/>
            <p:nvPr>
              <p:custDataLst>
                <p:tags r:id="rId3"/>
              </p:custDataLst>
            </p:nvPr>
          </p:nvSpPr>
          <p:spPr>
            <a:xfrm>
              <a:off x="-624" y="407"/>
              <a:ext cx="943" cy="7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4"/>
              </p:custDataLst>
            </p:nvPr>
          </p:nvSpPr>
          <p:spPr>
            <a:xfrm>
              <a:off x="436" y="407"/>
              <a:ext cx="187" cy="75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半闭框 17"/>
            <p:cNvSpPr/>
            <p:nvPr>
              <p:custDataLst>
                <p:tags r:id="rId5"/>
              </p:custDataLst>
            </p:nvPr>
          </p:nvSpPr>
          <p:spPr>
            <a:xfrm rot="8100000">
              <a:off x="11208" y="554"/>
              <a:ext cx="352" cy="352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半闭框 18"/>
            <p:cNvSpPr/>
            <p:nvPr>
              <p:custDataLst>
                <p:tags r:id="rId6"/>
              </p:custDataLst>
            </p:nvPr>
          </p:nvSpPr>
          <p:spPr>
            <a:xfrm rot="8100000">
              <a:off x="11543" y="554"/>
              <a:ext cx="352" cy="352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0" name="直接连接符 19"/>
            <p:cNvCxnSpPr/>
            <p:nvPr>
              <p:custDataLst>
                <p:tags r:id="rId7"/>
              </p:custDataLst>
            </p:nvPr>
          </p:nvCxnSpPr>
          <p:spPr>
            <a:xfrm>
              <a:off x="1020" y="1159"/>
              <a:ext cx="1158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itle 6"/>
          <p:cNvSpPr txBox="1"/>
          <p:nvPr>
            <p:custDataLst>
              <p:tags r:id="rId2"/>
            </p:custDataLst>
          </p:nvPr>
        </p:nvSpPr>
        <p:spPr>
          <a:xfrm>
            <a:off x="885825" y="267335"/>
            <a:ext cx="1976120" cy="41084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205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一、基础响应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6490970" cy="4351655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工作流程：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用户提出查询（</a:t>
            </a:r>
            <a:r>
              <a:rPr lang="en-US" altLang="zh-CN"/>
              <a:t>Query</a:t>
            </a:r>
            <a:r>
              <a:rPr lang="zh-CN" altLang="en-US"/>
              <a:t>）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通过提示词（</a:t>
            </a:r>
            <a:r>
              <a:rPr lang="en-US" altLang="zh-CN"/>
              <a:t>Prompt</a:t>
            </a:r>
            <a:r>
              <a:rPr lang="zh-CN" altLang="en-US"/>
              <a:t>）输入到</a:t>
            </a:r>
            <a:r>
              <a:rPr lang="en-US" altLang="zh-CN"/>
              <a:t>deepseek</a:t>
            </a:r>
            <a:r>
              <a:rPr lang="zh-CN" altLang="en-US"/>
              <a:t>大型语言模型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模型直接生成响应（</a:t>
            </a:r>
            <a:r>
              <a:rPr lang="en-US" altLang="zh-CN"/>
              <a:t>LLM response</a:t>
            </a:r>
            <a:r>
              <a:rPr lang="zh-CN" altLang="en-US"/>
              <a:t>）</a:t>
            </a:r>
            <a:r>
              <a:rPr lang="en-US" altLang="zh-CN"/>
              <a:t>​</a:t>
            </a:r>
          </a:p>
          <a:p>
            <a:pPr marL="0" indent="0">
              <a:buNone/>
            </a:pPr>
            <a:endParaRPr lang="en-US" altLang="zh-CN"/>
          </a:p>
          <a:p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特点：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由人类引导整个流程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en-US" altLang="zh-CN"/>
              <a:t>LLM</a:t>
            </a:r>
            <a:r>
              <a:rPr lang="zh-CN" altLang="en-US"/>
              <a:t>只是一个通用响应器，接收输入并产生输出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对程序流程几乎没有控制权</a:t>
            </a:r>
          </a:p>
        </p:txBody>
      </p:sp>
      <p:pic>
        <p:nvPicPr>
          <p:cNvPr id="5" name="图片 4" descr="730487a8-ae74-4a31-8dbc-9dcedb1b8d5b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0055" y="1769745"/>
            <a:ext cx="4846955" cy="36899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-396240" y="258445"/>
            <a:ext cx="12527280" cy="477520"/>
            <a:chOff x="-624" y="407"/>
            <a:chExt cx="13224" cy="752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>
              <a:off x="-624" y="407"/>
              <a:ext cx="943" cy="7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4"/>
              </p:custDataLst>
            </p:nvPr>
          </p:nvSpPr>
          <p:spPr>
            <a:xfrm>
              <a:off x="436" y="407"/>
              <a:ext cx="187" cy="75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半闭框 14"/>
            <p:cNvSpPr/>
            <p:nvPr>
              <p:custDataLst>
                <p:tags r:id="rId5"/>
              </p:custDataLst>
            </p:nvPr>
          </p:nvSpPr>
          <p:spPr>
            <a:xfrm rot="8100000">
              <a:off x="11208" y="554"/>
              <a:ext cx="352" cy="352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半闭框 15"/>
            <p:cNvSpPr/>
            <p:nvPr>
              <p:custDataLst>
                <p:tags r:id="rId6"/>
              </p:custDataLst>
            </p:nvPr>
          </p:nvSpPr>
          <p:spPr>
            <a:xfrm rot="8100000">
              <a:off x="11543" y="554"/>
              <a:ext cx="352" cy="352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7" name="直接连接符 16"/>
            <p:cNvCxnSpPr/>
            <p:nvPr>
              <p:custDataLst>
                <p:tags r:id="rId7"/>
              </p:custDataLst>
            </p:nvPr>
          </p:nvCxnSpPr>
          <p:spPr>
            <a:xfrm>
              <a:off x="1020" y="1159"/>
              <a:ext cx="1158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itle 6"/>
          <p:cNvSpPr txBox="1"/>
          <p:nvPr>
            <p:custDataLst>
              <p:tags r:id="rId2"/>
            </p:custDataLst>
          </p:nvPr>
        </p:nvSpPr>
        <p:spPr>
          <a:xfrm>
            <a:off x="895350" y="266700"/>
            <a:ext cx="1976120" cy="41084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205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二、路由模式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5285" y="1825625"/>
            <a:ext cx="5469255" cy="4351655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工作流程：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用户提出查询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en-US" altLang="zh-CN"/>
              <a:t>deepseek</a:t>
            </a:r>
            <a:r>
              <a:rPr lang="zh-CN" altLang="en-US"/>
              <a:t>路由</a:t>
            </a:r>
            <a:r>
              <a:rPr lang="en-US" altLang="zh-CN"/>
              <a:t>LLM</a:t>
            </a:r>
            <a:r>
              <a:rPr lang="zh-CN" altLang="en-US"/>
              <a:t>决定采用路径</a:t>
            </a:r>
            <a:r>
              <a:rPr lang="en-US" altLang="zh-CN"/>
              <a:t>1</a:t>
            </a:r>
            <a:r>
              <a:rPr lang="zh-CN" altLang="en-US"/>
              <a:t>（</a:t>
            </a:r>
            <a:r>
              <a:rPr lang="en-US" altLang="zh-CN"/>
              <a:t>Path 1</a:t>
            </a:r>
            <a:r>
              <a:rPr lang="zh-CN" altLang="en-US"/>
              <a:t>）或路径</a:t>
            </a:r>
            <a:r>
              <a:rPr lang="en-US" altLang="zh-CN"/>
              <a:t>2</a:t>
            </a:r>
            <a:r>
              <a:rPr lang="zh-CN" altLang="en-US"/>
              <a:t>（</a:t>
            </a:r>
            <a:r>
              <a:rPr lang="en-US" altLang="zh-CN"/>
              <a:t>Path 2</a:t>
            </a:r>
            <a:r>
              <a:rPr lang="zh-CN" altLang="en-US"/>
              <a:t>）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对应路径的</a:t>
            </a:r>
            <a:r>
              <a:rPr lang="en-US" altLang="zh-CN"/>
              <a:t>LLM</a:t>
            </a:r>
            <a:r>
              <a:rPr lang="zh-CN" altLang="en-US"/>
              <a:t>生成响应</a:t>
            </a:r>
            <a:r>
              <a:rPr lang="en-US" altLang="zh-CN"/>
              <a:t>​</a:t>
            </a:r>
          </a:p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​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特点：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人类定义流程中存在的路径</a:t>
            </a:r>
            <a:r>
              <a:rPr lang="en-US" altLang="zh-CN"/>
              <a:t>/</a:t>
            </a:r>
            <a:r>
              <a:rPr lang="zh-CN" altLang="en-US"/>
              <a:t>函数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en-US" altLang="zh-CN"/>
              <a:t>LLM</a:t>
            </a:r>
            <a:r>
              <a:rPr lang="zh-CN" altLang="en-US"/>
              <a:t>对采用哪个函数或路径做出基本决策</a:t>
            </a:r>
          </a:p>
        </p:txBody>
      </p:sp>
      <p:pic>
        <p:nvPicPr>
          <p:cNvPr id="5" name="图片 4" descr="b668d6f1-dff3-4612-9724-444297a6fea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725" y="1769110"/>
            <a:ext cx="5630545" cy="43395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-396240" y="258445"/>
            <a:ext cx="12470130" cy="477520"/>
            <a:chOff x="-624" y="407"/>
            <a:chExt cx="13224" cy="752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-624" y="407"/>
              <a:ext cx="943" cy="7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436" y="407"/>
              <a:ext cx="187" cy="75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半闭框 11"/>
            <p:cNvSpPr/>
            <p:nvPr>
              <p:custDataLst>
                <p:tags r:id="rId5"/>
              </p:custDataLst>
            </p:nvPr>
          </p:nvSpPr>
          <p:spPr>
            <a:xfrm rot="8100000">
              <a:off x="11208" y="554"/>
              <a:ext cx="352" cy="352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半闭框 12"/>
            <p:cNvSpPr/>
            <p:nvPr>
              <p:custDataLst>
                <p:tags r:id="rId6"/>
              </p:custDataLst>
            </p:nvPr>
          </p:nvSpPr>
          <p:spPr>
            <a:xfrm rot="8100000">
              <a:off x="11543" y="554"/>
              <a:ext cx="352" cy="352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4" name="直接连接符 13"/>
            <p:cNvCxnSpPr/>
            <p:nvPr>
              <p:custDataLst>
                <p:tags r:id="rId7"/>
              </p:custDataLst>
            </p:nvPr>
          </p:nvCxnSpPr>
          <p:spPr>
            <a:xfrm>
              <a:off x="1020" y="1159"/>
              <a:ext cx="1158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6"/>
          <p:cNvSpPr txBox="1"/>
          <p:nvPr>
            <p:custDataLst>
              <p:tags r:id="rId2"/>
            </p:custDataLst>
          </p:nvPr>
        </p:nvSpPr>
        <p:spPr>
          <a:xfrm>
            <a:off x="890270" y="267335"/>
            <a:ext cx="1976120" cy="41084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205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三、工具调用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5448300" cy="4351655"/>
          </a:xfrm>
        </p:spPr>
        <p:txBody>
          <a:bodyPr>
            <a:normAutofit/>
          </a:bodyPr>
          <a:lstStyle/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工作流程：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用户提出查询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en-US" altLang="zh-CN"/>
              <a:t>LLM</a:t>
            </a:r>
            <a:r>
              <a:rPr lang="zh-CN" altLang="en-US"/>
              <a:t>决定调用工具（</a:t>
            </a:r>
            <a:r>
              <a:rPr lang="en-US" altLang="zh-CN"/>
              <a:t>Tool calling</a:t>
            </a:r>
            <a:r>
              <a:rPr lang="zh-CN" altLang="en-US"/>
              <a:t>）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可访问的工具包括：</a:t>
            </a:r>
            <a:r>
              <a:rPr lang="en-US" altLang="zh-CN"/>
              <a:t>​</a:t>
            </a:r>
          </a:p>
          <a:p>
            <a:pPr lvl="2"/>
            <a:r>
              <a:rPr lang="zh-CN" altLang="en-US"/>
              <a:t>向量数据库（</a:t>
            </a:r>
            <a:r>
              <a:rPr lang="en-US" altLang="zh-CN"/>
              <a:t>Vector DB</a:t>
            </a:r>
            <a:r>
              <a:rPr lang="zh-CN" altLang="en-US"/>
              <a:t>）</a:t>
            </a:r>
            <a:r>
              <a:rPr lang="en-US" altLang="zh-CN"/>
              <a:t>​</a:t>
            </a:r>
          </a:p>
          <a:p>
            <a:pPr lvl="2"/>
            <a:r>
              <a:rPr lang="en-US" altLang="zh-CN"/>
              <a:t>APIs</a:t>
            </a:r>
          </a:p>
          <a:p>
            <a:pPr lvl="2"/>
            <a:r>
              <a:rPr lang="zh-CN" altLang="en-US"/>
              <a:t>本地文件系统（</a:t>
            </a:r>
            <a:r>
              <a:rPr lang="en-US" altLang="zh-CN"/>
              <a:t>Local file system</a:t>
            </a:r>
            <a:r>
              <a:rPr lang="zh-CN" altLang="en-US"/>
              <a:t>）</a:t>
            </a:r>
            <a:r>
              <a:rPr lang="en-US" altLang="zh-CN"/>
              <a:t>​</a:t>
            </a:r>
          </a:p>
          <a:p>
            <a:pPr lvl="2"/>
            <a:r>
              <a:rPr lang="zh-CN" altLang="en-US"/>
              <a:t>浏览器（</a:t>
            </a:r>
            <a:r>
              <a:rPr lang="en-US" altLang="zh-CN"/>
              <a:t>Browser</a:t>
            </a:r>
            <a:r>
              <a:rPr lang="zh-CN" altLang="en-US"/>
              <a:t>）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工具返回结果后，</a:t>
            </a:r>
            <a:r>
              <a:rPr lang="en-US" altLang="zh-CN"/>
              <a:t>LLM</a:t>
            </a:r>
            <a:r>
              <a:rPr lang="zh-CN" altLang="en-US"/>
              <a:t>生成最终响应</a:t>
            </a:r>
            <a:r>
              <a:rPr lang="en-US" altLang="zh-CN"/>
              <a:t>​</a:t>
            </a: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特点：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人类定义</a:t>
            </a:r>
            <a:r>
              <a:rPr lang="en-US" altLang="zh-CN"/>
              <a:t>LLM</a:t>
            </a:r>
            <a:r>
              <a:rPr lang="zh-CN" altLang="en-US"/>
              <a:t>可访问的工具集以完成任务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en-US" altLang="zh-CN"/>
              <a:t>LLM</a:t>
            </a:r>
            <a:r>
              <a:rPr lang="zh-CN" altLang="en-US"/>
              <a:t>决定何时使用这些工具以及执行的参数</a:t>
            </a:r>
          </a:p>
        </p:txBody>
      </p:sp>
      <p:pic>
        <p:nvPicPr>
          <p:cNvPr id="4" name="图片 3" descr="d83dbc11-50c8-475d-b354-2fc4e95de0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1425" y="1893570"/>
            <a:ext cx="5469890" cy="42157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-396240" y="258445"/>
            <a:ext cx="12412980" cy="477520"/>
            <a:chOff x="-624" y="407"/>
            <a:chExt cx="14186" cy="752"/>
          </a:xfrm>
        </p:grpSpPr>
        <p:sp>
          <p:nvSpPr>
            <p:cNvPr id="25" name="矩形 24"/>
            <p:cNvSpPr/>
            <p:nvPr>
              <p:custDataLst>
                <p:tags r:id="rId3"/>
              </p:custDataLst>
            </p:nvPr>
          </p:nvSpPr>
          <p:spPr>
            <a:xfrm>
              <a:off x="-624" y="407"/>
              <a:ext cx="943" cy="7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4"/>
              </p:custDataLst>
            </p:nvPr>
          </p:nvSpPr>
          <p:spPr>
            <a:xfrm>
              <a:off x="436" y="407"/>
              <a:ext cx="187" cy="75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半闭框 26"/>
            <p:cNvSpPr/>
            <p:nvPr>
              <p:custDataLst>
                <p:tags r:id="rId5"/>
              </p:custDataLst>
            </p:nvPr>
          </p:nvSpPr>
          <p:spPr>
            <a:xfrm rot="8100000">
              <a:off x="12170" y="554"/>
              <a:ext cx="352" cy="352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半闭框 27"/>
            <p:cNvSpPr/>
            <p:nvPr>
              <p:custDataLst>
                <p:tags r:id="rId6"/>
              </p:custDataLst>
            </p:nvPr>
          </p:nvSpPr>
          <p:spPr>
            <a:xfrm rot="8100000">
              <a:off x="12505" y="554"/>
              <a:ext cx="352" cy="352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9" name="直接连接符 28"/>
            <p:cNvCxnSpPr/>
            <p:nvPr>
              <p:custDataLst>
                <p:tags r:id="rId7"/>
              </p:custDataLst>
            </p:nvPr>
          </p:nvCxnSpPr>
          <p:spPr>
            <a:xfrm>
              <a:off x="1020" y="1159"/>
              <a:ext cx="1254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itle 6"/>
          <p:cNvSpPr txBox="1"/>
          <p:nvPr>
            <p:custDataLst>
              <p:tags r:id="rId2"/>
            </p:custDataLst>
          </p:nvPr>
        </p:nvSpPr>
        <p:spPr>
          <a:xfrm>
            <a:off x="647700" y="258445"/>
            <a:ext cx="2586990" cy="41084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205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四、多智能体模式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6022340" cy="4351655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工作流程：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用户提出查询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管理器智能体（</a:t>
            </a:r>
            <a:r>
              <a:rPr lang="en-US" altLang="zh-CN"/>
              <a:t>Manager Agent</a:t>
            </a:r>
            <a:r>
              <a:rPr lang="zh-CN" altLang="en-US"/>
              <a:t>）协调多个子智能体（</a:t>
            </a:r>
            <a:r>
              <a:rPr lang="en-US" altLang="zh-CN"/>
              <a:t>Sub-Agent</a:t>
            </a:r>
            <a:r>
              <a:rPr lang="zh-CN" altLang="en-US"/>
              <a:t>）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子智能体之间通过协作（</a:t>
            </a:r>
            <a:r>
              <a:rPr lang="en-US" altLang="zh-CN"/>
              <a:t>Collaboration</a:t>
            </a:r>
            <a:r>
              <a:rPr lang="zh-CN" altLang="en-US"/>
              <a:t>）完成任务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生成最终响应</a:t>
            </a:r>
            <a:r>
              <a:rPr lang="en-US" altLang="zh-CN"/>
              <a:t>​</a:t>
            </a: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特点：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管理器智能体迭代协调多个子智能体并决定下一步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人类规划智能体之间的层级关系、角色和工具等</a:t>
            </a:r>
          </a:p>
        </p:txBody>
      </p:sp>
      <p:pic>
        <p:nvPicPr>
          <p:cNvPr id="4" name="图片 3" descr="bb670743-b19f-4153-90f0-7346ef1bd48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635" y="1889125"/>
            <a:ext cx="5157470" cy="37706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-396240" y="258445"/>
            <a:ext cx="12508865" cy="477520"/>
            <a:chOff x="-624" y="407"/>
            <a:chExt cx="13704" cy="752"/>
          </a:xfrm>
        </p:grpSpPr>
        <p:sp>
          <p:nvSpPr>
            <p:cNvPr id="15" name="矩形 14"/>
            <p:cNvSpPr/>
            <p:nvPr>
              <p:custDataLst>
                <p:tags r:id="rId3"/>
              </p:custDataLst>
            </p:nvPr>
          </p:nvSpPr>
          <p:spPr>
            <a:xfrm>
              <a:off x="-624" y="407"/>
              <a:ext cx="943" cy="7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4"/>
              </p:custDataLst>
            </p:nvPr>
          </p:nvSpPr>
          <p:spPr>
            <a:xfrm>
              <a:off x="436" y="407"/>
              <a:ext cx="187" cy="75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半闭框 16"/>
            <p:cNvSpPr/>
            <p:nvPr>
              <p:custDataLst>
                <p:tags r:id="rId5"/>
              </p:custDataLst>
            </p:nvPr>
          </p:nvSpPr>
          <p:spPr>
            <a:xfrm rot="8100000">
              <a:off x="11689" y="554"/>
              <a:ext cx="352" cy="352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半闭框 17"/>
            <p:cNvSpPr/>
            <p:nvPr>
              <p:custDataLst>
                <p:tags r:id="rId6"/>
              </p:custDataLst>
            </p:nvPr>
          </p:nvSpPr>
          <p:spPr>
            <a:xfrm rot="8100000">
              <a:off x="12024" y="554"/>
              <a:ext cx="352" cy="352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" name="直接连接符 18"/>
            <p:cNvCxnSpPr/>
            <p:nvPr>
              <p:custDataLst>
                <p:tags r:id="rId7"/>
              </p:custDataLst>
            </p:nvPr>
          </p:nvCxnSpPr>
          <p:spPr>
            <a:xfrm>
              <a:off x="1020" y="1159"/>
              <a:ext cx="12061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itle 6"/>
          <p:cNvSpPr txBox="1"/>
          <p:nvPr>
            <p:custDataLst>
              <p:tags r:id="rId2"/>
            </p:custDataLst>
          </p:nvPr>
        </p:nvSpPr>
        <p:spPr>
          <a:xfrm>
            <a:off x="848995" y="271145"/>
            <a:ext cx="2281555" cy="41084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205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五、、自主模式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5301615" cy="4351655"/>
          </a:xfrm>
        </p:spPr>
        <p:txBody>
          <a:bodyPr>
            <a:normAutofit/>
          </a:bodyPr>
          <a:lstStyle/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工作流程：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用户提出查询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生成器智能体（</a:t>
            </a:r>
            <a:r>
              <a:rPr lang="en-US" altLang="zh-CN"/>
              <a:t>Generator Agent</a:t>
            </a:r>
            <a:r>
              <a:rPr lang="zh-CN" altLang="en-US"/>
              <a:t>）创建响应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验证器智能体（</a:t>
            </a:r>
            <a:r>
              <a:rPr lang="en-US" altLang="zh-CN"/>
              <a:t>Validator Agent</a:t>
            </a:r>
            <a:r>
              <a:rPr lang="zh-CN" altLang="en-US"/>
              <a:t>）提供反馈（</a:t>
            </a:r>
            <a:r>
              <a:rPr lang="en-US" altLang="zh-CN"/>
              <a:t>Feedback</a:t>
            </a:r>
            <a:r>
              <a:rPr lang="zh-CN" altLang="en-US"/>
              <a:t>）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生成器根据反馈优化响应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生成最终响应（</a:t>
            </a:r>
            <a:r>
              <a:rPr lang="en-US" altLang="zh-CN"/>
              <a:t>Final response</a:t>
            </a:r>
            <a:r>
              <a:rPr lang="zh-CN" altLang="en-US"/>
              <a:t>）</a:t>
            </a:r>
            <a:r>
              <a:rPr lang="en-US" altLang="zh-CN"/>
              <a:t>​</a:t>
            </a: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特点：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最高级别的模式，</a:t>
            </a:r>
            <a:r>
              <a:rPr lang="en-US" altLang="zh-CN"/>
              <a:t>LLM</a:t>
            </a:r>
            <a:r>
              <a:rPr lang="zh-CN" altLang="en-US"/>
              <a:t>能独立生成和执行新代码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有效充当独立的</a:t>
            </a:r>
            <a:r>
              <a:rPr lang="en-US" altLang="zh-CN"/>
              <a:t>AI</a:t>
            </a:r>
            <a:r>
              <a:rPr lang="zh-CN" altLang="en-US"/>
              <a:t>开发者</a:t>
            </a:r>
            <a:r>
              <a:rPr lang="en-US" altLang="zh-CN"/>
              <a:t>​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/>
              <a:t>自主迭代和优化，最小化人类干预</a:t>
            </a:r>
            <a:r>
              <a:rPr lang="en-US" altLang="zh-CN"/>
              <a:t>​</a:t>
            </a:r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 descr="f148f902-c783-4ec7-a489-b77f0b237f3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4085" y="1901825"/>
            <a:ext cx="5749290" cy="41998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68bd312209e9f0e9828104cf9df01e32cf0f66c"/>
  <p:tag name="KSO_WM_NEWLAYOUT_GROUP_ID" val="layout_34"/>
  <p:tag name="KSO_WM_NEWLAYOUT_ID" val="slide_758c0c38998d981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69ddea6f32f9a0b95a9601ee52a5c65bbd9489e"/>
  <p:tag name="KSO_WM_NEWLAYOUT_GROUP_ID" val="layout_10004"/>
  <p:tag name="KSO_WM_NEWLAYOUT_ID" val="slide_b78e5c9395481cf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2f7625da23d083b107d3df14a870d8089295d16"/>
  <p:tag name="KSO_WM_NEWLAYOUT_GROUP_ID" val="layout_10012"/>
  <p:tag name="KSO_WM_NEWLAYOUT_ID" val="slide_ed19c0db6ed585c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1be861567a3d3fe526f7e309f5795e7f27d04c9"/>
  <p:tag name="KSO_WM_NEWLAYOUT_GROUP_ID" val="layout_10003"/>
  <p:tag name="KSO_WM_NEWLAYOUT_ID" val="slide_a1e31e139923f8f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1be861567a3d3fe526f7e309f5795e7f27d04c9"/>
  <p:tag name="KSO_WM_NEWLAYOUT_GROUP_ID" val="layout_10003"/>
  <p:tag name="KSO_WM_NEWLAYOUT_ID" val="slide_a1e31e139923f8f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718d67f4-bf4d-4677-a4d9-5c366bd0ab8a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。&#10;为了演示发布的良好效果，请言简意赅的阐述您的观点。&#10;您的正文已经经简明扼要。字字珠玑，但信息却千丝万缕、错综复杂。"/>
  <p:tag name="KSO_WM_UNIT_NOCLEAR" val="1"/>
  <p:tag name="KSO_WM_UNIT_VALUE" val="1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1_120*f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718d67f4-bf4d-4677-a4d9-5c366bd0ab8a}"/>
  <p:tag name="KSO_WM_UNIT_TEXTBOXSTYLE_TEMPLATEID" val="3135310"/>
  <p:tag name="KSO_WM_UNIT_TEXTBOXSTYLE_TYPE" val="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b51608f0-d1da-46a6-a2a1-0252fdfbd429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0;您的正文已经经简明扼要，字字珠玑，但信息却千丝万缕、错综复杂，需要用更多。"/>
  <p:tag name="KSO_WM_UNIT_NOCLEAR" val="0"/>
  <p:tag name="KSO_WM_UNIT_VALUE" val="75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1_406*f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b51608f0-d1da-46a6-a2a1-0252fdfbd429}"/>
  <p:tag name="KSO_WM_UNIT_TEXTBOXSTYLE_TEMPLATEID" val="3135596"/>
  <p:tag name="KSO_WM_UNIT_TEXTBOXSTYLE_TYPE" val="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149540d3-f85d-4e60-9222-aba2513edfa2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3_35*f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  <p:tag name="KSO_WM_UNIT_TEXTBOXSTYLE_TEMPLATEID" val="3131058"/>
  <p:tag name="KSO_WM_UNIT_TEXTBOXSTYLE_TYPE" val="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35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35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3_35*i*3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3_35*i*4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3_35*i*5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0_-25"/>
  <p:tag name="KSO_WM_UNIT_TEXTBOXSTYLE_ADJUSTWIDTH" val="100_-93.9500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941_406*i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b51608f0-d1da-46a6-a2a1-0252fdfbd429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-83.44998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941_406*i*2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b51608f0-d1da-46a6-a2a1-0252fdfbd429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ADJUSTWIDTH" val="100_-93.95001"/>
  <p:tag name="KSO_WM_UNIT_TEXTBOXSTYLE_SHAPETYPE" val="1"/>
  <p:tag name="KSO_WM_UNIT_TEXTBOXSTYLE_ADJUSTLEFT" val="0_93.95001"/>
  <p:tag name="KSO_WM_UNIT_TEXTBOXSTYLE_ADJUSTTOP" val="100_26.54999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mixed20201941_406*i*8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b51608f0-d1da-46a6-a2a1-0252fdfbd429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20.54999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mixed20201941_406*i*9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b51608f0-d1da-46a6-a2a1-0252fdfbd429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mixed20201941_406*i*10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22.25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mixed20201941_406*i*11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46.10001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mixed20201941_406*i*12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68.35001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mixed20201941_406*i*13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336.75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941_406*i*3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TEMPLATETYPE" val="0"/>
  <p:tag name="KSO_WM_UNIT_TEXTBOXSTYLE_ADJUSTLEFT" val="0_359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941_406*i*4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382.85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941_406*i*5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405.1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mixed20201941_406*i*6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7.75"/>
  <p:tag name="KSO_WM_UNIT_TEXTBOXSTYLE_ADJUSTTOP" val="0_-19.70001"/>
  <p:tag name="KSO_WM_UNIT_TEXTBOXSTYLE_ADJUSTWIDTH" val="100_75.45001"/>
  <p:tag name="KSO_WM_UNIT_TEXTBOXSTYLE_ADJUSTHEIGTH" val="100_39.3500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941_120*i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718d67f4-bf4d-4677-a4d9-5c366bd0ab8a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53.5451"/>
  <p:tag name="KSO_WM_UNIT_TEXTBOXSTYLE_ADJUSTTOP" val="4.335529_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941_120*i*2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718d67f4-bf4d-4677-a4d9-5c366bd0ab8a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941_120*i*3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941_120*i*4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96a889a0-f8e1-401d-8a31-55ad9589b369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0;您的正文已经经简明扼要，字字珠玑，但信息却千丝万缕、错综复杂，需要用更多。"/>
  <p:tag name="KSO_WM_UNIT_NOCLEAR" val="0"/>
  <p:tag name="KSO_WM_UNIT_VALUE" val="75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1_406*f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96a889a0-f8e1-401d-8a31-55ad9589b369}"/>
  <p:tag name="KSO_WM_UNIT_TEXTBOXSTYLE_TEMPLATEID" val="3135596"/>
  <p:tag name="KSO_WM_UNIT_TEXTBOXSTYLE_TYPE" val="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149540d3-f85d-4e60-9222-aba2513edfa2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3_35*f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  <p:tag name="KSO_WM_UNIT_TEXTBOXSTYLE_TEMPLATEID" val="3131058"/>
  <p:tag name="KSO_WM_UNIT_TEXTBOXSTYLE_TYPE" val="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35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35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3_35*i*3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3_35*i*4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3_35*i*5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0_-25"/>
  <p:tag name="KSO_WM_UNIT_TEXTBOXSTYLE_ADJUSTWIDTH" val="100_-93.9500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941_406*i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96a889a0-f8e1-401d-8a31-55ad9589b369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-83.44998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941_406*i*2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96a889a0-f8e1-401d-8a31-55ad9589b369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ADJUSTWIDTH" val="100_-93.95001"/>
  <p:tag name="KSO_WM_UNIT_TEXTBOXSTYLE_SHAPETYPE" val="1"/>
  <p:tag name="KSO_WM_UNIT_TEXTBOXSTYLE_ADJUSTLEFT" val="0_93.95001"/>
  <p:tag name="KSO_WM_UNIT_TEXTBOXSTYLE_ADJUSTTOP" val="100_26.54999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mixed20201941_406*i*8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96a889a0-f8e1-401d-8a31-55ad9589b369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20.54999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mixed20201941_406*i*9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96a889a0-f8e1-401d-8a31-55ad9589b369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mixed20201941_406*i*10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22.25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mixed20201941_406*i*11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46.10001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mixed20201941_406*i*12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68.35001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mixed20201941_406*i*13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336.75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941_406*i*3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TEMPLATETYPE" val="0"/>
  <p:tag name="KSO_WM_UNIT_TEXTBOXSTYLE_ADJUSTLEFT" val="0_359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941_406*i*4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382.85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941_406*i*5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405.1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mixed20201941_406*i*6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b8ebd42d-4ace-4d91-8e4f-195ca0b6adae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0;您的正文已经经简明扼要，字字珠玑，但信息却千丝万缕、错综复杂，需要用更多。"/>
  <p:tag name="KSO_WM_UNIT_NOCLEAR" val="0"/>
  <p:tag name="KSO_WM_UNIT_VALUE" val="75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1_406*f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b8ebd42d-4ace-4d91-8e4f-195ca0b6adae}"/>
  <p:tag name="KSO_WM_UNIT_TEXTBOXSTYLE_TEMPLATEID" val="3135596"/>
  <p:tag name="KSO_WM_UNIT_TEXTBOXSTYLE_TYPE" val="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149540d3-f85d-4e60-9222-aba2513edfa2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3_35*f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  <p:tag name="KSO_WM_UNIT_TEXTBOXSTYLE_TEMPLATEID" val="3131058"/>
  <p:tag name="KSO_WM_UNIT_TEXTBOXSTYLE_TYPE" val="3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35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35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3_35*i*3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3_35*i*4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3_35*i*5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0_-25"/>
  <p:tag name="KSO_WM_UNIT_TEXTBOXSTYLE_ADJUSTWIDTH" val="100_-93.9500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941_406*i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b8ebd42d-4ace-4d91-8e4f-195ca0b6adae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-83.44998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941_406*i*2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b8ebd42d-4ace-4d91-8e4f-195ca0b6adae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ADJUSTWIDTH" val="100_-93.95001"/>
  <p:tag name="KSO_WM_UNIT_TEXTBOXSTYLE_SHAPETYPE" val="1"/>
  <p:tag name="KSO_WM_UNIT_TEXTBOXSTYLE_ADJUSTLEFT" val="0_93.95001"/>
  <p:tag name="KSO_WM_UNIT_TEXTBOXSTYLE_ADJUSTTOP" val="100_26.54999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mixed20201941_406*i*8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b8ebd42d-4ace-4d91-8e4f-195ca0b6adae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20.54999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mixed20201941_406*i*9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b8ebd42d-4ace-4d91-8e4f-195ca0b6adae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mixed20201941_406*i*10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22.25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mixed20201941_406*i*11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46.10001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mixed20201941_406*i*12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68.35001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mixed20201941_406*i*13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336.75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941_406*i*3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TEMPLATETYPE" val="0"/>
  <p:tag name="KSO_WM_UNIT_TEXTBOXSTYLE_ADJUSTLEFT" val="0_359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941_406*i*4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382.85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941_406*i*5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405.1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mixed20201941_406*i*6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fce5b794-505c-4e8a-8b49-c3e3cd1142ce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0;您的正文已经经简明扼要，字字珠玑，但信息却千丝万缕、错综复杂，需要用更多。"/>
  <p:tag name="KSO_WM_UNIT_NOCLEAR" val="0"/>
  <p:tag name="KSO_WM_UNIT_VALUE" val="75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1_406*f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fce5b794-505c-4e8a-8b49-c3e3cd1142ce}"/>
  <p:tag name="KSO_WM_UNIT_TEXTBOXSTYLE_TEMPLATEID" val="3135596"/>
  <p:tag name="KSO_WM_UNIT_TEXTBOXSTYLE_TYPE" val="8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149540d3-f85d-4e60-9222-aba2513edfa2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3_35*f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  <p:tag name="KSO_WM_UNIT_TEXTBOXSTYLE_TEMPLATEID" val="3131058"/>
  <p:tag name="KSO_WM_UNIT_TEXTBOXSTYLE_TYPE" val="3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35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35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3_35*i*3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3_35*i*4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3_35*i*5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0_-25"/>
  <p:tag name="KSO_WM_UNIT_TEXTBOXSTYLE_ADJUSTWIDTH" val="100_-93.9500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941_406*i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fce5b794-505c-4e8a-8b49-c3e3cd1142ce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-83.44998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941_406*i*2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fce5b794-505c-4e8a-8b49-c3e3cd1142ce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ADJUSTWIDTH" val="100_-93.95001"/>
  <p:tag name="KSO_WM_UNIT_TEXTBOXSTYLE_SHAPETYPE" val="1"/>
  <p:tag name="KSO_WM_UNIT_TEXTBOXSTYLE_ADJUSTLEFT" val="0_93.95001"/>
  <p:tag name="KSO_WM_UNIT_TEXTBOXSTYLE_ADJUSTTOP" val="100_26.54999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mixed20201941_406*i*8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fce5b794-505c-4e8a-8b49-c3e3cd1142ce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20.54999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mixed20201941_406*i*9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fce5b794-505c-4e8a-8b49-c3e3cd1142ce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mixed20201941_406*i*10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22.25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mixed20201941_406*i*11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46.10001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mixed20201941_406*i*12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68.35001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mixed20201941_406*i*13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336.75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941_406*i*3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TEMPLATETYPE" val="0"/>
  <p:tag name="KSO_WM_UNIT_TEXTBOXSTYLE_ADJUSTLEFT" val="0_359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941_406*i*4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382.85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941_406*i*5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405.1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mixed20201941_406*i*6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33702bfe-7618-4537-b733-c8b63364ef6f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0;您的正文已经经简明扼要，字字珠玑，但信息却千丝万缕、错综复杂，需要用更多。"/>
  <p:tag name="KSO_WM_UNIT_NOCLEAR" val="0"/>
  <p:tag name="KSO_WM_UNIT_VALUE" val="75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1_406*f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33702bfe-7618-4537-b733-c8b63364ef6f}"/>
  <p:tag name="KSO_WM_UNIT_TEXTBOXSTYLE_TEMPLATEID" val="3135596"/>
  <p:tag name="KSO_WM_UNIT_TEXTBOXSTYLE_TYPE" val="8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149540d3-f85d-4e60-9222-aba2513edfa2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3_35*f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  <p:tag name="KSO_WM_UNIT_TEXTBOXSTYLE_TEMPLATEID" val="3131058"/>
  <p:tag name="KSO_WM_UNIT_TEXTBOXSTYLE_TYPE" val="3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35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35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3_35*i*3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3_35*i*4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3_35*i*5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149540d3-f85d-4e60-9222-aba2513edfa2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0_-25"/>
  <p:tag name="KSO_WM_UNIT_TEXTBOXSTYLE_ADJUSTWIDTH" val="100_-93.9500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941_406*i*1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33702bfe-7618-4537-b733-c8b63364ef6f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-83.44998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941_406*i*2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33702bfe-7618-4537-b733-c8b63364ef6f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ADJUSTWIDTH" val="100_-93.95001"/>
  <p:tag name="KSO_WM_UNIT_TEXTBOXSTYLE_SHAPETYPE" val="1"/>
  <p:tag name="KSO_WM_UNIT_TEXTBOXSTYLE_ADJUSTLEFT" val="0_93.95001"/>
  <p:tag name="KSO_WM_UNIT_TEXTBOXSTYLE_ADJUSTTOP" val="100_26.54999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mixed20201941_406*i*8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33702bfe-7618-4537-b733-c8b63364ef6f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20.54999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mixed20201941_406*i*9"/>
  <p:tag name="KSO_WM_TEMPLATE_CATEGORY" val="mixed"/>
  <p:tag name="KSO_WM_TEMPLATE_INDEX" val="20201941"/>
  <p:tag name="KSO_WM_UNIT_LAYERLEVEL" val="1"/>
  <p:tag name="KSO_WM_TAG_VERSION" val="1.0"/>
  <p:tag name="KSO_WM_BEAUTIFY_FLAG" val="#wm#"/>
  <p:tag name="KSO_WM_UNIT_TEXTBOXSTYLE_GUID" val="{33702bfe-7618-4537-b733-c8b63364ef6f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mixed20201941_406*i*10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22.25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mixed20201941_406*i*11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46.10001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mixed20201941_406*i*12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68.35001"/>
  <p:tag name="KSO_WM_UNIT_TEXTBOXSTYLE_ADJUSTTOP" val="0_121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mixed20201941_406*i*13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336.75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941_406*i*3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TEMPLATETYPE" val="0"/>
  <p:tag name="KSO_WM_UNIT_TEXTBOXSTYLE_ADJUSTLEFT" val="0_359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941_406*i*4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382.85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941_406*i*5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405.1"/>
  <p:tag name="KSO_WM_UNIT_TEXTBOXSTYLE_ADJUSTTOP" val="0_-32.5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mixed20201941_406*i*6"/>
  <p:tag name="KSO_WM_TEMPLATE_CATEGORY" val="mixed"/>
  <p:tag name="KSO_WM_TEMPLATE_INDEX" val="20201941"/>
  <p:tag name="KSO_WM_UNIT_LAYERLEVEL" val="1"/>
  <p:tag name="KSO_WM_TAG_VERSION" val="1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33032fd5-314e-4137-9801-ca0b0026af67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3_57*f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33032fd5-314e-4137-9801-ca0b0026af67}"/>
  <p:tag name="KSO_WM_UNIT_TEXTBOXSTYLE_TEMPLATEID" val="3131080"/>
  <p:tag name="KSO_WM_UNIT_TEXTBOXSTYLE_TYPE" val="3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57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33032fd5-314e-4137-9801-ca0b0026af67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57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33032fd5-314e-4137-9801-ca0b0026af67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3_57*i*3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33032fd5-314e-4137-9801-ca0b0026af67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3_57*i*4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33032fd5-314e-4137-9801-ca0b0026af67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3_57*i*5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33032fd5-314e-4137-9801-ca0b0026af67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8954e842-822b-4618-9e16-771ed506c859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3_57*f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8954e842-822b-4618-9e16-771ed506c859}"/>
  <p:tag name="KSO_WM_UNIT_TEXTBOXSTYLE_TEMPLATEID" val="3131080"/>
  <p:tag name="KSO_WM_UNIT_TEXTBOXSTYLE_TYPE" val="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57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8954e842-822b-4618-9e16-771ed506c859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57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8954e842-822b-4618-9e16-771ed506c859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3_57*i*3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8954e842-822b-4618-9e16-771ed506c859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3_57*i*4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8954e842-822b-4618-9e16-771ed506c859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3_57*i*5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8954e842-822b-4618-9e16-771ed506c859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bdc3e959-f357-442d-9b41-ed7a95fc51eb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3_57*f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dc3e959-f357-442d-9b41-ed7a95fc51eb}"/>
  <p:tag name="KSO_WM_UNIT_TEXTBOXSTYLE_TEMPLATEID" val="3131080"/>
  <p:tag name="KSO_WM_UNIT_TEXTBOXSTYLE_TYPE" val="3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57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dc3e959-f357-442d-9b41-ed7a95fc51eb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57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dc3e959-f357-442d-9b41-ed7a95fc51eb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3_57*i*3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dc3e959-f357-442d-9b41-ed7a95fc51eb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3_57*i*4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dc3e959-f357-442d-9b41-ed7a95fc51eb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3_57*i*5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dc3e959-f357-442d-9b41-ed7a95fc51eb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2d1a9136-02f1-40a5-b803-d6c24e3d2003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3_57*f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d1a9136-02f1-40a5-b803-d6c24e3d2003}"/>
  <p:tag name="KSO_WM_UNIT_TEXTBOXSTYLE_TEMPLATEID" val="3131080"/>
  <p:tag name="KSO_WM_UNIT_TEXTBOXSTYLE_TYPE" val="3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57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d1a9136-02f1-40a5-b803-d6c24e3d2003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57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d1a9136-02f1-40a5-b803-d6c24e3d2003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3_57*i*3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d1a9136-02f1-40a5-b803-d6c24e3d2003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3_57*i*4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d1a9136-02f1-40a5-b803-d6c24e3d2003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3_57*i*5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2d1a9136-02f1-40a5-b803-d6c24e3d2003}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GUID" val="{8610123a-521b-42b4-b0b1-78ef1af1dc0d}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TEXTBOXSTYLE_SHAPETYPE" val="0"/>
  <p:tag name="KSO_WM_UNIT_TEXTBOXSTYLE_TEMPLATETYPE" val="1"/>
  <p:tag name="KSO_WM_UNIT_PRESET_TEXT" val="单击此处输入正文标题内容"/>
  <p:tag name="KSO_WM_UNIT_NOCLEAR" val="1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3_57*f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8610123a-521b-42b4-b0b1-78ef1af1dc0d}"/>
  <p:tag name="KSO_WM_UNIT_TEXTBOXSTYLE_TEMPLATEID" val="3131080"/>
  <p:tag name="KSO_WM_UNIT_TEXTBOXSTYLE_TYPE" val="3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82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57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8610123a-521b-42b4-b0b1-78ef1af1dc0d}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29.2"/>
  <p:tag name="KSO_WM_UNIT_TEXTBOXSTYLE_ADJUSTTOP" val="0_0"/>
  <p:tag name="KSO_WM_UNIT_TEXTBOXSTYLE_ADJUSTHEIGTH" val="100_5.25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57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8610123a-521b-42b4-b0b1-78ef1af1dc0d}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53.81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mixed20201883_57*i*3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8610123a-521b-42b4-b0b1-78ef1af1dc0d}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100_370.5674"/>
  <p:tag name="KSO_WM_UNIT_TEXTBOXSTYLE_ADJUSTTOP" val="0_7.374884"/>
  <p:tag name="KSO_WM_UNIT_TEXTBOXSTYLE_FOLLOWHEIGHT" val="100_-14.7498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mixed20201883_57*i*4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8610123a-521b-42b4-b0b1-78ef1af1dc0d}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0"/>
  <p:tag name="KSO_WM_UNIT_TEXTBOXSTYLE_ADJUSTTOP" val="100_5.250002"/>
  <p:tag name="KSO_WM_UNIT_TEXTBOXSTYLE_ADJUSTWIDTH" val="100_423.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mixed20201883_57*i*5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8610123a-521b-42b4-b0b1-78ef1af1dc0d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871</Words>
  <Application>Microsoft Office PowerPoint</Application>
  <PresentationFormat>宽屏</PresentationFormat>
  <Paragraphs>111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标准粗黑</vt:lpstr>
      <vt:lpstr>等线</vt:lpstr>
      <vt:lpstr>等线 Light</vt:lpstr>
      <vt:lpstr>Arial</vt:lpstr>
      <vt:lpstr>Calibri</vt:lpstr>
      <vt:lpstr>Calibri Light</vt:lpstr>
      <vt:lpstr>Segoe Print</vt:lpstr>
      <vt:lpstr>Wingdings</vt:lpstr>
      <vt:lpstr>Wingdings 3</vt:lpstr>
      <vt:lpstr>微软雅黑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五级Agentic AI系统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辉 童</dc:creator>
  <cp:lastModifiedBy>辉 童</cp:lastModifiedBy>
  <cp:revision>3</cp:revision>
  <dcterms:created xsi:type="dcterms:W3CDTF">2026-08-30T02:57:47Z</dcterms:created>
  <dcterms:modified xsi:type="dcterms:W3CDTF">2026-08-30T03:02:00Z</dcterms:modified>
</cp:coreProperties>
</file>