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ontier_v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ontier_v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8519160" cy="1493996"/>
            <a:chOff x="895350" y="2295049"/>
            <a:chExt cx="8519160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851916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51038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从数字世界的自主决策，到物理世界的具身操作（2026）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934462" cy="322707"/>
            <a:chOff x="601218" y="1898332"/>
            <a:chExt cx="293446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自主智能体：从工具到同事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328672" cy="322707"/>
            <a:chOff x="601218" y="2431732"/>
            <a:chExt cx="232867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自主能力的度量标尺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328672" cy="322707"/>
            <a:chOff x="601218" y="2965132"/>
            <a:chExt cx="232867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企业落地的真实数据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972105" cy="322707"/>
            <a:chOff x="601218" y="3498532"/>
            <a:chExt cx="2972105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476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多智能体协作与常驻 Agent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3103626" cy="322707"/>
            <a:chOff x="6468618" y="1898332"/>
            <a:chExt cx="3103626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2607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具身智能：AI 走进物理世界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732532" cy="322707"/>
            <a:chOff x="6468618" y="2431732"/>
            <a:chExt cx="273253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双系统架构：大脑与小脑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732532" cy="322707"/>
            <a:chOff x="6468618" y="2965132"/>
            <a:chExt cx="273253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世界模型融合与主要玩家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2328672" cy="322707"/>
            <a:chOff x="6468618" y="3498532"/>
            <a:chExt cx="232867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前沿启示与工程选型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光谱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自主光谱：从反应式到完全自主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7750" y="1905000"/>
            <a:ext cx="10096500" cy="4098607"/>
            <a:chOff x="1047750" y="1905000"/>
            <a:chExt cx="10096500" cy="4098607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572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268298" y="2058352"/>
              <a:ext cx="3655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自治是成熟度阶梯，不是开关 —— 数字世界与物理世界通用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743200"/>
              <a:ext cx="1866900" cy="2057400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743200"/>
              <a:ext cx="1866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24198" y="2948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6253" y="33485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反应式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12392" y="3780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一问一答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356" y="40666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无状态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57525" y="2743200"/>
              <a:ext cx="1866900" cy="2057400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57525" y="2743200"/>
              <a:ext cx="1866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3973" y="2948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6028" y="33485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咨询式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88131" y="37809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给建议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88131" y="40666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人拍板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67300" y="2743200"/>
              <a:ext cx="1866900" cy="2057400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67300" y="2743200"/>
              <a:ext cx="1866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43748" y="2948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49646" y="3348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监督执行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2680" y="3780949"/>
              <a:ext cx="676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干活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7906" y="40666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人盯梢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77075" y="2743200"/>
              <a:ext cx="1866900" cy="2057400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77075" y="2743200"/>
              <a:ext cx="1866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53523" y="2948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9421" y="3348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条件自主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75753" y="37809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边界内自主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1717" y="40666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越界上报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86850" y="2743200"/>
              <a:ext cx="1866900" cy="2057400"/>
            </a:xfrm>
            <a:prstGeom prst="roundRect">
              <a:avLst>
                <a:gd name="adj" fmla="val 153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86850" y="2743200"/>
              <a:ext cx="1866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63298" y="2948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69196" y="3348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完全自主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17456" y="37809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长时程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51492" y="40666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无人值守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067300" y="5143500"/>
              <a:ext cx="4019550" cy="495300"/>
            </a:xfrm>
            <a:prstGeom prst="roundRect">
              <a:avLst>
                <a:gd name="adj" fmla="val 5769"/>
              </a:avLst>
            </a:prstGeom>
            <a:noFill/>
            <a:ln w="15240">
              <a:solidFill>
                <a:srgbClr val="E30613"/>
              </a:solidFill>
              <a:custDash>
                <a:ds d="375000" sp="250000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79561" y="5343049"/>
              <a:ext cx="2032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企业主流部署在 L2–L3（2026）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76661" y="5827395"/>
              <a:ext cx="28386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L2 起步，向 L3 演进 —— 自治要可审计、可回退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何为自主智能体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能自主规划 · 调用工具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记忆上下文 · 自我修正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835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完成长时程目标的 AI 系统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615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vs RPA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1755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RPA 按脚本执行固定流程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面对新情况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自主决策与调整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vs 工作流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574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工作流是静态编排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821906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是动态规划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加环境反馈闭环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128350" cy="738854"/>
            <a:chOff x="595122" y="501491"/>
            <a:chExt cx="612835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039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时间地平线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12835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METR：agent 能力每 ~7 个月翻倍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69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50% 可靠性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25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GPT-5 agent 完成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 小时 17 分钟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人类专家任务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翻倍周期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任务时长每 ~7 个月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翻一倍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持续 6 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增长幅度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2020 → 2026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增长超 1,000 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 1 分钟到 2 小时+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0573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的能力边界每 7 个月翻一倍 —— 留给企业的时间不多了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2837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来源：METR 研究报告（2025-11）。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258980" cy="738854"/>
            <a:chOff x="595122" y="501491"/>
            <a:chExt cx="725898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曲线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2589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METR 时间地平线：任务时长指数级上升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047750" y="2009299"/>
            <a:ext cx="10096500" cy="4026217"/>
            <a:chOff x="1047750" y="2009299"/>
            <a:chExt cx="10096500" cy="4026217"/>
          </a:xfrm>
        </p:grpSpPr>
        <p:sp>
          <p:nvSpPr>
            <p:cNvPr id="6" name="TextBox 6"/>
            <p:cNvSpPr txBox="1"/>
            <p:nvPr/>
          </p:nvSpPr>
          <p:spPr>
            <a:xfrm>
              <a:off x="1709547" y="20092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任务时长（分钟）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05914" y="2017395"/>
              <a:ext cx="17953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数据点：METR 2020–2026 观测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714500" y="50482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23812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26670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14500" y="50482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5240">
              <a:solidFill>
                <a:srgbClr val="DDDDD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51933" y="4997291"/>
              <a:ext cx="1530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0m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45720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91219" y="4521041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30m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14500" y="409575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91219" y="4044791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60m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14500" y="36195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91219" y="3568541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90m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714500" y="314325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30505" y="3092291"/>
              <a:ext cx="2744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120m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714500" y="26670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30505" y="2616041"/>
              <a:ext cx="2744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150m</a:t>
              </a:r>
            </a:p>
          </p:txBody>
        </p:sp>
        <p:sp>
          <p:nvSpPr>
            <p:cNvPr id="22" name="Polyline 22"/>
            <p:cNvSpPr/>
            <p:nvPr/>
          </p:nvSpPr>
          <p:spPr>
            <a:xfrm>
              <a:off x="1714500" y="2876550"/>
              <a:ext cx="8382000" cy="2152650"/>
            </a:xfrm>
            <a:custGeom>
              <a:avLst/>
              <a:gdLst/>
              <a:ahLst/>
              <a:cxnLst/>
              <a:rect l="l" t="t" r="r" b="b"/>
              <a:pathLst>
                <a:path w="8382000" h="2152650">
                  <a:moveTo>
                    <a:pt x="0" y="2152650"/>
                  </a:moveTo>
                  <a:lnTo>
                    <a:pt x="1400175" y="2143125"/>
                  </a:lnTo>
                  <a:lnTo>
                    <a:pt x="2790825" y="2009775"/>
                  </a:lnTo>
                  <a:lnTo>
                    <a:pt x="4191000" y="1695450"/>
                  </a:lnTo>
                  <a:lnTo>
                    <a:pt x="5591175" y="1219200"/>
                  </a:lnTo>
                  <a:lnTo>
                    <a:pt x="6981825" y="742950"/>
                  </a:lnTo>
                  <a:lnTo>
                    <a:pt x="8382000" y="0"/>
                  </a:lnTo>
                </a:path>
              </a:pathLst>
            </a:custGeom>
            <a:noFill/>
            <a:ln w="22860">
              <a:solidFill>
                <a:srgbClr val="E3061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010775" y="2876550"/>
              <a:ext cx="85725" cy="65722"/>
            </a:xfrm>
            <a:custGeom>
              <a:avLst/>
              <a:gdLst/>
              <a:ahLst/>
              <a:cxnLst/>
              <a:rect l="l" t="t" r="r" b="b"/>
              <a:pathLst>
                <a:path w="85725" h="65722">
                  <a:moveTo>
                    <a:pt x="85725" y="0"/>
                  </a:moveTo>
                  <a:lnTo>
                    <a:pt x="30480" y="65722"/>
                  </a:lnTo>
                  <a:lnTo>
                    <a:pt x="0" y="8572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657350" y="4972050"/>
              <a:ext cx="114300" cy="11430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057525" y="4962525"/>
              <a:ext cx="114300" cy="11430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448175" y="4829175"/>
              <a:ext cx="114300" cy="11430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848350" y="4514850"/>
              <a:ext cx="114300" cy="11430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248525" y="4038600"/>
              <a:ext cx="114300" cy="11430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639175" y="3562350"/>
              <a:ext cx="114300" cy="11430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039350" y="2819400"/>
              <a:ext cx="114300" cy="11430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76464" y="51987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76639" y="51987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67289" y="51987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67464" y="51987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67639" y="51987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8289" y="51987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58464" y="519874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7540" y="2646045"/>
              <a:ext cx="17937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GPT-5：2h17m（50% 可靠性）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73789" y="4712970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每 ~7 个月翻倍 · 持续 6 年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7750" y="55245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28555" y="5639752"/>
              <a:ext cx="33348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「能完成多长的任务」是衡量 agent 能力的通用标尺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6211" y="5873591"/>
              <a:ext cx="30595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METR 定义：以 50% 概率、无人工干预完成任务的时间长度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77987" cy="738854"/>
            <a:chOff x="595122" y="501491"/>
            <a:chExt cx="547798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7798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机构预测：agent 进入工作决策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35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Gartner 2028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15% 的日常工作决策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286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由 agentic AI 做出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组织级预测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235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Gartner 2028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33% 企业软件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08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内置 agentic 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软件形态改变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658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McKinsey 2025-11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114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agent 可承担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44% 的美国工时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工作重分配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5941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从「工具提高效率」到「agent 承担工作」—— 范式正在切换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3786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来源：Gartner（2025）/ McKinsey（2025-11）。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101445" cy="738854"/>
            <a:chOff x="595122" y="501491"/>
            <a:chExt cx="610144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10144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企业落地真实数据（2025 → 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042035" y="1905000"/>
            <a:ext cx="10102215" cy="4130516"/>
            <a:chOff x="1042035" y="1905000"/>
            <a:chExt cx="10102215" cy="413051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72050" y="2039302"/>
              <a:ext cx="2247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企业落地真实数据（2025 → 2026）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858250" y="2057400"/>
              <a:ext cx="171450" cy="1143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82088" y="207311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620250" y="2057400"/>
              <a:ext cx="171450" cy="114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44088" y="207311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035" y="2793206"/>
              <a:ext cx="16045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GitHub coding agents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2988" y="3035141"/>
              <a:ext cx="8981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抽样项目渗透率 %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29425" y="2800350"/>
              <a:ext cx="1571625" cy="17145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296275" y="3067050"/>
              <a:ext cx="1504950" cy="171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47578" y="3103245"/>
              <a:ext cx="16060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15.9–22.6% → 22.2–28.7%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764756"/>
              <a:ext cx="1171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OSWorld 成功率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988" y="400669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通用计算机操作任务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143250" y="3771900"/>
              <a:ext cx="1209675" cy="17145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52925" y="4038600"/>
              <a:ext cx="5457825" cy="171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27140" y="4074795"/>
              <a:ext cx="6265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12% → 66%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035" y="4736306"/>
              <a:ext cx="937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Agentic 流量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2988" y="4978241"/>
              <a:ext cx="11082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HUMAN Security 观测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43250" y="5010150"/>
              <a:ext cx="6334125" cy="171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18401" y="5046345"/>
              <a:ext cx="7352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年增 7,851%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55245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85290" y="5639752"/>
              <a:ext cx="2621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从「玩具」到「可用」—— 一年之间的跨越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81293" y="5873591"/>
              <a:ext cx="362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来源：GitHub（2026-02）· Stanford AI Index 2026 · HUMAN Security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解读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数据的三个信号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coding agent 渗透率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一年近乎翻倍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 已到 28.7%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14244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OSWorld 12% → 66%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通用计算机操作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从玩具走向可用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谨慎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5742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66% 仍未到可靠线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82190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L3+ 自主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4069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仍需人机协同兜底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30906" cy="738854"/>
            <a:chOff x="595122" y="501491"/>
            <a:chExt cx="66309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309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多智能体五人组：角色分离 · 并行迭代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47750" y="1905000"/>
            <a:ext cx="10096500" cy="4130516"/>
            <a:chOff x="1047750" y="1905000"/>
            <a:chExt cx="10096500" cy="413051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506475" y="2039302"/>
              <a:ext cx="3179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生产级多智能体：角色分离 · 并行迭代 · 质量护栏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286375" y="3143250"/>
              <a:ext cx="1619250" cy="857250"/>
            </a:xfrm>
            <a:prstGeom prst="roundRect">
              <a:avLst>
                <a:gd name="adj" fmla="val 3333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286375" y="3143250"/>
              <a:ext cx="1619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10472" y="3356610"/>
              <a:ext cx="1171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Orchestrator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8432" y="36366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规划 · 拆解 · 验收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28750" y="2095500"/>
              <a:ext cx="1714500" cy="762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428750" y="2095500"/>
              <a:ext cx="1714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42460" y="2316956"/>
              <a:ext cx="887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Researcher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8098" y="2569845"/>
              <a:ext cx="875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 · 事实核查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048750" y="2095500"/>
              <a:ext cx="1714500" cy="762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048750" y="2095500"/>
              <a:ext cx="1714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80140" y="2316956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58922" y="25698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428750" y="4286250"/>
              <a:ext cx="1714500" cy="762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428750" y="4286250"/>
              <a:ext cx="1714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33518" y="4507706"/>
              <a:ext cx="704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Reviewer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48098" y="4760595"/>
              <a:ext cx="875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质量审查 · 纠错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48750" y="4286250"/>
              <a:ext cx="1714500" cy="762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48750" y="4286250"/>
              <a:ext cx="1714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549532" y="4507706"/>
              <a:ext cx="712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Executor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8098" y="4760595"/>
              <a:ext cx="875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 · 环境交互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221355" y="2530792"/>
              <a:ext cx="2065020" cy="917258"/>
            </a:xfrm>
            <a:custGeom>
              <a:avLst/>
              <a:gdLst/>
              <a:ahLst/>
              <a:cxnLst/>
              <a:rect l="l" t="t" r="r" b="b"/>
              <a:pathLst>
                <a:path w="2065020" h="917258">
                  <a:moveTo>
                    <a:pt x="2065020" y="9172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3143250" y="2495550"/>
              <a:ext cx="85725" cy="61912"/>
            </a:xfrm>
            <a:custGeom>
              <a:avLst/>
              <a:gdLst/>
              <a:ahLst/>
              <a:cxnLst/>
              <a:rect l="l" t="t" r="r" b="b"/>
              <a:pathLst>
                <a:path w="85725" h="61912">
                  <a:moveTo>
                    <a:pt x="0" y="0"/>
                  </a:moveTo>
                  <a:lnTo>
                    <a:pt x="85725" y="2858"/>
                  </a:lnTo>
                  <a:lnTo>
                    <a:pt x="60008" y="61912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143250" y="2590800"/>
              <a:ext cx="2062162" cy="733425"/>
            </a:xfrm>
            <a:custGeom>
              <a:avLst/>
              <a:gdLst/>
              <a:ahLst/>
              <a:cxnLst/>
              <a:rect l="l" t="t" r="r" b="b"/>
              <a:pathLst>
                <a:path w="2062162" h="733425">
                  <a:moveTo>
                    <a:pt x="0" y="0"/>
                  </a:moveTo>
                  <a:lnTo>
                    <a:pt x="2062162" y="733425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200650" y="3295650"/>
              <a:ext cx="85725" cy="60960"/>
            </a:xfrm>
            <a:custGeom>
              <a:avLst/>
              <a:gdLst/>
              <a:ahLst/>
              <a:cxnLst/>
              <a:rect l="l" t="t" r="r" b="b"/>
              <a:pathLst>
                <a:path w="85725" h="60960">
                  <a:moveTo>
                    <a:pt x="85725" y="57150"/>
                  </a:moveTo>
                  <a:lnTo>
                    <a:pt x="0" y="60960"/>
                  </a:lnTo>
                  <a:lnTo>
                    <a:pt x="21907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905625" y="2530792"/>
              <a:ext cx="2065020" cy="917258"/>
            </a:xfrm>
            <a:custGeom>
              <a:avLst/>
              <a:gdLst/>
              <a:ahLst/>
              <a:cxnLst/>
              <a:rect l="l" t="t" r="r" b="b"/>
              <a:pathLst>
                <a:path w="2065020" h="917258">
                  <a:moveTo>
                    <a:pt x="0" y="917258"/>
                  </a:moveTo>
                  <a:lnTo>
                    <a:pt x="206502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8963025" y="2495550"/>
              <a:ext cx="85725" cy="61912"/>
            </a:xfrm>
            <a:custGeom>
              <a:avLst/>
              <a:gdLst/>
              <a:ahLst/>
              <a:cxnLst/>
              <a:rect l="l" t="t" r="r" b="b"/>
              <a:pathLst>
                <a:path w="85725" h="61912">
                  <a:moveTo>
                    <a:pt x="85725" y="0"/>
                  </a:moveTo>
                  <a:lnTo>
                    <a:pt x="25718" y="61912"/>
                  </a:lnTo>
                  <a:lnTo>
                    <a:pt x="0" y="2858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6986588" y="2590800"/>
              <a:ext cx="2062162" cy="733425"/>
            </a:xfrm>
            <a:custGeom>
              <a:avLst/>
              <a:gdLst/>
              <a:ahLst/>
              <a:cxnLst/>
              <a:rect l="l" t="t" r="r" b="b"/>
              <a:pathLst>
                <a:path w="2062162" h="733425">
                  <a:moveTo>
                    <a:pt x="2062162" y="0"/>
                  </a:moveTo>
                  <a:lnTo>
                    <a:pt x="0" y="733425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905625" y="3295650"/>
              <a:ext cx="85725" cy="60960"/>
            </a:xfrm>
            <a:custGeom>
              <a:avLst/>
              <a:gdLst/>
              <a:ahLst/>
              <a:cxnLst/>
              <a:rect l="l" t="t" r="r" b="b"/>
              <a:pathLst>
                <a:path w="85725" h="60960">
                  <a:moveTo>
                    <a:pt x="0" y="57150"/>
                  </a:moveTo>
                  <a:lnTo>
                    <a:pt x="63818" y="0"/>
                  </a:lnTo>
                  <a:lnTo>
                    <a:pt x="85725" y="6096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223260" y="3886200"/>
              <a:ext cx="2063115" cy="770572"/>
            </a:xfrm>
            <a:custGeom>
              <a:avLst/>
              <a:gdLst/>
              <a:ahLst/>
              <a:cxnLst/>
              <a:rect l="l" t="t" r="r" b="b"/>
              <a:pathLst>
                <a:path w="2063115" h="770572">
                  <a:moveTo>
                    <a:pt x="2063115" y="0"/>
                  </a:moveTo>
                  <a:lnTo>
                    <a:pt x="0" y="770572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3143250" y="4628198"/>
              <a:ext cx="85725" cy="60008"/>
            </a:xfrm>
            <a:custGeom>
              <a:avLst/>
              <a:gdLst/>
              <a:ahLst/>
              <a:cxnLst/>
              <a:rect l="l" t="t" r="r" b="b"/>
              <a:pathLst>
                <a:path w="85725" h="60008">
                  <a:moveTo>
                    <a:pt x="0" y="58103"/>
                  </a:moveTo>
                  <a:lnTo>
                    <a:pt x="62865" y="0"/>
                  </a:lnTo>
                  <a:lnTo>
                    <a:pt x="85725" y="60008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3143250" y="3827145"/>
              <a:ext cx="2065020" cy="954405"/>
            </a:xfrm>
            <a:custGeom>
              <a:avLst/>
              <a:gdLst/>
              <a:ahLst/>
              <a:cxnLst/>
              <a:rect l="l" t="t" r="r" b="b"/>
              <a:pathLst>
                <a:path w="2065020" h="954405">
                  <a:moveTo>
                    <a:pt x="0" y="954405"/>
                  </a:moveTo>
                  <a:lnTo>
                    <a:pt x="206502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5200650" y="3790950"/>
              <a:ext cx="85725" cy="62865"/>
            </a:xfrm>
            <a:custGeom>
              <a:avLst/>
              <a:gdLst/>
              <a:ahLst/>
              <a:cxnLst/>
              <a:rect l="l" t="t" r="r" b="b"/>
              <a:pathLst>
                <a:path w="85725" h="62865">
                  <a:moveTo>
                    <a:pt x="85725" y="0"/>
                  </a:moveTo>
                  <a:lnTo>
                    <a:pt x="26670" y="62865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6905625" y="3886200"/>
              <a:ext cx="2063115" cy="770572"/>
            </a:xfrm>
            <a:custGeom>
              <a:avLst/>
              <a:gdLst/>
              <a:ahLst/>
              <a:cxnLst/>
              <a:rect l="l" t="t" r="r" b="b"/>
              <a:pathLst>
                <a:path w="2063115" h="770572">
                  <a:moveTo>
                    <a:pt x="0" y="0"/>
                  </a:moveTo>
                  <a:lnTo>
                    <a:pt x="2063115" y="770572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8963025" y="4628198"/>
              <a:ext cx="85725" cy="60008"/>
            </a:xfrm>
            <a:custGeom>
              <a:avLst/>
              <a:gdLst/>
              <a:ahLst/>
              <a:cxnLst/>
              <a:rect l="l" t="t" r="r" b="b"/>
              <a:pathLst>
                <a:path w="85725" h="60008">
                  <a:moveTo>
                    <a:pt x="85725" y="58103"/>
                  </a:moveTo>
                  <a:lnTo>
                    <a:pt x="0" y="60008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983730" y="3827145"/>
              <a:ext cx="2065020" cy="954405"/>
            </a:xfrm>
            <a:custGeom>
              <a:avLst/>
              <a:gdLst/>
              <a:ahLst/>
              <a:cxnLst/>
              <a:rect l="l" t="t" r="r" b="b"/>
              <a:pathLst>
                <a:path w="2065020" h="954405">
                  <a:moveTo>
                    <a:pt x="2065020" y="95440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6905625" y="3790950"/>
              <a:ext cx="85725" cy="62865"/>
            </a:xfrm>
            <a:custGeom>
              <a:avLst/>
              <a:gdLst/>
              <a:ahLst/>
              <a:cxnLst/>
              <a:rect l="l" t="t" r="r" b="b"/>
              <a:pathLst>
                <a:path w="85725" h="62865">
                  <a:moveTo>
                    <a:pt x="0" y="0"/>
                  </a:moveTo>
                  <a:lnTo>
                    <a:pt x="85725" y="3810"/>
                  </a:lnTo>
                  <a:lnTo>
                    <a:pt x="59055" y="62865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7750" y="55245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071879" y="5639752"/>
              <a:ext cx="2048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角色分离 → 并行迭代 → 质量护栏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81977" y="5873591"/>
              <a:ext cx="32280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Reviewer 与 Executor 的反馈回路，是防 agent 失控的第一道闸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710460" cy="738854"/>
            <a:chOff x="595122" y="501491"/>
            <a:chExt cx="67104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常驻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7104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Persistent Agents：常驻的数字员工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常驻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7×24 运行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长期记忆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随时待命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事件驱动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收到触发即工作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邮件 · 消息 · 定时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无需手动点开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团队协作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间互发消息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跨角色协作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共享任务状态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267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的 agent 不再是「点一下跑一次」，而是常驻的数字员工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来源：2026 主流 agent 平台设计范式。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01473" cy="738854"/>
            <a:chOff x="595122" y="501491"/>
            <a:chExt cx="570147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014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两条前沿：数字世界 vs 物理世界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47750" y="1905000"/>
            <a:ext cx="10096500" cy="4130516"/>
            <a:chOff x="1047750" y="1905000"/>
            <a:chExt cx="10096500" cy="413051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086544" y="2039302"/>
              <a:ext cx="2018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同一引擎 · 不同触角：两条前沿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628900"/>
              <a:ext cx="4429125" cy="2400300"/>
            </a:xfrm>
            <a:prstGeom prst="roundRect">
              <a:avLst>
                <a:gd name="adj" fmla="val 119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628900"/>
              <a:ext cx="4429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426974" y="288036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数字世界 · 自主智能体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788" y="33508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交互介质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85797" y="3342799"/>
              <a:ext cx="1083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API / 网页 / 代码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788" y="3750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5797" y="3742849"/>
              <a:ext cx="1368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规划 · 工具调用 · 推理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7788" y="41509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评测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5797" y="4142899"/>
              <a:ext cx="1998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任务完成率（METR / OSWorld）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788" y="45510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代表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5797" y="4542949"/>
              <a:ext cx="1788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OpenAI · Anthropic · Google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43625" y="2628900"/>
              <a:ext cx="4429125" cy="2400300"/>
            </a:xfrm>
            <a:prstGeom prst="roundRect">
              <a:avLst>
                <a:gd name="adj" fmla="val 119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43625" y="2628900"/>
              <a:ext cx="4429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03621" y="288036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物理世界 · 具身智能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43662" y="33508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交互介质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81672" y="3342799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传感器 + 执行器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3662" y="3750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81672" y="3742849"/>
              <a:ext cx="1632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视觉理解 · 运动控制 · 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43662" y="41509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81672" y="414289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成功率 · 长时程任务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43662" y="45510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代表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81672" y="4542949"/>
              <a:ext cx="1417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VLA 模型 + 机器人本体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43550" y="3619500"/>
              <a:ext cx="533400" cy="6858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73369" y="37999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共享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73369" y="40095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引擎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7750" y="55245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83493" y="5639752"/>
              <a:ext cx="3625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两条前沿共享同一引擎 —— 多模态大模型 —— 只是触角不同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11382" y="5873591"/>
              <a:ext cx="27692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数字世界的「规划」与物理世界的「操作」，同源不同形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977681" cy="738854"/>
            <a:chOff x="595122" y="501491"/>
            <a:chExt cx="497768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9776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具身智能：AI 走进物理世界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在物理世界中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感知 · 理解 · 行动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与环境持续交互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4567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 2026 爆发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111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VLA 端到端成熟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数据闭环成形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算力与本体降本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为什么是人形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574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通用工具适配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人类环境兼容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4069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数据来源最广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23588" cy="738854"/>
            <a:chOff x="595122" y="501491"/>
            <a:chExt cx="572358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范式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2358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VLA 端到端：取代模块化流水线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047750" y="1905000"/>
            <a:ext cx="10096500" cy="4130516"/>
            <a:chOff x="1047750" y="1905000"/>
            <a:chExt cx="10096500" cy="413051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77156" y="203930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从「流水线」到「端到端」：控制权交给数据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628900"/>
              <a:ext cx="4667250" cy="2438400"/>
            </a:xfrm>
            <a:prstGeom prst="roundRect">
              <a:avLst>
                <a:gd name="adj" fmla="val 1172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72562" y="28313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传统模块化流水线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3500" y="3333750"/>
              <a:ext cx="1095375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39265" y="35061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感知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60411" y="37780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视觉模型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19375" y="3333750"/>
              <a:ext cx="1095375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25140" y="35061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7957" y="3778091"/>
              <a:ext cx="487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LLM / RL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905250" y="3333750"/>
              <a:ext cx="1095375" cy="819150"/>
            </a:xfrm>
            <a:prstGeom prst="roundRect">
              <a:avLst>
                <a:gd name="adj" fmla="val 348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11015" y="35061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控制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13832" y="3778091"/>
              <a:ext cx="487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MPC / RL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428875" y="37433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2540318" y="37109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714750" y="3743325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826192" y="37109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40578" y="4474845"/>
              <a:ext cx="14815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误差逐级累积 · 接口靠人拼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93505" y="4711541"/>
              <a:ext cx="177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每个环节独立训练，拼起来未必最优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2628900"/>
              <a:ext cx="4667250" cy="2438400"/>
            </a:xfrm>
            <a:prstGeom prst="roundRect">
              <a:avLst>
                <a:gd name="adj" fmla="val 1172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75144" y="2831306"/>
              <a:ext cx="1870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VLA 端到端（2026 主流）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62750" y="3390900"/>
              <a:ext cx="133350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94728" y="35523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多模态输入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66626" y="3797141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图像 · 文本 · 指令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0" y="3200400"/>
              <a:ext cx="1809750" cy="1143000"/>
            </a:xfrm>
            <a:prstGeom prst="roundRect">
              <a:avLst>
                <a:gd name="adj" fmla="val 2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50891" y="3410902"/>
              <a:ext cx="1271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单一 Transformer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52002" y="367474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视觉·语言·动作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39796" y="3903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联合优化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477500" y="3390900"/>
              <a:ext cx="571500" cy="7620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26369" y="35523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动作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06703" y="3797141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token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096250" y="37719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302942" y="37395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10191750" y="3771900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10398442" y="37395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51565" y="447484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联合优化 · 数据驱动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77950" y="471154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一条链路学到动作，端到端可微分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5245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570449" y="5639752"/>
              <a:ext cx="3051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2026：VLA 端到端取代模块化，成为绝对主流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14664" y="5873591"/>
              <a:ext cx="23626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来源：Stanford AI Index 2026 · 智源大会共识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7" name="TextBox 47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64126" cy="738854"/>
            <a:chOff x="595122" y="501491"/>
            <a:chExt cx="57641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双系统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641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双系统架构：S2 大脑 + S1 小脑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47750" y="1905000"/>
            <a:ext cx="10096500" cy="4130516"/>
            <a:chOff x="1047750" y="1905000"/>
            <a:chExt cx="10096500" cy="413051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677156" y="203930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慢想快做：大脑负责想清楚，小脑负责做利索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143250" y="2571750"/>
              <a:ext cx="5905500" cy="1143000"/>
            </a:xfrm>
            <a:prstGeom prst="roundRect">
              <a:avLst>
                <a:gd name="adj" fmla="val 2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143250" y="2571750"/>
              <a:ext cx="5905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5998" y="2787968"/>
              <a:ext cx="1680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 大脑 · 慢而聪明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56357" y="3095149"/>
              <a:ext cx="3679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VLM：场景理解 · 任务规划 · 长时程推理（几百 ms – 秒级）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55426" y="3331845"/>
              <a:ext cx="24811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回答「做什么」—— 把高层目标翻译成语义意图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0" y="3733800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9050">
              <a:solidFill>
                <a:srgbClr val="E3061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063615" y="39214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67488" y="38352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语义意图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43250" y="4095750"/>
              <a:ext cx="5905500" cy="1143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43250" y="4095750"/>
              <a:ext cx="5905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5998" y="4311968"/>
              <a:ext cx="1680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S1 小脑 · 快而精准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8127" y="4619149"/>
              <a:ext cx="32157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视觉运动策略：毫秒级动作生成 · 全身控制 · 力觉反馈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76584" y="4855845"/>
              <a:ext cx="22388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回答「怎么做」—— 把意图解码成电机指令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7750" y="55245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64292" y="5647849"/>
              <a:ext cx="40634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Figure Helix · NVIDIA GR00T N1 · Gemini Robotics 均采用双系统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86963" y="5873591"/>
              <a:ext cx="24180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S2 降频调用 · S1 高频执行 —— 算力与延迟解耦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76068" cy="738854"/>
            <a:chOff x="595122" y="501491"/>
            <a:chExt cx="547606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代表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760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三大双系统代表（2025–2026）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093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Figure Helix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485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VLM 大脑 + 快速 VLA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家庭通用操作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商业化落地中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475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NVIDIA GR00T N1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开源双系统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1385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VLM + DiT 扩散策略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开发者生态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446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Gemini Robotics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574256"/>
              <a:ext cx="831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双子座 VLM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821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低延迟动作模型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40695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仿真 + 真实数据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56668" cy="738854"/>
            <a:chOff x="595122" y="501491"/>
            <a:chExt cx="625666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融合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566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世界模型成为 VLA 的核心组成部分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47750" y="1905000"/>
            <a:ext cx="10096500" cy="4130516"/>
            <a:chOff x="1047750" y="1905000"/>
            <a:chExt cx="10096500" cy="413051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184811" y="2039302"/>
              <a:ext cx="3822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π0.7：世界模型作为 Subgoal Image Provider 集成进 VLA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095750" y="2667000"/>
              <a:ext cx="4000500" cy="819150"/>
            </a:xfrm>
            <a:prstGeom prst="roundRect">
              <a:avLst>
                <a:gd name="adj" fmla="val 348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095750" y="2667000"/>
              <a:ext cx="4000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88736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世界模型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65170" y="3141345"/>
              <a:ext cx="24616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想象未来 · 生成 Subgoal Image（目标子图）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28750" y="3810000"/>
              <a:ext cx="180975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86940" y="3982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观测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70751" y="4254341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图像 · 点云 · 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667250" y="3714750"/>
              <a:ext cx="2857500" cy="102870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7884" y="3898106"/>
              <a:ext cx="656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VLA 策略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6352" y="4189095"/>
              <a:ext cx="13792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 Subgoal Image 解码为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06606" y="43986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可执行的动作序列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858250" y="3810000"/>
              <a:ext cx="1809750" cy="838200"/>
            </a:xfrm>
            <a:prstGeom prst="roundRect">
              <a:avLst>
                <a:gd name="adj" fmla="val 340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75089" y="3982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动作执行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82392" y="425434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机器人本体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238500" y="4103370"/>
              <a:ext cx="1343025" cy="125730"/>
            </a:xfrm>
            <a:custGeom>
              <a:avLst/>
              <a:gdLst/>
              <a:ahLst/>
              <a:cxnLst/>
              <a:rect l="l" t="t" r="r" b="b"/>
              <a:pathLst>
                <a:path w="1343025" h="125730">
                  <a:moveTo>
                    <a:pt x="0" y="125730"/>
                  </a:moveTo>
                  <a:lnTo>
                    <a:pt x="13430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85335" y="4070985"/>
              <a:ext cx="81915" cy="63818"/>
            </a:xfrm>
            <a:custGeom>
              <a:avLst/>
              <a:gdLst/>
              <a:ahLst/>
              <a:cxnLst/>
              <a:rect l="l" t="t" r="r" b="b"/>
              <a:pathLst>
                <a:path w="81915" h="63818">
                  <a:moveTo>
                    <a:pt x="81915" y="24765"/>
                  </a:moveTo>
                  <a:lnTo>
                    <a:pt x="5715" y="638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7524750" y="4229100"/>
              <a:ext cx="1247775" cy="9525"/>
            </a:xfrm>
            <a:custGeom>
              <a:avLst/>
              <a:gdLst/>
              <a:ahLst/>
              <a:cxnLst/>
              <a:rect l="l" t="t" r="r" b="b"/>
              <a:pathLst>
                <a:path w="1247775" h="9525">
                  <a:moveTo>
                    <a:pt x="0" y="0"/>
                  </a:moveTo>
                  <a:lnTo>
                    <a:pt x="1247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779192" y="41967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34861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063615" y="36356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8" name="Polyline 28"/>
            <p:cNvSpPr/>
            <p:nvPr/>
          </p:nvSpPr>
          <p:spPr>
            <a:xfrm>
              <a:off x="2333625" y="3076575"/>
              <a:ext cx="1762125" cy="733425"/>
            </a:xfrm>
            <a:custGeom>
              <a:avLst/>
              <a:gdLst/>
              <a:ahLst/>
              <a:cxnLst/>
              <a:rect l="l" t="t" r="r" b="b"/>
              <a:pathLst>
                <a:path w="1762125" h="733425">
                  <a:moveTo>
                    <a:pt x="0" y="733425"/>
                  </a:moveTo>
                  <a:lnTo>
                    <a:pt x="0" y="0"/>
                  </a:lnTo>
                  <a:lnTo>
                    <a:pt x="1762125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4016692" y="30441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47750" y="55245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36583" y="5639752"/>
              <a:ext cx="4118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「世界模型 vs VLA」之争终结：世界模型是 VLA 核心组成部分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37469" y="5873591"/>
              <a:ext cx="31170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来源：Physical Intelligence π0.7（2026-04）· 智源大会共识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984563" cy="738854"/>
            <a:chOff x="595122" y="501491"/>
            <a:chExt cx="398456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868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 · π0.7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9845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π0.7：组合泛化的实证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组合泛化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把见过的原子技能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组合到新任务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训练数据没见过的任务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012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GPT-3 时刻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机器人领域里程碑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跨本体通用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社区评价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规模化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8 类机器人本体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统一动作空间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视觉语言对齐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900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组合泛化 = 训练数据没见过的任务也能完成 —— 通用机器人的关键一步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36096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来源：Physical Intelligence π0.7（2026-04）。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66185" cy="738854"/>
            <a:chOff x="595122" y="501491"/>
            <a:chExt cx="516618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玩家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661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主要 VLA 玩家矩阵（2026）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47750" y="1905000"/>
            <a:ext cx="10096500" cy="4244816"/>
            <a:chOff x="1047750" y="1905000"/>
            <a:chExt cx="10096500" cy="4244816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8616" y="2039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玩家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22214" y="2039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架构亮点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141714" y="2039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关键数据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47750" y="2286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18997" y="2533174"/>
              <a:ext cx="1641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Physical Intelligence π0.7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71788" y="2537222"/>
              <a:ext cx="20769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世界模型 = Subgoal Image Provider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31123" y="25331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组合泛化 · 8 类本体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8956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8997" y="3142774"/>
              <a:ext cx="10096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腾讯 HyVLA-0.5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985" y="3146822"/>
              <a:ext cx="20465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4B MoT 骨干 + 370M 动作专家双塔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6951" y="3142774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长时程双臂成功率 94%–99%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047750" y="35052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18997" y="3752374"/>
              <a:ext cx="1237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优必选 Thinker-VLA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3283" y="3756422"/>
              <a:ext cx="12939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具身大脑基准 9 项第一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71763" y="3752374"/>
              <a:ext cx="9159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最大基座 100B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47750" y="41148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18997" y="4361974"/>
              <a:ext cx="13326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蚂蚁 LingBot-VLA2.0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82264" y="4366022"/>
              <a:ext cx="125597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6 万小时真实物理数据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56454" y="4361974"/>
              <a:ext cx="946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17 品牌 20 构型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047750" y="47244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8997" y="4971574"/>
              <a:ext cx="9159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北京人形 XR-1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53394" y="4975622"/>
              <a:ext cx="15137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UVMC 统一视觉-运动表征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10829" y="4971574"/>
              <a:ext cx="1637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KL 对齐 +20pp · 20 条演示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47750" y="5334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47750" y="56388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99726" y="5754052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数字与物理世界的前沿，都收敛到同一件事：可评测、可治理的自主性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69467" y="5987891"/>
              <a:ext cx="24530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VLA 玩家格局：架构分化，数据与评测是护城河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共性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双世界工程共性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真实环境数据 → 训练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部署 → 回流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持续迭代引擎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评测先行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任务成功率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长时程可靠性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失败归因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安全护栏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沙箱隔离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人类监督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越权上报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数字与物理世界的前沿，都收敛到同一件事：可评测、可治理的自主性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来源：综合 2026 前沿综述。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85140" cy="738854"/>
            <a:chOff x="595122" y="501491"/>
            <a:chExt cx="608514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851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自主智能体 vs 具身智能：选型指南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77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首选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0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层级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934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32362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知识工作 / 软件操作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89628" y="2323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自主智能体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8792" y="2323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数字世界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456" y="2323624"/>
              <a:ext cx="15006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成本低 · 迭代快 · 已商用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08562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仓储分拣 / 精细操作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04746" y="3085624"/>
              <a:ext cx="8393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具身智能 VLA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98792" y="3085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物理世界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09929" y="3085624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端到端成功率 94%–99%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38476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巡检 / 移动服务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9628" y="3847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人形机器人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98792" y="3847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物理世界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0351" y="3847624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人类环境兼容 · 通用工具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6096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企业流程自动化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82559" y="4609624"/>
              <a:ext cx="683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常驻 Agent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98792" y="4609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数字世界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37369" y="4609624"/>
              <a:ext cx="1546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7×24 事件驱动 · 长期记忆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847" y="537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组合骨架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5201" y="5371624"/>
              <a:ext cx="818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 + VLA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64756" y="53716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双世界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2278" y="537162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数字决策 + 物理执行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4408551" cy="322707"/>
            <a:chOff x="601218" y="1898332"/>
            <a:chExt cx="4408551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自主管数字 · 具身管物理 · 共享大模型引擎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765042" cy="322707"/>
            <a:chOff x="601218" y="2431732"/>
            <a:chExt cx="376504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一光谱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326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L0–L4 自主阶梯 · 企业主流 L2–L3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370326" cy="322707"/>
            <a:chOff x="601218" y="2965132"/>
            <a:chExt cx="3370326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一曲线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874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METR 任务时长每 ~7 个月翻倍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898332"/>
            <a:ext cx="3103626" cy="322707"/>
            <a:chOff x="6468618" y="1898332"/>
            <a:chExt cx="3103626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一范式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1914525"/>
              <a:ext cx="2607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VLA 端到端 + S2/S1 双系统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31732"/>
            <a:ext cx="3551682" cy="322707"/>
            <a:chOff x="6468618" y="2431732"/>
            <a:chExt cx="355168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一融合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2447925"/>
              <a:ext cx="3055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世界模型成为 VLA 核心组成部分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65132"/>
            <a:ext cx="4416639" cy="322707"/>
            <a:chOff x="6468618" y="2965132"/>
            <a:chExt cx="4416639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65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981325"/>
              <a:ext cx="3920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METR · Gartner · Stanford AI · π · 腾讯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3826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前沿探索：自主智能体与具身智能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ontier_v1">
  <a:themeElements>
    <a:clrScheme name="frontier_v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ontier_v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ontier_v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2026-09-01T08:16:48Z</dcterms:created>
  <dcterms:modified xsi:type="dcterms:W3CDTF">2026-09-01T08:16:48Z</dcterms:modified>
  <cp:category/>
  <cp:contentStatus/>
</cp:coreProperties>
</file>