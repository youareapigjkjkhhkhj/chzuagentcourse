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inetune_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inetune_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5692140" cy="1493996"/>
            <a:chOff x="895350" y="2295049"/>
            <a:chExt cx="5692140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058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SFT 到 RLVR：后训练全栈拆解（2026）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066163" cy="322707"/>
            <a:chOff x="601218" y="1898332"/>
            <a:chExt cx="2066163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预训练 vs 后训练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1994154" cy="322707"/>
            <a:chOff x="601218" y="2431732"/>
            <a:chExt cx="1994154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498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与数据工程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324354" cy="322707"/>
            <a:chOff x="601218" y="2965132"/>
            <a:chExt cx="2324354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1828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LoRA / QLoRA 原理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367534" cy="322707"/>
            <a:chOff x="601218" y="3498532"/>
            <a:chExt cx="2367534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871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PEFT 族谱（2026）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1716786" cy="322707"/>
            <a:chOff x="6468618" y="1898332"/>
            <a:chExt cx="1716786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220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RLHF 与 PPO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1823466" cy="322707"/>
            <a:chOff x="6468618" y="2431732"/>
            <a:chExt cx="1823466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1327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DPO 及其族谱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218182" cy="322707"/>
            <a:chOff x="6468618" y="2965132"/>
            <a:chExt cx="221818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722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GRPO / RLVR / R1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1924812" cy="322707"/>
            <a:chOff x="6468618" y="3498532"/>
            <a:chExt cx="192481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生产配方与选型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15804" cy="738854"/>
            <a:chOff x="595122" y="501491"/>
            <a:chExt cx="30158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158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预训练 vs 后训练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09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预训练（Pre-training）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输入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海量无标注文本，自监督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1730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产物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会“续写”的基座模型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千卡级，数月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2201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后训练（Post-training）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输入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指令对 / 偏好对 / 验证器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产物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听指令·拒答·会推理·用工具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2168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SFT + 偏好优化 + RL 三段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489085" cy="738854"/>
            <a:chOff x="595122" y="501491"/>
            <a:chExt cx="448908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管线详图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489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后训练管线：六段式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143000" y="3048000"/>
            <a:ext cx="10096500" cy="2015966"/>
            <a:chOff x="1143000" y="3048000"/>
            <a:chExt cx="10096500" cy="2015966"/>
          </a:xfrm>
        </p:grpSpPr>
        <p:sp>
          <p:nvSpPr>
            <p:cNvPr id="6" name="Rectangle 6"/>
            <p:cNvSpPr/>
            <p:nvPr/>
          </p:nvSpPr>
          <p:spPr>
            <a:xfrm>
              <a:off x="1143000" y="3048000"/>
              <a:ext cx="1524000" cy="628650"/>
            </a:xfrm>
            <a:prstGeom prst="roundRect">
              <a:avLst>
                <a:gd name="adj" fmla="val 4545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70228" y="330184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预训练基座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46860" y="38433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海量无标注文本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8308" y="40338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只会续写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57500" y="3048000"/>
              <a:ext cx="1524000" cy="628650"/>
            </a:xfrm>
            <a:prstGeom prst="roundRect">
              <a:avLst>
                <a:gd name="adj" fmla="val 4545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93051" y="3301841"/>
              <a:ext cx="852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指令微调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48739" y="3843338"/>
              <a:ext cx="7415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(指令, 回复) 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61360" y="40338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学会格式与遵循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0" y="3048000"/>
              <a:ext cx="1524000" cy="628650"/>
            </a:xfrm>
            <a:prstGeom prst="roundRect">
              <a:avLst>
                <a:gd name="adj" fmla="val 4545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65192" y="33018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偏好优化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23854" y="3843338"/>
              <a:ext cx="82029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DPO / IPO / KTO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2757" y="4033838"/>
              <a:ext cx="8424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helpful·harmless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3048000"/>
              <a:ext cx="1524000" cy="628650"/>
            </a:xfrm>
            <a:prstGeom prst="roundRect">
              <a:avLst>
                <a:gd name="adj" fmla="val 4545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01696" y="3301841"/>
              <a:ext cx="4936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RL 强化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55702" y="3843338"/>
              <a:ext cx="58559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GRPO / PPO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1808" y="40338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推理能力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0" y="3048000"/>
              <a:ext cx="1524000" cy="628650"/>
            </a:xfrm>
            <a:prstGeom prst="roundRect">
              <a:avLst>
                <a:gd name="adj" fmla="val 4545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97046" y="3301841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RLVR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05825" y="3843338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可验证奖励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39233" y="4033838"/>
              <a:ext cx="8475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数学 / 代码 / 工具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715500" y="3048000"/>
              <a:ext cx="1524000" cy="628650"/>
            </a:xfrm>
            <a:prstGeom prst="roundRect">
              <a:avLst>
                <a:gd name="adj" fmla="val 4545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08692" y="33018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对齐模型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70808" y="38433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全栈产物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69842" y="4033838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听指令会推理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667000" y="33623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2778442" y="33299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381500" y="33623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4492942" y="33299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6096000" y="33623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207442" y="33299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7810500" y="33623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921942" y="33299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9525000" y="33623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9636442" y="33299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27142" y="4665345"/>
              <a:ext cx="4737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三段各解决一类对齐：行为（格式·指令）→ 偏好（helpful·harmless）→ 逻辑（推理）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71860" y="4902041"/>
              <a:ext cx="36482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2026 共识栈：SFT → DPO/SimPO → GRPO/RLVR（纯 PPO 开源已罕见）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3" name="TextBox 43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23588" cy="738854"/>
            <a:chOff x="595122" y="501491"/>
            <a:chExt cx="572358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365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 · SFT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2358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与数据工程（第一生产力）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8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是什么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(指令, 回复) 对上做交叉熵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8572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数据源：Alpaca/ShareGPT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合成数据 + 大模型蒸馏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数据质量第一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数据质量是微调成败第一预测因子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去重：40 万条常只有 4 万唯一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双人标注一致率 &lt;85% 即数据有问题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94925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数据清单：去重 · 洗标 · 平衡 · 加“我不知道”拒绝样本（降幻觉 30–50%）· 长度匹配生产分布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473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来源：sivaro 2026 实践指南、ScienceDirect 2024-2025 综述。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550472" cy="738854"/>
            <a:chOff x="595122" y="501491"/>
            <a:chExt cx="455047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55047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全参微调 vs 参数高效微调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743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全参微调（Full FT）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298031"/>
              <a:ext cx="2390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70B 需 8×A100，$2K–5K/run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621881"/>
              <a:ext cx="2687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优化器状态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数百 GB（Adam 双份动量）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945731"/>
              <a:ext cx="23760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适用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任务差异大 / 50K+ 干净数据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269581"/>
              <a:ext cx="2351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LR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1e-5~5e-5 + cosine + warmup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6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PEFT 参数高效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298031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只训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0.1–1% 参数（低秩适配器等）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621881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显存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消费级单卡可行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945731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精度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多数任务接近全参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426958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正则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低秩约束本身抗过拟合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82083" cy="738854"/>
            <a:chOff x="595122" y="501491"/>
            <a:chExt cx="608208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451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LoRA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820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LoRA：低秩旁路（W = W₀ + BA）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428750" y="2381250"/>
            <a:ext cx="9525000" cy="2841307"/>
            <a:chOff x="1428750" y="2381250"/>
            <a:chExt cx="9525000" cy="2841307"/>
          </a:xfrm>
        </p:grpSpPr>
        <p:sp>
          <p:nvSpPr>
            <p:cNvPr id="6" name="Rectangle 6"/>
            <p:cNvSpPr/>
            <p:nvPr/>
          </p:nvSpPr>
          <p:spPr>
            <a:xfrm>
              <a:off x="1428750" y="2667000"/>
              <a:ext cx="219075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35757" y="3039428"/>
              <a:ext cx="13767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W₀ 预训练权重（冻结）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62059" y="368284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输入 x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428750" y="4476750"/>
              <a:ext cx="9525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66928" y="4611052"/>
              <a:ext cx="4761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 (r×k)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67000" y="4476750"/>
              <a:ext cx="9525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05178" y="4611052"/>
              <a:ext cx="4761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 (d×r)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905000" y="4086225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390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872615" y="40005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143250" y="4086225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390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110865" y="40005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85885" y="5046345"/>
              <a:ext cx="14764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ΔW = B·A（低秩，r ≪ d）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619500" y="3048000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397692" y="30156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76750" y="2714625"/>
              <a:ext cx="2095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88941" y="2987516"/>
              <a:ext cx="10711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h = W₀x + B·A·x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28260" y="3569970"/>
              <a:ext cx="7924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= W₀x + ΔW·x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0" y="2381250"/>
              <a:ext cx="3905250" cy="2190750"/>
            </a:xfrm>
            <a:prstGeom prst="roundRect">
              <a:avLst>
                <a:gd name="adj" fmla="val 1304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72147" y="25807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实践要点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72338" y="2874645"/>
              <a:ext cx="17697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只训 A/B：可训练参数 0.1–1%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72338" y="3103245"/>
              <a:ext cx="1750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推理时合并进 W₀：零额外延迟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72338" y="3331845"/>
              <a:ext cx="23036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r=16、α=32 是实践首选（多数据集验证）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72338" y="3560445"/>
              <a:ext cx="25114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目标模块：q_proj / k_proj / v_proj / o_proj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72338" y="3789045"/>
              <a:ext cx="26238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rsLoRA 用 1/√r 缩放，让 rank 32–64 真正有效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72338" y="4186238"/>
              <a:ext cx="18420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低秩约束 = 有益的正则化（小数据更稳）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961633" cy="738854"/>
            <a:chOff x="595122" y="501491"/>
            <a:chExt cx="596163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599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QLoRA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96163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QLoRA：4-bit 基座上训练适配器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143000" y="2571750"/>
            <a:ext cx="7630477" cy="3412807"/>
            <a:chOff x="1143000" y="2571750"/>
            <a:chExt cx="7630477" cy="3412807"/>
          </a:xfrm>
        </p:grpSpPr>
        <p:sp>
          <p:nvSpPr>
            <p:cNvPr id="6" name="Rectangle 6"/>
            <p:cNvSpPr/>
            <p:nvPr/>
          </p:nvSpPr>
          <p:spPr>
            <a:xfrm>
              <a:off x="1143000" y="2571750"/>
              <a:ext cx="2381250" cy="762000"/>
            </a:xfrm>
            <a:prstGeom prst="roundRect">
              <a:avLst>
                <a:gd name="adj" fmla="val 3750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22399" y="2892266"/>
              <a:ext cx="12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基座权重 4-bit NF4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46147" y="3473291"/>
              <a:ext cx="1174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+ 双量化 Double Quant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2571750"/>
              <a:ext cx="1905000" cy="762000"/>
            </a:xfrm>
            <a:prstGeom prst="roundRect">
              <a:avLst>
                <a:gd name="adj" fmla="val 375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61249" y="2892266"/>
              <a:ext cx="783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LoRA 适配器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3536" y="3473291"/>
              <a:ext cx="1118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16-bit，唯一可训部分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334125" y="2571750"/>
              <a:ext cx="209550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47103" y="28922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分页优化器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48132" y="3473291"/>
              <a:ext cx="14674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显存尖峰挪到 CPU，防 OOM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524250" y="295275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921442" y="2920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5905500" y="29527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255068" y="2920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33488" y="4273391"/>
              <a:ext cx="406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7B 全参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286000" y="4191000"/>
              <a:ext cx="4000500" cy="24765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33488" y="4654391"/>
              <a:ext cx="5123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7B QLoRA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86000" y="4572000"/>
              <a:ext cx="2190750" cy="2476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33488" y="5035391"/>
              <a:ext cx="5759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70B QLoRA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86000" y="4953000"/>
              <a:ext cx="5905500" cy="2476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63890" y="5443538"/>
              <a:ext cx="2442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14GB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77664" y="5443538"/>
              <a:ext cx="3791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8–10GB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0522" y="5443538"/>
              <a:ext cx="7829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单张 A100 80GB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24243" y="5808345"/>
              <a:ext cx="45625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QLoRA + Unsloth：7B 模型单张 RTX 4090（24GB）数小时完成 —— 微调门槛塌方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589526" cy="738854"/>
            <a:chOff x="595122" y="501491"/>
            <a:chExt cx="45895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族谱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5895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PEFT 族谱（2026 全景）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451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DoRA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0270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权重分解为幅度+方向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50356"/>
              <a:ext cx="1685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LoRA 级显存 ≈ 全参精度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1624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LoftQ / QA-LoRA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2602706"/>
              <a:ext cx="2544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共初始化修复量化误差（2-bit 可行）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850356"/>
              <a:ext cx="1803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QA-LoRA 推理时保持量化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655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GaLore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26027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梯度低秩投影（无适配器）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2850356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全参等效，优化器内存省 65.5%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342" y="4083368"/>
              <a:ext cx="178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MoRA / StructLoRA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4793456"/>
              <a:ext cx="1064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MoRA 高秩更新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5041106"/>
              <a:ext cx="1985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StructLoRA 任务感知秩分配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03242" y="4083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轻量系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4793456"/>
              <a:ext cx="1886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BitFit 只训 bias（&lt;0.1%）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385" y="5041106"/>
              <a:ext cx="1601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Prompt/Prefix Tuning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751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工程加速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6285" y="4793456"/>
              <a:ext cx="2580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Unsloth：2–5× 提速、省显存 60–74%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6285" y="5041106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方法选择 = 显存×速度×精度三平衡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4395" cy="738854"/>
            <a:chOff x="595122" y="501491"/>
            <a:chExt cx="57843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592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RLHF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43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经典 RLHF：三步与 PPO 四模型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524000" y="2095500"/>
            <a:ext cx="8001000" cy="3787616"/>
            <a:chOff x="1524000" y="2095500"/>
            <a:chExt cx="8001000" cy="3787616"/>
          </a:xfrm>
        </p:grpSpPr>
        <p:sp>
          <p:nvSpPr>
            <p:cNvPr id="6" name="Rectangle 6"/>
            <p:cNvSpPr/>
            <p:nvPr/>
          </p:nvSpPr>
          <p:spPr>
            <a:xfrm>
              <a:off x="4572000" y="3143250"/>
              <a:ext cx="1905000" cy="666750"/>
            </a:xfrm>
            <a:prstGeom prst="roundRect">
              <a:avLst>
                <a:gd name="adj" fmla="val 4286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036465" y="3416141"/>
              <a:ext cx="9760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Policy 策略模型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6360" y="39195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（唯一可训练）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24000" y="2095500"/>
              <a:ext cx="1905000" cy="5334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91856" y="2306002"/>
              <a:ext cx="11692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Reference 参考模型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9808" y="27384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冻结副本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476500" y="2628900"/>
              <a:ext cx="2476500" cy="723900"/>
            </a:xfrm>
            <a:custGeom>
              <a:avLst/>
              <a:gdLst/>
              <a:ahLst/>
              <a:cxnLst/>
              <a:rect l="l" t="t" r="r" b="b"/>
              <a:pathLst>
                <a:path w="2476500" h="723900">
                  <a:moveTo>
                    <a:pt x="0" y="0"/>
                  </a:moveTo>
                  <a:lnTo>
                    <a:pt x="2476500" y="723900"/>
                  </a:lnTo>
                </a:path>
              </a:pathLst>
            </a:custGeom>
            <a:noFill/>
            <a:ln w="14288">
              <a:solidFill>
                <a:srgbClr val="999999"/>
              </a:solidFill>
              <a:custDash>
                <a:ds d="333333" sp="266667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86698" y="2776538"/>
              <a:ext cx="9131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KL 惩罚（防漂移）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0" y="2095500"/>
              <a:ext cx="1905000" cy="5334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50031" y="2306002"/>
              <a:ext cx="8449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Reward Model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64842" y="2738438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人类偏好训练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177915" y="2628900"/>
              <a:ext cx="2013585" cy="621983"/>
            </a:xfrm>
            <a:custGeom>
              <a:avLst/>
              <a:gdLst/>
              <a:ahLst/>
              <a:cxnLst/>
              <a:rect l="l" t="t" r="r" b="b"/>
              <a:pathLst>
                <a:path w="2013585" h="621983">
                  <a:moveTo>
                    <a:pt x="2013585" y="0"/>
                  </a:moveTo>
                  <a:lnTo>
                    <a:pt x="0" y="621983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096000" y="3222308"/>
              <a:ext cx="85725" cy="61912"/>
            </a:xfrm>
            <a:custGeom>
              <a:avLst/>
              <a:gdLst/>
              <a:ahLst/>
              <a:cxnLst/>
              <a:rect l="l" t="t" r="r" b="b"/>
              <a:pathLst>
                <a:path w="85725" h="61912">
                  <a:moveTo>
                    <a:pt x="0" y="54292"/>
                  </a:moveTo>
                  <a:lnTo>
                    <a:pt x="66675" y="0"/>
                  </a:lnTo>
                  <a:lnTo>
                    <a:pt x="85725" y="61912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17597" y="2967038"/>
              <a:ext cx="6143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reward 标量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0" y="4476750"/>
              <a:ext cx="190500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4091" y="4687252"/>
              <a:ext cx="8968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Critic 价值模型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176962" y="3762375"/>
              <a:ext cx="2014538" cy="714375"/>
            </a:xfrm>
            <a:custGeom>
              <a:avLst/>
              <a:gdLst/>
              <a:ahLst/>
              <a:cxnLst/>
              <a:rect l="l" t="t" r="r" b="b"/>
              <a:pathLst>
                <a:path w="2014538" h="714375">
                  <a:moveTo>
                    <a:pt x="2014538" y="7143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096000" y="3729990"/>
              <a:ext cx="85725" cy="60960"/>
            </a:xfrm>
            <a:custGeom>
              <a:avLst/>
              <a:gdLst/>
              <a:ahLst/>
              <a:cxnLst/>
              <a:rect l="l" t="t" r="r" b="b"/>
              <a:pathLst>
                <a:path w="85725" h="60960">
                  <a:moveTo>
                    <a:pt x="0" y="3810"/>
                  </a:moveTo>
                  <a:lnTo>
                    <a:pt x="85725" y="0"/>
                  </a:lnTo>
                  <a:lnTo>
                    <a:pt x="63818" y="6096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18058" y="41100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优势估计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16683" y="5228749"/>
              <a:ext cx="35296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PPO 同时在内存中维护 4 个模型 —— 计算与显存双倍开销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38436" y="5492591"/>
              <a:ext cx="1886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对超参敏感；训练稳定性低于离线方法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39785" y="5721191"/>
              <a:ext cx="42834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经典三步：SFT → 训练奖励模型 → PPO 强化（InstructGPT / Llama2 / 早期 Claude）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36161" cy="738854"/>
            <a:chOff x="595122" y="501491"/>
            <a:chExt cx="43361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失败模式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361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RLHF 的失败模式与缓解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奖励劫持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02706"/>
              <a:ext cx="2424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RM 是不完美代理：格式讨好/谄媚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503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模型找到高分但非人类真偏好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模式坍缩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26027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输出集中在少数高分模板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850356"/>
              <a:ext cx="19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多样性丧失（“Certainly!”）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可扩展监督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27265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模型超越标注员时偏好信号失效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3" name="Rectangle 23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4083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缓解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485" y="4669631"/>
              <a:ext cx="162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KL 调参 / RM 定期重训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4917281"/>
              <a:ext cx="1676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集成 RM / 轨迹 KL 监控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5164931"/>
              <a:ext cx="1588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人工抽查对齐 RM 打分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03242" y="4083368"/>
              <a:ext cx="1492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谄媚 Sycophancy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47934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学用户想听的拿高分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385" y="5041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仍在研究的前沿问题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75142" y="4083368"/>
              <a:ext cx="1572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InstructGPT 启示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6285" y="4793456"/>
              <a:ext cx="1931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1.3B+RLHF 胜 175B 无对齐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6285" y="50411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对齐比规模重要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67467" cy="738854"/>
            <a:chOff x="595122" y="501491"/>
            <a:chExt cx="646746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95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DPO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6746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DPO：把 RLHF 改写成一次监督学习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43000" y="2190750"/>
            <a:ext cx="7429500" cy="2854166"/>
            <a:chOff x="1143000" y="2190750"/>
            <a:chExt cx="7429500" cy="2854166"/>
          </a:xfrm>
        </p:grpSpPr>
        <p:sp>
          <p:nvSpPr>
            <p:cNvPr id="6" name="Rectangle 6"/>
            <p:cNvSpPr/>
            <p:nvPr/>
          </p:nvSpPr>
          <p:spPr>
            <a:xfrm>
              <a:off x="1143000" y="2190750"/>
              <a:ext cx="285750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23375" y="2344102"/>
              <a:ext cx="1496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经典 RLHF：3 步 · 4 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2819400"/>
              <a:ext cx="28575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32176" y="2958941"/>
              <a:ext cx="1479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人类偏好对 → 奖励模型 RM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76600"/>
              <a:ext cx="28575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96153" y="3416141"/>
              <a:ext cx="19511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PPO 强化（Policy+Ref+RM+Critic）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6946" y="3854291"/>
              <a:ext cx="12696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成本高 · 不稳定 · 调参难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476750" y="3143250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254942" y="31108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98682" y="29194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改写目标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2190750"/>
              <a:ext cx="285750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67076" y="2344102"/>
              <a:ext cx="11533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DPO：1 步 · 2 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0" y="2819400"/>
              <a:ext cx="28575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27633" y="2958941"/>
              <a:ext cx="1632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同一偏好对 (chosen, rejected)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0" y="3276600"/>
              <a:ext cx="28575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75849" y="3416141"/>
              <a:ext cx="19358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闭式监督损失（policy vs ref 对数比）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29528" y="3854291"/>
              <a:ext cx="16284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无 RM · 无 RL 循环 · 更稳更省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61708" y="4387691"/>
              <a:ext cx="58395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族谱：SimPO 去 ref（单模型）· KTO 非配对 thumbs 数据（前景理论）· ORPO = SFT+偏好一步 · IPO 抗标签噪声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0474" y="4635341"/>
              <a:ext cx="41220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采用：Llama3（迭代 DPO）· Qwen3 · Gemma3 · Mistral —— 离线方法成开源主力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38436" y="4882991"/>
              <a:ext cx="1886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取舍：放弃在线探索，换取简单与稳定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47121" cy="738854"/>
            <a:chOff x="595122" y="501491"/>
            <a:chExt cx="664712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837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GRPO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4712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GRPO：组相对策略优化（无 Critic）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47750" y="2762250"/>
            <a:ext cx="9620250" cy="2606516"/>
            <a:chOff x="1047750" y="2762250"/>
            <a:chExt cx="9620250" cy="2606516"/>
          </a:xfrm>
        </p:grpSpPr>
        <p:sp>
          <p:nvSpPr>
            <p:cNvPr id="6" name="Rectangle 6"/>
            <p:cNvSpPr/>
            <p:nvPr/>
          </p:nvSpPr>
          <p:spPr>
            <a:xfrm>
              <a:off x="1047750" y="2762250"/>
              <a:ext cx="1143000" cy="5334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82369" y="29684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提示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190750" y="30289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492692" y="29965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571750" y="2762250"/>
              <a:ext cx="209550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81899" y="2968466"/>
              <a:ext cx="8752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采样 K 个回答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19316" y="3462338"/>
              <a:ext cx="120036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K = 8–64（同一 prompt）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048250" y="2762250"/>
              <a:ext cx="495300" cy="533400"/>
            </a:xfrm>
            <a:prstGeom prst="roundRect">
              <a:avLst>
                <a:gd name="adj" fmla="val 5769"/>
              </a:avLst>
            </a:prstGeom>
            <a:solidFill>
              <a:srgbClr val="E30613"/>
            </a:solidFill>
            <a:ln w="9525">
              <a:solidFill>
                <a:srgbClr val="1A1A1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1169" y="29727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638800" y="2762250"/>
              <a:ext cx="495300" cy="5334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11719" y="29727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29350" y="2762250"/>
              <a:ext cx="495300" cy="5334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2269" y="29727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19900" y="2762250"/>
              <a:ext cx="495300" cy="5334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92819" y="29727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410450" y="2762250"/>
              <a:ext cx="495300" cy="5334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83369" y="29727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88902" y="3462338"/>
              <a:ext cx="10999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验证器逐个打分 r₁…r_K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96250" y="30289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398192" y="29965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477250" y="2762250"/>
              <a:ext cx="2190750" cy="533400"/>
            </a:xfrm>
            <a:prstGeom prst="roundRect">
              <a:avLst>
                <a:gd name="adj" fmla="val 5357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26274" y="2968466"/>
              <a:ext cx="1092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组内归一化 → 优势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7750" y="4095750"/>
              <a:ext cx="9620250" cy="5334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01877" y="4283392"/>
              <a:ext cx="3911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Aᵢ = ( rᵢ − mean(r₁…r_K) ) / std(r₁…r_K)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58311" y="4951095"/>
              <a:ext cx="40943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高于组均值 → 正优势强化；低于 → 负优势抑制。组本身即基线，无需 Critic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83773" y="5206841"/>
              <a:ext cx="44434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内存 2–3 个模型，比 PPO 省 ~25%；DeepSeek-R1 / DeepSeekMath / Qwen-Math 主力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182358" cy="738854"/>
            <a:chOff x="595122" y="501491"/>
            <a:chExt cx="61823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进化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1823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GRPO 的进化：DAPO 与 Dr-GRPO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34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GRPO 的问题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熵坍缩：输出多样性丧失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全对/全错提示无梯度信号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24063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DAPO 四修复（字节 2025）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574256"/>
              <a:ext cx="1932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Clip-Higher 放宽上界促探索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8219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动态采样过滤无效提示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4069556"/>
              <a:ext cx="2481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 级损失 · 超长过滤（零奖励）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75142" y="1892618"/>
              <a:ext cx="48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去 KL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698081"/>
              <a:ext cx="18753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推理任务 KL 太保守反有害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945731"/>
              <a:ext cx="162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DAPO 在 AIME 超 GRPO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24617" cy="738854"/>
            <a:chOff x="595122" y="501491"/>
            <a:chExt cx="54246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592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RLVR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246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RLVR：用验证器替代奖励模型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47750" y="1739741"/>
            <a:ext cx="9525000" cy="3533775"/>
            <a:chOff x="1047750" y="1739741"/>
            <a:chExt cx="9525000" cy="3533775"/>
          </a:xfrm>
        </p:grpSpPr>
        <p:sp>
          <p:nvSpPr>
            <p:cNvPr id="6" name="Rectangle 6"/>
            <p:cNvSpPr/>
            <p:nvPr/>
          </p:nvSpPr>
          <p:spPr>
            <a:xfrm>
              <a:off x="1047750" y="2571750"/>
              <a:ext cx="123825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29994" y="27779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题目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286000" y="28384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587942" y="28060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667000" y="2571750"/>
              <a:ext cx="1809750" cy="5334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71139" y="277796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模型生成解答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476750" y="28384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778692" y="28060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7750" y="2571750"/>
              <a:ext cx="2095500" cy="533400"/>
            </a:xfrm>
            <a:prstGeom prst="roundRect">
              <a:avLst>
                <a:gd name="adj" fmla="val 5357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72837" y="277796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验证器（确定性）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953250" y="28384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7255192" y="28060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34250" y="2571750"/>
              <a:ext cx="123825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39876" y="2777966"/>
              <a:ext cx="626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奖励 1 / 0</a:t>
              </a:r>
            </a:p>
          </p:txBody>
        </p:sp>
        <p:sp>
          <p:nvSpPr>
            <p:cNvPr id="20" name="Polyline 20"/>
            <p:cNvSpPr/>
            <p:nvPr/>
          </p:nvSpPr>
          <p:spPr>
            <a:xfrm>
              <a:off x="3571875" y="1905000"/>
              <a:ext cx="5000625" cy="933450"/>
            </a:xfrm>
            <a:custGeom>
              <a:avLst/>
              <a:gdLst/>
              <a:ahLst/>
              <a:cxnLst/>
              <a:rect l="l" t="t" r="r" b="b"/>
              <a:pathLst>
                <a:path w="5000625" h="933450">
                  <a:moveTo>
                    <a:pt x="5000625" y="933450"/>
                  </a:moveTo>
                  <a:lnTo>
                    <a:pt x="5000625" y="0"/>
                  </a:lnTo>
                  <a:lnTo>
                    <a:pt x="0" y="0"/>
                  </a:lnTo>
                  <a:lnTo>
                    <a:pt x="0" y="66675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539490" y="2492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97881" y="1739741"/>
              <a:ext cx="25962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按奖励更新策略（GRPO / PPO / REINFORCE++）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238250" y="3619500"/>
              <a:ext cx="26670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23797" y="37999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3988" y="4082891"/>
              <a:ext cx="14775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答案精确匹配 / Math-Verify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3988" y="4281488"/>
              <a:ext cx="10999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奖励 = 0/1，无模糊空间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72000" y="3619500"/>
              <a:ext cx="26670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57547" y="37999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738" y="4082891"/>
              <a:ext cx="1350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沙箱执行 + 单元测试通过率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7738" y="4281488"/>
              <a:ext cx="10999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奖励 = 0/1，无模糊空间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905750" y="3619500"/>
              <a:ext cx="2667000" cy="857250"/>
            </a:xfrm>
            <a:prstGeom prst="roundRect">
              <a:avLst>
                <a:gd name="adj" fmla="val 333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91297" y="3799999"/>
              <a:ext cx="828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结构化 / 工具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488" y="4082891"/>
              <a:ext cx="14525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Schema 校验 / 任务是否成功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488" y="4281488"/>
              <a:ext cx="10999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奖励 = 0/1，无模糊空间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01630" y="4855845"/>
              <a:ext cx="40077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验证器是规则不是模型：消灭奖励劫持与人工标注瓶颈（每日百万级信号）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13904" y="5111591"/>
              <a:ext cx="31831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奖励可含格式分量（如 &lt;think&gt;…&lt;/think&gt; 结构分）+ 正确性分量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166758" cy="738854"/>
            <a:chOff x="595122" y="501491"/>
            <a:chExt cx="71667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818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R1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166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DeepSeek-R1：纯 RL 与冷启动两条路线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233488" y="2112645"/>
            <a:ext cx="9815512" cy="3141821"/>
            <a:chOff x="1233488" y="2112645"/>
            <a:chExt cx="9815512" cy="3141821"/>
          </a:xfrm>
        </p:grpSpPr>
        <p:sp>
          <p:nvSpPr>
            <p:cNvPr id="6" name="TextBox 6"/>
            <p:cNvSpPr txBox="1"/>
            <p:nvPr/>
          </p:nvSpPr>
          <p:spPr>
            <a:xfrm>
              <a:off x="1233488" y="2112645"/>
              <a:ext cx="1591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R1-Zero：纯 RL（无 SFT）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38250" y="2381250"/>
              <a:ext cx="209550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59130" y="2572702"/>
              <a:ext cx="453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基座 V3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333750" y="26289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40442" y="25965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857500" y="2381250"/>
              <a:ext cx="209550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65861" y="2572702"/>
              <a:ext cx="1078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直接 GRPO + RLVR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953000" y="26289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59692" y="25965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0" y="2381250"/>
              <a:ext cx="2286000" cy="495300"/>
            </a:xfrm>
            <a:prstGeom prst="roundRect">
              <a:avLst>
                <a:gd name="adj" fmla="val 5769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764" y="2572702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推理自发涌现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0" y="26289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7826692" y="25965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905750" y="2381250"/>
              <a:ext cx="209550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0377" y="2572702"/>
              <a:ext cx="12462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但可读性差 · 语言混杂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7168" y="3054191"/>
              <a:ext cx="32736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Aha moment · 反思自发变长 · 推理时扩展（test-time scaling）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238250" y="34861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15240">
              <a:solidFill>
                <a:srgbClr val="DDDDDD"/>
              </a:solidFill>
              <a:custDash>
                <a:ds d="375000" sp="25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33488" y="3712845"/>
              <a:ext cx="12080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R1：冷启动 + 多阶段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238250" y="3981450"/>
              <a:ext cx="123825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50248" y="4178141"/>
              <a:ext cx="4142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基座 V3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476500" y="4229100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511742" y="41967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667000" y="3981450"/>
              <a:ext cx="123825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70364" y="4178141"/>
              <a:ext cx="8315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少量冷启动 SFT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905250" y="422910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4321492" y="41967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76750" y="3981450"/>
              <a:ext cx="123825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888748" y="4178141"/>
              <a:ext cx="4142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 RL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0" y="4229100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5750242" y="41967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905500" y="3981450"/>
              <a:ext cx="123825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75185" y="4178141"/>
              <a:ext cx="8988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拒绝采样+再 SFT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143750" y="4229100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7750492" y="41967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05750" y="3981450"/>
              <a:ext cx="1238250" cy="495300"/>
            </a:xfrm>
            <a:prstGeom prst="roundRect">
              <a:avLst>
                <a:gd name="adj" fmla="val 5769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59429" y="4178141"/>
              <a:ext cx="530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全场景 RL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144000" y="42291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9464992" y="41967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20250" y="3981450"/>
              <a:ext cx="1428750" cy="495300"/>
            </a:xfrm>
            <a:prstGeom prst="roundRect">
              <a:avLst>
                <a:gd name="adj" fmla="val 5769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62505" y="4178141"/>
              <a:ext cx="1442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33488" y="4863941"/>
              <a:ext cx="39969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意义：RL（GRPO+RLVR）可直接产出强推理；R1 蒸馏小模型、Phi-4 沿用蒸馏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33488" y="5092541"/>
              <a:ext cx="37096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 4 转向大规模 RLAIF（宪法 AI：AI 评委按章程排序，破人工瓶颈）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9" name="TextBox 49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35564" cy="738854"/>
            <a:chOff x="595122" y="501491"/>
            <a:chExt cx="513556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生产映射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355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生产模型后训练配方（2026）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配方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06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备注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56949"/>
              <a:ext cx="630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Llama 3/4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97556" y="2256949"/>
              <a:ext cx="13968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→ DPO → 迭代 DPO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00435" y="2256949"/>
              <a:ext cx="9063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Meta 技术报告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895124"/>
              <a:ext cx="471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Qwen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38313" y="2895124"/>
              <a:ext cx="15153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→ DPO（KTO 变体）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52864" y="28951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开源主力路线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523774"/>
              <a:ext cx="5435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Gemma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05587" y="3523774"/>
              <a:ext cx="1180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SFT → DPO / ORPO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2411" y="3523774"/>
              <a:ext cx="722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Google 开源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161949"/>
              <a:ext cx="823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DeepSeek-V3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19527" y="4161949"/>
              <a:ext cx="1152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SFT → DPO + GRPO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51371" y="4161949"/>
              <a:ext cx="804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推理用 GRPO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533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800124"/>
              <a:ext cx="823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DeepSeek-R1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9981" y="4800124"/>
              <a:ext cx="1132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重度 GRPO + RLVR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81673" y="4800124"/>
              <a:ext cx="943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纯 RL 路线代表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172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5428774"/>
              <a:ext cx="10063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o1/o3 · Claude4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77708" y="5428774"/>
              <a:ext cx="12365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RLVR+GRPO / RLAIF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84792" y="54287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闭源前沿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实践选型：要不要微调，微调什么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先问要不要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2074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提示 &lt; RAG &lt; 微调的适用边界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领域精度不足再微调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能用蒸馏就不自己训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方法选择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1603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QLoRA：90% 项目默认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9859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DoRA：要精度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1747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GaLore：全参等效小显存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035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共识栈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698081"/>
              <a:ext cx="1289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SFT → DPO/SimPO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945731"/>
              <a:ext cx="1604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GRPO/RLVR（推理）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4421434" cy="322707"/>
            <a:chOff x="601218" y="1898332"/>
            <a:chExt cx="442143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微调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92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SFT 数据工程 · LoRA/QLoRA · PEFT 族谱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4725162" cy="322707"/>
            <a:chOff x="601218" y="2431732"/>
            <a:chExt cx="472516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对齐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422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RLHF/PPO → DPO 族谱 → GRPO/DAPO → RLVR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8618" y="1898332"/>
            <a:ext cx="3658362" cy="322707"/>
            <a:chOff x="6468618" y="1898332"/>
            <a:chExt cx="365836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4686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前沿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0" y="1914525"/>
              <a:ext cx="316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R1 纯 RL · 蒸馏 · RLAIF · 混合栈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2431732"/>
            <a:ext cx="4671060" cy="322707"/>
            <a:chOff x="6468618" y="2431732"/>
            <a:chExt cx="4671060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2447925"/>
              <a:ext cx="4174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appscale · sivaro · callsphere 等 2026 综述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9249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模型训练、微调与对齐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inetune_k">
  <a:themeElements>
    <a:clrScheme name="finetune_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inetune_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inetune_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2026-09-01T05:16:47Z</dcterms:created>
  <dcterms:modified xsi:type="dcterms:W3CDTF">2026-09-01T05:16:47Z</dcterms:modified>
  <cp:category/>
  <cp:contentStatus/>
</cp:coreProperties>
</file>