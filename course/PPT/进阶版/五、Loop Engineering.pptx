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oopeng_v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oopeng_v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7311377" cy="1493996"/>
            <a:chOff x="895350" y="2295049"/>
            <a:chExt cx="7311377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731137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Loop Engineering 循环工程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让智能体自我迭代、自我修正的闭环工程学（2026）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1722882" cy="322707"/>
            <a:chOff x="601218" y="1898332"/>
            <a:chExt cx="172288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四代范式跃迁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062002" cy="322707"/>
            <a:chOff x="601218" y="2431732"/>
            <a:chExt cx="306200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565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Loop 解剖：五要素与 ORAE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837307" cy="322707"/>
            <a:chOff x="601218" y="2965132"/>
            <a:chExt cx="2837307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341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模式谱系：ReAct → LATS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530602" cy="322707"/>
            <a:chOff x="601218" y="3498532"/>
            <a:chExt cx="253060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验证器：怎么算做对了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2328672" cy="322707"/>
            <a:chOff x="6468618" y="1898332"/>
            <a:chExt cx="232867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停止条件与循环护栏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591181" cy="322707"/>
            <a:chOff x="6468618" y="2431732"/>
            <a:chExt cx="2591181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 · 场景 · 生产构件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126742" cy="322707"/>
            <a:chOff x="6468618" y="2965132"/>
            <a:chExt cx="212674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争议、风险与度量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1520952" cy="322707"/>
            <a:chOff x="6468618" y="3498532"/>
            <a:chExt cx="152095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97972" cy="738854"/>
            <a:chOff x="595122" y="501491"/>
            <a:chExt cx="659797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范式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9797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四代工程方法论：从 Prompt 到 Loop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代际 / 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363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795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关键产物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27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人的介入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418874"/>
              <a:ext cx="16263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① Prompt Eng. 2022–2024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25773" y="24188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我该对模型说什么？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07361" y="2418874"/>
              <a:ext cx="1520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角色 / 指令 / 格式 / 示例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46209" y="24188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逐句指挥，每轮都在场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952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371374"/>
              <a:ext cx="1964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Context Eng. 2025-06 入主流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59809" y="33713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我该让模型看见什么？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7361" y="3371374"/>
              <a:ext cx="1520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 / 记忆 / 压缩 / 隔离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12173" y="33713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每轮补充与裁剪信息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4323874"/>
              <a:ext cx="1524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③ Harness Eng. 2026-03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95572" y="4323874"/>
              <a:ext cx="16576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我该给 Agent 搭什么环境？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07361" y="4323874"/>
              <a:ext cx="1520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沙箱 / 权限 / 日志 / 调度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78137" y="432387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搭好后基本不介入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276374"/>
              <a:ext cx="15315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④ Loop Eng. 2026-06-07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95954" y="527637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我该设计什么循环让它自己跑？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1292" y="5276374"/>
              <a:ext cx="1632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目标 / 评估函数 / 停止条件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12173" y="52763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设计完完全退出回路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020740" cy="738854"/>
            <a:chOff x="595122" y="501491"/>
            <a:chExt cx="802074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解剖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0207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五大要素：目标 · 上下文 · 工具 · 评估 · 停止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909638" y="2047875"/>
            <a:ext cx="10291762" cy="3473291"/>
            <a:chOff x="909638" y="2047875"/>
            <a:chExt cx="10291762" cy="3473291"/>
          </a:xfrm>
        </p:grpSpPr>
        <p:sp>
          <p:nvSpPr>
            <p:cNvPr id="6" name="Rectangle 6"/>
            <p:cNvSpPr/>
            <p:nvPr/>
          </p:nvSpPr>
          <p:spPr>
            <a:xfrm>
              <a:off x="914400" y="2047875"/>
              <a:ext cx="1905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" y="2047875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0516" y="2286952"/>
              <a:ext cx="1050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明确目标 Goal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1088" y="26160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可验证的结果定义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1088" y="284464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测试通过率 72% → 95%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09900" y="2047875"/>
              <a:ext cx="1905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009900" y="2047875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76016" y="2286952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上下文管理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76588" y="261604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每轮动态更新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76588" y="2844641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保留 / 压缩 / 遗忘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05400" y="2047875"/>
              <a:ext cx="1905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05400" y="2047875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71516" y="2286952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可调用工具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72088" y="2616041"/>
              <a:ext cx="12750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测试 · 读写 · 检索 · API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2088" y="28446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权限边界 = 能力边界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00900" y="2047875"/>
              <a:ext cx="1905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00900" y="2047875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7016" y="2286952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产出评估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7588" y="26160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单测客观 / 打分主观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7588" y="28446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无评估则无法收敛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96400" y="2047875"/>
              <a:ext cx="1905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96400" y="2047875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62516" y="2286952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停止标准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3088" y="26160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达标退出 / 最大迭代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3088" y="2844641"/>
              <a:ext cx="11649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 Token 与质量平衡</a:t>
              </a:r>
            </a:p>
          </p:txBody>
        </p:sp>
        <p:sp>
          <p:nvSpPr>
            <p:cNvPr id="31" name="Polyline 31"/>
            <p:cNvSpPr/>
            <p:nvPr/>
          </p:nvSpPr>
          <p:spPr>
            <a:xfrm>
              <a:off x="1866900" y="3543300"/>
              <a:ext cx="8477250" cy="552450"/>
            </a:xfrm>
            <a:custGeom>
              <a:avLst/>
              <a:gdLst/>
              <a:ahLst/>
              <a:cxnLst/>
              <a:rect l="l" t="t" r="r" b="b"/>
              <a:pathLst>
                <a:path w="8477250" h="552450">
                  <a:moveTo>
                    <a:pt x="8477250" y="0"/>
                  </a:moveTo>
                  <a:lnTo>
                    <a:pt x="8477250" y="552450"/>
                  </a:lnTo>
                  <a:lnTo>
                    <a:pt x="0" y="55245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1834515" y="35433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373515" y="4295299"/>
              <a:ext cx="3444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不达标即回流：目标 → 执行 → 观察 → 评估 → 修正 → 再执行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9638" y="5102066"/>
              <a:ext cx="57516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与 while 循环的本质差异：传统循环执行确定性指令序列；Agent Loop 每次迭代的具体行动由模型依上下文自主决策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9638" y="5359241"/>
              <a:ext cx="58930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来源：Peter Steinberger（OpenClaw）2026-06-07 提出；中移智库归纳为触发 · 执行 · 校验 · 熔断 · 记忆五大模块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033981" cy="738854"/>
            <a:chOff x="595122" y="501491"/>
            <a:chExt cx="803398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0339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ORAE 循环：所有 agent 模式的最小公共骨架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328738" y="2381250"/>
            <a:ext cx="9849222" cy="3597116"/>
            <a:chOff x="1328738" y="2381250"/>
            <a:chExt cx="9849222" cy="3597116"/>
          </a:xfrm>
        </p:grpSpPr>
        <p:sp>
          <p:nvSpPr>
            <p:cNvPr id="6" name="Rectangle 6"/>
            <p:cNvSpPr/>
            <p:nvPr/>
          </p:nvSpPr>
          <p:spPr>
            <a:xfrm>
              <a:off x="1428750" y="2381250"/>
              <a:ext cx="19050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76426" y="2621756"/>
              <a:ext cx="10096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Observe 观察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71461" y="29208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工具返回 / 环境信号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00750" y="2381250"/>
              <a:ext cx="19050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07686" y="2621756"/>
              <a:ext cx="891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Reason 推理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96546" y="29208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比对目标，决定下一步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00750" y="4191000"/>
              <a:ext cx="19050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36648" y="4431506"/>
              <a:ext cx="633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Act 行动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3072" y="4730591"/>
              <a:ext cx="1240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有界动作：改码 / 调工具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28750" y="4191000"/>
              <a:ext cx="19050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8955" y="4431506"/>
              <a:ext cx="102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Evaluate 评估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1461" y="473059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打分 + 写清失败原因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381375" y="2809875"/>
              <a:ext cx="2486025" cy="9525"/>
            </a:xfrm>
            <a:custGeom>
              <a:avLst/>
              <a:gdLst/>
              <a:ahLst/>
              <a:cxnLst/>
              <a:rect l="l" t="t" r="r" b="b"/>
              <a:pathLst>
                <a:path w="2486025" h="9525">
                  <a:moveTo>
                    <a:pt x="0" y="0"/>
                  </a:moveTo>
                  <a:lnTo>
                    <a:pt x="2486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5874068" y="27774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6953250" y="3286125"/>
              <a:ext cx="9525" cy="771525"/>
            </a:xfrm>
            <a:custGeom>
              <a:avLst/>
              <a:gdLst/>
              <a:ahLst/>
              <a:cxnLst/>
              <a:rect l="l" t="t" r="r" b="b"/>
              <a:pathLst>
                <a:path w="9525" h="771525">
                  <a:moveTo>
                    <a:pt x="0" y="0"/>
                  </a:moveTo>
                  <a:lnTo>
                    <a:pt x="0" y="7715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920865" y="4064318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467100" y="4619625"/>
              <a:ext cx="2486025" cy="9525"/>
            </a:xfrm>
            <a:custGeom>
              <a:avLst/>
              <a:gdLst/>
              <a:ahLst/>
              <a:cxnLst/>
              <a:rect l="l" t="t" r="r" b="b"/>
              <a:pathLst>
                <a:path w="2486025" h="9525">
                  <a:moveTo>
                    <a:pt x="24860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3381375" y="45872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2381250" y="3371850"/>
              <a:ext cx="9525" cy="771525"/>
            </a:xfrm>
            <a:custGeom>
              <a:avLst/>
              <a:gdLst/>
              <a:ahLst/>
              <a:cxnLst/>
              <a:rect l="l" t="t" r="r" b="b"/>
              <a:pathLst>
                <a:path w="9525" h="771525">
                  <a:moveTo>
                    <a:pt x="0" y="771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348865" y="3286125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00500" y="3286125"/>
              <a:ext cx="1714500" cy="857250"/>
            </a:xfrm>
            <a:prstGeom prst="roundRect">
              <a:avLst>
                <a:gd name="adj" fmla="val 3333"/>
              </a:avLst>
            </a:prstGeom>
            <a:noFill/>
            <a:ln w="13335">
              <a:solidFill>
                <a:srgbClr val="999999"/>
              </a:solidFill>
              <a:custDash>
                <a:ds d="428571" sp="285714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05735" y="3495199"/>
              <a:ext cx="704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State 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4876" y="3759041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轨迹 · 记忆 · 工件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7016" y="39685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外置持久化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2488" y="239839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观察：外部信号优先于模型自述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2488" y="314134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推理：模型提议，运行时校验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2488" y="388429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行动：一次只做一个有界变更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2488" y="4627245"/>
              <a:ext cx="17178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评估：必须回答“为什么不合格”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2488" y="5408295"/>
              <a:ext cx="27054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无 ORAE 的 while 只是重复，有 ORAE 才会收敛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8738" y="5816441"/>
              <a:ext cx="42058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ORAE = Observe → Reason → Act → Evaluate：所有 agent 循环模式的最小公共骨架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330392" cy="738854"/>
            <a:chOff x="595122" y="501491"/>
            <a:chExt cx="53303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痛点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330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为什么需要 Loop：长流程失稳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短流程稳，长流程崩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单轮问答 / 单次生成已可稳定交付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多步骤长周期任务逻辑漏洞频发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执行偏差与模型状态漂移累积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前三层覆盖不到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807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Prompt 只管单次交互规范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010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Context 只管输入层信息补全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162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Harness 只管运行过程安全可控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缺的是末端闭环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结果校验 · 问题定位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自动重试 · 经验沉淀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否则人工反复核查，无法规模化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2706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循环工程不替代前三层，只在任务链路末端补上“自愈优化”环节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5052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来源：中移智库《循环工程：智能体工程体系的能力延伸》（2026）。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817455" cy="738854"/>
            <a:chOff x="595122" y="501491"/>
            <a:chExt cx="881745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层叠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81745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四层关系：Loop ⊃ Harness ⊃ Context ⊃ Prompt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138238" y="2000250"/>
            <a:ext cx="9910762" cy="3997166"/>
            <a:chOff x="1138238" y="2000250"/>
            <a:chExt cx="9910762" cy="3997166"/>
          </a:xfrm>
        </p:grpSpPr>
        <p:sp>
          <p:nvSpPr>
            <p:cNvPr id="6" name="Rectangle 6"/>
            <p:cNvSpPr/>
            <p:nvPr/>
          </p:nvSpPr>
          <p:spPr>
            <a:xfrm>
              <a:off x="1143000" y="2000250"/>
              <a:ext cx="9906000" cy="838200"/>
            </a:xfrm>
            <a:prstGeom prst="roundRect">
              <a:avLst>
                <a:gd name="adj" fmla="val 3409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43000" y="2000250"/>
              <a:ext cx="7620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2273" y="2186464"/>
              <a:ext cx="16353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④ Loop Engineering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3988" y="2512695"/>
              <a:ext cx="2012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我该设计什么循环让 Agent 自主跑？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0738" y="22350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关键产物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0738" y="2512695"/>
              <a:ext cx="17420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目标定义 / 评估函数 / 停止条件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43988" y="22350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人的介入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43988" y="25126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设计完完全退出回路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2952750"/>
              <a:ext cx="990600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43000" y="2952750"/>
              <a:ext cx="76200" cy="838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2273" y="3138964"/>
              <a:ext cx="1933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③ Harness Engineering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3988" y="3465195"/>
              <a:ext cx="1522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我该给 Agent 搭什么环境？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00738" y="31875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关键产物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00738" y="3465195"/>
              <a:ext cx="1396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沙箱 / 权限 / 日志 / 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43988" y="31875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人的介入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43988" y="34651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搭好后基本不介入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43000" y="3905250"/>
              <a:ext cx="990600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43000" y="3905250"/>
              <a:ext cx="76200" cy="838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22273" y="4091464"/>
              <a:ext cx="1933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② Context Engineering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3988" y="4417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我该让模型看见什么？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00738" y="41400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关键产物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00738" y="4417695"/>
              <a:ext cx="1396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 / 记忆 / 压缩 / 隔离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43988" y="41400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人的介入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43988" y="44176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每轮补充与裁剪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43000" y="4857750"/>
              <a:ext cx="990600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143000" y="4857750"/>
              <a:ext cx="76200" cy="838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22273" y="5043964"/>
              <a:ext cx="1870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① Prompt Engineering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23988" y="53701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我该对模型说什么？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00738" y="50925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关键产物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00738" y="5370195"/>
              <a:ext cx="1396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角色 / 指令 / 格式 / 示例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3988" y="50925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人的介入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3988" y="53701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逐句指挥，每轮在场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8238" y="5835491"/>
              <a:ext cx="53777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四者是层叠关系而非替代关系：Loop 运行在 Harness 之上，Harness 消费 Context，Context 承载 Prompt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30906" cy="738854"/>
            <a:chOff x="595122" y="501491"/>
            <a:chExt cx="66309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谱系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309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自修正模式谱系：批评来源 × 作用层级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38238" y="1977866"/>
            <a:ext cx="9486899" cy="4171950"/>
            <a:chOff x="1138238" y="1977866"/>
            <a:chExt cx="9486899" cy="4171950"/>
          </a:xfrm>
        </p:grpSpPr>
        <p:sp>
          <p:nvSpPr>
            <p:cNvPr id="6" name="Rectangle 6"/>
            <p:cNvSpPr/>
            <p:nvPr/>
          </p:nvSpPr>
          <p:spPr>
            <a:xfrm>
              <a:off x="1905000" y="2286000"/>
              <a:ext cx="3619500" cy="1333500"/>
            </a:xfrm>
            <a:prstGeom prst="roundRect">
              <a:avLst>
                <a:gd name="adj" fmla="val 214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905000" y="2286000"/>
              <a:ext cx="3619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89785" y="2545556"/>
              <a:ext cx="1262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ReAct + Verifier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0738" y="286369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步级：每个工具调用挂验证器门禁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90738" y="3092291"/>
              <a:ext cx="1759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开销 &lt;10%（小模型 / 确定性检查）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0738" y="332089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失效：错误只在整条轨迹才可见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286000"/>
              <a:ext cx="3619500" cy="1333500"/>
            </a:xfrm>
            <a:prstGeom prst="roundRect">
              <a:avLst>
                <a:gd name="adj" fmla="val 214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0" y="2286000"/>
              <a:ext cx="3619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52285" y="2545556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Self-Refine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53238" y="2863691"/>
              <a:ext cx="16984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步级：草稿 → 自评 → 重写，免训练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53238" y="3092291"/>
              <a:ext cx="1461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同一模型既写又判 → 自评盲区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53238" y="332089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失效：过度改写，跨轮摇摆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05000" y="4238625"/>
              <a:ext cx="3619500" cy="1333500"/>
            </a:xfrm>
            <a:prstGeom prst="roundRect">
              <a:avLst>
                <a:gd name="adj" fmla="val 214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905000" y="4238625"/>
              <a:ext cx="3619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89785" y="4498181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CRITIC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0738" y="4816316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轨迹：提交副作用前做外部比对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90738" y="5044916"/>
              <a:ext cx="1461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批评来自检索结果 / 代码执行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90738" y="5273516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失效：真值源缺失或本身有错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67500" y="4238625"/>
              <a:ext cx="3619500" cy="1333500"/>
            </a:xfrm>
            <a:prstGeom prst="roundRect">
              <a:avLst>
                <a:gd name="adj" fmla="val 2143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0" y="4238625"/>
              <a:ext cx="3619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2285" y="4498181"/>
              <a:ext cx="720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Reflexion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3238" y="4816316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轨迹：失败后写反思入记忆再跑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3238" y="5044916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只更新上下文，不更新权重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3238" y="5273516"/>
              <a:ext cx="1461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失效：不可重置 / 反思也幻觉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762125" y="3924300"/>
              <a:ext cx="8858250" cy="9525"/>
            </a:xfrm>
            <a:custGeom>
              <a:avLst/>
              <a:gdLst/>
              <a:ahLst/>
              <a:cxnLst/>
              <a:rect l="l" t="t" r="r" b="b"/>
              <a:pathLst>
                <a:path w="8858250" h="9525">
                  <a:moveTo>
                    <a:pt x="0" y="0"/>
                  </a:moveTo>
                  <a:lnTo>
                    <a:pt x="8858250" y="0"/>
                  </a:lnTo>
                </a:path>
              </a:pathLst>
            </a:custGeom>
            <a:noFill/>
            <a:ln w="11430">
              <a:solidFill>
                <a:srgbClr val="CCCCCC"/>
              </a:solidFill>
              <a:custDash>
                <a:ds d="583333" sp="416667"/>
              </a:custDash>
            </a:ln>
          </p:spPr>
        </p:sp>
        <p:sp>
          <p:nvSpPr>
            <p:cNvPr id="31" name="Line 31"/>
            <p:cNvSpPr/>
            <p:nvPr/>
          </p:nvSpPr>
          <p:spPr>
            <a:xfrm>
              <a:off x="6191250" y="2143125"/>
              <a:ext cx="9525" cy="3571875"/>
            </a:xfrm>
            <a:custGeom>
              <a:avLst/>
              <a:gdLst/>
              <a:ahLst/>
              <a:cxnLst/>
              <a:rect l="l" t="t" r="r" b="b"/>
              <a:pathLst>
                <a:path w="9525" h="3571875">
                  <a:moveTo>
                    <a:pt x="0" y="0"/>
                  </a:moveTo>
                  <a:lnTo>
                    <a:pt x="0" y="3571875"/>
                  </a:lnTo>
                </a:path>
              </a:pathLst>
            </a:custGeom>
            <a:noFill/>
            <a:ln w="11430">
              <a:solidFill>
                <a:srgbClr val="CCCCCC"/>
              </a:solidFill>
              <a:custDash>
                <a:ds d="583333" sp="416667"/>
              </a:custDash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57362" y="3739991"/>
              <a:ext cx="1588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外部信号（工具 / 检索 / 执行）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1728" y="37399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模型自评（自我批评）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28376" y="1977866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单步级 step-level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4839" y="5692616"/>
              <a:ext cx="13728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整条轨迹 trajectory-level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8238" y="5987891"/>
              <a:ext cx="58261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LATS（ICML 2024）：MCTS 统一 ReAct + ToT + Reflexion，同一模型兼任行动者、价值函数与反思模块，成本极高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五种模式横向对比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53662" y="17535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给循环新增了什么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08888" y="17535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批评从哪来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3" y="17535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 / 失效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323624"/>
              <a:ext cx="1052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ReAct + Verifier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59809" y="23236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每步挂一个验证器门禁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68973" y="23236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工具返回的外部观察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72459" y="2323624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可客观判定 / 抓不到轨迹语义错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085624"/>
              <a:ext cx="7503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Self-Refine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17987" y="3085624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一次「批评 → 重写」内循环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34937" y="3085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同一模型自评草稿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6495" y="3085624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单输出精修 / 自评盲区、过度改写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3847624"/>
              <a:ext cx="4002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CRITIC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93845" y="38476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提交副作用前做外部比对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9078" y="384762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检索结果 · 代码执行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38423" y="3847624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事实幻觉 / 真值源缺失或也错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609624"/>
              <a:ext cx="6006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Reflexion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29990" y="46096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写反思入记忆，下轮带上下文重跑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71081" y="46096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模型对自身失败的书面总结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38423" y="4609624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可重置可重试 / 不可重置任务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847" y="5371624"/>
              <a:ext cx="929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LATS（MCTS）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44237" y="5371624"/>
              <a:ext cx="2160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树搜索统一行动者 + 价值函数 + 反思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00900" y="53716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多路径采样评分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36314" y="5371624"/>
              <a:ext cx="134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高价值探索 / 成本极高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21663" cy="738854"/>
            <a:chOff x="595122" y="501491"/>
            <a:chExt cx="632166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步级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216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ReAct + Verifier：每一步都有门禁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138238" y="2381250"/>
            <a:ext cx="9434512" cy="3235166"/>
            <a:chOff x="1138238" y="2381250"/>
            <a:chExt cx="9434512" cy="3235166"/>
          </a:xfrm>
        </p:grpSpPr>
        <p:sp>
          <p:nvSpPr>
            <p:cNvPr id="6" name="Rectangle 6"/>
            <p:cNvSpPr/>
            <p:nvPr/>
          </p:nvSpPr>
          <p:spPr>
            <a:xfrm>
              <a:off x="1143000" y="2381250"/>
              <a:ext cx="14287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29666" y="2580799"/>
              <a:ext cx="855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Thought 思考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76642" y="284464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决定下一步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619375" y="276225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016568" y="27298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43250" y="2381250"/>
              <a:ext cx="14287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85283" y="2580799"/>
              <a:ext cx="744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Action 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66503" y="28446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选择工具与参数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619625" y="276225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5016818" y="2729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143500" y="2381250"/>
              <a:ext cx="14287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61083" y="2580799"/>
              <a:ext cx="593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Tool 工具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1947" y="284464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真实环境执行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619875" y="276225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7017068" y="2729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43750" y="2381250"/>
              <a:ext cx="14287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81970" y="2580799"/>
              <a:ext cx="11523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Observation 观察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1809" y="28446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工具返回外部信号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620125" y="276225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017318" y="2729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44000" y="2381250"/>
              <a:ext cx="1428750" cy="762000"/>
            </a:xfrm>
            <a:prstGeom prst="roundRect">
              <a:avLst>
                <a:gd name="adj" fmla="val 3750"/>
              </a:avLst>
            </a:prstGeom>
            <a:solidFill>
              <a:srgbClr val="E30613"/>
            </a:solidFill>
            <a:ln w="11430">
              <a:solidFill>
                <a:srgbClr val="99999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27602" y="2580799"/>
              <a:ext cx="861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Verifier 验证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14168" y="2844641"/>
              <a:ext cx="6884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通过 / 不通过</a:t>
              </a:r>
            </a:p>
          </p:txBody>
        </p:sp>
        <p:sp>
          <p:nvSpPr>
            <p:cNvPr id="29" name="Polyline 29"/>
            <p:cNvSpPr/>
            <p:nvPr/>
          </p:nvSpPr>
          <p:spPr>
            <a:xfrm>
              <a:off x="1857375" y="3162300"/>
              <a:ext cx="8001000" cy="647700"/>
            </a:xfrm>
            <a:custGeom>
              <a:avLst/>
              <a:gdLst/>
              <a:ahLst/>
              <a:cxnLst/>
              <a:rect l="l" t="t" r="r" b="b"/>
              <a:pathLst>
                <a:path w="8001000" h="647700">
                  <a:moveTo>
                    <a:pt x="8001000" y="0"/>
                  </a:moveTo>
                  <a:lnTo>
                    <a:pt x="8001000" y="647700"/>
                  </a:lnTo>
                  <a:lnTo>
                    <a:pt x="0" y="64770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1824990" y="31623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1" name="Polyline 31"/>
            <p:cNvSpPr/>
            <p:nvPr/>
          </p:nvSpPr>
          <p:spPr>
            <a:xfrm>
              <a:off x="3857625" y="3162300"/>
              <a:ext cx="6000750" cy="1314450"/>
            </a:xfrm>
            <a:custGeom>
              <a:avLst/>
              <a:gdLst/>
              <a:ahLst/>
              <a:cxnLst/>
              <a:rect l="l" t="t" r="r" b="b"/>
              <a:pathLst>
                <a:path w="6000750" h="1314450">
                  <a:moveTo>
                    <a:pt x="6000750" y="0"/>
                  </a:moveTo>
                  <a:lnTo>
                    <a:pt x="6000750" y="1314450"/>
                  </a:lnTo>
                  <a:lnTo>
                    <a:pt x="0" y="131445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3825240" y="31623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85782" y="3617595"/>
              <a:ext cx="15441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通过 → 进入下一轮 Thought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06421" y="4284345"/>
              <a:ext cx="23031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不通过 → Repair Thought，重新发起动作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8238" y="4959191"/>
              <a:ext cx="51205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 升级点：每个工具调用都挂一个验证器（编译通过？lint 干净？schema 匹配？），失败即就地重试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8238" y="5206841"/>
              <a:ext cx="53470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适用：工具输出可客观判定的场景；失效：错误只在整条轨迹层面才可见的语义错误（需交给 Reflexion 层）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8238" y="5454491"/>
              <a:ext cx="5116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成本：ReAct 相对直接提问约 200–300% token 开销；验证器用小模型或确定性检查时可压到 10% 以内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010195" cy="738854"/>
            <a:chOff x="595122" y="501491"/>
            <a:chExt cx="80101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轨迹级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0101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Reflexion：把失败写成记忆，下一轮带着重跑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138238" y="2476500"/>
            <a:ext cx="9529762" cy="3501866"/>
            <a:chOff x="1138238" y="2476500"/>
            <a:chExt cx="9529762" cy="3501866"/>
          </a:xfrm>
        </p:grpSpPr>
        <p:sp>
          <p:nvSpPr>
            <p:cNvPr id="6" name="Rectangle 6"/>
            <p:cNvSpPr/>
            <p:nvPr/>
          </p:nvSpPr>
          <p:spPr>
            <a:xfrm>
              <a:off x="1143000" y="2476500"/>
              <a:ext cx="18097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22549" y="2687002"/>
              <a:ext cx="850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尝试 ① Run 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95259" y="2977991"/>
              <a:ext cx="5052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 FAIL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714750" y="2476500"/>
              <a:ext cx="18097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31589" y="2687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自我反思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83697" y="29779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写下失败原因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476500"/>
              <a:ext cx="1809750" cy="762000"/>
            </a:xfrm>
            <a:prstGeom prst="roundRect">
              <a:avLst>
                <a:gd name="adj" fmla="val 3750"/>
              </a:avLst>
            </a:prstGeom>
            <a:solidFill>
              <a:srgbClr val="E30613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03339" y="2687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情节记忆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47052" y="2977991"/>
              <a:ext cx="8886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Episodic Memory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858250" y="2476500"/>
              <a:ext cx="18097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7799" y="2687002"/>
              <a:ext cx="850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尝试 ② Run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72003" y="29779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带反思重新执行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971800" y="28575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597592" y="2825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5543550" y="28575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169342" y="2825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8115300" y="28575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8741092" y="2825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67250" y="4095750"/>
              <a:ext cx="28575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5240">
              <a:solidFill>
                <a:srgbClr val="1A1A1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25262" y="4230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评估：达标了吗？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04878" y="45019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外部验证器优先</a:t>
              </a:r>
            </a:p>
          </p:txBody>
        </p:sp>
        <p:sp>
          <p:nvSpPr>
            <p:cNvPr id="27" name="Polyline 27"/>
            <p:cNvSpPr/>
            <p:nvPr/>
          </p:nvSpPr>
          <p:spPr>
            <a:xfrm>
              <a:off x="7572375" y="3257550"/>
              <a:ext cx="2190750" cy="1171575"/>
            </a:xfrm>
            <a:custGeom>
              <a:avLst/>
              <a:gdLst/>
              <a:ahLst/>
              <a:cxnLst/>
              <a:rect l="l" t="t" r="r" b="b"/>
              <a:pathLst>
                <a:path w="2190750" h="1171575">
                  <a:moveTo>
                    <a:pt x="2190750" y="0"/>
                  </a:moveTo>
                  <a:lnTo>
                    <a:pt x="2190750" y="1171575"/>
                  </a:lnTo>
                  <a:lnTo>
                    <a:pt x="0" y="117157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7572375" y="4396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43000" y="4095750"/>
              <a:ext cx="1714500" cy="666750"/>
            </a:xfrm>
            <a:prstGeom prst="roundRect">
              <a:avLst>
                <a:gd name="adj" fmla="val 4286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63416" y="4230052"/>
              <a:ext cx="6736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Done 输出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74711" y="45019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成功退出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2990850" y="4429125"/>
              <a:ext cx="1628775" cy="9525"/>
            </a:xfrm>
            <a:custGeom>
              <a:avLst/>
              <a:gdLst/>
              <a:ahLst/>
              <a:cxnLst/>
              <a:rect l="l" t="t" r="r" b="b"/>
              <a:pathLst>
                <a:path w="1628775" h="9525">
                  <a:moveTo>
                    <a:pt x="16287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2905125" y="4396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0" y="32385"/>
                  </a:moveTo>
                  <a:lnTo>
                    <a:pt x="79058" y="0"/>
                  </a:lnTo>
                  <a:lnTo>
                    <a:pt x="79058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Polyline 34"/>
            <p:cNvSpPr/>
            <p:nvPr/>
          </p:nvSpPr>
          <p:spPr>
            <a:xfrm>
              <a:off x="4619625" y="3257550"/>
              <a:ext cx="1476375" cy="1933575"/>
            </a:xfrm>
            <a:custGeom>
              <a:avLst/>
              <a:gdLst/>
              <a:ahLst/>
              <a:cxnLst/>
              <a:rect l="l" t="t" r="r" b="b"/>
              <a:pathLst>
                <a:path w="1476375" h="1933575">
                  <a:moveTo>
                    <a:pt x="1476375" y="1524000"/>
                  </a:moveTo>
                  <a:lnTo>
                    <a:pt x="1476375" y="1933575"/>
                  </a:lnTo>
                  <a:lnTo>
                    <a:pt x="0" y="193357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4587240" y="32575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82937" y="5016341"/>
              <a:ext cx="10259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未达标 → 再反思一轮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8238" y="5587841"/>
              <a:ext cx="5122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Reflexion：Shinn et al., NeurIPS 2023 —— 用自然语言反馈替代标量奖励，只更新上下文、不更新权重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8238" y="5816441"/>
              <a:ext cx="55260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HumanEval pass@1 91% vs GPT-4 80%（+11 分，零微调）；不适用：不可重置的任务、反思本身会幻觉的场景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黄金法则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验证器设计三原则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外部锚点优先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能跑的测试 &gt; 模型自述的“已完成”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363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lint / schema / diff / 单测退出码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生成器与验证器必须分离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294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要说“为什么”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只回 fail → 重试 = 盲掷骰子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回「退款窗口 30 天 vs 政策 14 天」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修正才有抓手，分数无法指导重写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裁判也要被校准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自评天然偏乐观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多裁判集成 + rubric + 校准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裁判幻觉会“修好”本来对的答案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78371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同一个模型既写又判 = 狐狸看鸡舍：第一次看不见的错，复查时通常还是看不见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4769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来源：Future AGI《Self-Correcting Agent Loops》（2026）。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318629" cy="738854"/>
            <a:chOff x="595122" y="501491"/>
            <a:chExt cx="731862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3186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验证器四层谱系：从确定性检查到人类审查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619250" y="2000250"/>
            <a:ext cx="8953500" cy="3901916"/>
            <a:chOff x="1619250" y="2000250"/>
            <a:chExt cx="8953500" cy="3901916"/>
          </a:xfrm>
        </p:grpSpPr>
        <p:sp>
          <p:nvSpPr>
            <p:cNvPr id="6" name="Rectangle 6"/>
            <p:cNvSpPr/>
            <p:nvPr/>
          </p:nvSpPr>
          <p:spPr>
            <a:xfrm>
              <a:off x="4667250" y="2000250"/>
              <a:ext cx="285750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05766" y="2191702"/>
              <a:ext cx="1180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L4 人类审查 HITL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33460" y="2463641"/>
              <a:ext cx="27250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高价值 · 主观 · 高风险动作（付款 / 法务 / 生产发布）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24250" y="2876550"/>
              <a:ext cx="514350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53682" y="3068002"/>
              <a:ext cx="1884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L3 模型裁判 LLM-as-Judge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32810" y="3339941"/>
              <a:ext cx="25263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生成者 ≠ 裁判者；rubric 打分 + 多裁判集成 + 校准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476500" y="3752850"/>
              <a:ext cx="723900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07512" y="3944302"/>
              <a:ext cx="976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L2 程序化断言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12191" y="4216241"/>
              <a:ext cx="21676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diff 变更范围 / 字段完整性 / 前后状态比对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19250" y="4629150"/>
              <a:ext cx="8953500" cy="762000"/>
            </a:xfrm>
            <a:prstGeom prst="roundRect">
              <a:avLst>
                <a:gd name="adj" fmla="val 3750"/>
              </a:avLst>
            </a:prstGeom>
            <a:solidFill>
              <a:srgbClr val="E30613"/>
            </a:solidFill>
            <a:ln w="11430">
              <a:solidFill>
                <a:srgbClr val="9999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07512" y="4820602"/>
              <a:ext cx="976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确定性检查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6870" y="5092541"/>
              <a:ext cx="29182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测试退出码 / lint / schema / 编译 —— 最可靠，近乎零成本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2130" y="5503545"/>
              <a:ext cx="40077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黄金法则：优先确定性检查；必须用模型当裁判时，裁判必须与生成者分离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06848" y="5740241"/>
              <a:ext cx="47783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失败信号要“说为什么”：只回 fail 等于让重试变成盲掷骰子，回「30 天 vs 政策 14 天」才有抓手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1" name="TextBox 21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护栏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六类停止条件：互不替代的六道闸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42988" y="2000250"/>
            <a:ext cx="10406062" cy="3825716"/>
            <a:chOff x="1042988" y="2000250"/>
            <a:chExt cx="10406062" cy="3825716"/>
          </a:xfrm>
        </p:grpSpPr>
        <p:sp>
          <p:nvSpPr>
            <p:cNvPr id="6" name="Rectangle 6"/>
            <p:cNvSpPr/>
            <p:nvPr/>
          </p:nvSpPr>
          <p:spPr>
            <a:xfrm>
              <a:off x="1047750" y="2000250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002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2916" y="2229802"/>
              <a:ext cx="1028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步数上限 steps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3488" y="25398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最粗也最可靠的一道闸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3488" y="27684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查找类 5 步 · 编码类 40 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3488" y="299704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常触顶说明问题不在上限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629150" y="2000250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29150" y="20002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14316" y="2229802"/>
              <a:ext cx="12868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Token 预算 tokens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14888" y="25398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累计输入 + 输出总量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14888" y="2768441"/>
              <a:ext cx="13452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拦截“步数少但上下文巨大”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14888" y="2997041"/>
              <a:ext cx="14149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 步 × 200K 窗口并不便宜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210550" y="2000250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10550" y="20002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5716" y="2229802"/>
              <a:ext cx="947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成本上限 cost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96288" y="25398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换模型也不失效的约束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96288" y="27684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唯一财务能看懂的口径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96288" y="299704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应在调用前拦截而非事后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47750" y="3714750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47750" y="37147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2916" y="3944302"/>
              <a:ext cx="1318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墙钟超时 wall clock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3488" y="42543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兜住单次工具挂起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33488" y="448294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与步数 / 成本完全正交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33488" y="4711541"/>
              <a:ext cx="13010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便宜、步数少却卡 20 分钟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629150" y="3714750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29150" y="37147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14316" y="3944302"/>
              <a:ext cx="1340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无进展 no progress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14888" y="4254341"/>
              <a:ext cx="960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连续 K 步无新信息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14888" y="4482941"/>
              <a:ext cx="12348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唯一能抓住“振荡”的条件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14888" y="47115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预算类条件只能事后才发现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10550" y="3714750"/>
              <a:ext cx="3238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10550" y="37147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5716" y="3944302"/>
              <a:ext cx="1036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显式完成 finish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96288" y="4254341"/>
              <a:ext cx="11244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唯一代表“成功”的出口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96288" y="4482941"/>
              <a:ext cx="12348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其余五种都代表“被停止”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96288" y="4711541"/>
              <a:ext cx="13452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finish 动作本身也要被校验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2988" y="5435441"/>
              <a:ext cx="50542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六者互不替代：一次跑完全可以步数少、很便宜，却卡在某个调用上二十分钟 —— 少一道闸就少抓一类病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2988" y="5664041"/>
              <a:ext cx="49880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停止原因必须命名：success / max_steps / no_progress / budget_exhausted —— “停了”不可调试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工程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预算对象与命名化的退出原因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074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Budget 六维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604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max_steps · max_tokens · max_usd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828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max_seconds · max_stall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325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max_no_change（无新信息步数）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500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StopReason 命名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307431"/>
              <a:ext cx="2627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success / max_steps / no_progress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5550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repeated_action / tool_failure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802731"/>
              <a:ext cx="2845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budget_exhausted / user_input_requir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3050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调用时机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431256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check() 在每次模型调用之前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678906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charge() 在调用之后计入用量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926556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guard_call() 在派发工具前查重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8" name="Rectangle 28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018" y="4050982"/>
              <a:ext cx="81681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查找类 5 步、编码类 40 步；25 步 / 40 万 token / 2 美元 / 600 秒是常见默认值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304" y="4947285"/>
              <a:ext cx="44210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来源：Multigrid《Agent Stopping Conditions》（2026）。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085963" cy="738854"/>
            <a:chOff x="595122" y="501491"/>
            <a:chExt cx="808596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0859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循环检测与自适应控制：停、换策略、还是上报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428750" y="1815941"/>
            <a:ext cx="10048875" cy="3971925"/>
            <a:chOff x="1428750" y="1815941"/>
            <a:chExt cx="10048875" cy="3971925"/>
          </a:xfrm>
        </p:grpSpPr>
        <p:sp>
          <p:nvSpPr>
            <p:cNvPr id="6" name="Rectangle 6"/>
            <p:cNvSpPr/>
            <p:nvPr/>
          </p:nvSpPr>
          <p:spPr>
            <a:xfrm>
              <a:off x="1905000" y="200025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537934" y="2256949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act 行动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905000" y="299085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85557" y="3247549"/>
              <a:ext cx="848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observe 观察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05000" y="398145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3335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39777" y="4238149"/>
              <a:ext cx="11401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measure 度量进展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809875" y="259080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777490" y="2873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809875" y="358140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777490" y="38642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2809875" y="457200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777490" y="48548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05000" y="497205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74127" y="5220652"/>
              <a:ext cx="871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productive?</a:t>
              </a:r>
            </a:p>
          </p:txBody>
        </p:sp>
        <p:sp>
          <p:nvSpPr>
            <p:cNvPr id="20" name="Polyline 20"/>
            <p:cNvSpPr/>
            <p:nvPr/>
          </p:nvSpPr>
          <p:spPr>
            <a:xfrm>
              <a:off x="1428750" y="2286000"/>
              <a:ext cx="476250" cy="2971800"/>
            </a:xfrm>
            <a:custGeom>
              <a:avLst/>
              <a:gdLst/>
              <a:ahLst/>
              <a:cxnLst/>
              <a:rect l="l" t="t" r="r" b="b"/>
              <a:pathLst>
                <a:path w="476250" h="2971800">
                  <a:moveTo>
                    <a:pt x="476250" y="2971800"/>
                  </a:moveTo>
                  <a:lnTo>
                    <a:pt x="0" y="2971800"/>
                  </a:lnTo>
                  <a:lnTo>
                    <a:pt x="0" y="0"/>
                  </a:lnTo>
                  <a:lnTo>
                    <a:pt x="476250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1825942" y="22536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38288" y="1815941"/>
              <a:ext cx="805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是 → 继续下一轮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714750" y="52578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4762500" y="31432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21145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0" y="2857500"/>
              <a:ext cx="285750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19547" y="3018949"/>
              <a:ext cx="1015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stop 停止并报告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19738" y="3244691"/>
              <a:ext cx="1240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保存最佳结果 + 命名原因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0" y="3810000"/>
              <a:ext cx="285750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19547" y="3971449"/>
              <a:ext cx="1555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换策略 change strategy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19738" y="4197191"/>
              <a:ext cx="12624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replan / 换工具 / 换模型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0" y="4762500"/>
              <a:ext cx="285750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19547" y="4923949"/>
              <a:ext cx="11540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escalate 上报人类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19738" y="514969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带完整执行轨迹移交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762500" y="314325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5216842" y="3110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762500" y="409575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5216842" y="4063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4762500" y="504825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5216842" y="5015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24875" y="2762250"/>
              <a:ext cx="2952750" cy="2762250"/>
            </a:xfrm>
            <a:prstGeom prst="roundRect">
              <a:avLst>
                <a:gd name="adj" fmla="val 1034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24875" y="2762250"/>
              <a:ext cx="29527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10422" y="29998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恢复路径也要有预算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10612" y="3320891"/>
              <a:ext cx="9367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MAX_REPLANS =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10612" y="3568541"/>
              <a:ext cx="12750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MAX_TOOL_RETRIES = 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10612" y="3816191"/>
              <a:ext cx="14149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MAX_CRITIQUE_PASSES =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10612" y="40638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嵌套循环必须嵌套设上限：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10612" y="4311491"/>
              <a:ext cx="1350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否则「主循环卡住 → 重规划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10612" y="4559141"/>
              <a:ext cx="14280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又卡住」本身就是新死循环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00238" y="5625941"/>
              <a:ext cx="36427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三类病征：振荡（改 A → 测挂 → 回退 → 又改 A）· 乐观重试 · 目标漂移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1" name="TextBox 51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持久化记忆：长循环的脊梁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为什么必须外置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模型在两次运行之间什么都不记得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无外部状态 = 每次迭代都从失忆开始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状态是让长循环能续跑的脊梁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存什么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每轮执行轨迹与校验报错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迭代调整策略与最终产出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成功 / 失败模式的场景经验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怎么存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2325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work-log：跑完追加、开跑前先读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markdown 文件 / 看板 / 数据库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工件按引用传递，不整块重贴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5732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最便宜的可靠性升级：一份 agent 每轮追加、先读后跑的工作日志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5622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来源：AI Builder Club《AI Agent Reliability and Cost Control》（2026）。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四大规模化落地场景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2000250"/>
            <a:chOff x="609600" y="1619250"/>
            <a:chExt cx="52578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自动化研发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02706"/>
              <a:ext cx="329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代码编写 · Bug 自检自修 · 用例补全 · 存量重构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503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循环自检代码逻辑、运行报错与安全漏洞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2000250"/>
            <a:chOff x="6324600" y="1619250"/>
            <a:chExt cx="52578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235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 RAG 问答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60270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校验准确性、证据匹配度、话术合规性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85035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识别信息缺失 / 跑偏 → 补素材、改话术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5257800" cy="2000250"/>
            <a:chOff x="609600" y="3810000"/>
            <a:chExt cx="52578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9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40833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数据处理流水线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485" y="479345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清洗 / 报表生成 / 文档规整等重复工作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485" y="50411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校验完整性与统计逻辑，自动修补脏数据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3810000"/>
            <a:ext cx="5257800" cy="2000250"/>
            <a:chOff x="6324600" y="3810000"/>
            <a:chExt cx="52578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324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6342" y="40833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自动化智能运维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7485" y="479345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日志解析 · 故障自查 · 异常告警处置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7485" y="5041106"/>
              <a:ext cx="23936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复核修复效果，减少 7×24 人工值守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96573" cy="738854"/>
            <a:chOff x="595122" y="501491"/>
            <a:chExt cx="389657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组装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965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生产级 Loop 的五构件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770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Automations 自动化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789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定时发现与分诊，循环自己找活干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1" name="Rectangle 11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03242" y="1892618"/>
              <a:ext cx="1974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Worktrees 隔离工作区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4385" y="2678906"/>
              <a:ext cx="2325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 agent 并行不撞车，扇出才安全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75142" y="1892618"/>
              <a:ext cx="1296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Skills 项目知识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6285" y="2678906"/>
              <a:ext cx="2466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SKILL.md 沉淀，免每轮重推上下文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018" y="4050982"/>
              <a:ext cx="6188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第六块默默承重：持久化状态 —— 没有它，每一轮都从失忆开始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4947285"/>
              <a:ext cx="4564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来源：Addy Osmani 现场笔记；Build Fast with AI（2026）。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批判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争议、风险与工程对策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争议 / 风险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55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工程对策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323624"/>
              <a:ext cx="817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无限烧 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34070" y="2323624"/>
              <a:ext cx="21238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缺停止条件的 Loop 会真陷入死循环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9190" y="23236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停止条件内置预算约束，六类并行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085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旧概念换新词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91633" y="3085624"/>
              <a:ext cx="2008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ReAct / MCTS 早已实现类似机制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7262" y="30856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贡献在统一心智模型，让工程师可操作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847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自评偏乐观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69662" y="38476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同一模型既生成又评判，循环自信地错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90982" y="3847624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生成/验证分离；无外部信号时收紧重试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09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过度改写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01590" y="46096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把本来正确的答案改坏，跨轮摇摆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63542" y="4609624"/>
              <a:ext cx="2180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裁判预算上限 + accept-on-timeout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371624"/>
              <a:ext cx="1711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理解债 comprehension debt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99481" y="53716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产出速度超过团队理解速度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46363" y="5371624"/>
              <a:ext cx="24144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强制日志与轨迹可观测；关键节点 HITL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31150" cy="738854"/>
            <a:chOff x="595122" y="501491"/>
            <a:chExt cx="623115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度量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3115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三个指标评估一个 Loop 的设计质量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收敛速度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平均多少轮达到目标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37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LOOPSBENCH：112 任务 / 8 语言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最强配置仅解出 25%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969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Token 效率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达成目标消耗的 token 总数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每次调用约 8K 输入 + 2K 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 步失控循环 = 天价账单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鲁棒性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异常输入下优雅退出而非死循环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26844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LinkedIn 自进化客服：QA 自助 +9.0pp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路由准确率 +30.6pp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570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LOOPSBENCH：112 任务 / 8 语言，最强 setup 仅 25% 解出率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2663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来源：Analytics Insight（2026）。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587858" cy="322707"/>
            <a:chOff x="601218" y="1898332"/>
            <a:chExt cx="3587858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091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Loop = 用系统替代你逐句 prompt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429191" cy="322707"/>
            <a:chOff x="601218" y="2431732"/>
            <a:chExt cx="342919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解剖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933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触发 · 目标 · 验证器 · 停止规则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768400" cy="322707"/>
            <a:chOff x="601218" y="2965132"/>
            <a:chExt cx="3768400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3272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ReAct / CRITIC / Reflexion / LATS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898332"/>
            <a:ext cx="3570542" cy="322707"/>
            <a:chOff x="6468618" y="1898332"/>
            <a:chExt cx="357054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护栏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191452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六类停止条件 + 命名化的退出原因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31732"/>
            <a:ext cx="3338322" cy="322707"/>
            <a:chOff x="6468618" y="2431732"/>
            <a:chExt cx="333832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记忆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24479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外置状态是长循环能续跑的脊梁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65132"/>
            <a:ext cx="4126001" cy="322707"/>
            <a:chOff x="6468618" y="2965132"/>
            <a:chExt cx="4126001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65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981325"/>
              <a:ext cx="36299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Steinberger · 中移智库 · Multigrid 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7519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Loop Engineering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oopeng_v3">
  <a:themeElements>
    <a:clrScheme name="loopeng_v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oopeng_v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oopeng_v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2026-09-01T05:15:06Z</dcterms:created>
  <dcterms:modified xsi:type="dcterms:W3CDTF">2026-09-01T05:15:06Z</dcterms:modified>
  <cp:category/>
  <cp:contentStatus/>
</cp:coreProperties>
</file>