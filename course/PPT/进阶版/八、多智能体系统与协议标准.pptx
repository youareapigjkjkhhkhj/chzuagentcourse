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tiagent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ultiagent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7393912" cy="1760696"/>
            <a:chOff x="895350" y="2295049"/>
            <a:chExt cx="7393912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2575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7382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当 10,000+ 个 MCP server 遇上 100+ 个 A2A agent：互操作分层与治理收敛（2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550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026）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934462" cy="322707"/>
            <a:chOff x="601218" y="1898332"/>
            <a:chExt cx="293446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多智能体：为什么需要协议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612898" cy="322707"/>
            <a:chOff x="601218" y="2431732"/>
            <a:chExt cx="2612898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116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MCP：工具层事实标准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826258" cy="322707"/>
            <a:chOff x="601218" y="2965132"/>
            <a:chExt cx="2826258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330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深度：MRTR 与治理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783586" cy="322707"/>
            <a:chOff x="601218" y="3498532"/>
            <a:chExt cx="2783586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287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A2A：智能体水平互操作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2207514" cy="322707"/>
            <a:chOff x="6468618" y="1898332"/>
            <a:chExt cx="2207514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ACP 与协议演进史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708910" cy="322707"/>
            <a:chOff x="6468618" y="2431732"/>
            <a:chExt cx="2708910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2128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AGNTCY：身份与发现层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334387" cy="322707"/>
            <a:chOff x="6468618" y="2965132"/>
            <a:chExt cx="2334387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838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WebMCP：浏览器层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2732532" cy="322707"/>
            <a:chOff x="6468618" y="3498532"/>
            <a:chExt cx="273253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全景：重叠、收敛与选型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四层互操作栈：每个协议各管一段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7750" y="1952625"/>
            <a:ext cx="10096500" cy="4073366"/>
            <a:chOff x="1047750" y="1952625"/>
            <a:chExt cx="10096500" cy="4073366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800100"/>
            </a:xfrm>
            <a:prstGeom prst="roundRect">
              <a:avLst>
                <a:gd name="adj" fmla="val 3571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57150" cy="800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27785" y="2135981"/>
              <a:ext cx="1434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WebMCP · 浏览器层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8738" y="2407920"/>
              <a:ext cx="25780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网页声明结构化能力 · 浏览器桥接暴露给 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8738" y="2595562"/>
              <a:ext cx="94381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Chrome + Edge 团队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82125" y="2238375"/>
              <a:ext cx="1524000" cy="285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65396" y="2339816"/>
              <a:ext cx="757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治理：W3C CG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810875" y="28765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0778490" y="28003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7750" y="2943225"/>
              <a:ext cx="10096500" cy="800100"/>
            </a:xfrm>
            <a:prstGeom prst="roundRect">
              <a:avLst>
                <a:gd name="adj" fmla="val 3571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7750" y="2943225"/>
              <a:ext cx="57150" cy="800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27785" y="3126581"/>
              <a:ext cx="17116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AGNTCY · 身份与发现层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8738" y="3398520"/>
              <a:ext cx="1848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ID · 集中目录 · SLIM 消息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8738" y="3586162"/>
              <a:ext cx="49964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Cisco 牵头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82125" y="3228975"/>
              <a:ext cx="1524000" cy="285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79668" y="3330416"/>
              <a:ext cx="9289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治理：OASF / LF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810875" y="38671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778490" y="37909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47750" y="3933825"/>
              <a:ext cx="10096500" cy="800100"/>
            </a:xfrm>
            <a:prstGeom prst="roundRect">
              <a:avLst>
                <a:gd name="adj" fmla="val 3571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47750" y="3933825"/>
              <a:ext cx="57150" cy="800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27785" y="4117181"/>
              <a:ext cx="1435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A2A · 智能体水平层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8738" y="4389120"/>
              <a:ext cx="21206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Card 发现 · Task 生命周期协作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8738" y="4576762"/>
              <a:ext cx="5547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Google 发起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382125" y="4219575"/>
              <a:ext cx="1524000" cy="285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77567" y="4321016"/>
              <a:ext cx="9331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治理：Linux Fdn.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0810875" y="48577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10778490" y="47815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47750" y="4924425"/>
              <a:ext cx="10096500" cy="800100"/>
            </a:xfrm>
            <a:prstGeom prst="roundRect">
              <a:avLst>
                <a:gd name="adj" fmla="val 3571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47750" y="4924425"/>
              <a:ext cx="57150" cy="800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27785" y="5107781"/>
              <a:ext cx="1309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· 工具垂直层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8738" y="5379720"/>
              <a:ext cx="18450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10,000+ servers · 统一工具接入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8738" y="5567362"/>
              <a:ext cx="7207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Anthropic 发起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382125" y="5210175"/>
              <a:ext cx="1524000" cy="285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45000" y="5311616"/>
              <a:ext cx="5982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治理：AAIF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75377" y="5864066"/>
              <a:ext cx="46412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管「够得着」· A2A 管「聊得来」· AGNTCY 管「认得出」· WebMCP 管「浏览器里」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挑战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多智能体系统的五个关键挑战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通信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消息格式与错误语义不统一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8753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 的 JSON 不是 B 的 JSON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协议先解决怎么说话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协调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78881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谁规划 · 谁执行 · 谁汇报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7265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循环如何收敛不失控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74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任务怎么拆与怎么合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身份与信任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78881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对面的 agent 是谁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7265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属于哪个组织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74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能力声明能否被验证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发现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4669631"/>
              <a:ext cx="1828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怎么找到能干这活的 agent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9172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按能力而非品牌检索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1649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目录与名片的可移植性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03242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4385" y="46696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权限委派跨系统如何成立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9172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审计链完整可追溯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5164931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恶意 agent 如何隔离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1" name="Rectangle 41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75142" y="4083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协议的作用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6285" y="46696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共同语言 + 共同语义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6285" y="49172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分层各管一段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51649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治理保证长期稳定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359597" cy="738854"/>
            <a:chOff x="595122" y="501491"/>
            <a:chExt cx="835959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时间线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35959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生态与版本演进（2024-11 → 2026-09）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68426" y="3188018"/>
            <a:ext cx="10539348" cy="1247393"/>
            <a:chOff x="868426" y="3188018"/>
            <a:chExt cx="10539348" cy="124739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7406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2024-11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426" y="4020502"/>
              <a:ext cx="100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Anthropic 发布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6361" y="4230052"/>
              <a:ext cx="630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诞生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6480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1703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45764" y="4020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生态爆发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63062" y="4230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10,000+ servers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0102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21806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73293" y="4020502"/>
              <a:ext cx="6454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AAIF 成立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7128" y="4230052"/>
              <a:ext cx="1157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LF directed fund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3724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26576" y="3188018"/>
              <a:ext cx="1063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2026-07-28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58138" y="40205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无状态协议核心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4127" y="4230052"/>
              <a:ext cx="1168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SEP-2575 / 2567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46206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90387" y="4020502"/>
              <a:ext cx="66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Tier1 SDK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33027" y="4230052"/>
              <a:ext cx="11747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TS / Py 各 10 亿+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28" name="Rectangle 28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638" y="6017895"/>
              <a:ext cx="44964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来源：MCP 官方规范与发布博客（2026-07-28 版）；AAIF 公告（2026-03）。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555195" cy="738854"/>
            <a:chOff x="595122" y="501491"/>
            <a:chExt cx="85551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无状态化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5551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2026-07-28：从有状态握手到无状态核心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047750" y="1905000"/>
            <a:ext cx="10096500" cy="3848100"/>
            <a:chOff x="1047750" y="1905000"/>
            <a:chExt cx="10096500" cy="384810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4953000" cy="3143250"/>
            </a:xfrm>
            <a:prstGeom prst="roundRect">
              <a:avLst>
                <a:gd name="adj" fmla="val 90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05000"/>
              <a:ext cx="49530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37758" y="2039302"/>
              <a:ext cx="2172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旧 · 有状态（2025-11-25 规范）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619250" y="2571750"/>
              <a:ext cx="3810000" cy="4572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13355" y="2666524"/>
              <a:ext cx="1021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initialize 握手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30914" y="2881312"/>
              <a:ext cx="118667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Client → Server 协商版本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524250" y="30289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491865" y="30451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619250" y="3162300"/>
              <a:ext cx="3810000" cy="4572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75261" y="3257074"/>
              <a:ext cx="10979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initialized 确认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71681" y="3471862"/>
              <a:ext cx="11051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Server 回执 · 会话建立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524250" y="36195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491865" y="3635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19250" y="3752850"/>
              <a:ext cx="3810000" cy="4572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96569" y="3847624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能力协商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06719" y="4062412"/>
              <a:ext cx="163506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tools / prompts / resources 列表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4305300"/>
              <a:ext cx="438150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  <a:custDash>
                <a:ds d="500000" sp="30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54158" y="4398645"/>
              <a:ext cx="1740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Mcp-Session-Id 贯穿每次请求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05160" y="4605338"/>
              <a:ext cx="14381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服务端维护会话 · 连接中断即丢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48878" y="4902041"/>
              <a:ext cx="1350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水平扩展难 · 网关要粘会话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91250" y="1905000"/>
              <a:ext cx="4953000" cy="3143250"/>
            </a:xfrm>
            <a:prstGeom prst="roundRect">
              <a:avLst>
                <a:gd name="adj" fmla="val 909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91250" y="1905000"/>
              <a:ext cx="4953000" cy="400050"/>
            </a:xfrm>
            <a:prstGeom prst="roundRect">
              <a:avLst>
                <a:gd name="adj" fmla="val 7143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81258" y="2039302"/>
              <a:ext cx="2172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 · 无状态（2026-07-28 规范）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62750" y="2571750"/>
              <a:ext cx="3810000" cy="4572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08142" y="2666524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直接发起请求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50590" y="2881312"/>
              <a:ext cx="10343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无需握手 · 无需预协商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667750" y="30289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8635365" y="30451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62750" y="3162300"/>
              <a:ext cx="3810000" cy="4572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80931" y="3257074"/>
              <a:ext cx="9736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每请求 _meta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91570" y="3471862"/>
              <a:ext cx="13523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协议版本 · 客户端信息 · 能力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667750" y="36195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635365" y="3635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62750" y="3752850"/>
              <a:ext cx="3810000" cy="4572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49828" y="3847624"/>
              <a:ext cx="1235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③ server/discover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30991" y="4062412"/>
              <a:ext cx="147351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可选能力发现 · handle 显式句柄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4305300"/>
              <a:ext cx="4381500" cy="45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  <a:custDash>
                <a:ds d="416667" sp="250000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96344" y="4398645"/>
              <a:ext cx="13428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无会话 ID · 请求自包含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07680" y="4605338"/>
              <a:ext cx="1120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任意节点可处理任意请求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45463" y="490204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天然适合水平扩展与网关路由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47750" y="52578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468649" y="5381149"/>
              <a:ext cx="52547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SEP-2575：移除 initialize / initialized 握手　·　SEP-2567：移除 Mcp-Session-Id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82561" y="5587841"/>
              <a:ext cx="28268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GitHub 官方仓库同日适配 · 移除 Redis session storage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0" name="TextBox 50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83823" cy="738854"/>
            <a:chOff x="595122" y="501491"/>
            <a:chExt cx="428382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新特性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838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2026-07-28 新特性全景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768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MRTR（SEP-2322）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2056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resultType 为 inputRequired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一次调用可多轮取输入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工具调用从一次性变可对话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2323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Header 路由（SEP-2243）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78881"/>
              <a:ext cx="2111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每请求带 Mcp-Method / Name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7265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服务端拒绝头体不一致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74181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网关无需解析 body 即可路由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2195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缓存化 list（SEP-2549）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78881"/>
              <a:ext cx="1431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ttlMs + cacheScope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726531"/>
              <a:ext cx="16589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仿 HTTP Cache-Control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74181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高频 list 调用成本大降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083368"/>
              <a:ext cx="1768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W3C Trace Context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4669631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链路追踪在 _meta 传播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9172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跨系统可观测成默认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1649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审计链完整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032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授权加固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4385" y="4669631"/>
              <a:ext cx="1516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RFC 9207 issuer 校验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917281"/>
              <a:ext cx="1238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 DCR 转向 CIMD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51649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客户端元数据文档化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1" name="Rectangle 41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75142" y="4083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正式扩展框架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6285" y="4669631"/>
              <a:ext cx="1758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MCP Apps / Tasks / EMA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6285" y="4917281"/>
              <a:ext cx="1950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Roots · Sampling · Logging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5164931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进入 12 个月弃用期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04364" cy="738854"/>
            <a:chOff x="595122" y="501491"/>
            <a:chExt cx="510436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96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 · MRTR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043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MRTR：一次调用，多轮对话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047750" y="1857375"/>
            <a:ext cx="10096500" cy="3511391"/>
            <a:chOff x="1047750" y="1857375"/>
            <a:chExt cx="10096500" cy="3511391"/>
          </a:xfrm>
        </p:grpSpPr>
        <p:sp>
          <p:nvSpPr>
            <p:cNvPr id="6" name="Rectangle 6"/>
            <p:cNvSpPr/>
            <p:nvPr/>
          </p:nvSpPr>
          <p:spPr>
            <a:xfrm>
              <a:off x="1047750" y="1857375"/>
              <a:ext cx="409575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71359" y="2001202"/>
              <a:ext cx="1648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Client / Host（调用方）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048500" y="1857375"/>
              <a:ext cx="409575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76426" y="2001202"/>
              <a:ext cx="839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 Server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143250" y="2381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1430">
              <a:solidFill>
                <a:srgbClr val="DDDDDD"/>
              </a:solidFill>
              <a:custDash>
                <a:ds d="416667" sp="333333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9048750" y="2381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1430">
              <a:solidFill>
                <a:srgbClr val="DDDDDD"/>
              </a:solidFill>
              <a:custDash>
                <a:ds d="416667" sp="333333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3143250" y="2552700"/>
              <a:ext cx="5781675" cy="9525"/>
            </a:xfrm>
            <a:custGeom>
              <a:avLst/>
              <a:gdLst/>
              <a:ahLst/>
              <a:cxnLst/>
              <a:rect l="l" t="t" r="r" b="b"/>
              <a:pathLst>
                <a:path w="5781675" h="9525">
                  <a:moveTo>
                    <a:pt x="0" y="0"/>
                  </a:moveTo>
                  <a:lnTo>
                    <a:pt x="578167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8931592" y="25203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25626" y="2360295"/>
              <a:ext cx="1340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tools/call（原始请求）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267075" y="2914650"/>
              <a:ext cx="5781675" cy="9525"/>
            </a:xfrm>
            <a:custGeom>
              <a:avLst/>
              <a:gdLst/>
              <a:ahLst/>
              <a:cxnLst/>
              <a:rect l="l" t="t" r="r" b="b"/>
              <a:pathLst>
                <a:path w="5781675" h="9525">
                  <a:moveTo>
                    <a:pt x="578167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181350" y="28822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81856" y="2722245"/>
              <a:ext cx="20282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inputRequired + inputRequests[]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143000" y="3200400"/>
              <a:ext cx="400050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87442" y="3379470"/>
              <a:ext cx="21116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收集输入：子 agent · 用户 · 上游系统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143250" y="3886200"/>
              <a:ext cx="5781675" cy="9525"/>
            </a:xfrm>
            <a:custGeom>
              <a:avLst/>
              <a:gdLst/>
              <a:ahLst/>
              <a:cxnLst/>
              <a:rect l="l" t="t" r="r" b="b"/>
              <a:pathLst>
                <a:path w="5781675" h="9525">
                  <a:moveTo>
                    <a:pt x="0" y="0"/>
                  </a:moveTo>
                  <a:lnTo>
                    <a:pt x="578167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31592" y="38538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31751" y="3693795"/>
              <a:ext cx="33284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重发原调用 + inputResponses（携带同一 requestState）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267075" y="4248150"/>
              <a:ext cx="5781675" cy="9525"/>
            </a:xfrm>
            <a:custGeom>
              <a:avLst/>
              <a:gdLst/>
              <a:ahLst/>
              <a:cxnLst/>
              <a:rect l="l" t="t" r="r" b="b"/>
              <a:pathLst>
                <a:path w="5781675" h="9525">
                  <a:moveTo>
                    <a:pt x="578167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3181350" y="42157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48921" y="4055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最终结果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953000" y="4629150"/>
              <a:ext cx="2286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  <a:custDash>
                <a:ds d="416667" sp="250000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6813" y="4770120"/>
              <a:ext cx="13783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requestState 贯穿多轮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10416" y="5206841"/>
              <a:ext cx="41711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无状态核心下，多轮上下文全部由请求携带 —— 工具调用从「一次性」变成「可对话」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64585" cy="738854"/>
            <a:chOff x="595122" y="501491"/>
            <a:chExt cx="746458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扩展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645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正式扩展框架：Apps · Tasks · EMA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47750" y="1952625"/>
            <a:ext cx="10096500" cy="3739991"/>
            <a:chOff x="1047750" y="1952625"/>
            <a:chExt cx="10096500" cy="3739991"/>
          </a:xfrm>
        </p:grpSpPr>
        <p:sp>
          <p:nvSpPr>
            <p:cNvPr id="6" name="Rectangle 6"/>
            <p:cNvSpPr/>
            <p:nvPr/>
          </p:nvSpPr>
          <p:spPr>
            <a:xfrm>
              <a:off x="4191000" y="1952625"/>
              <a:ext cx="38100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364629" y="2105978"/>
              <a:ext cx="1462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EMA · 扩展 MCP 活动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70795" y="2368391"/>
              <a:ext cx="22504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社区提案 → 评估 → 转正（官方扩展治理框架）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2638425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63615" y="3016568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667250" y="3143250"/>
              <a:ext cx="28575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 w="15240">
              <a:solidFill>
                <a:srgbClr val="E3061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34817" y="3326606"/>
              <a:ext cx="722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MCP Core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27853" y="3617595"/>
              <a:ext cx="11362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 · 资源 · 提示词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88342" y="3824288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三类核心原语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3143250"/>
              <a:ext cx="285750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37914" y="3296602"/>
              <a:ext cx="677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 Apps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7267" y="3568541"/>
              <a:ext cx="1498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沙箱 iframe 内渲染的 UI 组件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14871" y="3767138"/>
              <a:ext cx="92325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agent 调用即带界面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905250" y="3581400"/>
              <a:ext cx="638175" cy="9525"/>
            </a:xfrm>
            <a:custGeom>
              <a:avLst/>
              <a:gdLst/>
              <a:ahLst/>
              <a:cxnLst/>
              <a:rect l="l" t="t" r="r" b="b"/>
              <a:pathLst>
                <a:path w="638175" h="9525">
                  <a:moveTo>
                    <a:pt x="0" y="0"/>
                  </a:moveTo>
                  <a:lnTo>
                    <a:pt x="63817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550092" y="35490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286750" y="3143250"/>
              <a:ext cx="285750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03780" y="329660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Tasks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4378" y="35685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长任务生命周期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90768" y="3767138"/>
              <a:ext cx="104946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异步 · 可恢复 · 可取消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562850" y="3581400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169592" y="35490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47750" y="4476750"/>
              <a:ext cx="1009650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49951" y="4638199"/>
              <a:ext cx="3492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12 个月弃用政策：Roots · Sampling · Logging 正式弃用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92115" y="4863941"/>
              <a:ext cx="36077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需要新能力先进 EMA，成熟后再进入正式规范 —— 扩展不改变核心原语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40487" y="5530691"/>
              <a:ext cx="39110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MCP 从「协议」扩展为「平台」：核心原语 + 官方扩展 + 弃用节奏三位一体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971315" cy="738854"/>
            <a:chOff x="595122" y="501491"/>
            <a:chExt cx="397131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治理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97131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AAIF 治理与 SDK 生态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181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AAIF = LF directed fund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043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Anthropic · OpenAI · Google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964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Microsoft · Block 白金成员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跨竞争厂商共治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324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Tier1 SDK 四套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2184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TypeScript / Python / Go / C#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官方同步跟进新规范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同一天适配无状态化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规模数据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2013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TS 与 Python 各超 10 亿下载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月度合计近 5 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845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GitHub 移除 Redis session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5522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最重要的事实：所有主要协议 12 个月内都已进入基金会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40023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治理收敛先于技术收敛 —— 协议稳定性从此有制度保障。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260717" cy="738854"/>
            <a:chOff x="595122" y="501491"/>
            <a:chExt cx="72607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365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 · A2A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2607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A2A：Agent Card 名片与 Task 生命周期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042988" y="1905000"/>
            <a:ext cx="10101262" cy="3882866"/>
            <a:chOff x="1042988" y="1905000"/>
            <a:chExt cx="10101262" cy="388286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49530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82782" y="2018824"/>
              <a:ext cx="24829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Card：机器可读名片（发现机制）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2495550"/>
              <a:ext cx="219075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60111" y="2637949"/>
              <a:ext cx="9565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· 服务方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13643" y="2871788"/>
              <a:ext cx="104946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声明能力 · 技能 · 端点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371850" y="2790825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635692" y="27584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37572" y="262413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发布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52850" y="2495550"/>
              <a:ext cx="209550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11430">
              <a:solidFill>
                <a:srgbClr val="E3061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96155" y="2637949"/>
              <a:ext cx="1608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Agent Card（JSON-LD）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5868" y="2871788"/>
              <a:ext cx="104946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能力描述 · 端点 · 技能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3790950"/>
              <a:ext cx="219075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60111" y="3933349"/>
              <a:ext cx="9565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· 调用方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6263" y="4167188"/>
              <a:ext cx="102422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按能力检索目标 agent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371850" y="4086225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635692" y="40538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37572" y="391953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读取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52850" y="3790950"/>
              <a:ext cx="209550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31792" y="39333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定向调用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90095" y="4167188"/>
              <a:ext cx="12210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 Agent Card 声明的端点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848225" y="3086100"/>
              <a:ext cx="9525" cy="581025"/>
            </a:xfrm>
            <a:custGeom>
              <a:avLst/>
              <a:gdLst/>
              <a:ahLst/>
              <a:cxnLst/>
              <a:rect l="l" t="t" r="r" b="b"/>
              <a:pathLst>
                <a:path w="9525" h="581025">
                  <a:moveTo>
                    <a:pt x="0" y="0"/>
                  </a:moveTo>
                  <a:lnTo>
                    <a:pt x="0" y="581025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4815840" y="36737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19662" y="33670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发现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988" y="4673441"/>
              <a:ext cx="2548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先看名片再说话：能力声明可签名、可验证、可缓存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91250" y="1905000"/>
              <a:ext cx="49530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05935" y="2018824"/>
              <a:ext cx="35236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Task 生命周期（task/new → task/get → task/cancel）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2686050"/>
              <a:ext cx="112395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4138" y="2895124"/>
              <a:ext cx="688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submitted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0" y="2686050"/>
              <a:ext cx="112395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13826" y="2895124"/>
              <a:ext cx="536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working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953500" y="2686050"/>
              <a:ext cx="150495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61638" y="2895124"/>
              <a:ext cx="688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completed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410450" y="2962275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7502842" y="29298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8743950" y="2962275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8836342" y="29298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3771900"/>
              <a:ext cx="2019300" cy="55245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3410" y="3979545"/>
              <a:ext cx="925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input-required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38010" y="41862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向调用方要输入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324850" y="3238500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3335">
              <a:solidFill>
                <a:srgbClr val="E30613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292465" y="36547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15338" y="34242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需要输入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915400" y="3362325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447675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8883015" y="32766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86838" y="35004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补参完成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953500" y="3771900"/>
              <a:ext cx="1504950" cy="55245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85988" y="3979545"/>
              <a:ext cx="103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failed / canceled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49765" y="418623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终止态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705975" y="3238500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9673590" y="36547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91250" y="4667250"/>
              <a:ext cx="49530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96370" y="4809649"/>
              <a:ext cx="3942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v1.0（2026-03）：gRPC 传输 · 签名 Agent Card · 多租户隔离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86488" y="5625941"/>
              <a:ext cx="2691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取结果方式：轮询（task/get）或推送（streaming）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0" name="TextBox 60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005429" cy="738854"/>
            <a:chOff x="595122" y="501491"/>
            <a:chExt cx="400542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生态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0054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A2A 生态与 v1.0 要点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出身与治理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457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Google 2025-04 推出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062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2025-06 捐 Linux Foundation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9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100+ 厂商背靠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952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v1.0 三新（2026-03）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2133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gRPC 传输（低延迟企业场景）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927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签名 Agent Card（防伪造）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多租户（一卡多身份）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275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与 MCP 的分工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150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MCP 管工具接入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742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A2A 管 agent 间委托协作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互补不互斥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363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Card 就是 agent 的名片：机器可读、可签名、可被发现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41132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来源：Google A2A 发布 / A2A v1.0 说明（2026-03）。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90508" cy="738854"/>
            <a:chOff x="595122" y="501491"/>
            <a:chExt cx="519050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365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 · ACP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905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ACP：一个被合并的协议样本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47750" y="2428875"/>
            <a:ext cx="10096500" cy="2447925"/>
            <a:chOff x="1047750" y="2428875"/>
            <a:chExt cx="10096500" cy="2447925"/>
          </a:xfrm>
        </p:grpSpPr>
        <p:sp>
          <p:nvSpPr>
            <p:cNvPr id="6" name="Rectangle 6"/>
            <p:cNvSpPr/>
            <p:nvPr/>
          </p:nvSpPr>
          <p:spPr>
            <a:xfrm>
              <a:off x="1047750" y="2428875"/>
              <a:ext cx="2857500" cy="13335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44285" y="2637949"/>
              <a:ext cx="10644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2025 · ACP 发布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49888" y="2920841"/>
              <a:ext cx="14532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IBM · BeeAI · IBM Research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2668" y="3149441"/>
              <a:ext cx="7676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REST 原生消息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5378" y="33780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面向浏览器环境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8342" y="3614738"/>
              <a:ext cx="996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对标 A2A 的另一方案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943350" y="3095625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226242" y="30632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09174" y="292084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并入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43400" y="2428875"/>
              <a:ext cx="3143250" cy="1333500"/>
            </a:xfrm>
            <a:prstGeom prst="roundRect">
              <a:avLst>
                <a:gd name="adj" fmla="val 2143"/>
              </a:avLst>
            </a:prstGeom>
            <a:solidFill>
              <a:srgbClr val="F5F5F5"/>
            </a:solidFill>
            <a:ln w="15240">
              <a:solidFill>
                <a:srgbClr val="E3061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2059" y="2637949"/>
              <a:ext cx="13059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2025-09 · 并入 A2A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68709" y="29208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宣布不再独立演进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94847" y="3149441"/>
              <a:ext cx="1240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仓库归档 · 提供迁移指南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9097" y="337804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并入而非并存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6402" y="3614738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双核格局自此确立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524750" y="3095625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7807642" y="30632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924800" y="2428875"/>
              <a:ext cx="3219450" cy="13335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33689" y="2637949"/>
              <a:ext cx="10016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· 历史定位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67432" y="29208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标准未定时押注单点有风险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8209" y="31494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协议生态赢家通吃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2626" y="337804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跟随基金会治理下的主流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23972" y="3614738"/>
              <a:ext cx="12211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对并行方案保持可迁移设计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" y="4191000"/>
              <a:ext cx="10096500" cy="685800"/>
            </a:xfrm>
            <a:prstGeom prst="roundRect">
              <a:avLst>
                <a:gd name="adj" fmla="val 4167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10024" y="4371499"/>
              <a:ext cx="3571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教训：接入互操作生态时，优先跟随基金会治理下的主流协议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80111" y="4635341"/>
              <a:ext cx="42317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2025 年还存在的 ACP 与 A2A 之争，2026 年已是单一选择 —— 标准收敛比想象中快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30852" cy="738854"/>
            <a:chOff x="595122" y="501491"/>
            <a:chExt cx="743085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3085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五大协议演进全景（2024-11 → 2026-09）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118997" y="2005012"/>
            <a:ext cx="10030015" cy="4278154"/>
            <a:chOff x="1118997" y="2005012"/>
            <a:chExt cx="10030015" cy="4278154"/>
          </a:xfrm>
        </p:grpSpPr>
        <p:sp>
          <p:nvSpPr>
            <p:cNvPr id="6" name="TextBox 6"/>
            <p:cNvSpPr txBox="1"/>
            <p:nvPr/>
          </p:nvSpPr>
          <p:spPr>
            <a:xfrm>
              <a:off x="1118997" y="2275999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952625" y="2276475"/>
              <a:ext cx="9191625" cy="152400"/>
            </a:xfrm>
            <a:prstGeom prst="roundRect">
              <a:avLst>
                <a:gd name="adj" fmla="val 50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905000" y="23050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46898" y="2005012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发布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591550" y="23050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28668" y="2005012"/>
              <a:ext cx="21755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AAIF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0306050" y="2305050"/>
              <a:ext cx="95250" cy="952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43735" y="20050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无状态化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8997" y="2999899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A2A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38600" y="3000375"/>
              <a:ext cx="7105650" cy="152400"/>
            </a:xfrm>
            <a:prstGeom prst="roundRect">
              <a:avLst>
                <a:gd name="adj" fmla="val 50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990975" y="30289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35903" y="2728912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发布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4829175" y="30289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44454" y="2728912"/>
              <a:ext cx="2655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捐 LF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591550" y="30289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21619" y="2728912"/>
              <a:ext cx="23164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v1.0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8997" y="3723799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ACP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876800" y="3724275"/>
              <a:ext cx="1257300" cy="152400"/>
            </a:xfrm>
            <a:prstGeom prst="roundRect">
              <a:avLst>
                <a:gd name="adj" fmla="val 50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29175" y="37528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71505" y="3452812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发布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086475" y="3752850"/>
              <a:ext cx="95250" cy="952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980" y="3452812"/>
              <a:ext cx="4413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并入 A2A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8997" y="4447699"/>
              <a:ext cx="492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AGNTCY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19500" y="4448175"/>
              <a:ext cx="7524750" cy="152400"/>
            </a:xfrm>
            <a:prstGeom prst="roundRect">
              <a:avLst>
                <a:gd name="adj" fmla="val 50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571875" y="44767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18102" y="4176712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创立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248275" y="44767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62256" y="4176712"/>
              <a:ext cx="2655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捐 LF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8997" y="5171599"/>
              <a:ext cx="5417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WebMCP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130636" y="5248275"/>
              <a:ext cx="5013614" cy="9525"/>
            </a:xfrm>
            <a:custGeom>
              <a:avLst/>
              <a:gdLst/>
              <a:ahLst/>
              <a:cxnLst/>
              <a:rect l="l" t="t" r="r" b="b"/>
              <a:pathLst>
                <a:path w="5013614" h="9525">
                  <a:moveTo>
                    <a:pt x="0" y="0"/>
                  </a:moveTo>
                  <a:lnTo>
                    <a:pt x="5013614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  <a:custDash>
                <a:ds d="300000" sp="200000"/>
              </a:custDash>
            </a:ln>
          </p:spPr>
        </p:sp>
        <p:sp>
          <p:nvSpPr>
            <p:cNvPr id="36" name="Ellipse 36"/>
            <p:cNvSpPr/>
            <p:nvPr/>
          </p:nvSpPr>
          <p:spPr>
            <a:xfrm>
              <a:off x="6086475" y="5200650"/>
              <a:ext cx="95250" cy="9525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29837" y="4900612"/>
              <a:ext cx="60159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W3C CG 草稿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952625" y="5810250"/>
              <a:ext cx="9191625" cy="9525"/>
            </a:xfrm>
            <a:custGeom>
              <a:avLst/>
              <a:gdLst/>
              <a:ahLst/>
              <a:cxnLst/>
              <a:rect l="l" t="t" r="r" b="b"/>
              <a:pathLst>
                <a:path w="9191625" h="9525">
                  <a:moveTo>
                    <a:pt x="0" y="0"/>
                  </a:moveTo>
                  <a:lnTo>
                    <a:pt x="9191625" y="0"/>
                  </a:lnTo>
                </a:path>
              </a:pathLst>
            </a:custGeom>
            <a:noFill/>
            <a:ln w="13335">
              <a:solidFill>
                <a:srgbClr val="DDDDDD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47862" y="59388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2024-11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78113" y="59388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2025-06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02721" y="59388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09528" y="59388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50772" y="59388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47862" y="6121241"/>
              <a:ext cx="4490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治理收敛：MCP → AAIF · A2A / AGNTCY → Linux Foundation · WebMCP → W3C（草稿中）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82068" cy="738854"/>
            <a:chOff x="595122" y="501491"/>
            <a:chExt cx="508206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025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 · AGNTCY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820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AGNTCY：身份与发现四件套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47750" y="1905000"/>
            <a:ext cx="10096500" cy="3943350"/>
            <a:chOff x="1047750" y="1905000"/>
            <a:chExt cx="10096500" cy="394335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83957" y="2058352"/>
              <a:ext cx="2824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AGNTCY · OASF —— agent 的身份与发现层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9919" y="2292191"/>
              <a:ext cx="57321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Cisco 牵头（LangChain · LlamaIndex · OpenAI · Microsoft 等）· 2025-03 创立 · 2025-07 捐 Linux Foundation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276225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47750" y="2762250"/>
              <a:ext cx="57150" cy="14478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28166" y="3010852"/>
              <a:ext cx="826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SLIM 消息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8738" y="33699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极简消息协议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8738" y="3617595"/>
              <a:ext cx="9376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可承载 A2A 载荷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8738" y="38652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身份层不越界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91250" y="276225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2762250"/>
              <a:ext cx="57150" cy="14478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71666" y="3010852"/>
              <a:ext cx="1297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② Agent Directory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2238" y="3369945"/>
              <a:ext cx="12392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集中目录 · 按能力检索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2238" y="3617595"/>
              <a:ext cx="12271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世界的「黄页」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2238" y="38652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发现不依赖品牌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7750" y="440055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47750" y="4400550"/>
              <a:ext cx="57150" cy="14478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28166" y="4649152"/>
              <a:ext cx="732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③ Agent 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8738" y="5008245"/>
              <a:ext cx="12392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全局唯一 · 可验证身份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8738" y="52558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授权与审计的根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8738" y="55035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跨厂商身份互认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440055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91250" y="4400550"/>
              <a:ext cx="57150" cy="14478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71666" y="4649152"/>
              <a:ext cx="1591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Observability 可观测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2238" y="50082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谁调用了谁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2238" y="52558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审计链完整可追溯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238" y="55035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跨系统追踪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79163" cy="738854"/>
            <a:chOff x="595122" y="501491"/>
            <a:chExt cx="627916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96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 · OASF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791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OASF 深度：agent 世界的「DNS」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06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ID 是根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全局唯一 · 可验证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授权与审计的前提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跨厂商身份互认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522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Directory 是黄页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7888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集中目录 · 按能力检索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7265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不靠品牌靠能力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741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发现可移植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083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SLIM 是信封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788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极简消息协议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7265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载荷协议可插拔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74181"/>
              <a:ext cx="132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支持承载 A2A 载荷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083368"/>
              <a:ext cx="1883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Observability 是征信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46696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谁调用了谁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9172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审计链完整可追溯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1649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跨系统追踪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03242" y="4083368"/>
              <a:ext cx="1648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与 MCP / A2A 分层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4385" y="46696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身份层不越界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9172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业务语义留给上层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51649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协作而非竞争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1" name="Rectangle 41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75142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6285" y="4669631"/>
              <a:ext cx="1726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Cisco 牵头 2025-03 创立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6285" y="4917281"/>
              <a:ext cx="2062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2025-07 捐 Linux Foundation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5164931"/>
              <a:ext cx="1416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· MS 等参与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51586" cy="738854"/>
            <a:chOff x="595122" y="501491"/>
            <a:chExt cx="645158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347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 · WebMCP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5158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WebMCP：把网页变成 agent 的能力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47750" y="1905000"/>
            <a:ext cx="10096500" cy="3752850"/>
            <a:chOff x="1047750" y="1905000"/>
            <a:chExt cx="10096500" cy="375285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16142" y="2047399"/>
              <a:ext cx="4559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W3C Community Group 草稿（2025–2026）· 由 Chrome + Edge 团队提出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762250"/>
              <a:ext cx="30480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762250"/>
              <a:ext cx="3048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49961" y="3087052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网页端声明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6499" y="3446145"/>
              <a:ext cx="14305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WebMCP 文件 / JSON-LD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2934" y="37318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结构化声明能力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64182" y="40176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操作 · 输入 · 端点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95750" y="371475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359592" y="3682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2000" y="2762250"/>
              <a:ext cx="30480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0" y="2762250"/>
              <a:ext cx="3048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4211" y="3087052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浏览器桥接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69400" y="3446145"/>
              <a:ext cx="1253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Chrome + Edge 运行时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8098" y="3731895"/>
              <a:ext cx="875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扩展 / 内置能力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21840" y="4017645"/>
              <a:ext cx="13483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校验声明并暴露给 agent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0" y="371475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7883842" y="3682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96250" y="2762250"/>
              <a:ext cx="30480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96250" y="2762250"/>
              <a:ext cx="3048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9272" y="3087052"/>
              <a:ext cx="881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Agent 消费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12682" y="34461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发现 → 调用 → 返回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22626" y="3731895"/>
              <a:ext cx="9952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无需逐站定制 API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10612" y="4017645"/>
              <a:ext cx="12192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网页能力 MCP 化输出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510540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35256" y="5266849"/>
              <a:ext cx="35214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网页 = 最大的工具库；浏览器 = agent 访问网页的「入口」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7259" y="5492591"/>
              <a:ext cx="26974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谁能定义网页如何向 agent 开放，谁就握住下一个入口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691890" cy="738854"/>
            <a:chOff x="595122" y="501491"/>
            <a:chExt cx="369189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细节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6918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WebMCP 细节与争议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为什么需要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网页是最大的工具库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默认够不着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201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WebMCP 把网页变成可声明能力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浏览器是入口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711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Chrome + Edge 两大引擎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等于抢占网页入口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214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W3C CG 草稿阶段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275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与 MCP 的关系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网页能力经浏览器桥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198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以 MCP 形式暴露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516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是 MCP 的浏览器落地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5732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谁能定义「网页如何向 agent 开放」，谁就握住下一个十亿级入口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45543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来源：WebMCP W3C Community Group 草稿（2025–2026）。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重叠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控制点重叠论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962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原语 vs A2A Task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功能重叠度约 90%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都可表达委托与取结果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边界由治理而非技术划清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80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A2A v0.3 引入 Skills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357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正面回应 MCP 生态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协议互相借鉴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功能趋同加速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729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SLIM 承载 A2A 载荷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381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AGNTCY 刻意不越界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身份层只管身份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业务语义留给上层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7299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协议互相「抄袭」是收敛的前兆，不是混乱 —— 分层边界会随竞争逐步固化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2354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来源：2026 协议全景对比分析。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收敛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治理收敛：从技术战到制度战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全部进基金会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327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MCP → AAIF（LF directed fund）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669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A2A → Linux Foundation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936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AGNTCY → Linux Foundation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629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WebMCP → W3C CG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标准化流程进行中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规范尚未定稿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浏览器层仍是最开放战场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对工程师的意义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44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协议 API 会持续演进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分层结构已稳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投资分层理解不赌单一实现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50289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2024 的「协议之战」已变成 2026 的「治理收敛」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标准之争从技术层打到制度层，稳定性成为共识。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协议选型决策指南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77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首选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0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层级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934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323624"/>
              <a:ext cx="1085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接入工具 / 数据源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90506" y="2323624"/>
              <a:ext cx="267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828" y="2323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工具垂直层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03738" y="2323624"/>
              <a:ext cx="1814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10,000+ servers · AAIF 治理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085624"/>
              <a:ext cx="1243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两个 agent 协作任务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446" y="3085624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A2A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66864" y="3085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智能体水平层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43799" y="3085624"/>
              <a:ext cx="17340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Task 生命周期 + Agent Card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3847624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身份 / 发现 / 审计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9445" y="3847624"/>
              <a:ext cx="469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AGNTCY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66864" y="3847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身份与发现层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25529" y="3847624"/>
              <a:ext cx="17705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 ID + Directory + SLIM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609624"/>
              <a:ext cx="1375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网页能力对 agent 开放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66171" y="4609624"/>
              <a:ext cx="516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WebMCP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98792" y="4609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浏览器层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28735" y="4609624"/>
              <a:ext cx="1364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Chrome + Edge 运行时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847" y="537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组合骨架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68836" y="5371624"/>
              <a:ext cx="1111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MCP+A2A+AGNTCY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8792" y="537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三层叠加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58347" y="5371624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 + 协作 + 身份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727323" cy="322707"/>
            <a:chOff x="601218" y="1898332"/>
            <a:chExt cx="3727323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84351" y="1900999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协议让智能体成为互操作基础设施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655986" cy="322707"/>
            <a:chOff x="601218" y="2431732"/>
            <a:chExt cx="3655986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四层栈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4351" y="2447925"/>
              <a:ext cx="29728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 · A2A · AGNTCY · WebMCP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636640" cy="322707"/>
            <a:chOff x="601218" y="2965132"/>
            <a:chExt cx="3636640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三治理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3695" y="2981325"/>
              <a:ext cx="2934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AAIF · Linux Foundation · W3C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898332"/>
            <a:ext cx="3248025" cy="322707"/>
            <a:chOff x="6468618" y="1898332"/>
            <a:chExt cx="3248025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一历史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94423" y="1920972"/>
              <a:ext cx="2522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ACP 并入 A2A（2025-09）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31732"/>
            <a:ext cx="3248025" cy="322707"/>
            <a:chOff x="6468618" y="2431732"/>
            <a:chExt cx="3248025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一日期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51751" y="2447925"/>
              <a:ext cx="2564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2026-07-28 无状态化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65132"/>
            <a:ext cx="4164997" cy="322707"/>
            <a:chOff x="6468618" y="2965132"/>
            <a:chExt cx="4164997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65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981325"/>
              <a:ext cx="3668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Anthropic · Google · Cisco · W3C · LF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164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多智能体系统与协议标准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multiagent_v2">
  <a:themeElements>
    <a:clrScheme name="multiagent_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agent_v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agent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2531</Words>
  <Application>Microsoft Office PowerPoint</Application>
  <PresentationFormat>宽屏</PresentationFormat>
  <Paragraphs>460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multiagent_v2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hui tong</cp:lastModifiedBy>
  <cp:revision>2</cp:revision>
  <dcterms:created xsi:type="dcterms:W3CDTF">2026-09-01T08:04:27Z</dcterms:created>
  <dcterms:modified xsi:type="dcterms:W3CDTF">2026-09-01T08:07:34Z</dcterms:modified>
  <cp:category/>
  <cp:contentStatus/>
  <dc:language/>
</cp:coreProperties>
</file>