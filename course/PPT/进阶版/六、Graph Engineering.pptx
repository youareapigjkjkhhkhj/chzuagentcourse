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rapheng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rapheng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7067399" cy="1493996"/>
            <a:chOff x="895350" y="2295049"/>
            <a:chExt cx="7067399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706739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 Engineering 图工程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901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从单循环到有向图：智能体架构的第四代范式（2026）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1924812" cy="322707"/>
            <a:chOff x="601218" y="1898332"/>
            <a:chExt cx="192481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第四代范式跃迁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328672" cy="322707"/>
            <a:chOff x="601218" y="2431732"/>
            <a:chExt cx="232867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图的三重形态与解剖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732532" cy="322707"/>
            <a:chOff x="601218" y="2965132"/>
            <a:chExt cx="273253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五阶段方法论与类型化边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328672" cy="322707"/>
            <a:chOff x="601218" y="3498532"/>
            <a:chExt cx="232867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并行拓扑与决策矩阵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525458" cy="322707"/>
            <a:chOff x="6468618" y="1898332"/>
            <a:chExt cx="2525458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029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机理与对比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530602" cy="322707"/>
            <a:chOff x="6468618" y="2431732"/>
            <a:chExt cx="25306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时序记忆图与记忆选型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328672" cy="322707"/>
            <a:chOff x="6468618" y="2965132"/>
            <a:chExt cx="232867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任务编排图与工具栈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1924812" cy="322707"/>
            <a:chOff x="6468618" y="3498532"/>
            <a:chExt cx="192481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成本陷阱与度量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469630" cy="738854"/>
            <a:chOff x="595122" y="501491"/>
            <a:chExt cx="84696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范式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4696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四年四代：每一代都在解决上一代解决不了的问题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代际 / 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363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67538" y="1753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它解决不了什么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641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形态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418874"/>
              <a:ext cx="11453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Prompt Eng. 2023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5773" y="24188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我该对模型说什么？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0900" y="24188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模型输出不可控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1992" y="2418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单次指令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371374"/>
              <a:ext cx="1364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Context Eng. 2025 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9809" y="33713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我该让模型看见什么？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37045" y="337137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单步推理（无反馈闭环）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1992" y="3371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信息装配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4323874"/>
              <a:ext cx="1196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Loop Eng. 2026-06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27881" y="43238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我该怎么让系统自己迭代？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2828" y="4323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多任务并发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08571" y="4323874"/>
              <a:ext cx="804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单循环 ORAE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276374"/>
              <a:ext cx="126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Graph Eng. 2026-07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61918" y="527637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我该怎么让多分支并发协同？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66864" y="52763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（当前前沿）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76028" y="5276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有向图拓扑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094184" cy="738854"/>
            <a:chOff x="595122" y="501491"/>
            <a:chExt cx="709418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分类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0941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图的三重形态：知识图 · 记忆图 · 任务图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42988" y="2047875"/>
            <a:ext cx="10101262" cy="3949541"/>
            <a:chOff x="1042988" y="2047875"/>
            <a:chExt cx="10101262" cy="3949541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3238500" cy="3619500"/>
            </a:xfrm>
            <a:prstGeom prst="roundRect">
              <a:avLst>
                <a:gd name="adj" fmla="val 88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535" y="2278856"/>
              <a:ext cx="1784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知识图 Knowledge 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25398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检索与多跳推理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2419350" y="265747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76045" y="2870359"/>
              <a:ext cx="38190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ADR-007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638300" y="33528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4995" y="3565684"/>
              <a:ext cx="38190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ADR-003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200400" y="33528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53819" y="3565684"/>
              <a:ext cx="1884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JWT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419350" y="40576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70696" y="427053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鉴权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038350" y="3114675"/>
              <a:ext cx="495300" cy="276225"/>
            </a:xfrm>
            <a:custGeom>
              <a:avLst/>
              <a:gdLst/>
              <a:ahLst/>
              <a:cxnLst/>
              <a:rect l="l" t="t" r="r" b="b"/>
              <a:pathLst>
                <a:path w="495300" h="276225">
                  <a:moveTo>
                    <a:pt x="495300" y="0"/>
                  </a:moveTo>
                  <a:lnTo>
                    <a:pt x="0" y="276225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800350" y="3114675"/>
              <a:ext cx="495300" cy="276225"/>
            </a:xfrm>
            <a:custGeom>
              <a:avLst/>
              <a:gdLst/>
              <a:ahLst/>
              <a:cxnLst/>
              <a:rect l="l" t="t" r="r" b="b"/>
              <a:pathLst>
                <a:path w="495300" h="276225">
                  <a:moveTo>
                    <a:pt x="0" y="0"/>
                  </a:moveTo>
                  <a:lnTo>
                    <a:pt x="495300" y="276225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857500" y="3829050"/>
              <a:ext cx="400050" cy="304800"/>
            </a:xfrm>
            <a:custGeom>
              <a:avLst/>
              <a:gdLst/>
              <a:ahLst/>
              <a:cxnLst/>
              <a:rect l="l" t="t" r="r" b="b"/>
              <a:pathLst>
                <a:path w="400050" h="304800">
                  <a:moveTo>
                    <a:pt x="400050" y="0"/>
                  </a:moveTo>
                  <a:lnTo>
                    <a:pt x="0" y="30480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64425" y="4578191"/>
              <a:ext cx="80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边 = 类型化关系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3488" y="4863941"/>
              <a:ext cx="17536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节点 = 实体（人/组织/事件/组件）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3488" y="5092541"/>
              <a:ext cx="18698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 = 类型化关系（SUPERSEDES 等）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3488" y="5321141"/>
              <a:ext cx="20257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代表：Microsoft GraphRAG / LightRAG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3488" y="5549741"/>
              <a:ext cx="14511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用法：GraphRAG 检索侧改造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76750" y="2047875"/>
              <a:ext cx="3238500" cy="3619500"/>
            </a:xfrm>
            <a:prstGeom prst="roundRect">
              <a:avLst>
                <a:gd name="adj" fmla="val 88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6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61535" y="2278856"/>
              <a:ext cx="1596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记忆图 Memory Graph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2488" y="25398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跨会话长期记忆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972050" y="33337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686550" y="33337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33022" y="35575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0657" y="3451384"/>
              <a:ext cx="28518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 公司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8866" y="3592830"/>
              <a:ext cx="348767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t_invalid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86550" y="40386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10657" y="4270534"/>
              <a:ext cx="28518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 公司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505450" y="344805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428571" sp="285714"/>
              </a:custDash>
            </a:ln>
          </p:spPr>
        </p:sp>
        <p:sp>
          <p:nvSpPr>
            <p:cNvPr id="38" name="Line 38"/>
            <p:cNvSpPr/>
            <p:nvPr/>
          </p:nvSpPr>
          <p:spPr>
            <a:xfrm>
              <a:off x="5505450" y="3771900"/>
              <a:ext cx="1181100" cy="361950"/>
            </a:xfrm>
            <a:custGeom>
              <a:avLst/>
              <a:gdLst/>
              <a:ahLst/>
              <a:cxnLst/>
              <a:rect l="l" t="t" r="r" b="b"/>
              <a:pathLst>
                <a:path w="1181100" h="361950">
                  <a:moveTo>
                    <a:pt x="0" y="0"/>
                  </a:moveTo>
                  <a:lnTo>
                    <a:pt x="1181100" y="36195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71584" y="4578191"/>
              <a:ext cx="10488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边 = 事实 + 有效区间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62488" y="4863941"/>
              <a:ext cx="2013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边携带双时间戳（事件时间 + 摄取时间）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2488" y="50925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冲突时边失效而非删除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62488" y="5321141"/>
              <a:ext cx="14172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代表：Zep Graphiti / Mem0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2488" y="5549741"/>
              <a:ext cx="10085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用法：agent 记忆层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05750" y="2047875"/>
              <a:ext cx="3238500" cy="3619500"/>
            </a:xfrm>
            <a:prstGeom prst="roundRect">
              <a:avLst>
                <a:gd name="adj" fmla="val 88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905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90535" y="2278856"/>
              <a:ext cx="1359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任务图 Task Graph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91488" y="25398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执行编排与控制流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44000" y="2857500"/>
              <a:ext cx="762000" cy="40005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382">
              <a:solidFill>
                <a:srgbClr val="1A1A1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20404" y="3014662"/>
              <a:ext cx="20919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72500" y="3733800"/>
              <a:ext cx="762000" cy="40005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382">
              <a:solidFill>
                <a:srgbClr val="1A1A1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47772" y="389096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715500" y="3733800"/>
              <a:ext cx="762000" cy="40005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382">
              <a:solidFill>
                <a:srgbClr val="1A1A1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90772" y="389096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测试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144000" y="4343400"/>
              <a:ext cx="762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2382">
              <a:solidFill>
                <a:srgbClr val="1A1A1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07604" y="4491038"/>
              <a:ext cx="2347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Gate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525000" y="32575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953500" y="37147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096500" y="37147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8953500" y="4133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9525000" y="4133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9525000" y="41338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110973" y="4578191"/>
              <a:ext cx="8280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边 = 转移 + 条件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91488" y="4863941"/>
              <a:ext cx="20848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节点 = 有界操作（检索/生成/测试/审批）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91488" y="5092541"/>
              <a:ext cx="1036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 = 转移 + 触发条件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91488" y="5321141"/>
              <a:ext cx="21186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代表：LangGraph / OpenClaw Code Mode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91488" y="5549741"/>
              <a:ext cx="10416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用法：多 agent 编排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2988" y="5835491"/>
              <a:ext cx="48445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GraphRAG 只是其中一块（检索侧改造）；图工程是以图为骨架的整个 agent 架构（架构侧升级）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9" name="TextBox 69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有向图解剖：六个结构原语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047750" y="2286000"/>
            <a:ext cx="10096500" cy="3286125"/>
            <a:chOff x="1047750" y="2286000"/>
            <a:chExt cx="10096500" cy="3286125"/>
          </a:xfrm>
        </p:grpSpPr>
        <p:sp>
          <p:nvSpPr>
            <p:cNvPr id="6" name="Rectangle 6"/>
            <p:cNvSpPr/>
            <p:nvPr/>
          </p:nvSpPr>
          <p:spPr>
            <a:xfrm>
              <a:off x="1047750" y="2857500"/>
              <a:ext cx="7620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9164" y="3046095"/>
              <a:ext cx="3791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START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190750" y="2857500"/>
              <a:ext cx="952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4222" y="3046095"/>
              <a:ext cx="545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Plan 计划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905250" y="2286000"/>
              <a:ext cx="1047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158522" y="2455545"/>
              <a:ext cx="54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Retrieve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05250" y="2895600"/>
              <a:ext cx="1047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42507" y="3065145"/>
              <a:ext cx="5732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Generate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05250" y="3505200"/>
              <a:ext cx="1047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40220" y="3674745"/>
              <a:ext cx="577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Test 测试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2895600"/>
              <a:ext cx="1047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8281" y="3065145"/>
              <a:ext cx="681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Synthesize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2895600"/>
              <a:ext cx="952500" cy="438150"/>
            </a:xfrm>
            <a:prstGeom prst="roundRect">
              <a:avLst>
                <a:gd name="adj" fmla="val 6522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12095" y="3065145"/>
              <a:ext cx="577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Gate 门禁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144000" y="2857500"/>
              <a:ext cx="7620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09344" y="3046095"/>
              <a:ext cx="23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END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809750" y="309562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092642" y="3063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Polyline 24"/>
            <p:cNvSpPr/>
            <p:nvPr/>
          </p:nvSpPr>
          <p:spPr>
            <a:xfrm>
              <a:off x="3143250" y="2505075"/>
              <a:ext cx="742950" cy="590550"/>
            </a:xfrm>
            <a:custGeom>
              <a:avLst/>
              <a:gdLst/>
              <a:ahLst/>
              <a:cxnLst/>
              <a:rect l="l" t="t" r="r" b="b"/>
              <a:pathLst>
                <a:path w="742950" h="590550">
                  <a:moveTo>
                    <a:pt x="0" y="590550"/>
                  </a:moveTo>
                  <a:lnTo>
                    <a:pt x="333375" y="590550"/>
                  </a:lnTo>
                  <a:lnTo>
                    <a:pt x="333375" y="0"/>
                  </a:lnTo>
                  <a:lnTo>
                    <a:pt x="74295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807142" y="24726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143250" y="31146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3807142" y="30822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Polyline 28"/>
            <p:cNvSpPr/>
            <p:nvPr/>
          </p:nvSpPr>
          <p:spPr>
            <a:xfrm>
              <a:off x="3143250" y="3095625"/>
              <a:ext cx="742950" cy="628650"/>
            </a:xfrm>
            <a:custGeom>
              <a:avLst/>
              <a:gdLst/>
              <a:ahLst/>
              <a:cxnLst/>
              <a:rect l="l" t="t" r="r" b="b"/>
              <a:pathLst>
                <a:path w="742950" h="628650">
                  <a:moveTo>
                    <a:pt x="0" y="0"/>
                  </a:moveTo>
                  <a:lnTo>
                    <a:pt x="333375" y="0"/>
                  </a:lnTo>
                  <a:lnTo>
                    <a:pt x="333375" y="628650"/>
                  </a:lnTo>
                  <a:lnTo>
                    <a:pt x="742950" y="62865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3807142" y="36918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Polyline 30"/>
            <p:cNvSpPr/>
            <p:nvPr/>
          </p:nvSpPr>
          <p:spPr>
            <a:xfrm>
              <a:off x="4953000" y="2505075"/>
              <a:ext cx="742950" cy="609600"/>
            </a:xfrm>
            <a:custGeom>
              <a:avLst/>
              <a:gdLst/>
              <a:ahLst/>
              <a:cxnLst/>
              <a:rect l="l" t="t" r="r" b="b"/>
              <a:pathLst>
                <a:path w="742950" h="609600">
                  <a:moveTo>
                    <a:pt x="0" y="0"/>
                  </a:moveTo>
                  <a:lnTo>
                    <a:pt x="381000" y="0"/>
                  </a:lnTo>
                  <a:lnTo>
                    <a:pt x="381000" y="609600"/>
                  </a:lnTo>
                  <a:lnTo>
                    <a:pt x="742950" y="60960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616892" y="30822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953000" y="31146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616892" y="30822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Polyline 34"/>
            <p:cNvSpPr/>
            <p:nvPr/>
          </p:nvSpPr>
          <p:spPr>
            <a:xfrm>
              <a:off x="4953000" y="3114675"/>
              <a:ext cx="742950" cy="609600"/>
            </a:xfrm>
            <a:custGeom>
              <a:avLst/>
              <a:gdLst/>
              <a:ahLst/>
              <a:cxnLst/>
              <a:rect l="l" t="t" r="r" b="b"/>
              <a:pathLst>
                <a:path w="742950" h="609600">
                  <a:moveTo>
                    <a:pt x="0" y="609600"/>
                  </a:moveTo>
                  <a:lnTo>
                    <a:pt x="381000" y="609600"/>
                  </a:lnTo>
                  <a:lnTo>
                    <a:pt x="381000" y="0"/>
                  </a:lnTo>
                  <a:lnTo>
                    <a:pt x="74295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616892" y="30822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762750" y="31146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6642" y="30822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477250" y="311467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045892" y="30822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Polyline 40"/>
            <p:cNvSpPr/>
            <p:nvPr/>
          </p:nvSpPr>
          <p:spPr>
            <a:xfrm>
              <a:off x="2667000" y="3352800"/>
              <a:ext cx="5334000" cy="885825"/>
            </a:xfrm>
            <a:custGeom>
              <a:avLst/>
              <a:gdLst/>
              <a:ahLst/>
              <a:cxnLst/>
              <a:rect l="l" t="t" r="r" b="b"/>
              <a:pathLst>
                <a:path w="5334000" h="885825">
                  <a:moveTo>
                    <a:pt x="5334000" y="0"/>
                  </a:moveTo>
                  <a:lnTo>
                    <a:pt x="5334000" y="885825"/>
                  </a:lnTo>
                  <a:lnTo>
                    <a:pt x="0" y="885825"/>
                  </a:lnTo>
                  <a:lnTo>
                    <a:pt x="0" y="1905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634615" y="33718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89872" y="4044791"/>
              <a:ext cx="16882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失败回退 / 重试（图里的「环」）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76338" y="4665345"/>
              <a:ext cx="577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节点 Node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76338" y="49291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有界操作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76338" y="5157788"/>
              <a:ext cx="72637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分类·检索·调用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622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7622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890838" y="4665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类型化边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90838" y="4929188"/>
              <a:ext cx="5294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转移 + 条件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90838" y="5157788"/>
              <a:ext cx="9182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失败去哪、重试几次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4767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4767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05338" y="4665345"/>
              <a:ext cx="716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分支 Branch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5338" y="49291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条件路由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05338" y="515778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按信号选择出边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1912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1912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19838" y="4665345"/>
              <a:ext cx="787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 Fan-out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19838" y="49291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互不依赖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19838" y="515778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并发是一等公民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9057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9057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34338" y="4665345"/>
              <a:ext cx="926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回边 Loop-back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34338" y="492918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重试与回退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34338" y="51577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图里的环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620250" y="4476750"/>
              <a:ext cx="1524000" cy="1095375"/>
            </a:xfrm>
            <a:prstGeom prst="roundRect">
              <a:avLst>
                <a:gd name="adj" fmla="val 26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620250" y="44767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748838" y="46653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检查点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48838" y="4929188"/>
              <a:ext cx="72637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权限·超时·预算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48838" y="5157788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追踪与测试挂载点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4" name="TextBox 74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痛点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为什么单循环不够用了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循环只能「一步步来」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顺序是默认，并发是特例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任务分支只能靠 if-else 硬编码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独立验证步骤被迫排队执行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图把并发写成一等公民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92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Fan-out / Fan-in 原生表达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失败去哪、重试几次写在边上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分支 · 并行 · 回退 · 恢复可组合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触发信号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117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2026-07-18 Steinberger 推文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315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48 小时 290 万阅读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419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OpenClaw / LangGraph / Zep 跟进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循环解决不了「多任务并发」，图工程上场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394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来源：Flowtivity《From Loops to Graphs》2026-07-25。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0152518" cy="738854"/>
            <a:chOff x="595122" y="501491"/>
            <a:chExt cx="1015251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流程腿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01525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五阶段：Audit → Identify → Design → Implement → Type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042988" y="2476500"/>
            <a:ext cx="9910762" cy="2892266"/>
            <a:chOff x="1042988" y="2476500"/>
            <a:chExt cx="9910762" cy="2892266"/>
          </a:xfrm>
        </p:grpSpPr>
        <p:sp>
          <p:nvSpPr>
            <p:cNvPr id="6" name="Rectangle 6"/>
            <p:cNvSpPr/>
            <p:nvPr/>
          </p:nvSpPr>
          <p:spPr>
            <a:xfrm>
              <a:off x="1047750" y="2476500"/>
              <a:ext cx="1828800" cy="2190750"/>
            </a:xfrm>
            <a:prstGeom prst="roundRect">
              <a:avLst>
                <a:gd name="adj" fmla="val 156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4816" y="2667952"/>
              <a:ext cx="844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Audit 审计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5388" y="29970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画出现有循环清单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5388" y="3244691"/>
              <a:ext cx="1118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标注瓶颈、retry 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5388" y="34923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并行可行性评估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4038600"/>
              <a:ext cx="1600200" cy="4953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7620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62367" y="4175284"/>
              <a:ext cx="119956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产出：带瓶颈注释的循环清单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2367" y="4346734"/>
              <a:ext cx="119956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产出：带瓶颈注释的循环清单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67050" y="2476500"/>
              <a:ext cx="1828800" cy="2190750"/>
            </a:xfrm>
            <a:prstGeom prst="roundRect">
              <a:avLst>
                <a:gd name="adj" fmla="val 156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14116" y="2667952"/>
              <a:ext cx="10501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Identify 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14688" y="29970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找出能并发的地方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14688" y="324469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关键：哪些步骤互不依赖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14688" y="349234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而非「哪里能跑快」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81350" y="4038600"/>
              <a:ext cx="1600200" cy="4953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7620">
              <a:solidFill>
                <a:srgbClr val="99999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35896" y="4175284"/>
              <a:ext cx="129110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产出：按影响力排序的机会清单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35896" y="4346734"/>
              <a:ext cx="129110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产出：按影响力排序的机会清单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86350" y="2476500"/>
              <a:ext cx="1828800" cy="2190750"/>
            </a:xfrm>
            <a:prstGeom prst="roundRect">
              <a:avLst>
                <a:gd name="adj" fmla="val 156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3416" y="2667952"/>
              <a:ext cx="925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Design 设计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33988" y="29970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起草图拓扑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33988" y="3244691"/>
              <a:ext cx="11410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起点不超过 3–5 个节点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33988" y="34923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边上条件写清楚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00650" y="4038600"/>
              <a:ext cx="1600200" cy="4953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7620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050" y="417528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产出：一张图拓扑图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4050" y="4346734"/>
              <a:ext cx="8333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产出：一张图拓扑图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05650" y="2476500"/>
              <a:ext cx="1828800" cy="2190750"/>
            </a:xfrm>
            <a:prstGeom prst="roundRect">
              <a:avLst>
                <a:gd name="adj" fmla="val 156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52716" y="2667952"/>
              <a:ext cx="1191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Implement 实现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53288" y="2997041"/>
              <a:ext cx="1517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Code Mode / Codex / asyncio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53288" y="32446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盯两个指标：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53288" y="3492341"/>
              <a:ext cx="1786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墙钟时间↓、每次成功成本（短期↑）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19950" y="4038600"/>
              <a:ext cx="1600200" cy="4953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7620">
              <a:solidFill>
                <a:srgbClr val="99999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59172" y="4175284"/>
              <a:ext cx="112175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产出：可运行图 + 基线指标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172" y="4346734"/>
              <a:ext cx="112175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产出：可运行图 + 基线指标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24950" y="2476500"/>
              <a:ext cx="1828800" cy="2190750"/>
            </a:xfrm>
            <a:prstGeom prst="roundRect">
              <a:avLst>
                <a:gd name="adj" fmla="val 1562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72016" y="2667952"/>
              <a:ext cx="944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⑤ Type 类型化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72588" y="29970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加类型化边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72588" y="32446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大多数团队跳过的一步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2588" y="34923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也是精度收益最大的一步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239250" y="4038600"/>
              <a:ext cx="1600200" cy="495300"/>
            </a:xfrm>
            <a:prstGeom prst="roundRect">
              <a:avLst>
                <a:gd name="adj" fmla="val 3846"/>
              </a:avLst>
            </a:prstGeom>
            <a:solidFill>
              <a:srgbClr val="4A0005"/>
            </a:solidFill>
            <a:ln w="7620">
              <a:solidFill>
                <a:srgbClr val="99999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7030" y="4175284"/>
              <a:ext cx="11446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产出：带语义的边（+18%）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7030" y="4346734"/>
              <a:ext cx="11446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产出：带语义的边（+18%）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2895600" y="35718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2949892" y="35394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4914900" y="35718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4969192" y="35394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6934200" y="35718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6988492" y="35394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8953500" y="35718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9007792" y="35394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2988" y="4951095"/>
              <a:ext cx="60048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Stage 5 是收益最大也最常被跳过的一步：复杂代码审查的多步推理任务中，加入类型关系数据后准确率 +18%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2988" y="5206841"/>
              <a:ext cx="5721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来源：Flowtivity《From Loops to Graphs》2026-07-25；五阶段 Audit → Identify → Design → Implement → Type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7" name="TextBox 57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30906" cy="738854"/>
            <a:chOff x="595122" y="501491"/>
            <a:chExt cx="66309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语义腿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309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六类类型化边：让边从 1 比特变成知识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042988" y="2047875"/>
            <a:ext cx="10406062" cy="3759041"/>
            <a:chOff x="1042988" y="2047875"/>
            <a:chExt cx="10406062" cy="3759041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1773" y="2272189"/>
              <a:ext cx="1064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SUPERSEDES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81147" y="23045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取代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6365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「这个替换那个」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488" y="2930366"/>
              <a:ext cx="12108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ADR-007 替换 ADR-003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8250" y="31718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3488" y="32813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29150" y="20478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291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13173" y="2272189"/>
              <a:ext cx="1102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DEPENDS_ON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547" y="23045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4888" y="26365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「这个需要那个」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14888" y="2930366"/>
              <a:ext cx="1228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鉴权模块依赖 JWT 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819650" y="31718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14888" y="32813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210550" y="20478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2105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94573" y="22721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DECIDED_BY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43947" y="2304574"/>
              <a:ext cx="481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由…决定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96288" y="263652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「这个被那个定下来」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96288" y="2930366"/>
              <a:ext cx="1310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API 布局由 RFC-004 决定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01050" y="31718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96288" y="32813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37623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37623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1773" y="3986689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CAUSED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81147" y="40190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导致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33488" y="435102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「这个产生了那个」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33488" y="4644866"/>
              <a:ext cx="10424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重构 PR 触发 Bug 42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238250" y="48863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33488" y="49958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29150" y="37623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29150" y="37623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13173" y="3986689"/>
              <a:ext cx="10930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IMPLEMENTS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547" y="40190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14888" y="435102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「这个落地了那个」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14888" y="4644866"/>
              <a:ext cx="9426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服务 B 实现接口 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819650" y="48863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14888" y="49958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210550" y="3762375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10550" y="37623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94573" y="3986689"/>
              <a:ext cx="1064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REFERENCES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43947" y="40190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引用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96288" y="43510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「这个提及那个」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96288" y="4644866"/>
              <a:ext cx="10767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文档页引用 ADR-001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01050" y="4886325"/>
              <a:ext cx="11430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96288" y="4995862"/>
              <a:ext cx="1104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2988" y="5408295"/>
              <a:ext cx="64084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核心洞察：无类型边只携带 1 比特（A 和 B「有关系」）；类型化边把它扩展为 6 种语义 —— 边类型本身就是知识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2988" y="5644991"/>
              <a:ext cx="40938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任何系统都能找到「两个相关文档」，但只有图工程能告诉你「它们是怎么相关的」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7" name="TextBox 57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价值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类型化边为什么是收益最大的一步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无类型边只有 1 比特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0505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 和 B「有关系」——仅此而已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任何系统都能找到两个相关文档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但说不出它们是怎么相关的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类型化边就是知识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6 种语义各自携带含义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回答「它们怎么相关」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31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本体论在 LLM 时代的工程化落地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074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+18% 准确率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复杂代码审查的多步推理任务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加入类型关系数据后 +18%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130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Stage 5 常被跳过，收益却最大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任何系统都能找到相关文档，只有图工程能告诉你它们是怎么相关的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098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来源：Flowtivity（2026）；六类边覆盖绝大多数用例。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572673" cy="738854"/>
            <a:chOff x="595122" y="501491"/>
            <a:chExt cx="957267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拓扑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5726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并行审查拓扑：3 个 reviewer 同时启动，实测 3× 加速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42988" y="1930241"/>
            <a:ext cx="9625012" cy="4048125"/>
            <a:chOff x="1042988" y="1930241"/>
            <a:chExt cx="9625012" cy="4048125"/>
          </a:xfrm>
        </p:grpSpPr>
        <p:sp>
          <p:nvSpPr>
            <p:cNvPr id="6" name="Rectangle 6"/>
            <p:cNvSpPr/>
            <p:nvPr/>
          </p:nvSpPr>
          <p:spPr>
            <a:xfrm>
              <a:off x="1047750" y="3048000"/>
              <a:ext cx="1238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89898" y="3303270"/>
              <a:ext cx="7539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Planner 规划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857500" y="3048000"/>
              <a:ext cx="1238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05571" y="3303270"/>
              <a:ext cx="7421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Worker 执行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0" y="2152650"/>
              <a:ext cx="1428750" cy="51435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5539" y="2369820"/>
              <a:ext cx="8236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Security 安全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953000" y="3048000"/>
              <a:ext cx="1428750" cy="51435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59964" y="3265170"/>
              <a:ext cx="6148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Logic 逻辑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953000" y="3943350"/>
              <a:ext cx="1428750" cy="51435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59964" y="4160520"/>
              <a:ext cx="6148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Style 风格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0" y="3048000"/>
              <a:ext cx="1428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36826" y="3303270"/>
              <a:ext cx="10330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Synthesizer 汇总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429750" y="3048000"/>
              <a:ext cx="1238250" cy="571500"/>
            </a:xfrm>
            <a:prstGeom prst="roundRect">
              <a:avLst>
                <a:gd name="adj" fmla="val 5000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31345" y="3228499"/>
              <a:ext cx="6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Pass/Fail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13727" y="3424238"/>
              <a:ext cx="4702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Gate 门禁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429750" y="1952625"/>
              <a:ext cx="123825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77821" y="2150745"/>
              <a:ext cx="7421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Output 输出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286000" y="333375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2759392" y="3301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4095750" y="2409825"/>
              <a:ext cx="838200" cy="923925"/>
            </a:xfrm>
            <a:custGeom>
              <a:avLst/>
              <a:gdLst/>
              <a:ahLst/>
              <a:cxnLst/>
              <a:rect l="l" t="t" r="r" b="b"/>
              <a:pathLst>
                <a:path w="838200" h="923925">
                  <a:moveTo>
                    <a:pt x="0" y="923925"/>
                  </a:moveTo>
                  <a:lnTo>
                    <a:pt x="333375" y="923925"/>
                  </a:lnTo>
                  <a:lnTo>
                    <a:pt x="333375" y="0"/>
                  </a:lnTo>
                  <a:lnTo>
                    <a:pt x="83820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4854892" y="23774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95750" y="333375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854892" y="3301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Polyline 29"/>
            <p:cNvSpPr/>
            <p:nvPr/>
          </p:nvSpPr>
          <p:spPr>
            <a:xfrm>
              <a:off x="4095750" y="3333750"/>
              <a:ext cx="838200" cy="866775"/>
            </a:xfrm>
            <a:custGeom>
              <a:avLst/>
              <a:gdLst/>
              <a:ahLst/>
              <a:cxnLst/>
              <a:rect l="l" t="t" r="r" b="b"/>
              <a:pathLst>
                <a:path w="838200" h="866775">
                  <a:moveTo>
                    <a:pt x="0" y="0"/>
                  </a:moveTo>
                  <a:lnTo>
                    <a:pt x="333375" y="0"/>
                  </a:lnTo>
                  <a:lnTo>
                    <a:pt x="333375" y="866775"/>
                  </a:lnTo>
                  <a:lnTo>
                    <a:pt x="838200" y="8667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4854892" y="41681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1" name="Polyline 31"/>
            <p:cNvSpPr/>
            <p:nvPr/>
          </p:nvSpPr>
          <p:spPr>
            <a:xfrm>
              <a:off x="6381750" y="2409825"/>
              <a:ext cx="838200" cy="923925"/>
            </a:xfrm>
            <a:custGeom>
              <a:avLst/>
              <a:gdLst/>
              <a:ahLst/>
              <a:cxnLst/>
              <a:rect l="l" t="t" r="r" b="b"/>
              <a:pathLst>
                <a:path w="838200" h="923925">
                  <a:moveTo>
                    <a:pt x="0" y="0"/>
                  </a:moveTo>
                  <a:lnTo>
                    <a:pt x="428625" y="0"/>
                  </a:lnTo>
                  <a:lnTo>
                    <a:pt x="428625" y="923925"/>
                  </a:lnTo>
                  <a:lnTo>
                    <a:pt x="838200" y="92392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140892" y="3301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6381750" y="333375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140892" y="3301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Polyline 35"/>
            <p:cNvSpPr/>
            <p:nvPr/>
          </p:nvSpPr>
          <p:spPr>
            <a:xfrm>
              <a:off x="6381750" y="336232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838200"/>
                  </a:moveTo>
                  <a:lnTo>
                    <a:pt x="428625" y="838200"/>
                  </a:lnTo>
                  <a:lnTo>
                    <a:pt x="428625" y="0"/>
                  </a:lnTo>
                  <a:lnTo>
                    <a:pt x="83820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7140892" y="3329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667750" y="3333750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331642" y="3301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10048875" y="254317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485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10016490" y="24574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34612" y="2692241"/>
              <a:ext cx="2681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Pass</a:t>
              </a:r>
            </a:p>
          </p:txBody>
        </p:sp>
        <p:sp>
          <p:nvSpPr>
            <p:cNvPr id="42" name="Polyline 42"/>
            <p:cNvSpPr/>
            <p:nvPr/>
          </p:nvSpPr>
          <p:spPr>
            <a:xfrm>
              <a:off x="3476625" y="3638550"/>
              <a:ext cx="6572250" cy="1552575"/>
            </a:xfrm>
            <a:custGeom>
              <a:avLst/>
              <a:gdLst/>
              <a:ahLst/>
              <a:cxnLst/>
              <a:rect l="l" t="t" r="r" b="b"/>
              <a:pathLst>
                <a:path w="6572250" h="1552575">
                  <a:moveTo>
                    <a:pt x="6572250" y="0"/>
                  </a:moveTo>
                  <a:lnTo>
                    <a:pt x="6572250" y="1552575"/>
                  </a:lnTo>
                  <a:lnTo>
                    <a:pt x="0" y="155257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3444240" y="36385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83573" y="4970145"/>
              <a:ext cx="19678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Fail → 条件路由把任务丢回 Worker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44575" y="1930241"/>
              <a:ext cx="12455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三个 reviewer 同时启动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2988" y="5587841"/>
              <a:ext cx="58813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顺序执行 3 个 review 串行 = 3 周期 → 并行 1 周期，实测 3× 加速（双 DGX Spark，DeepSeek V4 Flash @ ~60 tok/s）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2988" y="5816441"/>
              <a:ext cx="51039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意义不在「快 3 倍」，而在把并发写进工作流的一等公民位置：循环里并发是特例，图里顺序才需要标注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408043" cy="738854"/>
            <a:chOff x="595122" y="501491"/>
            <a:chExt cx="440804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4080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Loop vs Graph 决策矩阵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象限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形态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06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简单 + 低并发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17336" y="2323624"/>
              <a:ext cx="1157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Single Loop 单循环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02066" y="2323624"/>
              <a:ext cx="19030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传统顺序 agent 足够，不必上图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简单 + 高并发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95222" y="3085624"/>
              <a:ext cx="1401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Parallel Loop 并行循环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54973" y="3085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多个简单循环并行跑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 + 低并发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7270" y="3847624"/>
              <a:ext cx="1357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Staged Loop 分段循环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54973" y="3847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加检查点的顺序循环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 + 高并发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00524" y="4609624"/>
              <a:ext cx="15909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 Engineering 图工程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4310" y="4609624"/>
              <a:ext cx="1698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完整有向图 + 分支 reviewer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经验法则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41304" y="5371624"/>
              <a:ext cx="1309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 个以上独立验证步骤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5651" y="5371624"/>
              <a:ext cx="2575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有复杂决策路由 → 上 graph，否则保留 loop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74988" cy="738854"/>
            <a:chOff x="595122" y="501491"/>
            <a:chExt cx="73749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机理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749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索引流水线与 Leiden 分层社区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42988" y="2047875"/>
            <a:ext cx="9910762" cy="3759041"/>
            <a:chOff x="1042988" y="2047875"/>
            <a:chExt cx="9910762" cy="3759041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18288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18288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5197" y="227599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文本切块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5388" y="2520791"/>
              <a:ext cx="4708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Chunking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5388" y="2738438"/>
              <a:ext cx="8042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喂给 LLM 做抽取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914650" y="2505075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949892" y="24726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067050" y="2047875"/>
              <a:ext cx="18288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67050" y="2047875"/>
              <a:ext cx="18288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14497" y="2275999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实体关系抽取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14688" y="2520791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LLM 抽取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14688" y="2738438"/>
              <a:ext cx="9182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核心步骤，成本最高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933950" y="2505075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969192" y="24726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86350" y="2047875"/>
              <a:ext cx="18288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86350" y="2047875"/>
              <a:ext cx="18288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33797" y="227599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构图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33988" y="2520791"/>
              <a:ext cx="57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去重 · 合并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33988" y="2738438"/>
              <a:ext cx="10191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同名实体归并为一节点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953250" y="2505075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988492" y="24726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05650" y="2047875"/>
              <a:ext cx="18288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05650" y="2047875"/>
              <a:ext cx="18288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53097" y="227599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社区检测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53288" y="2520791"/>
              <a:ext cx="6056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Leiden 算法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53288" y="273843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按主题分层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972550" y="2505075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9007792" y="24726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24950" y="2047875"/>
              <a:ext cx="18288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24950" y="2047875"/>
              <a:ext cx="18288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72397" y="227599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社区摘要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72588" y="2520791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LLM 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72588" y="2738438"/>
              <a:ext cx="10191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每社区生成结构化摘要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67250" y="3333750"/>
              <a:ext cx="2857500" cy="514350"/>
            </a:xfrm>
            <a:prstGeom prst="roundRect">
              <a:avLst>
                <a:gd name="adj" fmla="val 5556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73713" y="354949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顶层社区：公司技术架构演进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67000" y="4038600"/>
              <a:ext cx="3143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81920" y="424481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中层社区：搜索技术栈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81750" y="4038600"/>
              <a:ext cx="3143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96670" y="424481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中层社区：数据库架构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714500" y="4724400"/>
              <a:ext cx="26670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06231" y="4921091"/>
              <a:ext cx="1283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底层：KSearch 引擎评估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62500" y="4724400"/>
              <a:ext cx="26670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97281" y="4921091"/>
              <a:ext cx="9974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底层：ES 迁移方案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810500" y="4724400"/>
              <a:ext cx="26670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56491" y="4921091"/>
              <a:ext cx="11750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底层：集群 OOM 细节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238625" y="3848100"/>
              <a:ext cx="1857375" cy="171450"/>
            </a:xfrm>
            <a:custGeom>
              <a:avLst/>
              <a:gdLst/>
              <a:ahLst/>
              <a:cxnLst/>
              <a:rect l="l" t="t" r="r" b="b"/>
              <a:pathLst>
                <a:path w="1857375" h="171450">
                  <a:moveTo>
                    <a:pt x="1857375" y="0"/>
                  </a:moveTo>
                  <a:lnTo>
                    <a:pt x="0" y="17145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96000" y="3848100"/>
              <a:ext cx="1857375" cy="171450"/>
            </a:xfrm>
            <a:custGeom>
              <a:avLst/>
              <a:gdLst/>
              <a:ahLst/>
              <a:cxnLst/>
              <a:rect l="l" t="t" r="r" b="b"/>
              <a:pathLst>
                <a:path w="1857375" h="171450">
                  <a:moveTo>
                    <a:pt x="0" y="0"/>
                  </a:moveTo>
                  <a:lnTo>
                    <a:pt x="1857375" y="17145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048000" y="4533900"/>
              <a:ext cx="1190625" cy="171450"/>
            </a:xfrm>
            <a:custGeom>
              <a:avLst/>
              <a:gdLst/>
              <a:ahLst/>
              <a:cxnLst/>
              <a:rect l="l" t="t" r="r" b="b"/>
              <a:pathLst>
                <a:path w="1190625" h="171450">
                  <a:moveTo>
                    <a:pt x="1190625" y="0"/>
                  </a:moveTo>
                  <a:lnTo>
                    <a:pt x="0" y="17145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6096000" y="4533900"/>
              <a:ext cx="1857375" cy="171450"/>
            </a:xfrm>
            <a:custGeom>
              <a:avLst/>
              <a:gdLst/>
              <a:ahLst/>
              <a:cxnLst/>
              <a:rect l="l" t="t" r="r" b="b"/>
              <a:pathLst>
                <a:path w="1857375" h="171450">
                  <a:moveTo>
                    <a:pt x="1857375" y="0"/>
                  </a:moveTo>
                  <a:lnTo>
                    <a:pt x="0" y="17145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953375" y="4533900"/>
              <a:ext cx="1190625" cy="171450"/>
            </a:xfrm>
            <a:custGeom>
              <a:avLst/>
              <a:gdLst/>
              <a:ahLst/>
              <a:cxnLst/>
              <a:rect l="l" t="t" r="r" b="b"/>
              <a:pathLst>
                <a:path w="1190625" h="171450">
                  <a:moveTo>
                    <a:pt x="0" y="0"/>
                  </a:moveTo>
                  <a:lnTo>
                    <a:pt x="1190625" y="17145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42988" y="5416391"/>
              <a:ext cx="56715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Leiden 算法（Louvain 改进版）按主题把图分层，再对每个社区用 LLM 生成结构化摘要 —— 给文档画一张知识地图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2988" y="5644991"/>
              <a:ext cx="61308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代价：索引阶段 LLM 调用是传统 RAG 的 5–10 倍；1000 页（约 150 万 token）提取需约 300 万输出 token，约 $100–200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9" name="TextBox 59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检索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三种查询模式与多跳衰减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42988" y="2047875"/>
            <a:ext cx="10101262" cy="3733800"/>
            <a:chOff x="1042988" y="2047875"/>
            <a:chExt cx="10101262" cy="3733800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3238500" cy="2905125"/>
            </a:xfrm>
            <a:prstGeom prst="roundRect">
              <a:avLst>
                <a:gd name="adj" fmla="val 984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535" y="2297906"/>
              <a:ext cx="1644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Local Search 局部检索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27003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9127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具体实体相关问题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488" y="32527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工作原理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3488" y="3473291"/>
              <a:ext cx="1886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定位实体，结合一跳邻居与原文上下文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3488" y="40528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示例问题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4273391"/>
              <a:ext cx="18444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「KSearch 引擎的进展和负责人？」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38250" y="4552950"/>
              <a:ext cx="28575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76750" y="2047875"/>
              <a:ext cx="3238500" cy="2905125"/>
            </a:xfrm>
            <a:prstGeom prst="roundRect">
              <a:avLst>
                <a:gd name="adj" fmla="val 984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76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61535" y="2297906"/>
              <a:ext cx="1690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Global Search 全局检索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2488" y="27003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2488" y="29127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全局性概括问题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2488" y="32527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工作原理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2488" y="3473291"/>
              <a:ext cx="1510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遍历全部社区摘要，map-redu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2488" y="3701891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ce 综合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2488" y="40528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示例问题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2488" y="42733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「过去一年技术决策的方向？」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67250" y="4552950"/>
              <a:ext cx="28575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05750" y="2047875"/>
              <a:ext cx="3238500" cy="2905125"/>
            </a:xfrm>
            <a:prstGeom prst="roundRect">
              <a:avLst>
                <a:gd name="adj" fmla="val 984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05750" y="2047875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90535" y="2297906"/>
              <a:ext cx="167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DRIFT Search 漂移检索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1488" y="27003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1488" y="2912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多跳推理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488" y="32527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工作原理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488" y="3473291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从起点实体沿关系链逐跳探索并剪枝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488" y="40528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示例问题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1488" y="4273391"/>
              <a:ext cx="19296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「ES 的 OOM 最终影响哪些业务？」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4552950"/>
              <a:ext cx="2857500" cy="152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2988" y="516064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多跳衰减：链越长，复合错误越多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28750" y="5381625"/>
              <a:ext cx="104775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88843" y="5462588"/>
              <a:ext cx="327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 1 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30188" y="55987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85%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44817" y="55335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09875" y="5381625"/>
              <a:ext cx="104775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69968" y="5462588"/>
              <a:ext cx="327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 2 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11313" y="55987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85%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25942" y="55335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191000" y="5381625"/>
              <a:ext cx="104775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51093" y="5462588"/>
              <a:ext cx="327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 3 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92438" y="55987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85%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07067" y="55335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72125" y="5381625"/>
              <a:ext cx="104775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32218" y="5462588"/>
              <a:ext cx="327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 4 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73563" y="55987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85%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8192" y="55335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953250" y="5381625"/>
              <a:ext cx="104775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13343" y="5462588"/>
              <a:ext cx="327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 5 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4688" y="55987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85%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76285" y="5479256"/>
              <a:ext cx="1833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5 跳 × 85%/跳 ≈ 44% 可信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9" name="TextBox 59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24351" cy="738854"/>
            <a:chOff x="595122" y="501491"/>
            <a:chExt cx="732435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2435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vs 向量 RAG：按问题类型路由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16815" y="1753552"/>
              <a:ext cx="615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向量 RAG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26504" y="1753552"/>
              <a:ext cx="682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GraphRAG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641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判定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2569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多跳推理准确率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24854" y="2256949"/>
              <a:ext cx="399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42.9%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68054" y="2256949"/>
              <a:ext cx="399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53.4%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73919" y="2256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图胜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28951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简单事实查询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55592" y="2895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快且便宜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4756" y="2895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慢且贵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07956" y="2895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向量胜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35237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时序推理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9628" y="35237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基本不支持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8792" y="35237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全面胜出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73919" y="35237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图胜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161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索引成本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12580" y="4161949"/>
              <a:ext cx="1223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低（仅 embedding）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60824" y="4161949"/>
              <a:ext cx="10135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5–10× LLM 调用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07956" y="4161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向量胜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48001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语料级综合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55592" y="4800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只见树木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34937" y="48001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社区摘要覆盖全局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73919" y="4800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图胜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847" y="54287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增量更新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87519" y="54287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容易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0149" y="5428774"/>
              <a:ext cx="1854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微软版需重建 / LightRAG 支持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07956" y="54287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看实现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15720" cy="738854"/>
            <a:chOff x="595122" y="501491"/>
            <a:chExt cx="631572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工程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1572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四条「反直觉」工程原则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不要全量知识入图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只建模核心实体、关键关系与业务规则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长尾细节仍由向量检索兜底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过度建模会让维护成本指数上升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别让图成为新黑盒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2568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Schema 必须可解释、可审计、可演进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领域专家审核 + 自动化一致性检查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图不是静态库，是活的知识契约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注意可呈现性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原始三元组对用户不友好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转成自然语言摘要 / 表格 / 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让模型读懂，也让人看见推理过程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7767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不要把它当万能解药：闲聊与创意写作上图反而构成束缚，应建智能路由网关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602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来源：腾讯云开发者社区《2026 年企业级知识图谱增强 RAG 架构实战》。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75005" cy="738854"/>
            <a:chOff x="595122" y="501491"/>
            <a:chExt cx="54750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时序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750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Graphiti：双时间模型与边失效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42988" y="2019300"/>
            <a:ext cx="9720262" cy="4006691"/>
            <a:chOff x="1042988" y="2019300"/>
            <a:chExt cx="9720262" cy="4006691"/>
          </a:xfrm>
        </p:grpSpPr>
        <p:sp>
          <p:nvSpPr>
            <p:cNvPr id="6" name="Rectangle 6"/>
            <p:cNvSpPr/>
            <p:nvPr/>
          </p:nvSpPr>
          <p:spPr>
            <a:xfrm>
              <a:off x="1428750" y="2333625"/>
              <a:ext cx="142875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74888" y="25698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用户（实体）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286250" y="2019300"/>
              <a:ext cx="161925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08690" y="2131695"/>
              <a:ext cx="37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 公司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70021" y="2327434"/>
              <a:ext cx="8517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t_invalid = 2025-06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86250" y="2857500"/>
              <a:ext cx="161925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7145">
              <a:solidFill>
                <a:srgbClr val="E3061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05969" y="2969895"/>
              <a:ext cx="379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 公司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9424" y="3165634"/>
              <a:ext cx="8929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t_valid = 2025-06 起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876550" y="2266950"/>
              <a:ext cx="1390650" cy="228600"/>
            </a:xfrm>
            <a:custGeom>
              <a:avLst/>
              <a:gdLst/>
              <a:ahLst/>
              <a:cxnLst/>
              <a:rect l="l" t="t" r="r" b="b"/>
              <a:pathLst>
                <a:path w="1390650" h="228600">
                  <a:moveTo>
                    <a:pt x="0" y="228600"/>
                  </a:moveTo>
                  <a:lnTo>
                    <a:pt x="139065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  <a:custDash>
                <a:ds d="437500" sp="312500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2876550" y="2686050"/>
              <a:ext cx="1390650" cy="419100"/>
            </a:xfrm>
            <a:custGeom>
              <a:avLst/>
              <a:gdLst/>
              <a:ahLst/>
              <a:cxnLst/>
              <a:rect l="l" t="t" r="r" b="b"/>
              <a:pathLst>
                <a:path w="1390650" h="419100">
                  <a:moveTo>
                    <a:pt x="0" y="0"/>
                  </a:moveTo>
                  <a:lnTo>
                    <a:pt x="1390650" y="41910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15665" y="230028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已失效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65182" y="28908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当前有效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4047" y="21807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冲突处理：不做删除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4238" y="2463641"/>
              <a:ext cx="15991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执行边失效 edge invalidation，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4238" y="2673191"/>
              <a:ext cx="16101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给旧边打上 t_invalid，保留历史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4238" y="293989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既能答「现在在哪家公司」，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34238" y="31494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也能答「去年这时在哪家」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8750" y="352425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28750" y="352425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13916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事件时间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4488" y="4017645"/>
              <a:ext cx="1063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t_valid / t_invalid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488" y="42162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事实在现实世界何时成立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43500" y="352425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43500" y="352425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28666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摄取时间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9238" y="4017645"/>
              <a:ext cx="1318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t_created / t_expired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9238" y="42162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系统何时知道这条事实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28750" y="476250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14297" y="4942999"/>
              <a:ext cx="820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Episode 情节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14488" y="5214938"/>
              <a:ext cx="10443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 · JSON · 文档统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4488" y="5424488"/>
              <a:ext cx="10191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一抽象为增量输入单元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67250" y="476250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52797" y="4942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增量构建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2988" y="521493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无需全图重建，新数据实时入图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05750" y="476250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1297" y="4942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混合检索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5214938"/>
              <a:ext cx="10443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语义 + BM25 + 图遍历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1488" y="5424488"/>
              <a:ext cx="5375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，RRF 融合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988" y="5864066"/>
              <a:ext cx="63492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Zep 论文（arXiv:2501.13956）：DMR 94.8% vs MemGPT 93.4%；LongMemEval 最高 +18.5%、p95 延迟 −90%（厂商自评）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记忆层技术路线横向对比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05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Zep / Graphiti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时序知识图谱，双时间模型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159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DMR 94.8% vs MemGPT 93.4%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局限：依赖图数据库，部署成本高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Mem0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70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向量为主 + 图谱（Pro 层）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596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框架无关，SDK 即接入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054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图谱能力需 $249/月 Pro 套餐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894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Letta（原 MemGPT）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3851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OS 启发三层：核心 / 归档 / 召回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自己决定记住什么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记忆质量取决于模型判断力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91738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LangMem 适合已在 LangGraph 上的团队；Supermemory 面向编程 agent、延迟 &lt;300ms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487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来源：2026 Agent Memory 全景盘点；多为厂商自评数据，缺第三方复现。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774905" cy="738854"/>
            <a:chOff x="595122" y="501491"/>
            <a:chExt cx="87749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编排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7749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LangGraph 状态图：节点、条件边、回边与检查点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042988" y="2000250"/>
            <a:ext cx="10101262" cy="4025741"/>
            <a:chOff x="1042988" y="2000250"/>
            <a:chExt cx="10101262" cy="4025741"/>
          </a:xfrm>
        </p:grpSpPr>
        <p:sp>
          <p:nvSpPr>
            <p:cNvPr id="6" name="Rectangle 6"/>
            <p:cNvSpPr/>
            <p:nvPr/>
          </p:nvSpPr>
          <p:spPr>
            <a:xfrm>
              <a:off x="2714625" y="2000250"/>
              <a:ext cx="1428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39414" y="2179320"/>
              <a:ext cx="3791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START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714625" y="2819400"/>
              <a:ext cx="1428750" cy="533400"/>
            </a:xfrm>
            <a:prstGeom prst="roundRect">
              <a:avLst>
                <a:gd name="adj" fmla="val 5357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80870" y="2933224"/>
              <a:ext cx="696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节点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64253" y="3148012"/>
              <a:ext cx="5294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推理 + 决策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714625" y="4000500"/>
              <a:ext cx="142875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8186" y="4114324"/>
              <a:ext cx="661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tools 节点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22308" y="43291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14625" y="5029200"/>
              <a:ext cx="14287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13344" y="5208270"/>
              <a:ext cx="23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END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2819400"/>
              <a:ext cx="142875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51547" y="2941320"/>
              <a:ext cx="8211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Checkpointer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1196" y="3156109"/>
              <a:ext cx="7418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thread_id 持久化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495550" y="30861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429000" y="2457450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396615" y="27212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429000" y="33718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396615" y="35594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381375" y="3648075"/>
              <a:ext cx="95250" cy="952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3429000" y="37528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3396615" y="39023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57588" y="3816191"/>
              <a:ext cx="4905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continue</a:t>
              </a:r>
            </a:p>
          </p:txBody>
        </p:sp>
        <p:sp>
          <p:nvSpPr>
            <p:cNvPr id="28" name="Polyline 28"/>
            <p:cNvSpPr/>
            <p:nvPr/>
          </p:nvSpPr>
          <p:spPr>
            <a:xfrm>
              <a:off x="1905000" y="3733800"/>
              <a:ext cx="1524000" cy="1514475"/>
            </a:xfrm>
            <a:custGeom>
              <a:avLst/>
              <a:gdLst/>
              <a:ahLst/>
              <a:cxnLst/>
              <a:rect l="l" t="t" r="r" b="b"/>
              <a:pathLst>
                <a:path w="1524000" h="1514475">
                  <a:moveTo>
                    <a:pt x="15240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90575" y="15144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616518" y="52158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14538" y="4387691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end</a:t>
              </a:r>
            </a:p>
          </p:txBody>
        </p:sp>
        <p:sp>
          <p:nvSpPr>
            <p:cNvPr id="31" name="Polyline 31"/>
            <p:cNvSpPr/>
            <p:nvPr/>
          </p:nvSpPr>
          <p:spPr>
            <a:xfrm>
              <a:off x="4162425" y="3086100"/>
              <a:ext cx="504825" cy="1181100"/>
            </a:xfrm>
            <a:custGeom>
              <a:avLst/>
              <a:gdLst/>
              <a:ahLst/>
              <a:cxnLst/>
              <a:rect l="l" t="t" r="r" b="b"/>
              <a:pathLst>
                <a:path w="504825" h="1181100">
                  <a:moveTo>
                    <a:pt x="0" y="1181100"/>
                  </a:moveTo>
                  <a:lnTo>
                    <a:pt x="504825" y="1181100"/>
                  </a:lnTo>
                  <a:lnTo>
                    <a:pt x="504825" y="0"/>
                  </a:lnTo>
                  <a:lnTo>
                    <a:pt x="1905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181475" y="3053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76788" y="3644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工具回边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2190750"/>
              <a:ext cx="52387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05500" y="2190750"/>
              <a:ext cx="47625" cy="5905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10097" y="2333149"/>
              <a:ext cx="931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序列 Sequence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10288" y="25779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稳定顺序，易重放与回归测试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905500" y="2914650"/>
              <a:ext cx="52387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905500" y="2914650"/>
              <a:ext cx="47625" cy="5905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0097" y="3057049"/>
              <a:ext cx="1672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条件分支 Conditional Edge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10288" y="3301841"/>
              <a:ext cx="1880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按运行时信号路由（continue / end）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905500" y="3638550"/>
              <a:ext cx="52387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05500" y="3638550"/>
              <a:ext cx="47625" cy="5905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10097" y="3780949"/>
              <a:ext cx="669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回边 Cycle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10288" y="4025741"/>
              <a:ext cx="22504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工具调用 → 结果回填 → 再决策，天然重试结构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905500" y="4362450"/>
              <a:ext cx="52387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905500" y="4362450"/>
              <a:ext cx="47625" cy="5905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10097" y="4504849"/>
              <a:ext cx="1333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检查点 Checkpointer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10288" y="4749641"/>
              <a:ext cx="22835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 thread_id 持久化：暂停 / 恢复 / 时间旅行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05500" y="5086350"/>
              <a:ext cx="52387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05500" y="5086350"/>
              <a:ext cx="47625" cy="5905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10097" y="5228749"/>
              <a:ext cx="970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Store 长期记忆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10288" y="5473541"/>
              <a:ext cx="26257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跨会话保存语义（画像）/ 情景（轨迹）/ 程序性记忆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2988" y="5864066"/>
              <a:ext cx="54406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从一个 agent + 一个受控循环起步；只有存在真实依赖、权限边界、并行任务或独立验证角色时，才拆更多节点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6" name="TextBox 56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43092" cy="738854"/>
            <a:chOff x="595122" y="501491"/>
            <a:chExt cx="43430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工具栈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430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实现选型速查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76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Microsoft GraphRAG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71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开山之作，31K+ stars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概念完整、全局问题强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不支持增量更新，索引昂贵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759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LightRAG（HKUDS）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915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29.3K stars，EMNLP 2025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双层检索 + 增量更新 + 多模态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 生产部署首选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832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nano / Fast / Youtu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nano：极简，学习原理首选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2465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Fast：PageRank 探索 + 可解释视图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4685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Youtu：腾讯优图 ICLR 2026 工业级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8276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入门 nano → 生产增量 LightRAG → 大规模工业 Microsoft / Youtu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969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来源：CSDN《GraphRAG 深度解析（2026 版）》；各项目 GitHub。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陷阱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五个常见坑与对策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表现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06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过度工程化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9271" y="2323624"/>
              <a:ext cx="155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在 trivial 任务上强行上图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2699" y="2323624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先画决策矩阵，简单任务保留 loop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忽略实体解析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23623" y="3085624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同一实体多种名称 → 图碎片化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85440" y="3085624"/>
              <a:ext cx="2536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规范化 + 别名归并；实体解析定多跳可信度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使用无类型边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4071" y="3847624"/>
              <a:ext cx="140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退回「A 和 B 有关系」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54660" y="3847624"/>
              <a:ext cx="19978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六类类型化边，Stage 5 不可跳过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忽略反馈循环代价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99481" y="46096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回退路径又变成新的死循环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57081" y="46096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回退路径也要有预算与熔断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371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忽略时序维度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31409" y="53716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事实会过期，不会死亡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91118" y="53716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双时间模型：边失效而非删除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度量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成本生死线：监控指标必须改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5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50% 是生死线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循环通过率 &gt;50%：图更优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通过率 30%：图的代价是循环 3×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并发节点越多，失败浪费 token 越多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失败模式完全不同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循环：无限重试同一件事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图：多个 agent 同时炸开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账单爆炸式增长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指标必须换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别只看 wall-clock 时间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要看「每次成功完成成本」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否则为并行付出 3 倍 token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7660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只看速度会为并行付 3 倍 token；只看成本会浪费图在高通过率任务上的优势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041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来源：Flowtivity（2026）；GraphRAG-Bench arXiv:2506.05690。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641217" cy="322707"/>
            <a:chOff x="601218" y="1898332"/>
            <a:chExt cx="3641217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图工程 = 以图为骨架的 agent 架构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166682" cy="322707"/>
            <a:chOff x="601218" y="2431732"/>
            <a:chExt cx="316668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两条腿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流程腿五阶段 · 语义腿六类边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793111" cy="322707"/>
            <a:chOff x="601218" y="2965132"/>
            <a:chExt cx="2793111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三种图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知识图 · 记忆图 · 任务图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106103" cy="322707"/>
            <a:chOff x="6468618" y="1898332"/>
            <a:chExt cx="3106103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决策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1914525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 个以上独立验证步骤才上图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3540252" cy="322707"/>
            <a:chOff x="6468618" y="2431732"/>
            <a:chExt cx="354025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度量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4479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每次成功完成成本，而非墙钟时间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4487875" cy="322707"/>
            <a:chOff x="6468618" y="2965132"/>
            <a:chExt cx="4487875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981325"/>
              <a:ext cx="3991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Flowtivity · Zep · LangGraph · GraphRAG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8023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Graph Engineering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rapheng_v2">
  <a:themeElements>
    <a:clrScheme name="grapheng_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apheng_v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apheng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2026-09-01T05:43:48Z</dcterms:created>
  <dcterms:modified xsi:type="dcterms:W3CDTF">2026-09-01T05:43:48Z</dcterms:modified>
  <cp:category/>
  <cp:contentStatus/>
</cp:coreProperties>
</file>