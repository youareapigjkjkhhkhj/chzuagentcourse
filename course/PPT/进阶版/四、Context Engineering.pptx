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txeng_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txeng_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2209800"/>
            <a:ext cx="95250" cy="1981200"/>
          </a:xfrm>
          <a:prstGeom prst="rect">
            <a:avLst/>
          </a:prstGeom>
          <a:solidFill>
            <a:srgbClr val="E30613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895350" y="2295049"/>
            <a:ext cx="8856980" cy="1493996"/>
            <a:chOff x="895350" y="2295049"/>
            <a:chExt cx="8856980" cy="1493996"/>
          </a:xfrm>
        </p:grpSpPr>
        <p:sp>
          <p:nvSpPr>
            <p:cNvPr id="3" name="TextBox 3"/>
            <p:cNvSpPr txBox="1"/>
            <p:nvPr/>
          </p:nvSpPr>
          <p:spPr>
            <a:xfrm>
              <a:off x="909447" y="2295049"/>
              <a:ext cx="27010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225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EDUCATIONAL SERIES · 进阶版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5350" y="2708910"/>
              <a:ext cx="885698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Context Engineering 上下文工程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6780" y="3495675"/>
              <a:ext cx="41144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给智能体管理“注意力预算”的工程学（2026）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4266" y="5943600"/>
            <a:ext cx="10983469" cy="358711"/>
            <a:chOff x="604266" y="5943600"/>
            <a:chExt cx="10983469" cy="358711"/>
          </a:xfrm>
        </p:grpSpPr>
        <p:sp>
          <p:nvSpPr>
            <p:cNvPr id="7" name="Line 7"/>
            <p:cNvSpPr/>
            <p:nvPr/>
          </p:nvSpPr>
          <p:spPr>
            <a:xfrm>
              <a:off x="609600" y="594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4266" y="6096952"/>
              <a:ext cx="1713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AIGC 教育平台 · 课程讲义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799636" y="6096952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2026-08-31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563624" cy="738854"/>
            <a:chOff x="595122" y="501491"/>
            <a:chExt cx="156362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本讲目录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2599109" cy="322707"/>
            <a:chOff x="601218" y="1898332"/>
            <a:chExt cx="2599109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7280" y="1914525"/>
              <a:ext cx="21030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从 Prompt 到 Context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1924812" cy="322707"/>
            <a:chOff x="601218" y="2431732"/>
            <a:chExt cx="1924812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7280" y="24479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预算与失败模式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2965132"/>
            <a:ext cx="2126742" cy="322707"/>
            <a:chOff x="601218" y="2965132"/>
            <a:chExt cx="2126742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7280" y="2981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四策略：写选压隔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1218" y="3498532"/>
            <a:ext cx="2753725" cy="322707"/>
            <a:chOff x="601218" y="3498532"/>
            <a:chExt cx="2753725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012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7280" y="3514725"/>
              <a:ext cx="22576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Manus 军规与 KV-cache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8618" y="1898332"/>
            <a:ext cx="1924812" cy="322707"/>
            <a:chOff x="6468618" y="1898332"/>
            <a:chExt cx="1924812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64686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64680" y="19145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渐进披露与技能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8618" y="2431732"/>
            <a:ext cx="1924812" cy="322707"/>
            <a:chOff x="6468618" y="2431732"/>
            <a:chExt cx="1924812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4686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64680" y="24479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决策矩阵与选型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68618" y="2965132"/>
            <a:ext cx="1966776" cy="322707"/>
            <a:chOff x="6468618" y="2965132"/>
            <a:chExt cx="1966776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4686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4680" y="2981325"/>
              <a:ext cx="14707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管线与 Harness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68618" y="3498532"/>
            <a:ext cx="915162" cy="322707"/>
            <a:chOff x="6468618" y="3498532"/>
            <a:chExt cx="915162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64686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64680" y="35147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总结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0" name="TextBox 30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Context Engineering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212378" cy="738854"/>
            <a:chOff x="595122" y="501491"/>
            <a:chExt cx="621237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范式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21237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从 Prompt 到 Context 的范式转移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两个定义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3459956"/>
              <a:ext cx="30308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Karpathy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LLM 是 CPU，上下文窗口是 RAM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783806"/>
              <a:ext cx="28182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Anthropic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找到最小的高信号 token 集合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4107656"/>
              <a:ext cx="1865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目标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最大化期望结果的概率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6" name="Rectangle 16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46342" y="18926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为什么是一等公民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553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18935" y="3459956"/>
              <a:ext cx="22251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Manus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典型任务 ~50 次工具调用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53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8935" y="3783806"/>
              <a:ext cx="18339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100:1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输入:输出 token 比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18935" y="4107656"/>
              <a:ext cx="24690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结论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上下文工程不是优化项，是本体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6" name="TextBox 26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Context Engineering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284646" cy="738854"/>
            <a:chOff x="595122" y="501491"/>
            <a:chExt cx="628464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预算详图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2846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上下文预算：五分区与 30–40% 法则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1428750" y="1807845"/>
            <a:ext cx="9525000" cy="4002405"/>
            <a:chOff x="1428750" y="1807845"/>
            <a:chExt cx="9525000" cy="4002405"/>
          </a:xfrm>
        </p:grpSpPr>
        <p:sp>
          <p:nvSpPr>
            <p:cNvPr id="6" name="Rectangle 6"/>
            <p:cNvSpPr/>
            <p:nvPr/>
          </p:nvSpPr>
          <p:spPr>
            <a:xfrm>
              <a:off x="1428750" y="2000250"/>
              <a:ext cx="4953000" cy="3810000"/>
            </a:xfrm>
            <a:prstGeom prst="roundRect">
              <a:avLst>
                <a:gd name="adj" fmla="val 750"/>
              </a:avLst>
            </a:prstGeom>
            <a:noFill/>
            <a:ln w="11430">
              <a:solidFill>
                <a:srgbClr val="999999"/>
              </a:solidFill>
              <a:custDash>
                <a:ds d="500000" sp="333333"/>
              </a:custDash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19238" y="1807845"/>
              <a:ext cx="18525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上下文窗口（例：200K tokens）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619250" y="2114550"/>
              <a:ext cx="4572000" cy="571500"/>
            </a:xfrm>
            <a:prstGeom prst="roundRect">
              <a:avLst>
                <a:gd name="adj" fmla="val 5000"/>
              </a:avLst>
            </a:prstGeom>
            <a:solidFill>
              <a:srgbClr val="1A1A1A"/>
            </a:solidFill>
            <a:ln w="9525">
              <a:solidFill>
                <a:srgbClr val="999999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804797" y="22569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系统指令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04988" y="2490788"/>
              <a:ext cx="58026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固定 · 2–8K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2743200"/>
              <a:ext cx="4572000" cy="571500"/>
            </a:xfrm>
            <a:prstGeom prst="roundRect">
              <a:avLst>
                <a:gd name="adj" fmla="val 50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04797" y="28855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工具定义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04988" y="3119438"/>
              <a:ext cx="86296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半固定 · 200–15K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619250" y="3371850"/>
              <a:ext cx="4572000" cy="666750"/>
            </a:xfrm>
            <a:prstGeom prst="roundRect">
              <a:avLst>
                <a:gd name="adj" fmla="val 4286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804797" y="35142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检索上下文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04988" y="3748088"/>
              <a:ext cx="108985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可变 · 来自知识库/记忆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619250" y="4095750"/>
              <a:ext cx="4572000" cy="762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9525">
              <a:solidFill>
                <a:srgbClr val="999999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804797" y="42381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对话历史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04988" y="4471988"/>
              <a:ext cx="71628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随会话持续增长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619250" y="4914900"/>
              <a:ext cx="4572000" cy="666750"/>
            </a:xfrm>
            <a:prstGeom prst="roundRect">
              <a:avLst>
                <a:gd name="adj" fmla="val 4286"/>
              </a:avLst>
            </a:prstGeom>
            <a:solidFill>
              <a:srgbClr val="E30613"/>
            </a:solidFill>
            <a:ln w="9525">
              <a:solidFill>
                <a:srgbClr val="99999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804797" y="50572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响应预留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04988" y="5291138"/>
              <a:ext cx="71628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为输出保留空间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048500" y="2114550"/>
              <a:ext cx="3905250" cy="1619250"/>
            </a:xfrm>
            <a:prstGeom prst="roundRect">
              <a:avLst>
                <a:gd name="adj" fmla="val 1765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271766" y="2286952"/>
              <a:ext cx="8573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30–40% 法则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72338" y="2588895"/>
              <a:ext cx="20813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多项研究一致：使用率保持 30–40% 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72338" y="2798445"/>
              <a:ext cx="22024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模型表现最佳；超出即引入 context rot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72338" y="3046095"/>
              <a:ext cx="20219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200K 窗口应装 60–80K 实际内容，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72338" y="3255645"/>
              <a:ext cx="11136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而不是塞满到 190K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048500" y="3924300"/>
              <a:ext cx="3905250" cy="1619250"/>
            </a:xfrm>
            <a:prstGeom prst="roundRect">
              <a:avLst>
                <a:gd name="adj" fmla="val 1765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271766" y="40967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窗口不是硬盘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72338" y="4398645"/>
              <a:ext cx="19965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每个 token 都影响每个输出 token；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72338" y="4608195"/>
              <a:ext cx="20692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噪声、矛盾、无关内容都会塑造回答。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72338" y="485584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把上下文当杂物抽屉，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72338" y="50653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杂物就会影响你的回答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6" name="TextBox 36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Context Engineering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4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978903" cy="738854"/>
            <a:chOff x="595122" y="501491"/>
            <a:chExt cx="697890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失败详图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97890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四大失败模式（Drew Breunig 分类法）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238250" y="2000250"/>
            <a:ext cx="9525000" cy="3984307"/>
            <a:chOff x="1238250" y="2000250"/>
            <a:chExt cx="9525000" cy="3984307"/>
          </a:xfrm>
        </p:grpSpPr>
        <p:sp>
          <p:nvSpPr>
            <p:cNvPr id="6" name="Rectangle 6"/>
            <p:cNvSpPr/>
            <p:nvPr/>
          </p:nvSpPr>
          <p:spPr>
            <a:xfrm>
              <a:off x="1238250" y="2000250"/>
              <a:ext cx="4476750" cy="438150"/>
            </a:xfrm>
            <a:prstGeom prst="roundRect">
              <a:avLst>
                <a:gd name="adj" fmla="val 6522"/>
              </a:avLst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404747" y="2180749"/>
              <a:ext cx="10560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① Poisoning 中毒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238250" y="2438400"/>
              <a:ext cx="4476750" cy="1238250"/>
            </a:xfrm>
            <a:prstGeom prst="roundRect">
              <a:avLst>
                <a:gd name="adj" fmla="val 2308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04938" y="2616041"/>
              <a:ext cx="22780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错误/幻觉进入上下文并被反复引用，复合放大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04938" y="2844641"/>
              <a:ext cx="38259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案例：Gemini 2.5 宝可梦代理把误读状态写进目标区，数百步追逐不可能目标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04938" y="3206591"/>
              <a:ext cx="19090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修复：注入前验证门 · 幻觉输出隔离区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2000250"/>
              <a:ext cx="4476750" cy="438150"/>
            </a:xfrm>
            <a:prstGeom prst="roundRect">
              <a:avLst>
                <a:gd name="adj" fmla="val 6522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452997" y="2180749"/>
              <a:ext cx="12080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② Distraction 分心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86500" y="2438400"/>
              <a:ext cx="4476750" cy="1238250"/>
            </a:xfrm>
            <a:prstGeom prst="roundRect">
              <a:avLst>
                <a:gd name="adj" fmla="val 2308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53188" y="2616041"/>
              <a:ext cx="21234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上下文过长 → 过度关注历史，忽视训练知识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53188" y="2844641"/>
              <a:ext cx="36246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案例：Gemini 超 ~100K 开始重复历史动作；Llama 405B 32K 就开始下滑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53188" y="3206591"/>
              <a:ext cx="24380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修复：激进剪枝，上下文是策划的工作区不是日志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238250" y="3905250"/>
              <a:ext cx="4476750" cy="438150"/>
            </a:xfrm>
            <a:prstGeom prst="roundRect">
              <a:avLst>
                <a:gd name="adj" fmla="val 6522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04747" y="4085749"/>
              <a:ext cx="10908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③ Confusion 混淆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238250" y="4343400"/>
              <a:ext cx="4476750" cy="1238250"/>
            </a:xfrm>
            <a:prstGeom prst="roundRect">
              <a:avLst>
                <a:gd name="adj" fmla="val 2308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04938" y="4521041"/>
              <a:ext cx="194684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无关内容/工具即便在容量内也拉低质量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04938" y="4749641"/>
              <a:ext cx="32287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案例：46 个工具时失败，裁到 19 个成功（GeoEngine，同窗口）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04938" y="5111591"/>
              <a:ext cx="18812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修复：对工具描述做 RAG，按需装载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286500" y="3905250"/>
              <a:ext cx="4476750" cy="438150"/>
            </a:xfrm>
            <a:prstGeom prst="roundRect">
              <a:avLst>
                <a:gd name="adj" fmla="val 6522"/>
              </a:avLst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52997" y="4085749"/>
              <a:ext cx="7880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④ Clash 冲突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86500" y="4343400"/>
              <a:ext cx="4476750" cy="1238250"/>
            </a:xfrm>
            <a:prstGeom prst="roundRect">
              <a:avLst>
                <a:gd name="adj" fmla="val 2308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53188" y="4521041"/>
              <a:ext cx="210690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新增信息与已有内容互相矛盾，推理被拖垮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3188" y="4749641"/>
              <a:ext cx="27305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案例：同任务分片多轮投喂平均 -39%；o3 98.1 → 64.1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3188" y="5111591"/>
              <a:ext cx="210690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修复：避免矛盾累积；必要时重开干净会话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064588" y="5808345"/>
              <a:ext cx="36818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四模式中三种“加得越多坏得越快”——上下文的信号噪比比容量更重要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2" name="TextBox 32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Context Engineering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454215" cy="738854"/>
            <a:chOff x="595122" y="501491"/>
            <a:chExt cx="445421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量化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45421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多轮悬崖与 Context Rot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189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 万会话实验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同任务分片成多轮投喂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22100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平均 -39%（微软+Salesforce）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1648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o3：98.1 → 64.1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损失分解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1775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信息拼接回单轮恢复 ~95%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20695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不可靠性 +112% vs 能力 -16%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烂的是多轮，不是信息缺失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启示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55508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开新会话常优于抢救长会话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802731"/>
              <a:ext cx="1360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使用率 &gt;40% 即 rot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6" name="Rectangle 26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6018" y="4050982"/>
              <a:ext cx="90603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Lost-in-the-middle vs Context Rot：位置偏差 vs 注意力预算耗竭，无需窗口满即发生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8304" y="4947285"/>
              <a:ext cx="29522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来源：memx、juggerinsight（2026）。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0" name="TextBox 30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Context Engineering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6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546036" cy="738854"/>
            <a:chOff x="595122" y="501491"/>
            <a:chExt cx="854603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策略总览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54603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四策略：Write / Select / Compress / Isolate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143000" y="2095500"/>
            <a:ext cx="10191750" cy="2320766"/>
            <a:chOff x="1143000" y="2095500"/>
            <a:chExt cx="10191750" cy="2320766"/>
          </a:xfrm>
        </p:grpSpPr>
        <p:sp>
          <p:nvSpPr>
            <p:cNvPr id="6" name="Rectangle 6"/>
            <p:cNvSpPr/>
            <p:nvPr/>
          </p:nvSpPr>
          <p:spPr>
            <a:xfrm>
              <a:off x="1143000" y="2095500"/>
              <a:ext cx="2190750" cy="419100"/>
            </a:xfrm>
            <a:prstGeom prst="roundRect">
              <a:avLst>
                <a:gd name="adj" fmla="val 6818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956573" y="2256949"/>
              <a:ext cx="5636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Write 写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43000" y="2514600"/>
              <a:ext cx="2190750" cy="1143000"/>
            </a:xfrm>
            <a:prstGeom prst="roundRect">
              <a:avLst>
                <a:gd name="adj" fmla="val 25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28738" y="2703195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把信息存到窗口外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8738" y="2977991"/>
              <a:ext cx="11906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scratchpad / todo.md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8738" y="3225641"/>
              <a:ext cx="165618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记忆工具（200K 截断前存 plan）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810000" y="2095500"/>
              <a:ext cx="2190750" cy="419100"/>
            </a:xfrm>
            <a:prstGeom prst="roundRect">
              <a:avLst>
                <a:gd name="adj" fmla="val 6818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99619" y="2256949"/>
              <a:ext cx="6115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Select 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810000" y="2514600"/>
              <a:ext cx="2190750" cy="1143000"/>
            </a:xfrm>
            <a:prstGeom prst="roundRect">
              <a:avLst>
                <a:gd name="adj" fmla="val 25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995738" y="2703195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只把所需拉回窗口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95738" y="2977991"/>
              <a:ext cx="116422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RAG · 工具检索（3×）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95738" y="3225641"/>
              <a:ext cx="12120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CLAUDE.md 按项目加载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477000" y="2095500"/>
              <a:ext cx="2190750" cy="419100"/>
            </a:xfrm>
            <a:prstGeom prst="roundRect">
              <a:avLst>
                <a:gd name="adj" fmla="val 6818"/>
              </a:avLst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59206" y="2256949"/>
              <a:ext cx="8263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Compress 压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477000" y="2514600"/>
              <a:ext cx="2190750" cy="1143000"/>
            </a:xfrm>
            <a:prstGeom prst="roundRect">
              <a:avLst>
                <a:gd name="adj" fmla="val 25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62738" y="2703195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摘要只留任务必需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62738" y="2977991"/>
              <a:ext cx="16520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Claude Code 95% auto-compact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62738" y="3225641"/>
              <a:ext cx="14224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tool result clearing 最安全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144000" y="2095500"/>
              <a:ext cx="2190750" cy="419100"/>
            </a:xfrm>
            <a:prstGeom prst="roundRect">
              <a:avLst>
                <a:gd name="adj" fmla="val 6818"/>
              </a:avLst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913074" y="2256949"/>
              <a:ext cx="6526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Isolate 隔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144000" y="2514600"/>
              <a:ext cx="2190750" cy="1143000"/>
            </a:xfrm>
            <a:prstGeom prst="roundRect">
              <a:avLst>
                <a:gd name="adj" fmla="val 25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329738" y="2703195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拆成多个干净窗口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29738" y="2977991"/>
              <a:ext cx="10085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multi-agent 子代理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29738" y="3225641"/>
              <a:ext cx="121853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只回传 1–2K token 摘要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24388" y="3998595"/>
              <a:ext cx="30384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生产智能体都是四者的混合：先懂失败模式，再按需组合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95322" y="4254341"/>
              <a:ext cx="48966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上下文工程覆盖窗口内的一切：系统指令 · 工具定义 · MCP 资源 · 检索文档 · 历史 · 动作轨迹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3" name="TextBox 33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Context Engineering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7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142106" cy="738854"/>
            <a:chOff x="595122" y="501491"/>
            <a:chExt cx="514210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33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150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03 · Select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14210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Select：检索设计的三个决策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何时检索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26245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Pre-retrieval 快 vs Just-in-time 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20544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生产用混合：基线上下文+按需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检索多少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55508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无关内容挤占注意力反升幻觉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802731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少而准 &gt; 多而杂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19" name="Rectangle 19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75142" y="1892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放哪里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76285" y="2555081"/>
              <a:ext cx="20242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关键内容放靠近 query 的末端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8027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末端注意力最强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5" name="Rectangle 25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6018" y="4050982"/>
              <a:ext cx="96451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对工具描述本身做 RAG：选择准确率 ~3×，提速 77%（&gt;30 工具开始退化，&gt;100 几乎必败）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8304" y="4947285"/>
              <a:ext cx="33723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来源：jdfortress、akshayparkhi（2026）。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9" name="TextBox 29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Context Engineering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8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098292" cy="738854"/>
            <a:chOff x="595122" y="501491"/>
            <a:chExt cx="309829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13715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Compress 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0982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压缩与可恢复剪枝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138238" y="2381250"/>
            <a:ext cx="9720262" cy="2905125"/>
            <a:chOff x="1138238" y="2381250"/>
            <a:chExt cx="9720262" cy="2905125"/>
          </a:xfrm>
        </p:grpSpPr>
        <p:sp>
          <p:nvSpPr>
            <p:cNvPr id="6" name="Rectangle 6"/>
            <p:cNvSpPr/>
            <p:nvPr/>
          </p:nvSpPr>
          <p:spPr>
            <a:xfrm>
              <a:off x="1143000" y="2381250"/>
              <a:ext cx="1809750" cy="571500"/>
            </a:xfrm>
            <a:prstGeom prst="roundRect">
              <a:avLst>
                <a:gd name="adj" fmla="val 5000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497902" y="2610802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对话与工具输出累积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952750" y="2667000"/>
              <a:ext cx="28575" cy="9525"/>
            </a:xfrm>
            <a:custGeom>
              <a:avLst/>
              <a:gdLst/>
              <a:ahLst/>
              <a:cxnLst/>
              <a:rect l="l" t="t" r="r" b="b"/>
              <a:pathLst>
                <a:path w="28575" h="9525">
                  <a:moveTo>
                    <a:pt x="0" y="0"/>
                  </a:moveTo>
                  <a:lnTo>
                    <a:pt x="285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2987992" y="26346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143250" y="2381250"/>
              <a:ext cx="1809750" cy="571500"/>
            </a:xfrm>
            <a:prstGeom prst="roundRect">
              <a:avLst>
                <a:gd name="adj" fmla="val 5000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524049" y="2610802"/>
              <a:ext cx="10481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达到 95% 窗口阈值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953000" y="2667000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5178742" y="26346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0" y="2381250"/>
              <a:ext cx="2476500" cy="571500"/>
            </a:xfrm>
            <a:prstGeom prst="roundRect">
              <a:avLst>
                <a:gd name="adj" fmla="val 5000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585956" y="2610802"/>
              <a:ext cx="19725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摘要压缩（留决策/未决 bug/状态）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7810500" y="2667000"/>
              <a:ext cx="409575" cy="9525"/>
            </a:xfrm>
            <a:custGeom>
              <a:avLst/>
              <a:gdLst/>
              <a:ahLst/>
              <a:cxnLst/>
              <a:rect l="l" t="t" r="r" b="b"/>
              <a:pathLst>
                <a:path w="409575" h="9525">
                  <a:moveTo>
                    <a:pt x="0" y="0"/>
                  </a:moveTo>
                  <a:lnTo>
                    <a:pt x="4095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8226742" y="26346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8382000" y="2381250"/>
              <a:ext cx="1809750" cy="571500"/>
            </a:xfrm>
            <a:prstGeom prst="roundRect">
              <a:avLst>
                <a:gd name="adj" fmla="val 5000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51182" y="2610802"/>
              <a:ext cx="12713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新窗口 + 最近 5 个文件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8238" y="3244691"/>
              <a:ext cx="46819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Claude Code auto-compact：超 95% 自动触发；丢弃冗余工具输出，保留架构决策与未决问题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8238" y="3454241"/>
              <a:ext cx="38214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Anthropic API 原语 compact_20260112：阈值可配（min 50K，默认 150K）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143000" y="3857625"/>
              <a:ext cx="30480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366647" y="4038124"/>
              <a:ext cx="14464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Restorable 可恢复原则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66838" y="4312920"/>
              <a:ext cx="11744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网页 → 丢正文留 URL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66838" y="4541520"/>
              <a:ext cx="13604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文档 → 丢内容留文件路径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66838" y="4770120"/>
              <a:ext cx="16482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API → 丢 payload 留端点+参数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66838" y="5025866"/>
              <a:ext cx="15549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上下文缩小，信息永不永久丢失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476750" y="3857625"/>
              <a:ext cx="30480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700397" y="40381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最安全的一刀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00588" y="4312920"/>
              <a:ext cx="12936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Tool Result Eviction：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00588" y="4541520"/>
              <a:ext cx="14755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工具结果一旦“用完即弃”，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00588" y="4770120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原始输出从历史中整体移除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00588" y="5025866"/>
              <a:ext cx="14392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轻量、无信息损、无需 LLM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810500" y="3857625"/>
              <a:ext cx="30480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34147" y="4038124"/>
              <a:ext cx="7731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剪枝 vs 摘要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34338" y="4312920"/>
              <a:ext cx="18935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剪枝用启发式/小模型过滤无关内容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34338" y="4541520"/>
              <a:ext cx="22458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Provence（1.75GB）可剪 95% 无关文本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34338" y="4770120"/>
              <a:ext cx="213702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Cognition：生产建议微调专用摘要模型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34338" y="5025866"/>
              <a:ext cx="18025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先最大化 recall，再迭代 precision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1" name="TextBox 41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Context Engineering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9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397080" cy="738854"/>
            <a:chOff x="595122" y="501491"/>
            <a:chExt cx="539708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7355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150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03 · Write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39708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Write：文件系统即终极上下文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5830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Manus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555081"/>
              <a:ext cx="1715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无限 · 持久 · 可直接操作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802731"/>
              <a:ext cx="15719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todo.md 每步复诵目标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2" name="Rectangle 12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03242" y="1892618"/>
              <a:ext cx="1084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Claude Code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04385" y="2555081"/>
              <a:ext cx="21527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CLAUDE.md / TASK.md 跨会话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802731"/>
              <a:ext cx="12930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记忆工具公开 beta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18" name="Rectangle 18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75142" y="1892618"/>
              <a:ext cx="9114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think 工具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76285" y="2555081"/>
              <a:ext cx="2242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scratchpad 写推理不脏主上下文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76285" y="2802731"/>
              <a:ext cx="1021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专业基准 +54%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4" name="Rectangle 24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6018" y="4050982"/>
              <a:ext cx="75320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宝可梦 Claude：数千步靠外部笔记保持精确记数，上下文重置后读笔记续玩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8304" y="4947285"/>
              <a:ext cx="43981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来源：agentic-ai.readthedocs、akshayparkhi（2026）。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8" name="TextBox 28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Context Engineering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10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643881" cy="738854"/>
            <a:chOff x="595122" y="501491"/>
            <a:chExt cx="564388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120646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Isolate 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64388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Isolate：多代理隔离与摘要回传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428750" y="2095500"/>
            <a:ext cx="9239250" cy="3425666"/>
            <a:chOff x="1428750" y="2095500"/>
            <a:chExt cx="9239250" cy="3425666"/>
          </a:xfrm>
        </p:grpSpPr>
        <p:sp>
          <p:nvSpPr>
            <p:cNvPr id="6" name="Rectangle 6"/>
            <p:cNvSpPr/>
            <p:nvPr/>
          </p:nvSpPr>
          <p:spPr>
            <a:xfrm>
              <a:off x="4572000" y="2095500"/>
              <a:ext cx="2857500" cy="571500"/>
            </a:xfrm>
            <a:prstGeom prst="roundRect">
              <a:avLst>
                <a:gd name="adj" fmla="val 5000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237729" y="2320766"/>
              <a:ext cx="15260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LeadResearcher 主代理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997642" y="2825591"/>
              <a:ext cx="20062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计划先存 Memory（防 200K 截断丢失）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428750" y="3619500"/>
              <a:ext cx="2381250" cy="571500"/>
            </a:xfrm>
            <a:prstGeom prst="roundRect">
              <a:avLst>
                <a:gd name="adj" fmla="val 5000"/>
              </a:avLst>
            </a:prstGeom>
            <a:solidFill>
              <a:srgbClr val="F5F5F5"/>
            </a:solidFill>
            <a:ln w="11430">
              <a:solidFill>
                <a:srgbClr val="1A1A1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365461" y="3849052"/>
              <a:ext cx="5078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子代理 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51733" y="4338638"/>
              <a:ext cx="11352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干净独立窗口 · 并行探索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619375" y="2767965"/>
              <a:ext cx="2870835" cy="851535"/>
            </a:xfrm>
            <a:custGeom>
              <a:avLst/>
              <a:gdLst/>
              <a:ahLst/>
              <a:cxnLst/>
              <a:rect l="l" t="t" r="r" b="b"/>
              <a:pathLst>
                <a:path w="2870835" h="851535">
                  <a:moveTo>
                    <a:pt x="0" y="851535"/>
                  </a:moveTo>
                  <a:lnTo>
                    <a:pt x="287083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5486400" y="2734628"/>
              <a:ext cx="85725" cy="61912"/>
            </a:xfrm>
            <a:custGeom>
              <a:avLst/>
              <a:gdLst/>
              <a:ahLst/>
              <a:cxnLst/>
              <a:rect l="l" t="t" r="r" b="b"/>
              <a:pathLst>
                <a:path w="85725" h="61912">
                  <a:moveTo>
                    <a:pt x="85725" y="8572"/>
                  </a:moveTo>
                  <a:lnTo>
                    <a:pt x="19050" y="619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857750" y="3619500"/>
              <a:ext cx="2381250" cy="571500"/>
            </a:xfrm>
            <a:prstGeom prst="roundRect">
              <a:avLst>
                <a:gd name="adj" fmla="val 5000"/>
              </a:avLst>
            </a:prstGeom>
            <a:solidFill>
              <a:srgbClr val="F5F5F5"/>
            </a:solidFill>
            <a:ln w="11430">
              <a:solidFill>
                <a:srgbClr val="1A1A1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794461" y="3849052"/>
              <a:ext cx="5078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子代理 B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80733" y="4338638"/>
              <a:ext cx="11352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干净独立窗口 · 并行探索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613082" y="2818448"/>
              <a:ext cx="435293" cy="801053"/>
            </a:xfrm>
            <a:custGeom>
              <a:avLst/>
              <a:gdLst/>
              <a:ahLst/>
              <a:cxnLst/>
              <a:rect l="l" t="t" r="r" b="b"/>
              <a:pathLst>
                <a:path w="435293" h="801053">
                  <a:moveTo>
                    <a:pt x="435293" y="80105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5572125" y="2743200"/>
              <a:ext cx="65722" cy="84772"/>
            </a:xfrm>
            <a:custGeom>
              <a:avLst/>
              <a:gdLst/>
              <a:ahLst/>
              <a:cxnLst/>
              <a:rect l="l" t="t" r="r" b="b"/>
              <a:pathLst>
                <a:path w="65722" h="84772">
                  <a:moveTo>
                    <a:pt x="0" y="0"/>
                  </a:moveTo>
                  <a:lnTo>
                    <a:pt x="65722" y="54292"/>
                  </a:lnTo>
                  <a:lnTo>
                    <a:pt x="9525" y="84772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286750" y="3619500"/>
              <a:ext cx="2381250" cy="571500"/>
            </a:xfrm>
            <a:prstGeom prst="roundRect">
              <a:avLst>
                <a:gd name="adj" fmla="val 5000"/>
              </a:avLst>
            </a:prstGeom>
            <a:solidFill>
              <a:srgbClr val="F5F5F5"/>
            </a:solidFill>
            <a:ln w="11430">
              <a:solidFill>
                <a:srgbClr val="1A1A1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23461" y="3849052"/>
              <a:ext cx="5078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子代理 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909733" y="4338638"/>
              <a:ext cx="11352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干净独立窗口 · 并行探索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655945" y="2762250"/>
              <a:ext cx="3821430" cy="857250"/>
            </a:xfrm>
            <a:custGeom>
              <a:avLst/>
              <a:gdLst/>
              <a:ahLst/>
              <a:cxnLst/>
              <a:rect l="l" t="t" r="r" b="b"/>
              <a:pathLst>
                <a:path w="3821430" h="857250">
                  <a:moveTo>
                    <a:pt x="3821430" y="85725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5572125" y="2728912"/>
              <a:ext cx="84772" cy="62865"/>
            </a:xfrm>
            <a:custGeom>
              <a:avLst/>
              <a:gdLst/>
              <a:ahLst/>
              <a:cxnLst/>
              <a:rect l="l" t="t" r="r" b="b"/>
              <a:pathLst>
                <a:path w="84772" h="62865">
                  <a:moveTo>
                    <a:pt x="0" y="14288"/>
                  </a:moveTo>
                  <a:lnTo>
                    <a:pt x="84772" y="0"/>
                  </a:lnTo>
                  <a:lnTo>
                    <a:pt x="70485" y="62865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519238" y="4540091"/>
              <a:ext cx="11397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回传 1–2K token 摘要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17487" y="4855845"/>
              <a:ext cx="45570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整体比单代理 +90.2%（Anthropic 内部评测）；子代理烧 ~15× token 换并行广度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20227" y="5111591"/>
              <a:ext cx="41515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Cognition（Devin）：代理间共享完整 trace 而非单条消息；交接口用微调摘要模型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58298" y="5359241"/>
              <a:ext cx="267540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适用：并行探索 / 研究广度；单线程长任务用摘要更省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9" name="TextBox 29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Context Engineering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11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173197" cy="738854"/>
            <a:chOff x="595122" y="501491"/>
            <a:chExt cx="717319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11225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Manus 军规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17319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Manus 六条军规（重建四次框架的教训）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1143000" y="2095500"/>
            <a:ext cx="9525000" cy="3825716"/>
            <a:chOff x="1143000" y="2095500"/>
            <a:chExt cx="9525000" cy="3825716"/>
          </a:xfrm>
        </p:grpSpPr>
        <p:sp>
          <p:nvSpPr>
            <p:cNvPr id="6" name="Rectangle 6"/>
            <p:cNvSpPr/>
            <p:nvPr/>
          </p:nvSpPr>
          <p:spPr>
            <a:xfrm>
              <a:off x="1143000" y="2095500"/>
              <a:ext cx="30480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143000" y="2095500"/>
              <a:ext cx="3048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47597" y="2352199"/>
              <a:ext cx="1327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KV-cache 第一指标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47788" y="2692241"/>
              <a:ext cx="19818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cached $0.30 vs $3.00 /MTok（10×）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47788" y="2920841"/>
              <a:ext cx="173158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输入:输出 ≈ 100:1 → 命中率定成本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381500" y="2095500"/>
              <a:ext cx="30480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4381500" y="2095500"/>
              <a:ext cx="3048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86097" y="2352199"/>
              <a:ext cx="9363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② Append-only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86288" y="2692241"/>
              <a:ext cx="10637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勿修改/重排历史消息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86288" y="2920841"/>
              <a:ext cx="175907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确定性 JSON 序列化（键序稳定）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0" y="2095500"/>
              <a:ext cx="30480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20000" y="2095500"/>
              <a:ext cx="3048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824597" y="2352199"/>
              <a:ext cx="10511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③ 掩蔽而非删工具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24788" y="2692241"/>
              <a:ext cx="12348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删工具=砸缓存+幻觉动作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24788" y="2920841"/>
              <a:ext cx="153288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状态机 mask logits；统一前缀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43000" y="3762375"/>
              <a:ext cx="30480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143000" y="3762375"/>
              <a:ext cx="3048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347597" y="4019074"/>
              <a:ext cx="13911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④ 文件系统=终极上下文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47788" y="4359116"/>
              <a:ext cx="125691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无限 · 持久 · 可直接操作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47788" y="4587716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一切压缩必须可恢复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381500" y="3762375"/>
              <a:ext cx="30480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381500" y="3762375"/>
              <a:ext cx="3048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586097" y="4019074"/>
              <a:ext cx="9940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⑤ todo.md 复诵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86288" y="4359116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把目标写进最近注意力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86288" y="4587716"/>
              <a:ext cx="173158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对抗 lost-in-middle（50 步任务）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20000" y="3762375"/>
              <a:ext cx="30480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620000" y="3762375"/>
              <a:ext cx="3048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824597" y="4019074"/>
              <a:ext cx="6553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⑥ 保留错误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24788" y="4359116"/>
              <a:ext cx="15660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错误+堆栈留在上下文=信念更新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24788" y="4587716"/>
              <a:ext cx="14666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错误恢复是真 agentic 的标志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746548" y="5522595"/>
              <a:ext cx="431790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⑦ 勿被 few-shot 化：相似动作对堆满时会自动补全模式 → 注入结构化变化打破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72664" y="5759291"/>
              <a:ext cx="36656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“上下文越均匀，智能体越脆弱”—— Manus 团队；重建四次框架换来这六条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9" name="TextBox 39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Context Engineering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12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260083" cy="738854"/>
            <a:chOff x="595122" y="501491"/>
            <a:chExt cx="626008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10390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150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04 · KV-cache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26008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KV-cache 实操清单（10× 成本差）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3429000" cy="4191000"/>
            <a:chOff x="609600" y="1619250"/>
            <a:chExt cx="34290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保持前缀稳定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15719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一个 token 不同即失效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勿在系统提示放秒级时间戳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81500" y="1619250"/>
            <a:ext cx="3429000" cy="4191000"/>
            <a:chOff x="4381500" y="1619250"/>
            <a:chExt cx="34290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43815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03242" y="1892618"/>
              <a:ext cx="11267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Append-only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04385" y="3698081"/>
              <a:ext cx="14513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勿修改/重排历史消息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3945731"/>
              <a:ext cx="17160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JSON 键序确定性序列化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53400" y="1619250"/>
            <a:ext cx="3429000" cy="4191000"/>
            <a:chOff x="8153400" y="1619250"/>
            <a:chExt cx="3429000" cy="4191000"/>
          </a:xfrm>
        </p:grpSpPr>
        <p:sp>
          <p:nvSpPr>
            <p:cNvPr id="18" name="Rectangle 18"/>
            <p:cNvSpPr/>
            <p:nvPr/>
          </p:nvSpPr>
          <p:spPr>
            <a:xfrm>
              <a:off x="81534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751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断点与工具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76285" y="3698081"/>
              <a:ext cx="12703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显式标 cache 断点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76285" y="39457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勿中途增删工具定义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Context Engineering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13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021444" cy="738854"/>
            <a:chOff x="595122" y="501491"/>
            <a:chExt cx="502144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渐进披露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02144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Agent Skills：三层渐进披露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233488" y="2000250"/>
            <a:ext cx="8482012" cy="3920966"/>
            <a:chOff x="1233488" y="2000250"/>
            <a:chExt cx="8482012" cy="3920966"/>
          </a:xfrm>
        </p:grpSpPr>
        <p:sp>
          <p:nvSpPr>
            <p:cNvPr id="6" name="Rectangle 6"/>
            <p:cNvSpPr/>
            <p:nvPr/>
          </p:nvSpPr>
          <p:spPr>
            <a:xfrm>
              <a:off x="1428750" y="4000500"/>
              <a:ext cx="1714500" cy="1143000"/>
            </a:xfrm>
            <a:prstGeom prst="roundRect">
              <a:avLst>
                <a:gd name="adj" fmla="val 250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613916" y="4211002"/>
              <a:ext cx="605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层 1 发现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14488" y="4493895"/>
              <a:ext cx="9197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~80 token/技能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14488" y="4749641"/>
              <a:ext cx="8429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仅名称+描述常驻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14488" y="4959191"/>
              <a:ext cx="10913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17 技能 ≈ 1700 token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810000" y="2857500"/>
              <a:ext cx="2286000" cy="2286000"/>
            </a:xfrm>
            <a:prstGeom prst="roundRect">
              <a:avLst>
                <a:gd name="adj" fmla="val 125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995166" y="3068002"/>
              <a:ext cx="605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层 2 激活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95738" y="3350895"/>
              <a:ext cx="824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275–8K token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95738" y="3606641"/>
              <a:ext cx="89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判断相关后才加载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95738" y="3816191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完整指令体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858000" y="2000250"/>
              <a:ext cx="2857500" cy="3143250"/>
            </a:xfrm>
            <a:prstGeom prst="roundRect">
              <a:avLst>
                <a:gd name="adj" fmla="val 1000"/>
              </a:avLst>
            </a:prstGeom>
            <a:solidFill>
              <a:srgbClr val="E30613"/>
            </a:solidFill>
            <a:ln w="11430">
              <a:solidFill>
                <a:srgbClr val="99999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43166" y="2210752"/>
              <a:ext cx="605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层 3 执行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43738" y="24936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按需读取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43738" y="2749391"/>
              <a:ext cx="7988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脚本 + 参考资料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43738" y="2958941"/>
              <a:ext cx="89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只在任务执行期间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3190875" y="4476750"/>
              <a:ext cx="485775" cy="9525"/>
            </a:xfrm>
            <a:custGeom>
              <a:avLst/>
              <a:gdLst/>
              <a:ahLst/>
              <a:cxnLst/>
              <a:rect l="l" t="t" r="r" b="b"/>
              <a:pathLst>
                <a:path w="485775" h="9525">
                  <a:moveTo>
                    <a:pt x="0" y="0"/>
                  </a:moveTo>
                  <a:lnTo>
                    <a:pt x="4857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3683318" y="444436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6143625" y="4000500"/>
              <a:ext cx="581025" cy="9525"/>
            </a:xfrm>
            <a:custGeom>
              <a:avLst/>
              <a:gdLst/>
              <a:ahLst/>
              <a:cxnLst/>
              <a:rect l="l" t="t" r="r" b="b"/>
              <a:pathLst>
                <a:path w="581025" h="9525">
                  <a:moveTo>
                    <a:pt x="0" y="0"/>
                  </a:moveTo>
                  <a:lnTo>
                    <a:pt x="5810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6731318" y="39681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233488" y="5530691"/>
              <a:ext cx="603541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 Skills：markdown+YAML frontmatter；Anthropic 2025-12 发布后 OpenAI/Google/GitHub/Cursor 数周内跟进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33488" y="5759291"/>
              <a:ext cx="39007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延伸：agent 用 skill-creator 自写技能——观察成功行为→泛化→入库，闭环扩展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8" name="TextBox 28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Context Engineering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14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175849" cy="738854"/>
            <a:chOff x="595122" y="501491"/>
            <a:chExt cx="517584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决策矩阵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17584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技术 × 失败模式 + 长任务选型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技术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6613" y="17535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主修失败模式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06915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适用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0847" y="2323624"/>
              <a:ext cx="9577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RAG / 工具装载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51333" y="2323624"/>
              <a:ext cx="6893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混淆 · 分心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16584" y="2323624"/>
              <a:ext cx="8740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按需知识/能力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2762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0847" y="3085624"/>
              <a:ext cx="11708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隔离区 Quarantine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43547" y="3085624"/>
              <a:ext cx="11049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中毒 · 混淆 · 冲突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18828" y="30856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高风险输出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3524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0847" y="3847624"/>
              <a:ext cx="6893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剪枝 / 摘要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51333" y="3847624"/>
              <a:ext cx="6893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分心 · 混淆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52864" y="38476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长单线程任务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4286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0847" y="4609624"/>
              <a:ext cx="10049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外置 Offloading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751333" y="4609624"/>
              <a:ext cx="6893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中毒 · 分心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50620" y="4609624"/>
              <a:ext cx="10059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跨会话/超大对象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5048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847" y="5371624"/>
              <a:ext cx="8943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多代理 Isolate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63337" y="53716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全部（干净窗口）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84657" y="5371624"/>
              <a:ext cx="11378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并行探索/研究广度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3" name="TextBox 33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Context Engineering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15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368230" cy="738854"/>
            <a:chOff x="595122" y="501491"/>
            <a:chExt cx="436823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陷阱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36823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陷阱与未解问题（2026）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3429000" cy="4191000"/>
            <a:chOff x="609600" y="1619250"/>
            <a:chExt cx="34290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技能去激活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18734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激活多了 token 优势被吃掉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去激活逻辑无标准答案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81500" y="1619250"/>
            <a:ext cx="3429000" cy="4191000"/>
            <a:chOff x="4381500" y="1619250"/>
            <a:chExt cx="34290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43815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032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规模退化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04385" y="3698081"/>
              <a:ext cx="18282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100+ 技能描述重叠→误激活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39457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选择错误在下游复合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53400" y="1619250"/>
            <a:ext cx="3429000" cy="4191000"/>
            <a:chOff x="8153400" y="1619250"/>
            <a:chExt cx="3429000" cy="4191000"/>
          </a:xfrm>
        </p:grpSpPr>
        <p:sp>
          <p:nvSpPr>
            <p:cNvPr id="18" name="Rectangle 18"/>
            <p:cNvSpPr/>
            <p:nvPr/>
          </p:nvSpPr>
          <p:spPr>
            <a:xfrm>
              <a:off x="81534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751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读强写弱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76285" y="369808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检索侧成熟，长文产出仍短板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76285" y="3945731"/>
              <a:ext cx="2336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arXiv 2507.13334（166 页综述）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Context Engineering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16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399276" cy="738854"/>
            <a:chOff x="595122" y="501491"/>
            <a:chExt cx="639927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管线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39927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上下文管线与 Harness Engineering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五步闭环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20016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预处理→检索→组装→监控→迭代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2077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组装=token 预算+优先级+缓存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监控=命中率/相关度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1178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Harness 三类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43125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上下文工程（知识与数据）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67890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架构约束（确定性 lint）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29265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熵管理（一致性巡检）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018" y="4050982"/>
              <a:ext cx="88289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上下文工程与验证环、成本控制、可观测、优雅降级并列，是 harness 的一部分而非全部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8304" y="4947285"/>
              <a:ext cx="48733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来源：harnessengineering.academy、Martin Fowler（2026）。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Context Engineering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17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947291" cy="738854"/>
            <a:chOff x="595122" y="501491"/>
            <a:chExt cx="194729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总结与参考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3166682" cy="322707"/>
            <a:chOff x="601218" y="1898332"/>
            <a:chExt cx="3166682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一句话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7280" y="1914525"/>
              <a:ext cx="2670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上下文工程 = 注意力预算管理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3166682" cy="322707"/>
            <a:chOff x="601218" y="2431732"/>
            <a:chExt cx="3166682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框架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7280" y="2447925"/>
              <a:ext cx="2670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懂四种失败 · 备四策略六军规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68618" y="1898332"/>
            <a:ext cx="3802761" cy="322707"/>
            <a:chOff x="6468618" y="1898332"/>
            <a:chExt cx="3802761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468618" y="1898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运营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64680" y="1914525"/>
              <a:ext cx="33066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命中率 / 使用率 / 信号噪比持续监控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68618" y="2431732"/>
            <a:ext cx="4730686" cy="322707"/>
            <a:chOff x="6468618" y="2431732"/>
            <a:chExt cx="4730686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468618" y="24317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来源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64680" y="2447925"/>
              <a:ext cx="42346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Manus · Anthropic · LangChain · Breunig 等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8" name="TextBox 18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Context Engineering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18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ctxeng_k">
  <a:themeElements>
    <a:clrScheme name="ctxeng_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txeng_k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txeng_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2026-09-01T05:17:04Z</dcterms:created>
  <dcterms:modified xsi:type="dcterms:W3CDTF">2026-09-01T05:17:04Z</dcterms:modified>
  <cp:category/>
  <cp:contentStatus/>
</cp:coreProperties>
</file>