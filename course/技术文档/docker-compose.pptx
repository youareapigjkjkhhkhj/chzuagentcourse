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0" autoAdjust="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44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ocker-compose-tu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ocker-compose-tu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F3A"/>
            </a:gs>
            <a:gs pos="55000">
              <a:srgbClr val="0E2A52"/>
            </a:gs>
            <a:gs pos="100000">
              <a:srgbClr val="12356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496ED">
                  <a:alpha val="55000"/>
                </a:srgbClr>
              </a:gs>
              <a:gs pos="55000">
                <a:srgbClr val="2496ED">
                  <a:alpha val="12000"/>
                </a:srgbClr>
              </a:gs>
              <a:gs pos="100000">
                <a:srgbClr val="2496ED">
                  <a:alpha val="0"/>
                </a:srgbClr>
              </a:gs>
            </a:gsLst>
            <a:path path="circle">
              <a:fillToRect l="78000" t="26000" r="22000" b="74000"/>
            </a:path>
          </a:gra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9048750" y="190500"/>
            <a:ext cx="2476500" cy="2476500"/>
          </a:xfrm>
          <a:prstGeom prst="ellipse">
            <a:avLst/>
          </a:prstGeom>
          <a:solidFill>
            <a:srgbClr val="2496ED">
              <a:alpha val="16000"/>
            </a:srgbClr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10629900" y="4438650"/>
            <a:ext cx="1409700" cy="1409700"/>
          </a:xfrm>
          <a:prstGeom prst="ellipse">
            <a:avLst/>
          </a:prstGeom>
          <a:solidFill>
            <a:srgbClr val="7C3AED">
              <a:alpha val="2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1066800" y="5543550"/>
            <a:ext cx="914400" cy="914400"/>
          </a:xfrm>
          <a:prstGeom prst="ellipse">
            <a:avLst/>
          </a:prstGeom>
          <a:solidFill>
            <a:srgbClr val="2496ED">
              <a:alpha val="22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8991600" y="5924550"/>
            <a:ext cx="495300" cy="495300"/>
          </a:xfrm>
          <a:prstGeom prst="ellipse">
            <a:avLst/>
          </a:prstGeom>
          <a:solidFill>
            <a:srgbClr val="7FD0FF">
              <a:alpha val="30000"/>
            </a:srgbClr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1047750" y="1123950"/>
            <a:ext cx="4476750" cy="514350"/>
            <a:chOff x="1047750" y="1123950"/>
            <a:chExt cx="4476750" cy="514350"/>
          </a:xfrm>
        </p:grpSpPr>
        <p:sp>
          <p:nvSpPr>
            <p:cNvPr id="7" name="Rectangle 7"/>
            <p:cNvSpPr/>
            <p:nvPr/>
          </p:nvSpPr>
          <p:spPr>
            <a:xfrm>
              <a:off x="1047750" y="1123950"/>
              <a:ext cx="4476750" cy="51435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44168" y="1279208"/>
              <a:ext cx="30315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🐳 容器化技术 · 实战入门教程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2637472"/>
            <a:ext cx="6857196" cy="1674495"/>
            <a:chOff x="1028700" y="2637472"/>
            <a:chExt cx="6857196" cy="1674495"/>
          </a:xfrm>
        </p:grpSpPr>
        <p:sp>
          <p:nvSpPr>
            <p:cNvPr id="10" name="TextBox 10"/>
            <p:cNvSpPr txBox="1"/>
            <p:nvPr/>
          </p:nvSpPr>
          <p:spPr>
            <a:xfrm>
              <a:off x="1028700" y="2637472"/>
              <a:ext cx="6857196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4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Docker 基础教程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104900" y="3600450"/>
              <a:ext cx="1143000" cy="762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5370" y="3871912"/>
              <a:ext cx="620989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容器技术与 Docker Compose 多容器编排实战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58418" y="4679632"/>
            <a:ext cx="7417996" cy="322707"/>
            <a:chOff x="1058418" y="4679632"/>
            <a:chExt cx="7417996" cy="322707"/>
          </a:xfrm>
        </p:grpSpPr>
        <p:sp>
          <p:nvSpPr>
            <p:cNvPr id="14" name="TextBox 14"/>
            <p:cNvSpPr txBox="1"/>
            <p:nvPr/>
          </p:nvSpPr>
          <p:spPr>
            <a:xfrm>
              <a:off x="1058418" y="4679632"/>
              <a:ext cx="74179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8FB4D8"/>
                  </a:solidFill>
                  <a:latin typeface="Microsoft YaHei"/>
                  <a:ea typeface="Microsoft YaHei"/>
                  <a:cs typeface="Microsoft YaHei"/>
                </a:rPr>
                <a:t>镜像　·　容器　·　Dockerfile　·　数据卷　·　网络　·　Compose 编排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41654" y="6057900"/>
            <a:ext cx="10108692" cy="448056"/>
            <a:chOff x="1041654" y="6057900"/>
            <a:chExt cx="10108692" cy="448056"/>
          </a:xfrm>
        </p:grpSpPr>
        <p:sp>
          <p:nvSpPr>
            <p:cNvPr id="16" name="Line 16"/>
            <p:cNvSpPr/>
            <p:nvPr/>
          </p:nvSpPr>
          <p:spPr>
            <a:xfrm>
              <a:off x="1047750" y="605790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9525">
              <a:solidFill>
                <a:srgbClr val="2C4A7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41654" y="6271260"/>
              <a:ext cx="3995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E93BD"/>
                  </a:solidFill>
                  <a:latin typeface="Microsoft YaHei"/>
                  <a:ea typeface="Microsoft YaHei"/>
                  <a:cs typeface="Microsoft YaHei"/>
                </a:rPr>
                <a:t>教育版入门讲义　|　适用 Ubuntu / Windows / macOS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82757" y="627126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6E93BD"/>
                  </a:solidFill>
                  <a:latin typeface="Microsoft YaHei"/>
                  <a:ea typeface="Microsoft YaHei"/>
                  <a:cs typeface="Microsoft YaHei"/>
                </a:rPr>
                <a:t>2026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456126" cy="721328"/>
            <a:chOff x="685800" y="552450"/>
            <a:chExt cx="4456126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420390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什么是容器与 Docker？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先建立核心心智模型，再动手安装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71029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容器把应用及其全部依赖打包成一个</a:t>
              </a:r>
              <a:r>
                <a:rPr lang="zh-CN" sz="150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标准化单元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，实现"一次构建，到处运行"。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2438400"/>
            <a:ext cx="3429000" cy="3486150"/>
            <a:chOff x="685800" y="2438400"/>
            <a:chExt cx="3429000" cy="348615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3429000" cy="348615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Ellipse 12"/>
            <p:cNvSpPr/>
            <p:nvPr/>
          </p:nvSpPr>
          <p:spPr>
            <a:xfrm>
              <a:off x="933450" y="2762250"/>
              <a:ext cx="647700" cy="647700"/>
            </a:xfrm>
            <a:prstGeom prst="ellipse">
              <a:avLst/>
            </a:prstGeom>
            <a:solidFill>
              <a:srgbClr val="E1F0F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94422" y="2976562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2406" y="3653790"/>
              <a:ext cx="17861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容器 Container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4121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轻量、可移植的运行时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3881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环境，包含应用代码、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4692" y="46548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运行环境、系统库与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64692" y="49215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配置；共享宿主机内核，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4692" y="51882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秒级启动。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381500" y="2438400"/>
            <a:ext cx="3429000" cy="3486150"/>
            <a:chOff x="4381500" y="2438400"/>
            <a:chExt cx="3429000" cy="3486150"/>
          </a:xfrm>
        </p:grpSpPr>
        <p:sp>
          <p:nvSpPr>
            <p:cNvPr id="21" name="Rectangle 21"/>
            <p:cNvSpPr/>
            <p:nvPr/>
          </p:nvSpPr>
          <p:spPr>
            <a:xfrm>
              <a:off x="4381500" y="2438400"/>
              <a:ext cx="3429000" cy="348615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2" name="Ellipse 22"/>
            <p:cNvSpPr/>
            <p:nvPr/>
          </p:nvSpPr>
          <p:spPr>
            <a:xfrm>
              <a:off x="4629150" y="2762250"/>
              <a:ext cx="647700" cy="647700"/>
            </a:xfrm>
            <a:prstGeom prst="ellipse">
              <a:avLst/>
            </a:prstGeom>
            <a:solidFill>
              <a:srgbClr val="EDE2F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790122" y="2976562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🖥️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658106" y="3653790"/>
              <a:ext cx="16624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容器 vs 虚拟机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60392" y="41214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虚拟机：自带完整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60392" y="4388168"/>
              <a:ext cx="21264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Guest OS，隔离强但重；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60392" y="46548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容器：共享内核，轻量、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60392" y="49215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启动快、部署密度高。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60773" y="53868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注：容器不等于虚拟化。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077200" y="2438400"/>
            <a:ext cx="3429000" cy="3486150"/>
            <a:chOff x="8077200" y="2438400"/>
            <a:chExt cx="3429000" cy="3486150"/>
          </a:xfrm>
        </p:grpSpPr>
        <p:sp>
          <p:nvSpPr>
            <p:cNvPr id="31" name="Rectangle 31"/>
            <p:cNvSpPr/>
            <p:nvPr/>
          </p:nvSpPr>
          <p:spPr>
            <a:xfrm>
              <a:off x="8077200" y="2438400"/>
              <a:ext cx="3429000" cy="348615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2" name="Ellipse 32"/>
            <p:cNvSpPr/>
            <p:nvPr/>
          </p:nvSpPr>
          <p:spPr>
            <a:xfrm>
              <a:off x="8324850" y="2762250"/>
              <a:ext cx="647700" cy="647700"/>
            </a:xfrm>
            <a:prstGeom prst="ellipse">
              <a:avLst/>
            </a:prstGeom>
            <a:solidFill>
              <a:srgbClr val="E1F0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85822" y="2976562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53806" y="3653790"/>
              <a:ext cx="14320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Docker 平台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56092" y="41214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一套完整工具链：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56092" y="4388168"/>
              <a:ext cx="1215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Engine / CLI /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56092" y="4654868"/>
              <a:ext cx="14565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Compose / Hub，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56092" y="49215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负责构建、分发、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56092" y="51882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运行与编排容器。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1" name="Line 41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02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359558" cy="721328"/>
            <a:chOff x="685800" y="552450"/>
            <a:chExt cx="4359558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410733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核心概念：镜像 与 容器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0309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理解"模板"与"实例"的关系，是掌握 Docker 的关键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9930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镜像 Image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是只读模板（应用的打包结果）；</a:t>
              </a:r>
              <a:r>
                <a:rPr lang="zh-CN" sz="150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容器 Container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是镜像的运行实例，一个镜像可启动多个容器。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79704" y="2971800"/>
            <a:ext cx="10178796" cy="2848356"/>
            <a:chOff x="679704" y="2971800"/>
            <a:chExt cx="10178796" cy="2848356"/>
          </a:xfrm>
        </p:grpSpPr>
        <p:sp>
          <p:nvSpPr>
            <p:cNvPr id="11" name="Rectangle 11"/>
            <p:cNvSpPr/>
            <p:nvPr/>
          </p:nvSpPr>
          <p:spPr>
            <a:xfrm>
              <a:off x="1333500" y="3429000"/>
              <a:ext cx="2857500" cy="1428750"/>
            </a:xfrm>
            <a:prstGeom prst="roundRect">
              <a:avLst>
                <a:gd name="adj" fmla="val 10667"/>
              </a:avLst>
            </a:prstGeom>
            <a:solidFill>
              <a:srgbClr val="2496ED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1887540" y="3885248"/>
              <a:ext cx="174941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🖼️ 镜像 Image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23945" y="42929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只读模板 · 可版本化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267200" y="4143375"/>
              <a:ext cx="2305050" cy="9525"/>
            </a:xfrm>
            <a:custGeom>
              <a:avLst/>
              <a:gdLst/>
              <a:ahLst/>
              <a:cxnLst/>
              <a:rect l="l" t="t" r="r" b="b"/>
              <a:pathLst>
                <a:path w="2305050" h="9525">
                  <a:moveTo>
                    <a:pt x="0" y="0"/>
                  </a:moveTo>
                  <a:lnTo>
                    <a:pt x="230505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6572250" y="4038600"/>
              <a:ext cx="228600" cy="209550"/>
            </a:xfrm>
            <a:custGeom>
              <a:avLst/>
              <a:gdLst/>
              <a:ahLst/>
              <a:cxnLst/>
              <a:rect l="l" t="t" r="r" b="b"/>
              <a:pathLst>
                <a:path w="228600" h="209550">
                  <a:moveTo>
                    <a:pt x="0" y="0"/>
                  </a:moveTo>
                  <a:lnTo>
                    <a:pt x="228600" y="104775"/>
                  </a:lnTo>
                  <a:lnTo>
                    <a:pt x="0" y="20955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989576" y="387096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docker run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858000" y="2971800"/>
              <a:ext cx="4000500" cy="742950"/>
            </a:xfrm>
            <a:prstGeom prst="roundRect">
              <a:avLst>
                <a:gd name="adj" fmla="val 17949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78980" y="3228975"/>
              <a:ext cx="20645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📦 容器 Container #1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80885" y="3498056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运行实例 · 拥有独立可写层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858000" y="3771900"/>
              <a:ext cx="4000500" cy="742950"/>
            </a:xfrm>
            <a:prstGeom prst="roundRect">
              <a:avLst>
                <a:gd name="adj" fmla="val 17949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78980" y="4029075"/>
              <a:ext cx="20645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📦 容器 Container #2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0885" y="4298156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运行实例 · 拥有独立可写层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858000" y="4572000"/>
              <a:ext cx="4000500" cy="742950"/>
            </a:xfrm>
            <a:prstGeom prst="roundRect">
              <a:avLst>
                <a:gd name="adj" fmla="val 17949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78980" y="4829175"/>
              <a:ext cx="20645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📦 容器 Container #3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80885" y="5098256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运行实例 · 拥有独立可写层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9704" y="5585460"/>
              <a:ext cx="56904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关键关系：镜像是静态模板，容器是动态实例；停止 / 删除容器不会删除镜像。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28" name="Line 28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03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3374822" cy="721328"/>
            <a:chOff x="685800" y="552450"/>
            <a:chExt cx="3374822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226747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安装 Docker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在三大主流平台上完成安装，并验证版本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68139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在三种平台上安装 Docker；安装后执行 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--version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确认环境就绪。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85800" y="2438400"/>
            <a:ext cx="3429000" cy="3390900"/>
            <a:chOff x="685800" y="2438400"/>
            <a:chExt cx="3429000" cy="339090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3429000" cy="3390900"/>
            </a:xfrm>
            <a:prstGeom prst="roundRect">
              <a:avLst>
                <a:gd name="adj" fmla="val 5056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Ellipse 12"/>
            <p:cNvSpPr/>
            <p:nvPr/>
          </p:nvSpPr>
          <p:spPr>
            <a:xfrm>
              <a:off x="971550" y="2686050"/>
              <a:ext cx="571500" cy="571500"/>
            </a:xfrm>
            <a:prstGeom prst="ellipse">
              <a:avLst/>
            </a:prstGeom>
            <a:solidFill>
              <a:srgbClr val="E1F0F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16140" y="2875598"/>
              <a:ext cx="2823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3168" y="3517582"/>
              <a:ext cx="16543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Ubuntu / Linux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76300" y="3886200"/>
              <a:ext cx="3048000" cy="990600"/>
            </a:xfrm>
            <a:prstGeom prst="roundRect">
              <a:avLst>
                <a:gd name="adj" fmla="val 9615"/>
              </a:avLst>
            </a:prstGeom>
            <a:solidFill>
              <a:srgbClr val="0B1F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23366" y="4020502"/>
              <a:ext cx="110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sudo apt update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366" y="4249102"/>
              <a:ext cx="13959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sudo apt install -y \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366" y="4477702"/>
              <a:ext cx="675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docker.io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23366" y="4706302"/>
              <a:ext cx="21784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sudo usermod -aG docker $USER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0585" y="5174456"/>
              <a:ext cx="3072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脚本安装：curl -fsSL get.docker.com | sh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81500" y="2438400"/>
            <a:ext cx="3429000" cy="3390900"/>
            <a:chOff x="4381500" y="2438400"/>
            <a:chExt cx="3429000" cy="3390900"/>
          </a:xfrm>
        </p:grpSpPr>
        <p:sp>
          <p:nvSpPr>
            <p:cNvPr id="22" name="Rectangle 22"/>
            <p:cNvSpPr/>
            <p:nvPr/>
          </p:nvSpPr>
          <p:spPr>
            <a:xfrm>
              <a:off x="4381500" y="2438400"/>
              <a:ext cx="3429000" cy="3390900"/>
            </a:xfrm>
            <a:prstGeom prst="roundRect">
              <a:avLst>
                <a:gd name="adj" fmla="val 5056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3" name="Ellipse 23"/>
            <p:cNvSpPr/>
            <p:nvPr/>
          </p:nvSpPr>
          <p:spPr>
            <a:xfrm>
              <a:off x="4667250" y="2686050"/>
              <a:ext cx="571500" cy="571500"/>
            </a:xfrm>
            <a:prstGeom prst="ellipse">
              <a:avLst/>
            </a:prstGeom>
            <a:solidFill>
              <a:srgbClr val="EDE2F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811840" y="2875598"/>
              <a:ext cx="2823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58868" y="3517582"/>
              <a:ext cx="957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Windows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60392" y="3969068"/>
              <a:ext cx="19468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安装 Docker Desktop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60392" y="4311968"/>
              <a:ext cx="15036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启用 WSL2 后端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60392" y="4654868"/>
              <a:ext cx="1431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图形化界面操作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60392" y="4997768"/>
              <a:ext cx="1983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内置 Docker Compose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61535" y="54221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适合本地开发与学习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8077200" y="2438400"/>
            <a:ext cx="3429000" cy="3390900"/>
            <a:chOff x="8077200" y="2438400"/>
            <a:chExt cx="3429000" cy="3390900"/>
          </a:xfrm>
        </p:grpSpPr>
        <p:sp>
          <p:nvSpPr>
            <p:cNvPr id="32" name="Rectangle 32"/>
            <p:cNvSpPr/>
            <p:nvPr/>
          </p:nvSpPr>
          <p:spPr>
            <a:xfrm>
              <a:off x="8077200" y="2438400"/>
              <a:ext cx="3429000" cy="3390900"/>
            </a:xfrm>
            <a:prstGeom prst="roundRect">
              <a:avLst>
                <a:gd name="adj" fmla="val 5056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3" name="Ellipse 33"/>
            <p:cNvSpPr/>
            <p:nvPr/>
          </p:nvSpPr>
          <p:spPr>
            <a:xfrm>
              <a:off x="8362950" y="2686050"/>
              <a:ext cx="571500" cy="571500"/>
            </a:xfrm>
            <a:prstGeom prst="ellipse">
              <a:avLst/>
            </a:prstGeom>
            <a:solidFill>
              <a:srgbClr val="E1F0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07540" y="2875598"/>
              <a:ext cx="2823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🍎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54568" y="3517582"/>
              <a:ext cx="7680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macOS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56092" y="3969068"/>
              <a:ext cx="19468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安装 Docker Desktop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56092" y="4311968"/>
              <a:ext cx="20892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区分 Apple 芯片 / Intel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56092" y="4654868"/>
              <a:ext cx="1431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图形化界面操作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56092" y="4997768"/>
              <a:ext cx="1983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45732" indent="-145732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内置 Docker Compose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57235" y="5422106"/>
              <a:ext cx="14705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与 Windows 体验一致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5800" y="5905500"/>
            <a:ext cx="10820400" cy="381000"/>
            <a:chOff x="685800" y="5905500"/>
            <a:chExt cx="10820400" cy="381000"/>
          </a:xfrm>
        </p:grpSpPr>
        <p:sp>
          <p:nvSpPr>
            <p:cNvPr id="42" name="Rectangle 42"/>
            <p:cNvSpPr/>
            <p:nvPr/>
          </p:nvSpPr>
          <p:spPr>
            <a:xfrm>
              <a:off x="685800" y="5905500"/>
              <a:ext cx="10820400" cy="381000"/>
            </a:xfrm>
            <a:prstGeom prst="roundRect">
              <a:avLst>
                <a:gd name="adj" fmla="val 30000"/>
              </a:avLst>
            </a:prstGeom>
            <a:solidFill>
              <a:srgbClr val="E1F0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4504" y="6023610"/>
              <a:ext cx="46152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✅ 安装完成后验证：</a:t>
              </a:r>
              <a:r>
                <a:rPr lang="en-US" sz="12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--version</a:t>
              </a:r>
              <a:r>
                <a:rPr lang="en-US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→ Docker version 27.x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5" name="Line 45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04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698144" cy="721328"/>
            <a:chOff x="685800" y="552450"/>
            <a:chExt cx="4698144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444592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第一个容器：docker run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37693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运行官方 hello-world，一分钟验证安装是否成功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66915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运行第一条 Docker 命令：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run hello-world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，启动官方示例镜像。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5800" y="2438400"/>
            <a:ext cx="5905500" cy="3486150"/>
            <a:chOff x="685800" y="2438400"/>
            <a:chExt cx="5905500" cy="348615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5905500" cy="3486150"/>
            </a:xfrm>
            <a:prstGeom prst="roundRect">
              <a:avLst>
                <a:gd name="adj" fmla="val 3825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Ellipse 12"/>
            <p:cNvSpPr/>
            <p:nvPr/>
          </p:nvSpPr>
          <p:spPr>
            <a:xfrm>
              <a:off x="885825" y="2619375"/>
              <a:ext cx="133350" cy="133350"/>
            </a:xfrm>
            <a:prstGeom prst="ellipse">
              <a:avLst/>
            </a:prstGeom>
            <a:solidFill>
              <a:srgbClr val="FF5F56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114425" y="2619375"/>
              <a:ext cx="133350" cy="133350"/>
            </a:xfrm>
            <a:prstGeom prst="ellipse">
              <a:avLst/>
            </a:prstGeom>
            <a:solidFill>
              <a:srgbClr val="FFBD2E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343025" y="2619375"/>
              <a:ext cx="133350" cy="133350"/>
            </a:xfrm>
            <a:prstGeom prst="ellipse">
              <a:avLst/>
            </a:prstGeom>
            <a:solidFill>
              <a:srgbClr val="27C93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99666" y="2620328"/>
              <a:ext cx="9506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E93BD"/>
                  </a:solidFill>
                  <a:latin typeface="Consolas"/>
                  <a:ea typeface="Consolas"/>
                  <a:cs typeface="Consolas"/>
                </a:rPr>
                <a:t>bash — docker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785" y="3059906"/>
              <a:ext cx="1805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$ docker run hello-world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3345656"/>
              <a:ext cx="3574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AAEC2"/>
                  </a:solidFill>
                  <a:latin typeface="Consolas"/>
                  <a:ea typeface="Consolas"/>
                  <a:cs typeface="Consolas"/>
                </a:rPr>
                <a:t>Unable to find image 'hello-world:latest' locally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785" y="3593306"/>
              <a:ext cx="29413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AAEC2"/>
                  </a:solidFill>
                  <a:latin typeface="Consolas"/>
                  <a:ea typeface="Consolas"/>
                  <a:cs typeface="Consolas"/>
                </a:rPr>
                <a:t>latest: Pulling from library/hello-world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840956"/>
              <a:ext cx="35800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AAEC2"/>
                  </a:solidFill>
                  <a:latin typeface="Consolas"/>
                  <a:ea typeface="Consolas"/>
                  <a:cs typeface="Consolas"/>
                </a:rPr>
                <a:t>Status: Downloaded newer image for hello-world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785" y="4183856"/>
              <a:ext cx="13558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7C93F"/>
                  </a:solidFill>
                  <a:latin typeface="Consolas"/>
                  <a:ea typeface="Consolas"/>
                  <a:cs typeface="Consolas"/>
                </a:rPr>
                <a:t>Hello from Docker!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4450556"/>
              <a:ext cx="2722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This message shows your installation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4698206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appears to be working correctly.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50982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AAEC2"/>
                  </a:solidFill>
                  <a:latin typeface="Consolas"/>
                  <a:ea typeface="Consolas"/>
                  <a:cs typeface="Consolas"/>
                </a:rPr>
                <a:t>$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849618" y="2641282"/>
            <a:ext cx="2800342" cy="3172302"/>
            <a:chOff x="6849618" y="2641282"/>
            <a:chExt cx="2800342" cy="3172302"/>
          </a:xfrm>
        </p:grpSpPr>
        <p:sp>
          <p:nvSpPr>
            <p:cNvPr id="25" name="TextBox 25"/>
            <p:cNvSpPr txBox="1"/>
            <p:nvPr/>
          </p:nvSpPr>
          <p:spPr>
            <a:xfrm>
              <a:off x="6849618" y="264128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这条命令做了什么？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934200" y="3124200"/>
              <a:ext cx="304800" cy="304800"/>
            </a:xfrm>
            <a:prstGeom prst="ellipse">
              <a:avLst/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37349" y="32123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84923" y="31961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查找本地：本地无该镜像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934200" y="3619500"/>
              <a:ext cx="304800" cy="304800"/>
            </a:xfrm>
            <a:prstGeom prst="ellipse">
              <a:avLst/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37349" y="3707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84923" y="3691414"/>
              <a:ext cx="20805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拉取：从 Docker Hub 下载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934200" y="4114800"/>
              <a:ext cx="304800" cy="304800"/>
            </a:xfrm>
            <a:prstGeom prst="ellipse">
              <a:avLst/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37349" y="42029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84923" y="41867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创建：基于镜像生成容器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934200" y="4610100"/>
              <a:ext cx="304800" cy="304800"/>
            </a:xfrm>
            <a:prstGeom prst="ellipse">
              <a:avLst/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37349" y="46982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84923" y="46820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运行：执行镜像默认命令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934200" y="5105400"/>
              <a:ext cx="304800" cy="304800"/>
            </a:xfrm>
            <a:prstGeom prst="ellipse">
              <a:avLst/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37349" y="51935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84923" y="51773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退出：任务完成，容器停止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52285" y="5593556"/>
              <a:ext cx="2797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镜像来源：Docker Hub（公共镜像仓库）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3" name="Line 43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5652516" cy="721328"/>
            <a:chOff x="685800" y="552450"/>
            <a:chExt cx="5652516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常用命令（一）：容器生命周期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5189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掌握这 6 条命令，就能管理容器的创建、查看、启停与清理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63958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命令格式：</a:t>
              </a:r>
              <a:r>
                <a:rPr lang="zh-CN" sz="1500" dirty="0">
                  <a:solidFill>
                    <a:srgbClr val="2496ED"/>
                  </a:solidFill>
                  <a:latin typeface="Consolas"/>
                  <a:ea typeface="Microsoft YaHei"/>
                  <a:cs typeface="Consolas"/>
                </a:rPr>
                <a:t>docker &lt;子命令&gt; [选项] [参数]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；容器用名称或 ID 标识。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5800" y="2438400"/>
            <a:ext cx="3429000" cy="1638300"/>
            <a:chOff x="685800" y="2438400"/>
            <a:chExt cx="3429000" cy="163830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944880" y="2771775"/>
              <a:ext cx="11283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run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404" y="318516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创建并启动一个新容器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404" y="3432810"/>
              <a:ext cx="16680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常用 -d 后台 / -p 端口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81500" y="2438400"/>
            <a:ext cx="3429000" cy="1638300"/>
            <a:chOff x="4381500" y="2438400"/>
            <a:chExt cx="3429000" cy="1638300"/>
          </a:xfrm>
        </p:grpSpPr>
        <p:sp>
          <p:nvSpPr>
            <p:cNvPr id="16" name="Rectangle 16"/>
            <p:cNvSpPr/>
            <p:nvPr/>
          </p:nvSpPr>
          <p:spPr>
            <a:xfrm>
              <a:off x="43815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7" name="TextBox 17"/>
            <p:cNvSpPr txBox="1"/>
            <p:nvPr/>
          </p:nvSpPr>
          <p:spPr>
            <a:xfrm>
              <a:off x="4640580" y="2771775"/>
              <a:ext cx="10117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ps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2104" y="31851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列出运行中的容器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42104" y="343281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加 -a 查看全部（含已停止）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077200" y="2438400"/>
            <a:ext cx="3429000" cy="1638300"/>
            <a:chOff x="8077200" y="2438400"/>
            <a:chExt cx="3429000" cy="1638300"/>
          </a:xfrm>
        </p:grpSpPr>
        <p:sp>
          <p:nvSpPr>
            <p:cNvPr id="21" name="Rectangle 21"/>
            <p:cNvSpPr/>
            <p:nvPr/>
          </p:nvSpPr>
          <p:spPr>
            <a:xfrm>
              <a:off x="80772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2" name="TextBox 22"/>
            <p:cNvSpPr txBox="1"/>
            <p:nvPr/>
          </p:nvSpPr>
          <p:spPr>
            <a:xfrm>
              <a:off x="8336280" y="2771775"/>
              <a:ext cx="14676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images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37804" y="31851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列出本地所有镜像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37804" y="3432810"/>
              <a:ext cx="21884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显示 REPOSITORY / TAG / ID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85800" y="4305300"/>
            <a:ext cx="3429000" cy="1638300"/>
            <a:chOff x="685800" y="4305300"/>
            <a:chExt cx="34290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7" name="TextBox 27"/>
            <p:cNvSpPr txBox="1"/>
            <p:nvPr/>
          </p:nvSpPr>
          <p:spPr>
            <a:xfrm>
              <a:off x="944880" y="4638675"/>
              <a:ext cx="2071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start / stop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404" y="505206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启动 / 停止指定容器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52997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容器不会被删除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381500" y="4305300"/>
            <a:ext cx="3429000" cy="1638300"/>
            <a:chOff x="4381500" y="4305300"/>
            <a:chExt cx="3429000" cy="1638300"/>
          </a:xfrm>
        </p:grpSpPr>
        <p:sp>
          <p:nvSpPr>
            <p:cNvPr id="31" name="Rectangle 31"/>
            <p:cNvSpPr/>
            <p:nvPr/>
          </p:nvSpPr>
          <p:spPr>
            <a:xfrm>
              <a:off x="43815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2" name="TextBox 32"/>
            <p:cNvSpPr txBox="1"/>
            <p:nvPr/>
          </p:nvSpPr>
          <p:spPr>
            <a:xfrm>
              <a:off x="4640580" y="4638675"/>
              <a:ext cx="1054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rm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42104" y="50520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删除已停止的容器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42104" y="5299710"/>
              <a:ext cx="19022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加 -f 可强制删除运行中的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077200" y="4305300"/>
            <a:ext cx="3429000" cy="1638300"/>
            <a:chOff x="8077200" y="4305300"/>
            <a:chExt cx="3429000" cy="1638300"/>
          </a:xfrm>
        </p:grpSpPr>
        <p:sp>
          <p:nvSpPr>
            <p:cNvPr id="36" name="Rectangle 36"/>
            <p:cNvSpPr/>
            <p:nvPr/>
          </p:nvSpPr>
          <p:spPr>
            <a:xfrm>
              <a:off x="80772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7" name="TextBox 37"/>
            <p:cNvSpPr txBox="1"/>
            <p:nvPr/>
          </p:nvSpPr>
          <p:spPr>
            <a:xfrm>
              <a:off x="8336280" y="4638675"/>
              <a:ext cx="1117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rmi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37804" y="50520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删除本地镜像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37804" y="52997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需先删除依赖它的容器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1" name="Line 41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06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5268849" cy="721328"/>
            <a:chOff x="685800" y="552450"/>
            <a:chExt cx="5268849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50166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常用命令（二）：日志与调试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出问题时，用这些命令查看输出、进入容器、检查状态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52092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把 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&lt;id&gt;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替换为容器名称或 ID（可用 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ps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查看）。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5800" y="2438400"/>
            <a:ext cx="3429000" cy="1638300"/>
            <a:chOff x="685800" y="2438400"/>
            <a:chExt cx="3429000" cy="163830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945642" y="2787968"/>
              <a:ext cx="10727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logs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404" y="31851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查看容器的标准输出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404" y="3432810"/>
              <a:ext cx="14176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加 -f 实时跟踪日志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81500" y="2438400"/>
            <a:ext cx="3429000" cy="1638300"/>
            <a:chOff x="4381500" y="2438400"/>
            <a:chExt cx="3429000" cy="1638300"/>
          </a:xfrm>
        </p:grpSpPr>
        <p:sp>
          <p:nvSpPr>
            <p:cNvPr id="16" name="Rectangle 16"/>
            <p:cNvSpPr/>
            <p:nvPr/>
          </p:nvSpPr>
          <p:spPr>
            <a:xfrm>
              <a:off x="43815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7" name="TextBox 17"/>
            <p:cNvSpPr txBox="1"/>
            <p:nvPr/>
          </p:nvSpPr>
          <p:spPr>
            <a:xfrm>
              <a:off x="4642104" y="2804160"/>
              <a:ext cx="280365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exec –it –</a:t>
              </a:r>
              <a:r>
                <a:rPr lang="en-US" altLang="zh-CN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u root</a:t>
              </a:r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 &lt;id&gt; bash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2104" y="31851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进入运行中的容器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42104" y="34328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交互式执行命令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077200" y="2438400"/>
            <a:ext cx="3429000" cy="1638300"/>
            <a:chOff x="8077200" y="2438400"/>
            <a:chExt cx="3429000" cy="1638300"/>
          </a:xfrm>
        </p:grpSpPr>
        <p:sp>
          <p:nvSpPr>
            <p:cNvPr id="21" name="Rectangle 21"/>
            <p:cNvSpPr/>
            <p:nvPr/>
          </p:nvSpPr>
          <p:spPr>
            <a:xfrm>
              <a:off x="8077200" y="24384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2" name="TextBox 22"/>
            <p:cNvSpPr txBox="1"/>
            <p:nvPr/>
          </p:nvSpPr>
          <p:spPr>
            <a:xfrm>
              <a:off x="8337042" y="2787968"/>
              <a:ext cx="18170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inspect &lt;id&gt;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37804" y="31851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查看底层配置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37804" y="3432810"/>
              <a:ext cx="15483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输出详细 JSON 信息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85800" y="4305300"/>
            <a:ext cx="3429000" cy="1638300"/>
            <a:chOff x="685800" y="4305300"/>
            <a:chExt cx="34290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7" name="TextBox 27"/>
            <p:cNvSpPr txBox="1"/>
            <p:nvPr/>
          </p:nvSpPr>
          <p:spPr>
            <a:xfrm>
              <a:off x="945642" y="4654868"/>
              <a:ext cx="14448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top &lt;id&gt;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404" y="50520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查看容器内进程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5299710"/>
              <a:ext cx="11349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类似宿主机 top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381500" y="4305300"/>
            <a:ext cx="3429000" cy="1638300"/>
            <a:chOff x="4381500" y="4305300"/>
            <a:chExt cx="3429000" cy="1638300"/>
          </a:xfrm>
        </p:grpSpPr>
        <p:sp>
          <p:nvSpPr>
            <p:cNvPr id="31" name="Rectangle 31"/>
            <p:cNvSpPr/>
            <p:nvPr/>
          </p:nvSpPr>
          <p:spPr>
            <a:xfrm>
              <a:off x="43815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2" name="TextBox 32"/>
            <p:cNvSpPr txBox="1"/>
            <p:nvPr/>
          </p:nvSpPr>
          <p:spPr>
            <a:xfrm>
              <a:off x="4641342" y="4654868"/>
              <a:ext cx="12254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stats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42104" y="50520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实时资源占用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42104" y="5299710"/>
              <a:ext cx="1369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CPU / 内存 / 网络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077200" y="4305300"/>
            <a:ext cx="3429000" cy="1638300"/>
            <a:chOff x="8077200" y="4305300"/>
            <a:chExt cx="3429000" cy="1638300"/>
          </a:xfrm>
        </p:grpSpPr>
        <p:sp>
          <p:nvSpPr>
            <p:cNvPr id="36" name="Rectangle 36"/>
            <p:cNvSpPr/>
            <p:nvPr/>
          </p:nvSpPr>
          <p:spPr>
            <a:xfrm>
              <a:off x="8077200" y="4305300"/>
              <a:ext cx="3429000" cy="1638300"/>
            </a:xfrm>
            <a:prstGeom prst="roundRect">
              <a:avLst>
                <a:gd name="adj" fmla="val 9302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7" name="TextBox 37"/>
            <p:cNvSpPr txBox="1"/>
            <p:nvPr/>
          </p:nvSpPr>
          <p:spPr>
            <a:xfrm>
              <a:off x="8337042" y="4654868"/>
              <a:ext cx="910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cp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37804" y="505206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容器 ⇄ 宿主机拷贝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37804" y="529971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如 docker cp a.txt c:/p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1" name="Line 41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07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484099" cy="721328"/>
            <a:chOff x="685800" y="552450"/>
            <a:chExt cx="4484099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29478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Dockerfile 基础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2238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Dockerfile 是一个文本脚本，定义镜像如何一步步构建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48710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每条指令生成一个镜像层；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FROM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必须是第一条指令。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69442" y="2673668"/>
            <a:ext cx="3133344" cy="2550033"/>
            <a:chOff x="869442" y="2673668"/>
            <a:chExt cx="3133344" cy="2550033"/>
          </a:xfrm>
        </p:grpSpPr>
        <p:sp>
          <p:nvSpPr>
            <p:cNvPr id="11" name="TextBox 11"/>
            <p:cNvSpPr txBox="1"/>
            <p:nvPr/>
          </p:nvSpPr>
          <p:spPr>
            <a:xfrm>
              <a:off x="869442" y="2673668"/>
              <a:ext cx="5379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FROM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75154" y="268986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基础镜像，必写第一行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442" y="3130868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RUN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75154" y="31470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构建时执行的命令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9442" y="3588068"/>
              <a:ext cx="4976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COPY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375154" y="36042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复制文件到镜像内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69442" y="4045268"/>
              <a:ext cx="8202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WORKDIR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75154" y="40614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设置工作目录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69442" y="4502468"/>
              <a:ext cx="719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EXPOSE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75154" y="45186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声明监听端口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9442" y="4959668"/>
              <a:ext cx="3867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CMD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75154" y="49758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容器启动时执行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905500" y="2438400"/>
            <a:ext cx="5600700" cy="3486150"/>
            <a:chOff x="5905500" y="2438400"/>
            <a:chExt cx="5600700" cy="3486150"/>
          </a:xfrm>
        </p:grpSpPr>
        <p:sp>
          <p:nvSpPr>
            <p:cNvPr id="24" name="Rectangle 24"/>
            <p:cNvSpPr/>
            <p:nvPr/>
          </p:nvSpPr>
          <p:spPr>
            <a:xfrm>
              <a:off x="5905500" y="2438400"/>
              <a:ext cx="5600700" cy="3486150"/>
            </a:xfrm>
            <a:prstGeom prst="roundRect">
              <a:avLst>
                <a:gd name="adj" fmla="val 3825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5" name="TextBox 25"/>
            <p:cNvSpPr txBox="1"/>
            <p:nvPr/>
          </p:nvSpPr>
          <p:spPr>
            <a:xfrm>
              <a:off x="6166866" y="2648902"/>
              <a:ext cx="11691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93BD"/>
                  </a:solidFill>
                  <a:latin typeface="Consolas"/>
                  <a:ea typeface="Microsoft YaHei"/>
                  <a:cs typeface="Consolas"/>
                </a:rPr>
                <a:t># Dockerfile 示例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66866" y="2991802"/>
              <a:ext cx="14615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FROM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node:20-alpine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66866" y="3334702"/>
              <a:ext cx="9638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WORKDIR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/app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66866" y="3677602"/>
              <a:ext cx="15871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COPY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package*.json ./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66866" y="4020502"/>
              <a:ext cx="10439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RUN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npm install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66866" y="4363402"/>
              <a:ext cx="6118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COPY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. 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66866" y="4706302"/>
              <a:ext cx="889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EXPOSE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3000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66866" y="5049202"/>
              <a:ext cx="15685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CMD </a:t>
              </a:r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["npm", "start"]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4" name="Line 34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08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709374" cy="721328"/>
            <a:chOff x="685800" y="552450"/>
            <a:chExt cx="4709374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43039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构建镜像：docker build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4491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把 Dockerfile 构建成可运行的镜像，并打标签、推送仓库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55178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构建上下文是命令末尾的 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.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（当前目录）；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-t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为镜像打标签。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79704" y="2766060"/>
            <a:ext cx="10816971" cy="1424940"/>
            <a:chOff x="679704" y="2766060"/>
            <a:chExt cx="10816971" cy="1424940"/>
          </a:xfrm>
        </p:grpSpPr>
        <p:sp>
          <p:nvSpPr>
            <p:cNvPr id="11" name="TextBox 11"/>
            <p:cNvSpPr txBox="1"/>
            <p:nvPr/>
          </p:nvSpPr>
          <p:spPr>
            <a:xfrm>
              <a:off x="679704" y="27660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构建流程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85800" y="3048000"/>
              <a:ext cx="2381250" cy="1143000"/>
            </a:xfrm>
            <a:prstGeom prst="roundRect">
              <a:avLst>
                <a:gd name="adj" fmla="val 13333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24406" y="3240405"/>
              <a:ext cx="30403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✍️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78256" y="3645218"/>
              <a:ext cx="13963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编写 Dockerfile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47038" y="39062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定义构建步骤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3124200" y="36195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3429000" y="3543300"/>
              <a:ext cx="209550" cy="152400"/>
            </a:xfrm>
            <a:custGeom>
              <a:avLst/>
              <a:gdLst/>
              <a:ahLst/>
              <a:cxnLst/>
              <a:rect l="l" t="t" r="r" b="b"/>
              <a:pathLst>
                <a:path w="209550" h="152400">
                  <a:moveTo>
                    <a:pt x="0" y="0"/>
                  </a:moveTo>
                  <a:lnTo>
                    <a:pt x="20955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95675" y="3048000"/>
              <a:ext cx="2381250" cy="1143000"/>
            </a:xfrm>
            <a:prstGeom prst="roundRect">
              <a:avLst>
                <a:gd name="adj" fmla="val 13333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34281" y="3240405"/>
              <a:ext cx="30403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50605" y="3653314"/>
              <a:ext cx="10713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2942"/>
                  </a:solidFill>
                  <a:latin typeface="Consolas"/>
                  <a:ea typeface="Consolas"/>
                  <a:cs typeface="Consolas"/>
                </a:rPr>
                <a:t>docker build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56913" y="39062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执行镜像构建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5934075" y="36195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6238875" y="3543300"/>
              <a:ext cx="209550" cy="152400"/>
            </a:xfrm>
            <a:custGeom>
              <a:avLst/>
              <a:gdLst/>
              <a:ahLst/>
              <a:cxnLst/>
              <a:rect l="l" t="t" r="r" b="b"/>
              <a:pathLst>
                <a:path w="209550" h="152400">
                  <a:moveTo>
                    <a:pt x="0" y="0"/>
                  </a:moveTo>
                  <a:lnTo>
                    <a:pt x="20955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305550" y="3048000"/>
              <a:ext cx="2381250" cy="1143000"/>
            </a:xfrm>
            <a:prstGeom prst="roundRect">
              <a:avLst>
                <a:gd name="adj" fmla="val 13333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344156" y="3240405"/>
              <a:ext cx="30403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🖼️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25843" y="3645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生成镜像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31584" y="3906202"/>
              <a:ext cx="9291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带有 IMAGE ID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8743950" y="36195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9" name="Polygon 29"/>
            <p:cNvSpPr/>
            <p:nvPr/>
          </p:nvSpPr>
          <p:spPr>
            <a:xfrm>
              <a:off x="9048750" y="3543300"/>
              <a:ext cx="209550" cy="152400"/>
            </a:xfrm>
            <a:custGeom>
              <a:avLst/>
              <a:gdLst/>
              <a:ahLst/>
              <a:cxnLst/>
              <a:rect l="l" t="t" r="r" b="b"/>
              <a:pathLst>
                <a:path w="209550" h="152400">
                  <a:moveTo>
                    <a:pt x="0" y="0"/>
                  </a:moveTo>
                  <a:lnTo>
                    <a:pt x="20955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115425" y="3048000"/>
              <a:ext cx="2381250" cy="1143000"/>
            </a:xfrm>
            <a:prstGeom prst="roundRect">
              <a:avLst>
                <a:gd name="adj" fmla="val 13333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154031" y="3240405"/>
              <a:ext cx="30403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🚀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35718" y="3645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运行容器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929670" y="3906202"/>
              <a:ext cx="752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docker run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85800" y="4762500"/>
            <a:ext cx="10820400" cy="1047750"/>
            <a:chOff x="685800" y="4762500"/>
            <a:chExt cx="1082040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85800" y="4762500"/>
              <a:ext cx="10820400" cy="1047750"/>
            </a:xfrm>
            <a:prstGeom prst="roundRect">
              <a:avLst>
                <a:gd name="adj" fmla="val 12727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6" name="TextBox 36"/>
            <p:cNvSpPr txBox="1"/>
            <p:nvPr/>
          </p:nvSpPr>
          <p:spPr>
            <a:xfrm>
              <a:off x="946404" y="5013960"/>
              <a:ext cx="22011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docker build -t myapp:1.0 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6404" y="5356860"/>
              <a:ext cx="56016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docker tag myapp:1.0 user/myapp:1.0 &amp;&amp; docker push user/myapp:1.0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9" name="Line 39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09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6684320" cy="721328"/>
            <a:chOff x="685800" y="552450"/>
            <a:chExt cx="6684320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643209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数据持久化：Volume 与 Bind Mount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容器内的写入默认随容器销毁；用挂载把数据保留到宿主机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659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两种挂载方式：</a:t>
              </a:r>
              <a:r>
                <a:rPr lang="zh-CN" sz="150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数据卷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由 Docker 托管，</a:t>
              </a:r>
              <a:r>
                <a:rPr lang="zh-CN" sz="150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绑定挂载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直接映射宿主机路径。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2438400"/>
            <a:ext cx="5257800" cy="2857500"/>
            <a:chOff x="685800" y="2438400"/>
            <a:chExt cx="5257800" cy="2857500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5257800" cy="2857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906018" y="2717482"/>
              <a:ext cx="1831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📦 数据卷 Volume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7923" y="3215164"/>
              <a:ext cx="21688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Docker 管理的宿主机目录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7923" y="3539014"/>
              <a:ext cx="1701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与容器生命周期解耦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7923" y="3862864"/>
              <a:ext cx="1874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适合数据库等持久数据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14400" y="4305300"/>
              <a:ext cx="4762500" cy="762000"/>
            </a:xfrm>
            <a:prstGeom prst="roundRect">
              <a:avLst>
                <a:gd name="adj" fmla="val 12500"/>
              </a:avLst>
            </a:prstGeom>
            <a:solidFill>
              <a:srgbClr val="0B1F3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9566" y="4477702"/>
              <a:ext cx="20249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docker volume create mydata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9566" y="4744402"/>
              <a:ext cx="23500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docker run -v mydata:/data nginx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48400" y="2438400"/>
            <a:ext cx="5257800" cy="2857500"/>
            <a:chOff x="6248400" y="2438400"/>
            <a:chExt cx="5257800" cy="2857500"/>
          </a:xfrm>
        </p:grpSpPr>
        <p:sp>
          <p:nvSpPr>
            <p:cNvPr id="20" name="Rectangle 20"/>
            <p:cNvSpPr/>
            <p:nvPr/>
          </p:nvSpPr>
          <p:spPr>
            <a:xfrm>
              <a:off x="6248400" y="2438400"/>
              <a:ext cx="5257800" cy="28575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1" name="TextBox 21"/>
            <p:cNvSpPr txBox="1"/>
            <p:nvPr/>
          </p:nvSpPr>
          <p:spPr>
            <a:xfrm>
              <a:off x="6468618" y="2717482"/>
              <a:ext cx="25223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🔗 绑定挂载 Bind Mount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70523" y="3215164"/>
              <a:ext cx="20465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直接挂载宿主机任意目录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70523" y="3539014"/>
              <a:ext cx="1701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适合开发时同步代码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70523" y="3862864"/>
              <a:ext cx="15296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rgbClr val="5B7894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路径需写绝对路径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77000" y="4305300"/>
              <a:ext cx="4762500" cy="762000"/>
            </a:xfrm>
            <a:prstGeom prst="roundRect">
              <a:avLst>
                <a:gd name="adj" fmla="val 12500"/>
              </a:avLst>
            </a:prstGeom>
            <a:solidFill>
              <a:srgbClr val="0B1F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62166" y="4477702"/>
              <a:ext cx="22016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docker run -v /host/app:/app \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2166" y="4744402"/>
              <a:ext cx="6538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my-image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85800" y="5486400"/>
            <a:ext cx="10820400" cy="609600"/>
            <a:chOff x="685800" y="5486400"/>
            <a:chExt cx="10820400" cy="609600"/>
          </a:xfrm>
        </p:grpSpPr>
        <p:sp>
          <p:nvSpPr>
            <p:cNvPr id="29" name="Rectangle 29"/>
            <p:cNvSpPr/>
            <p:nvPr/>
          </p:nvSpPr>
          <p:spPr>
            <a:xfrm>
              <a:off x="685800" y="548640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85800" y="548640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3742" y="5721668"/>
              <a:ext cx="7719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一句话：Volume 更便携、由 Docker 托管；Bind Mount 直接映射宿主机路径、便于开发调试。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3" name="Line 33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10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4529323" cy="721328"/>
            <a:chOff x="685800" y="552450"/>
            <a:chExt cx="4529323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端口映射与网络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2691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容器拥有独立网络；用 -p 把宿主机端口映射到容器端口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76380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不映射端口，外部无法访问容器；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-p 8080:80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表示访问宿主机 8080 即到达容器 80。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9704" y="2613660"/>
            <a:ext cx="2558796" cy="2758440"/>
            <a:chOff x="679704" y="2613660"/>
            <a:chExt cx="2558796" cy="2758440"/>
          </a:xfrm>
        </p:grpSpPr>
        <p:sp>
          <p:nvSpPr>
            <p:cNvPr id="11" name="TextBox 11"/>
            <p:cNvSpPr txBox="1"/>
            <p:nvPr/>
          </p:nvSpPr>
          <p:spPr>
            <a:xfrm>
              <a:off x="679704" y="2613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访问链路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143000" y="2857500"/>
              <a:ext cx="2095500" cy="609600"/>
            </a:xfrm>
            <a:prstGeom prst="roundRect">
              <a:avLst>
                <a:gd name="adj" fmla="val 18750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808199" y="3005614"/>
              <a:ext cx="7651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🌐 浏览器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10858" y="3247549"/>
              <a:ext cx="9597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localhost:8080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2190750" y="34671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2133600" y="37338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0" y="0"/>
                  </a:moveTo>
                  <a:lnTo>
                    <a:pt x="114300" y="0"/>
                  </a:lnTo>
                  <a:lnTo>
                    <a:pt x="57150" y="13335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143000" y="3810000"/>
              <a:ext cx="2095500" cy="609600"/>
            </a:xfrm>
            <a:prstGeom prst="roundRect">
              <a:avLst>
                <a:gd name="adj" fmla="val 18750"/>
              </a:avLst>
            </a:prstGeom>
            <a:solidFill>
              <a:srgbClr val="EFF6FB"/>
            </a:solidFill>
            <a:ln w="14288">
              <a:solidFill>
                <a:srgbClr val="2496ED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532281" y="3958114"/>
              <a:ext cx="1316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🖥️ 宿主机 :8080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21942" y="4200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端口转发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2190750" y="44196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2133600" y="46863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0" y="0"/>
                  </a:moveTo>
                  <a:lnTo>
                    <a:pt x="114300" y="0"/>
                  </a:lnTo>
                  <a:lnTo>
                    <a:pt x="57150" y="13335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143000" y="4762500"/>
              <a:ext cx="2095500" cy="609600"/>
            </a:xfrm>
            <a:prstGeom prst="roundRect">
              <a:avLst>
                <a:gd name="adj" fmla="val 1875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717949" y="4910614"/>
              <a:ext cx="9456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📦 容器 :80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98876" y="5152549"/>
              <a:ext cx="783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Nginx 等服务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394704" y="2727960"/>
            <a:ext cx="1920431" cy="3047524"/>
            <a:chOff x="6394704" y="2727960"/>
            <a:chExt cx="1920431" cy="3047524"/>
          </a:xfrm>
        </p:grpSpPr>
        <p:sp>
          <p:nvSpPr>
            <p:cNvPr id="26" name="TextBox 26"/>
            <p:cNvSpPr txBox="1"/>
            <p:nvPr/>
          </p:nvSpPr>
          <p:spPr>
            <a:xfrm>
              <a:off x="6394704" y="2727960"/>
              <a:ext cx="902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-p 8080:80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5085" y="2964656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端口映射（宿主机:容器）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4704" y="3375660"/>
              <a:ext cx="15048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network ls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5085" y="3612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列出所有网络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4704" y="4023360"/>
              <a:ext cx="19204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 network create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42600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创建自定义网络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4704" y="4671060"/>
              <a:ext cx="885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--network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95085" y="49077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让多个容器互通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94704" y="5318760"/>
              <a:ext cx="6394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EXPOSE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95085" y="55554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声明端口（文档作用）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7" name="Line 37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11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6791427" cy="721328"/>
            <a:chOff x="685800" y="552450"/>
            <a:chExt cx="6791427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480753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什么是 Docker Compose？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65312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当应用由多个容器组成，逐个 docker run 很麻烦——Compose 用一份 YAML 统一编排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EF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74516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Compose 把多容器应用定义为一个 </a:t>
              </a:r>
              <a:r>
                <a:rPr lang="en-US" sz="1500" dirty="0">
                  <a:solidFill>
                    <a:srgbClr val="2496ED"/>
                  </a:solidFill>
                  <a:latin typeface="Consolas"/>
                  <a:ea typeface="Consolas"/>
                  <a:cs typeface="Consolas"/>
                </a:rPr>
                <a:t>docker-compose.yml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，用一条命令整体启停。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78180" y="2619375"/>
            <a:ext cx="4770120" cy="3194209"/>
            <a:chOff x="678180" y="2619375"/>
            <a:chExt cx="4770120" cy="3194209"/>
          </a:xfrm>
        </p:grpSpPr>
        <p:sp>
          <p:nvSpPr>
            <p:cNvPr id="11" name="TextBox 11"/>
            <p:cNvSpPr txBox="1"/>
            <p:nvPr/>
          </p:nvSpPr>
          <p:spPr>
            <a:xfrm>
              <a:off x="678180" y="2619375"/>
              <a:ext cx="1098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😩 手动方式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85800" y="2933700"/>
              <a:ext cx="4762500" cy="2495550"/>
            </a:xfrm>
            <a:prstGeom prst="roundRect">
              <a:avLst>
                <a:gd name="adj" fmla="val 5344"/>
              </a:avLst>
            </a:prstGeom>
            <a:solidFill>
              <a:srgbClr val="2A1A1F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909066" y="316325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B4A8"/>
                  </a:solidFill>
                  <a:latin typeface="Consolas"/>
                  <a:ea typeface="Consolas"/>
                  <a:cs typeface="Consolas"/>
                </a:rPr>
                <a:t>docker run -d --name db \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066" y="342995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B4A8"/>
                  </a:solidFill>
                  <a:latin typeface="Consolas"/>
                  <a:ea typeface="Consolas"/>
                  <a:cs typeface="Consolas"/>
                </a:rPr>
                <a:t>postgres:16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066" y="381095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B4A8"/>
                  </a:solidFill>
                  <a:latin typeface="Consolas"/>
                  <a:ea typeface="Consolas"/>
                  <a:cs typeface="Consolas"/>
                </a:rPr>
                <a:t>docker run -d --name web \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9066" y="4077652"/>
              <a:ext cx="15089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B4A8"/>
                  </a:solidFill>
                  <a:latin typeface="Consolas"/>
                  <a:ea typeface="Consolas"/>
                  <a:cs typeface="Consolas"/>
                </a:rPr>
                <a:t>-p 8080:80 --link db \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9066" y="4344352"/>
              <a:ext cx="10425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FFB4A8"/>
                  </a:solidFill>
                  <a:latin typeface="Consolas"/>
                  <a:ea typeface="Consolas"/>
                  <a:cs typeface="Consolas"/>
                </a:rPr>
                <a:t>my-web:latest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0085" y="559355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参数多、易出错、启动顺序难控制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600700" y="3155156"/>
            <a:ext cx="1276350" cy="359569"/>
            <a:chOff x="5600700" y="3155156"/>
            <a:chExt cx="1276350" cy="359569"/>
          </a:xfrm>
        </p:grpSpPr>
        <p:sp>
          <p:nvSpPr>
            <p:cNvPr id="20" name="Line 20"/>
            <p:cNvSpPr/>
            <p:nvPr/>
          </p:nvSpPr>
          <p:spPr>
            <a:xfrm>
              <a:off x="5600700" y="342900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8575">
              <a:solidFill>
                <a:srgbClr val="2496ED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6667500" y="3343275"/>
              <a:ext cx="209550" cy="171450"/>
            </a:xfrm>
            <a:custGeom>
              <a:avLst/>
              <a:gdLst/>
              <a:ahLst/>
              <a:cxnLst/>
              <a:rect l="l" t="t" r="r" b="b"/>
              <a:pathLst>
                <a:path w="209550" h="171450">
                  <a:moveTo>
                    <a:pt x="0" y="0"/>
                  </a:moveTo>
                  <a:lnTo>
                    <a:pt x="2095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2496ED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02223" y="31551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96ED"/>
                  </a:solidFill>
                  <a:latin typeface="Microsoft YaHei"/>
                  <a:ea typeface="Microsoft YaHei"/>
                  <a:cs typeface="Microsoft YaHei"/>
                </a:rPr>
                <a:t>更优雅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736080" y="2619375"/>
            <a:ext cx="4770120" cy="3194209"/>
            <a:chOff x="6736080" y="2619375"/>
            <a:chExt cx="4770120" cy="3194209"/>
          </a:xfrm>
        </p:grpSpPr>
        <p:sp>
          <p:nvSpPr>
            <p:cNvPr id="24" name="TextBox 24"/>
            <p:cNvSpPr txBox="1"/>
            <p:nvPr/>
          </p:nvSpPr>
          <p:spPr>
            <a:xfrm>
              <a:off x="6736080" y="2619375"/>
              <a:ext cx="16300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😎 Compose 方式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743700" y="2933700"/>
              <a:ext cx="4762500" cy="2495550"/>
            </a:xfrm>
            <a:prstGeom prst="roundRect">
              <a:avLst>
                <a:gd name="adj" fmla="val 5344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6" name="TextBox 26"/>
            <p:cNvSpPr txBox="1"/>
            <p:nvPr/>
          </p:nvSpPr>
          <p:spPr>
            <a:xfrm>
              <a:off x="6966966" y="3163252"/>
              <a:ext cx="675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services: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66966" y="3429952"/>
              <a:ext cx="3499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web: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66966" y="3696652"/>
              <a:ext cx="5265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build: 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66966" y="3963352"/>
              <a:ext cx="13747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ports: ['8080:80']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66966" y="4344352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db: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66966" y="461105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image: postgres:16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37985" y="559355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一个文件定义全部，一条命令启动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4" name="Line 34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12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2496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5993989" cy="721328"/>
            <a:chOff x="685800" y="552450"/>
            <a:chExt cx="5993989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334260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Compose 文件结构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57337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docker-compose.yml 的三大顶层字段：services / volumes / networks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F3EE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72342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三大顶层字段各司其职：</a:t>
              </a:r>
              <a:r>
                <a:rPr lang="en-US" sz="1500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services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定义容器，</a:t>
              </a:r>
              <a:r>
                <a:rPr lang="en-US" sz="1500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volumes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与 </a:t>
              </a:r>
              <a:r>
                <a:rPr lang="en-US" sz="1500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networks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被其引用。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438400"/>
            <a:ext cx="5905500" cy="3514439"/>
            <a:chOff x="685800" y="2438400"/>
            <a:chExt cx="5905500" cy="3514439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5905500" cy="3486150"/>
            </a:xfrm>
            <a:prstGeom prst="roundRect">
              <a:avLst>
                <a:gd name="adj" fmla="val 3825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909447" y="2637949"/>
              <a:ext cx="6299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services: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9447" y="2866549"/>
              <a:ext cx="3265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web: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447" y="3095149"/>
              <a:ext cx="12500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image: nginx:alpine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447" y="3323749"/>
              <a:ext cx="12830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ports: ["8080:80"]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9447" y="3552349"/>
              <a:ext cx="18041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volumes: [web-data:/html]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9447" y="3780949"/>
              <a:ext cx="13819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networks: [app-net]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9447" y="4009549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db: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9447" y="4238149"/>
              <a:ext cx="12764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image: postgres:16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9447" y="4466749"/>
              <a:ext cx="20811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volumes: [db-data:/var/lib/pg]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9447" y="4771549"/>
              <a:ext cx="5837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volumes: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9447" y="5000149"/>
              <a:ext cx="6893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web-data: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9447" y="5228749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db-data: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9447" y="5533549"/>
              <a:ext cx="6893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networks: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447" y="5762149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app-net: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743700" y="2590800"/>
            <a:ext cx="4762500" cy="2933700"/>
            <a:chOff x="6743700" y="2590800"/>
            <a:chExt cx="4762500" cy="2933700"/>
          </a:xfrm>
        </p:grpSpPr>
        <p:sp>
          <p:nvSpPr>
            <p:cNvPr id="27" name="Rectangle 27"/>
            <p:cNvSpPr/>
            <p:nvPr/>
          </p:nvSpPr>
          <p:spPr>
            <a:xfrm>
              <a:off x="6743700" y="2590800"/>
              <a:ext cx="4762500" cy="876300"/>
            </a:xfrm>
            <a:prstGeom prst="roundRect">
              <a:avLst>
                <a:gd name="adj" fmla="val 15217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28" name="Rectangle 28"/>
            <p:cNvSpPr/>
            <p:nvPr/>
          </p:nvSpPr>
          <p:spPr>
            <a:xfrm>
              <a:off x="6743700" y="2590800"/>
              <a:ext cx="76200" cy="8763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002780" y="2809875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services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04304" y="31470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定义每个容器（最常用字段）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43700" y="3619500"/>
              <a:ext cx="4762500" cy="876300"/>
            </a:xfrm>
            <a:prstGeom prst="roundRect">
              <a:avLst>
                <a:gd name="adj" fmla="val 15217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2" name="Rectangle 32"/>
            <p:cNvSpPr/>
            <p:nvPr/>
          </p:nvSpPr>
          <p:spPr>
            <a:xfrm>
              <a:off x="6743700" y="3619500"/>
              <a:ext cx="76200" cy="8763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02780" y="3838575"/>
              <a:ext cx="8209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volumes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04304" y="41757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声明可复用的命名数据卷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43700" y="4648200"/>
              <a:ext cx="4762500" cy="876300"/>
            </a:xfrm>
            <a:prstGeom prst="roundRect">
              <a:avLst>
                <a:gd name="adj" fmla="val 15217"/>
              </a:avLst>
            </a:prstGeom>
            <a:solidFill>
              <a:srgbClr val="FFFFFF"/>
            </a:solidFill>
            <a:ln w="9525">
              <a:solidFill>
                <a:srgbClr val="DCE6EF"/>
              </a:solidFill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36" name="Rectangle 36"/>
            <p:cNvSpPr/>
            <p:nvPr/>
          </p:nvSpPr>
          <p:spPr>
            <a:xfrm>
              <a:off x="6743700" y="4648200"/>
              <a:ext cx="76200" cy="8763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02780" y="4867275"/>
              <a:ext cx="9905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networks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4304" y="52044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声明自定义网络，服务间互通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40" name="Line 40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13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10382250" y="-762000"/>
            <a:ext cx="2286000" cy="2286000"/>
          </a:xfrm>
          <a:prstGeom prst="ellipse">
            <a:avLst/>
          </a:prstGeom>
          <a:solidFill>
            <a:srgbClr val="7C3AED">
              <a:alpha val="6000"/>
            </a:srgbClr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85800" y="552450"/>
            <a:ext cx="5618644" cy="721328"/>
            <a:chOff x="685800" y="552450"/>
            <a:chExt cx="5618644" cy="721328"/>
          </a:xfrm>
        </p:grpSpPr>
        <p:sp>
          <p:nvSpPr>
            <p:cNvPr id="3" name="Rectangle 3"/>
            <p:cNvSpPr/>
            <p:nvPr/>
          </p:nvSpPr>
          <p:spPr>
            <a:xfrm>
              <a:off x="685800" y="552450"/>
              <a:ext cx="95250" cy="4953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38022" y="568642"/>
              <a:ext cx="536642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多容器实战：Web + Database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46023" y="1024414"/>
              <a:ext cx="4969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7894"/>
                  </a:solidFill>
                  <a:latin typeface="Microsoft YaHei"/>
                  <a:ea typeface="Microsoft YaHei"/>
                  <a:cs typeface="Microsoft YaHei"/>
                </a:rPr>
                <a:t>一个真实示例：Web 服务连接 PostgreSQL，共享网络与数据卷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10820400" cy="609600"/>
            <a:chOff x="685800" y="1543050"/>
            <a:chExt cx="10820400" cy="609600"/>
          </a:xfrm>
        </p:grpSpPr>
        <p:sp>
          <p:nvSpPr>
            <p:cNvPr id="7" name="Rectangle 7"/>
            <p:cNvSpPr/>
            <p:nvPr/>
          </p:nvSpPr>
          <p:spPr>
            <a:xfrm>
              <a:off x="685800" y="1543050"/>
              <a:ext cx="10820400" cy="609600"/>
            </a:xfrm>
            <a:prstGeom prst="roundRect">
              <a:avLst>
                <a:gd name="adj" fmla="val 25000"/>
              </a:avLst>
            </a:prstGeom>
            <a:solidFill>
              <a:srgbClr val="F3EE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685800" y="154305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2980" y="1762125"/>
              <a:ext cx="64366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两个服务通过 </a:t>
              </a:r>
              <a:r>
                <a:rPr lang="en-US" sz="1500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depends_on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控制启动顺序，并通过服务名 </a:t>
              </a:r>
              <a:r>
                <a:rPr lang="en-US" sz="1500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db</a:t>
              </a:r>
              <a:r>
                <a:rPr lang="zh-CN" sz="150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 互相访问。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85800" y="2438400"/>
            <a:ext cx="5905500" cy="3489007"/>
            <a:chOff x="685800" y="2438400"/>
            <a:chExt cx="5905500" cy="3489007"/>
          </a:xfrm>
        </p:grpSpPr>
        <p:sp>
          <p:nvSpPr>
            <p:cNvPr id="11" name="Rectangle 11"/>
            <p:cNvSpPr/>
            <p:nvPr/>
          </p:nvSpPr>
          <p:spPr>
            <a:xfrm>
              <a:off x="685800" y="2438400"/>
              <a:ext cx="5905500" cy="3486150"/>
            </a:xfrm>
            <a:prstGeom prst="roundRect">
              <a:avLst>
                <a:gd name="adj" fmla="val 3825"/>
              </a:avLst>
            </a:prstGeom>
            <a:solidFill>
              <a:srgbClr val="0B1F3A"/>
            </a:solidFill>
            <a:ln>
              <a:noFill/>
            </a:ln>
            <a:effectLst>
              <a:outerShdw blurRad="228600" dist="76200" dir="5400000" algn="ctr" rotWithShape="0">
                <a:srgbClr val="0B1F3A">
                  <a:alpha val="7500"/>
                </a:srgbClr>
              </a:outerShdw>
            </a:effectLst>
          </p:spPr>
        </p:sp>
        <p:sp>
          <p:nvSpPr>
            <p:cNvPr id="12" name="TextBox 12"/>
            <p:cNvSpPr txBox="1"/>
            <p:nvPr/>
          </p:nvSpPr>
          <p:spPr>
            <a:xfrm>
              <a:off x="909638" y="2607945"/>
              <a:ext cx="5789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services: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9638" y="2817495"/>
              <a:ext cx="3003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web: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638" y="3027045"/>
              <a:ext cx="7425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build: ./web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638" y="3236595"/>
              <a:ext cx="11787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ports: ["8080:80"]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9638" y="3446145"/>
              <a:ext cx="1803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environment: { DB_HOST: db }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9638" y="3655695"/>
              <a:ext cx="10454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depends_on: [db]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9638" y="3865245"/>
              <a:ext cx="12695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networks: [app-net]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9638" y="415099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db: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9638" y="4360545"/>
              <a:ext cx="11726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image: postgres:16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9638" y="4570095"/>
              <a:ext cx="15724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volumes: [db-data:/data]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9638" y="4779645"/>
              <a:ext cx="12695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networks: [app-net]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9638" y="50653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volumes: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9638" y="5274945"/>
              <a:ext cx="5426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db-data: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638" y="5541645"/>
              <a:ext cx="6334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7FD0FF"/>
                  </a:solidFill>
                  <a:latin typeface="Consolas"/>
                  <a:ea typeface="Consolas"/>
                  <a:cs typeface="Consolas"/>
                </a:rPr>
                <a:t>networks: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9638" y="5751195"/>
              <a:ext cx="5426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app-net: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737604" y="2689860"/>
            <a:ext cx="2428639" cy="2895124"/>
            <a:chOff x="6737604" y="2689860"/>
            <a:chExt cx="2428639" cy="2895124"/>
          </a:xfrm>
        </p:grpSpPr>
        <p:sp>
          <p:nvSpPr>
            <p:cNvPr id="28" name="TextBox 28"/>
            <p:cNvSpPr txBox="1"/>
            <p:nvPr/>
          </p:nvSpPr>
          <p:spPr>
            <a:xfrm>
              <a:off x="6737604" y="2689860"/>
              <a:ext cx="169918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Docker-compose up -d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37985" y="2926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后台启动全部服务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7604" y="3337560"/>
              <a:ext cx="1444306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Docker-compose ps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37985" y="35742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查看各服务状态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37604" y="3985260"/>
              <a:ext cx="1954061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Docker-compose logs web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37985" y="42219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查看某个服务日志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37604" y="4632960"/>
              <a:ext cx="1614224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7C3AED"/>
                  </a:solidFill>
                  <a:latin typeface="Consolas"/>
                  <a:ea typeface="Consolas"/>
                  <a:cs typeface="Consolas"/>
                </a:rPr>
                <a:t>Docker-compose down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37985" y="48696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2942"/>
                  </a:solidFill>
                  <a:latin typeface="Microsoft YaHei"/>
                  <a:ea typeface="Microsoft YaHei"/>
                  <a:cs typeface="Microsoft YaHei"/>
                </a:rPr>
                <a:t>停止并清理容器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37985" y="5364956"/>
              <a:ext cx="24282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6BC"/>
                  </a:solidFill>
                  <a:latin typeface="Microsoft YaHei"/>
                  <a:ea typeface="Microsoft YaHei"/>
                  <a:cs typeface="Microsoft YaHei"/>
                </a:rPr>
                <a:t>提示：Web 用服务名 db 访问数据库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8" name="Line 38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DCE6E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AAEC2"/>
                  </a:solidFill>
                  <a:latin typeface="Microsoft YaHei"/>
                  <a:ea typeface="Microsoft YaHei"/>
                  <a:cs typeface="Microsoft YaHei"/>
                </a:rPr>
                <a:t>14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F3A"/>
            </a:gs>
            <a:gs pos="55000">
              <a:srgbClr val="0E2A52"/>
            </a:gs>
            <a:gs pos="100000">
              <a:srgbClr val="12356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496ED">
                  <a:alpha val="55000"/>
                </a:srgbClr>
              </a:gs>
              <a:gs pos="55000">
                <a:srgbClr val="2496ED">
                  <a:alpha val="12000"/>
                </a:srgbClr>
              </a:gs>
              <a:gs pos="100000">
                <a:srgbClr val="2496ED">
                  <a:alpha val="0"/>
                </a:srgbClr>
              </a:gs>
            </a:gsLst>
            <a:path path="circle">
              <a:fillToRect l="80000" t="26000" r="20000" b="74000"/>
            </a:path>
          </a:gra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9048750" y="190500"/>
            <a:ext cx="2476500" cy="2476500"/>
          </a:xfrm>
          <a:prstGeom prst="ellipse">
            <a:avLst/>
          </a:prstGeom>
          <a:solidFill>
            <a:srgbClr val="2496ED">
              <a:alpha val="16000"/>
            </a:srgbClr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10629900" y="4438650"/>
            <a:ext cx="1409700" cy="1409700"/>
          </a:xfrm>
          <a:prstGeom prst="ellipse">
            <a:avLst/>
          </a:prstGeom>
          <a:solidFill>
            <a:srgbClr val="7C3AED">
              <a:alpha val="2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1066800" y="5543550"/>
            <a:ext cx="914400" cy="914400"/>
          </a:xfrm>
          <a:prstGeom prst="ellipse">
            <a:avLst/>
          </a:prstGeom>
          <a:solidFill>
            <a:srgbClr val="2496ED">
              <a:alpha val="22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8991600" y="5924550"/>
            <a:ext cx="495300" cy="495300"/>
          </a:xfrm>
          <a:prstGeom prst="ellipse">
            <a:avLst/>
          </a:prstGeom>
          <a:solidFill>
            <a:srgbClr val="7FD0FF">
              <a:alpha val="30000"/>
            </a:srgbClr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1047750" y="1123950"/>
            <a:ext cx="2857500" cy="514350"/>
            <a:chOff x="1047750" y="1123950"/>
            <a:chExt cx="2857500" cy="514350"/>
          </a:xfrm>
        </p:grpSpPr>
        <p:sp>
          <p:nvSpPr>
            <p:cNvPr id="7" name="Rectangle 7"/>
            <p:cNvSpPr/>
            <p:nvPr/>
          </p:nvSpPr>
          <p:spPr>
            <a:xfrm>
              <a:off x="1047750" y="1123950"/>
              <a:ext cx="2857500" cy="51435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44168" y="1279208"/>
              <a:ext cx="12084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🐳 课程回顾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2371725"/>
            <a:ext cx="6630124" cy="876300"/>
            <a:chOff x="1028700" y="2371725"/>
            <a:chExt cx="6630124" cy="876300"/>
          </a:xfrm>
        </p:grpSpPr>
        <p:sp>
          <p:nvSpPr>
            <p:cNvPr id="10" name="TextBox 10"/>
            <p:cNvSpPr txBox="1"/>
            <p:nvPr/>
          </p:nvSpPr>
          <p:spPr>
            <a:xfrm>
              <a:off x="1028700" y="2371725"/>
              <a:ext cx="6630124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Docker 学习路径与总结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104900" y="3048000"/>
              <a:ext cx="1143000" cy="76200"/>
            </a:xfrm>
            <a:prstGeom prst="roundRect">
              <a:avLst>
                <a:gd name="adj" fmla="val 50000"/>
              </a:avLst>
            </a:prstGeom>
            <a:solidFill>
              <a:srgbClr val="2496ED"/>
            </a:solidFill>
            <a:ln>
              <a:noFill/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679704" y="3528060"/>
            <a:ext cx="10826496" cy="948690"/>
            <a:chOff x="679704" y="3528060"/>
            <a:chExt cx="10826496" cy="948690"/>
          </a:xfrm>
        </p:grpSpPr>
        <p:sp>
          <p:nvSpPr>
            <p:cNvPr id="13" name="TextBox 13"/>
            <p:cNvSpPr txBox="1"/>
            <p:nvPr/>
          </p:nvSpPr>
          <p:spPr>
            <a:xfrm>
              <a:off x="679704" y="35280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8FB4D8"/>
                  </a:solidFill>
                  <a:latin typeface="Microsoft YaHei"/>
                  <a:ea typeface="Microsoft YaHei"/>
                  <a:cs typeface="Microsoft YaHei"/>
                </a:rPr>
                <a:t>进阶路线图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85800" y="3810000"/>
              <a:ext cx="1905000" cy="666750"/>
            </a:xfrm>
            <a:prstGeom prst="roundRect">
              <a:avLst>
                <a:gd name="adj" fmla="val 20000"/>
              </a:avLst>
            </a:prstGeom>
            <a:solidFill>
              <a:srgbClr val="15315C"/>
            </a:solidFill>
            <a:ln w="14288">
              <a:solidFill>
                <a:srgbClr val="2496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10301" y="4072414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① 基础概念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609850" y="41433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895600" y="4067175"/>
              <a:ext cx="190500" cy="152400"/>
            </a:xfrm>
            <a:custGeom>
              <a:avLst/>
              <a:gdLst/>
              <a:ahLst/>
              <a:cxnLst/>
              <a:rect l="l" t="t" r="r" b="b"/>
              <a:pathLst>
                <a:path w="190500" h="152400">
                  <a:moveTo>
                    <a:pt x="0" y="0"/>
                  </a:moveTo>
                  <a:lnTo>
                    <a:pt x="19050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914650" y="3810000"/>
              <a:ext cx="1905000" cy="666750"/>
            </a:xfrm>
            <a:prstGeom prst="roundRect">
              <a:avLst>
                <a:gd name="adj" fmla="val 20000"/>
              </a:avLst>
            </a:prstGeom>
            <a:solidFill>
              <a:srgbClr val="15315C"/>
            </a:solidFill>
            <a:ln w="14288">
              <a:solidFill>
                <a:srgbClr val="2496ED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105133" y="4072414"/>
              <a:ext cx="15240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② 镜像/Dockerfile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838700" y="41433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5124450" y="4067175"/>
              <a:ext cx="190500" cy="152400"/>
            </a:xfrm>
            <a:custGeom>
              <a:avLst/>
              <a:gdLst/>
              <a:ahLst/>
              <a:cxnLst/>
              <a:rect l="l" t="t" r="r" b="b"/>
              <a:pathLst>
                <a:path w="190500" h="152400">
                  <a:moveTo>
                    <a:pt x="0" y="0"/>
                  </a:moveTo>
                  <a:lnTo>
                    <a:pt x="19050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143500" y="3810000"/>
              <a:ext cx="1905000" cy="666750"/>
            </a:xfrm>
            <a:prstGeom prst="roundRect">
              <a:avLst>
                <a:gd name="adj" fmla="val 20000"/>
              </a:avLst>
            </a:prstGeom>
            <a:solidFill>
              <a:srgbClr val="15315C"/>
            </a:solidFill>
            <a:ln w="14288">
              <a:solidFill>
                <a:srgbClr val="2496ED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618245" y="4072414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③ 数据/网络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7067550" y="41433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7353300" y="4067175"/>
              <a:ext cx="190500" cy="152400"/>
            </a:xfrm>
            <a:custGeom>
              <a:avLst/>
              <a:gdLst/>
              <a:ahLst/>
              <a:cxnLst/>
              <a:rect l="l" t="t" r="r" b="b"/>
              <a:pathLst>
                <a:path w="190500" h="152400">
                  <a:moveTo>
                    <a:pt x="0" y="0"/>
                  </a:moveTo>
                  <a:lnTo>
                    <a:pt x="19050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372350" y="3810000"/>
              <a:ext cx="1905000" cy="666750"/>
            </a:xfrm>
            <a:prstGeom prst="roundRect">
              <a:avLst>
                <a:gd name="adj" fmla="val 20000"/>
              </a:avLst>
            </a:prstGeom>
            <a:solidFill>
              <a:srgbClr val="15315C"/>
            </a:solidFill>
            <a:ln w="14288">
              <a:solidFill>
                <a:srgbClr val="2496ED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70446" y="4072414"/>
              <a:ext cx="13088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④ Compose 编排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296400" y="41433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5B7894"/>
              </a:solidFill>
            </a:ln>
          </p:spPr>
        </p:sp>
        <p:sp>
          <p:nvSpPr>
            <p:cNvPr id="29" name="Polygon 29"/>
            <p:cNvSpPr/>
            <p:nvPr/>
          </p:nvSpPr>
          <p:spPr>
            <a:xfrm>
              <a:off x="9582150" y="4067175"/>
              <a:ext cx="190500" cy="152400"/>
            </a:xfrm>
            <a:custGeom>
              <a:avLst/>
              <a:gdLst/>
              <a:ahLst/>
              <a:cxnLst/>
              <a:rect l="l" t="t" r="r" b="b"/>
              <a:pathLst>
                <a:path w="190500" h="152400">
                  <a:moveTo>
                    <a:pt x="0" y="0"/>
                  </a:moveTo>
                  <a:lnTo>
                    <a:pt x="190500" y="762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5B789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601200" y="3810000"/>
              <a:ext cx="1905000" cy="666750"/>
            </a:xfrm>
            <a:prstGeom prst="roundRect">
              <a:avLst>
                <a:gd name="adj" fmla="val 20000"/>
              </a:avLst>
            </a:prstGeom>
            <a:solidFill>
              <a:srgbClr val="3B2A5C"/>
            </a:solidFill>
            <a:ln w="14288">
              <a:solidFill>
                <a:srgbClr val="7C3AED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971513" y="4072414"/>
              <a:ext cx="11643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⑤ 进阶 K8s/CI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78942" y="5302568"/>
            <a:ext cx="4693444" cy="835533"/>
            <a:chOff x="678942" y="5302568"/>
            <a:chExt cx="4693444" cy="835533"/>
          </a:xfrm>
        </p:grpSpPr>
        <p:sp>
          <p:nvSpPr>
            <p:cNvPr id="33" name="TextBox 33"/>
            <p:cNvSpPr txBox="1"/>
            <p:nvPr/>
          </p:nvSpPr>
          <p:spPr>
            <a:xfrm>
              <a:off x="678942" y="5302568"/>
              <a:ext cx="46934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✓ 容器 = 应用 + 依赖；镜像 = 只读模板，可启动多个容器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8942" y="5588318"/>
              <a:ext cx="44177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✓ </a:t>
              </a:r>
              <a:r>
                <a:rPr lang="en-US" sz="13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docker run</a:t>
              </a:r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 启动单容器，</a:t>
              </a:r>
              <a:r>
                <a:rPr lang="en-US" sz="13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Compose</a:t>
              </a:r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 编排多容器应用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8942" y="5874068"/>
              <a:ext cx="4196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✓ 数据用 Volume 持久化，外部访问用 </a:t>
              </a:r>
              <a:r>
                <a:rPr lang="en-US" sz="1350" dirty="0">
                  <a:solidFill>
                    <a:srgbClr val="CFE4F7"/>
                  </a:solidFill>
                  <a:latin typeface="Consolas"/>
                  <a:ea typeface="Consolas"/>
                  <a:cs typeface="Consolas"/>
                </a:rPr>
                <a:t>-p</a:t>
              </a:r>
              <a:r>
                <a:rPr lang="zh-CN" sz="1350" dirty="0">
                  <a:solidFill>
                    <a:srgbClr val="CFE4F7"/>
                  </a:solidFill>
                  <a:latin typeface="Microsoft YaHei"/>
                  <a:ea typeface="Microsoft YaHei"/>
                  <a:cs typeface="Microsoft YaHei"/>
                </a:rPr>
                <a:t> 端口映射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80466" y="6324600"/>
            <a:ext cx="10831068" cy="339661"/>
            <a:chOff x="680466" y="6324600"/>
            <a:chExt cx="10831068" cy="339661"/>
          </a:xfrm>
        </p:grpSpPr>
        <p:sp>
          <p:nvSpPr>
            <p:cNvPr id="37" name="Line 37"/>
            <p:cNvSpPr/>
            <p:nvPr/>
          </p:nvSpPr>
          <p:spPr>
            <a:xfrm>
              <a:off x="685800" y="6324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2C4A72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0466" y="6458902"/>
              <a:ext cx="19725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93BD"/>
                  </a:solidFill>
                  <a:latin typeface="Microsoft YaHei"/>
                  <a:ea typeface="Microsoft YaHei"/>
                  <a:cs typeface="Microsoft YaHei"/>
                </a:rPr>
                <a:t>Docker 基础教程 · 容器化实战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6E93BD"/>
                  </a:solidFill>
                  <a:latin typeface="Microsoft YaHei"/>
                  <a:ea typeface="Microsoft YaHei"/>
                  <a:cs typeface="Microsoft YaHei"/>
                </a:rPr>
                <a:t>15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docker-compose-tutorial">
  <a:themeElements>
    <a:clrScheme name="docker-compose-tutorial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ocker-compose-tutorial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ocker-compose-tu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1812</Words>
  <Application>Microsoft Office PowerPoint</Application>
  <PresentationFormat>宽屏</PresentationFormat>
  <Paragraphs>319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Calibri</vt:lpstr>
      <vt:lpstr>Consolas</vt:lpstr>
      <vt:lpstr>docker-compose-tutorial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/>
  <cp:lastModifiedBy>辉 童</cp:lastModifiedBy>
  <cp:revision>3</cp:revision>
  <dcterms:created xsi:type="dcterms:W3CDTF">2026-09-02T14:16:38Z</dcterms:created>
  <dcterms:modified xsi:type="dcterms:W3CDTF">2026-09-09T12:08:45Z</dcterms:modified>
  <cp:category/>
  <cp:contentStatus/>
  <dc:language/>
</cp:coreProperties>
</file>