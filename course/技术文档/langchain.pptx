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angchain-v1-tutorial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angchain-v1-tutorial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620"/>
            </a:gs>
            <a:gs pos="55000">
              <a:srgbClr val="123A2E"/>
            </a:gs>
            <a:gs pos="100000">
              <a:srgbClr val="0B2E2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A97E">
                  <a:alpha val="55000"/>
                </a:srgbClr>
              </a:gs>
              <a:gs pos="55000">
                <a:srgbClr val="1FA97E">
                  <a:alpha val="12000"/>
                </a:srgbClr>
              </a:gs>
              <a:gs pos="100000">
                <a:srgbClr val="1FA97E">
                  <a:alpha val="0"/>
                </a:srgbClr>
              </a:gs>
            </a:gsLst>
            <a:path path="circle">
              <a:fillToRect l="78000" t="26000" r="22000" b="74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190500"/>
            <a:ext cx="2476500" cy="2476500"/>
          </a:xfrm>
          <a:prstGeom prst="ellipse">
            <a:avLst/>
          </a:prstGeom>
          <a:solidFill>
            <a:srgbClr val="1FA97E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29900" y="4438650"/>
            <a:ext cx="1409700" cy="1409700"/>
          </a:xfrm>
          <a:prstGeom prst="ellipse">
            <a:avLst/>
          </a:prstGeom>
          <a:solidFill>
            <a:srgbClr val="F2994A">
              <a:alpha val="1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5543550"/>
            <a:ext cx="914400" cy="914400"/>
          </a:xfrm>
          <a:prstGeom prst="ellipse">
            <a:avLst/>
          </a:prstGeom>
          <a:solidFill>
            <a:srgbClr val="1FA97E">
              <a:alpha val="2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991600" y="5924550"/>
            <a:ext cx="495300" cy="495300"/>
          </a:xfrm>
          <a:prstGeom prst="ellipse">
            <a:avLst/>
          </a:prstGeom>
          <a:solidFill>
            <a:srgbClr val="8FE0C8">
              <a:alpha val="30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47750" y="1123950"/>
            <a:ext cx="3429000" cy="514350"/>
            <a:chOff x="1047750" y="1123950"/>
            <a:chExt cx="3429000" cy="514350"/>
          </a:xfrm>
        </p:grpSpPr>
        <p:sp>
          <p:nvSpPr>
            <p:cNvPr id="7" name="Rectangle 7"/>
            <p:cNvSpPr/>
            <p:nvPr/>
          </p:nvSpPr>
          <p:spPr>
            <a:xfrm>
              <a:off x="1047750" y="1123950"/>
              <a:ext cx="3429000" cy="51435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168" y="1279208"/>
              <a:ext cx="254169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🦜 LangChain v1.0 实战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637472"/>
            <a:ext cx="8709622" cy="1674495"/>
            <a:chOff x="1028700" y="2637472"/>
            <a:chExt cx="8709622" cy="1674495"/>
          </a:xfrm>
        </p:grpSpPr>
        <p:sp>
          <p:nvSpPr>
            <p:cNvPr id="10" name="TextBox 10"/>
            <p:cNvSpPr txBox="1"/>
            <p:nvPr/>
          </p:nvSpPr>
          <p:spPr>
            <a:xfrm>
              <a:off x="1028700" y="2637472"/>
              <a:ext cx="8709622" cy="12477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64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LangChain v1.0 教程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360045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5370" y="3871912"/>
              <a:ext cx="642908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B8E0D2"/>
                  </a:solidFill>
                  <a:latin typeface="Microsoft YaHei"/>
                  <a:ea typeface="Microsoft YaHei"/>
                  <a:cs typeface="Microsoft YaHei"/>
                </a:rPr>
                <a:t>从模型调用到智能体编排 · 大模型应用开发入门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1058418" y="4679632"/>
            <a:ext cx="7369101" cy="322707"/>
            <a:chOff x="1058418" y="4679632"/>
            <a:chExt cx="7369101" cy="322707"/>
          </a:xfrm>
        </p:grpSpPr>
        <p:sp>
          <p:nvSpPr>
            <p:cNvPr id="14" name="TextBox 14"/>
            <p:cNvSpPr txBox="1"/>
            <p:nvPr/>
          </p:nvSpPr>
          <p:spPr>
            <a:xfrm>
              <a:off x="1058418" y="4679632"/>
              <a:ext cx="736910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8FB4A8"/>
                  </a:solidFill>
                  <a:latin typeface="Microsoft YaHei"/>
                  <a:ea typeface="Microsoft YaHei"/>
                  <a:cs typeface="Microsoft YaHei"/>
                </a:rPr>
                <a:t>模型 I/O　·　LCEL 链　·　RAG　·　Tools　·　Agent　·　记忆与多轮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041654" y="6057900"/>
            <a:ext cx="10108692" cy="448056"/>
            <a:chOff x="1041654" y="6057900"/>
            <a:chExt cx="10108692" cy="448056"/>
          </a:xfrm>
        </p:grpSpPr>
        <p:sp>
          <p:nvSpPr>
            <p:cNvPr id="16" name="Line 16"/>
            <p:cNvSpPr/>
            <p:nvPr/>
          </p:nvSpPr>
          <p:spPr>
            <a:xfrm>
              <a:off x="1047750" y="605790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2E5044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41654" y="6271260"/>
              <a:ext cx="42190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教育版入门讲义　|　适用 LangChain 1.0 / Python 3.10+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82757" y="6271260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2026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888802" cy="721328"/>
            <a:chOff x="685800" y="552450"/>
            <a:chExt cx="4888802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63658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什么是 LangChain v1.0？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1145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先建立四个核心心智模型，再动手写代码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1286744" cy="609600"/>
            <a:chOff x="685800" y="1543050"/>
            <a:chExt cx="11286744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109895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官方定位：</a:t>
              </a:r>
              <a:r>
                <a:rPr lang="zh-CN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LangChain = 模型 + 编排（Harness）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；v1.0（2025-10 发布）大幅精简 API，成为生产就绪的 LTS 版本。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85800" y="2438400"/>
            <a:ext cx="5257800" cy="1714500"/>
            <a:chOff x="685800" y="2438400"/>
            <a:chExt cx="5257800" cy="171450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2578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8DF"/>
              </a:solidFill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Ellipse 12"/>
            <p:cNvSpPr/>
            <p:nvPr/>
          </p:nvSpPr>
          <p:spPr>
            <a:xfrm>
              <a:off x="895350" y="2724150"/>
              <a:ext cx="571500" cy="571500"/>
            </a:xfrm>
            <a:prstGeom prst="ellipse">
              <a:avLst/>
            </a:prstGeom>
            <a:solidFill>
              <a:srgbClr val="E2F4E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39939" y="29136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📦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29918" y="27936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包拆分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632204" y="3185160"/>
              <a:ext cx="26049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核心 langchain 与各厂商集成包分离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32204" y="3432810"/>
              <a:ext cx="325114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如 langchain-openai、langchain-anthropic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6248400" y="2438400"/>
            <a:ext cx="5257800" cy="1714500"/>
            <a:chOff x="6248400" y="2438400"/>
            <a:chExt cx="52578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6248400" y="2438400"/>
              <a:ext cx="52578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8DF"/>
              </a:solidFill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9" name="Ellipse 19"/>
            <p:cNvSpPr/>
            <p:nvPr/>
          </p:nvSpPr>
          <p:spPr>
            <a:xfrm>
              <a:off x="6457950" y="2724150"/>
              <a:ext cx="571500" cy="571500"/>
            </a:xfrm>
            <a:prstGeom prst="ellipse">
              <a:avLst/>
            </a:prstGeom>
            <a:solidFill>
              <a:srgbClr val="E2F4EC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02540" y="29136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192518" y="279368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统一模型入口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194804" y="3185160"/>
              <a:ext cx="28069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init_chat_model("provider:model")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194804" y="34328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一行切换不同厂商模型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4305300"/>
            <a:ext cx="5257800" cy="1714500"/>
            <a:chOff x="685800" y="4305300"/>
            <a:chExt cx="5257800" cy="1714500"/>
          </a:xfrm>
        </p:grpSpPr>
        <p:sp>
          <p:nvSpPr>
            <p:cNvPr id="25" name="Rectangle 25"/>
            <p:cNvSpPr/>
            <p:nvPr/>
          </p:nvSpPr>
          <p:spPr>
            <a:xfrm>
              <a:off x="685800" y="4305300"/>
              <a:ext cx="52578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8DF"/>
              </a:solidFill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26" name="Ellipse 26"/>
            <p:cNvSpPr/>
            <p:nvPr/>
          </p:nvSpPr>
          <p:spPr>
            <a:xfrm>
              <a:off x="895350" y="4591050"/>
              <a:ext cx="571500" cy="571500"/>
            </a:xfrm>
            <a:prstGeom prst="ellipse">
              <a:avLst/>
            </a:prstGeom>
            <a:solidFill>
              <a:srgbClr val="FCEBDD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39939" y="47805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🤖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629918" y="4660582"/>
              <a:ext cx="112737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智能体重构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32204" y="5052060"/>
              <a:ext cx="17730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create_agent 取代旧版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32204" y="5299710"/>
              <a:ext cx="25830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AgentExecutor / initialize_agent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6248400" y="4305300"/>
            <a:ext cx="5257800" cy="1714500"/>
            <a:chOff x="6248400" y="4305300"/>
            <a:chExt cx="5257800" cy="1714500"/>
          </a:xfrm>
        </p:grpSpPr>
        <p:sp>
          <p:nvSpPr>
            <p:cNvPr id="32" name="Rectangle 32"/>
            <p:cNvSpPr/>
            <p:nvPr/>
          </p:nvSpPr>
          <p:spPr>
            <a:xfrm>
              <a:off x="6248400" y="4305300"/>
              <a:ext cx="5257800" cy="1714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CFE8DF"/>
              </a:solidFill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33" name="Ellipse 33"/>
            <p:cNvSpPr/>
            <p:nvPr/>
          </p:nvSpPr>
          <p:spPr>
            <a:xfrm>
              <a:off x="6457950" y="4591050"/>
              <a:ext cx="571500" cy="571500"/>
            </a:xfrm>
            <a:prstGeom prst="ellipse">
              <a:avLst/>
            </a:prstGeom>
            <a:solidFill>
              <a:srgbClr val="E2F4E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602540" y="4780598"/>
              <a:ext cx="28232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000000"/>
                  </a:solidFill>
                  <a:latin typeface="Microsoft YaHei"/>
                  <a:ea typeface="Microsoft YaHei"/>
                  <a:cs typeface="Microsoft YaHei"/>
                </a:rPr>
                <a:t>🧠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92518" y="466058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记忆统一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194804" y="5052060"/>
              <a:ext cx="1854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旧 Memory 类已全部移除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194804" y="5299710"/>
              <a:ext cx="22758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改用 LangGraph Checkpointer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9" name="Line 39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3865021" cy="721328"/>
            <a:chOff x="685800" y="552450"/>
            <a:chExt cx="3865021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安装与环境配置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6047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Python ≥ 3.10；核心包与厂商集成包分开安装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5779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v1.0 不再有「单体大包塞满所有集成」；</a:t>
              </a:r>
              <a:r>
                <a:rPr lang="zh-CN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集成按需安装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，减小依赖体积。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核心包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15628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pip install -U langchain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77552"/>
              <a:ext cx="16676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OpenAI 集成包（必须）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63302"/>
              <a:ext cx="2071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pip install -U langchain-openai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906202"/>
              <a:ext cx="12616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其它厂商（按需）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191952"/>
              <a:ext cx="23050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pip install -U langchain-anthropic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77702"/>
              <a:ext cx="25029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pip install -U langchain-google-genai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820602"/>
              <a:ext cx="20647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pip install -U langchain-ollama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5163502"/>
              <a:ext cx="1844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配置 API Key（环境变量）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449252"/>
              <a:ext cx="23417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export OPENAI_API_KEY="sk-..."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735002"/>
              <a:ext cx="38210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FA6BC"/>
                  </a:solidFill>
                  <a:latin typeface="Consolas"/>
                  <a:ea typeface="Consolas"/>
                  <a:cs typeface="Consolas"/>
                </a:rPr>
                <a:t># Windows PowerShell: $env:OPENAI_API_KEY="sk-..."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755905" cy="3371374"/>
            <a:chOff x="6851904" y="2708910"/>
            <a:chExt cx="2755905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核心包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22655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langchain（含 langchain_core）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提供商集成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独立包：openai / anthropic / …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9547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Python 版本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8180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必须 ≥ 3.10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文本切分器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23484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独立包 langchain_text_splitters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验证安装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2755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import langchain → __version__ 为 1.x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2254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缺包会报 ModuleNotFoundError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501515" cy="721328"/>
            <a:chOff x="685800" y="552450"/>
            <a:chExt cx="4501515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24929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快速开始：两个最小示例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23521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① 最简模型调用　② 最简智能体（带工具）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1837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用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init_chat_model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完成一次对话，用 </a:t>
              </a:r>
              <a:r>
                <a:rPr lang="en-US" sz="1500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create_agent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让模型调用自定义工具。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2438400"/>
            <a:ext cx="5334000" cy="3600450"/>
            <a:chOff x="685800" y="2438400"/>
            <a:chExt cx="53340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3340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16087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示例 A：最简模型调用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71016" y="293465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langchain.chat_models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14116" y="293465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728466" y="293465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init_chat_model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3277552"/>
              <a:ext cx="21804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模型名格式："provider:model"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3563302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model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385316" y="3563302"/>
              <a:ext cx="2505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init_chat_model("openai:gpt-4o")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3906202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response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632966" y="390620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model.invoke(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4191952"/>
              <a:ext cx="23937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"用一句话解释什么是 LangChain。")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066" y="453485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271016" y="4534852"/>
              <a:ext cx="1410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(response.content)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066" y="5030152"/>
              <a:ext cx="20362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输出：LangChain 是构建 LLM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5277802"/>
              <a:ext cx="13535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应用的开源框架...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6324600" y="2438400"/>
            <a:ext cx="5181600" cy="3600450"/>
            <a:chOff x="6324600" y="2438400"/>
            <a:chExt cx="5181600" cy="3600450"/>
          </a:xfrm>
        </p:grpSpPr>
        <p:sp>
          <p:nvSpPr>
            <p:cNvPr id="28" name="Rectangle 28"/>
            <p:cNvSpPr/>
            <p:nvPr/>
          </p:nvSpPr>
          <p:spPr>
            <a:xfrm>
              <a:off x="6324600" y="2438400"/>
              <a:ext cx="51816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29" name="TextBox 29"/>
            <p:cNvSpPr txBox="1"/>
            <p:nvPr/>
          </p:nvSpPr>
          <p:spPr>
            <a:xfrm>
              <a:off x="6547866" y="2648902"/>
              <a:ext cx="22061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FE0C0"/>
                  </a:solidFill>
                  <a:latin typeface="Consolas"/>
                  <a:ea typeface="Microsoft YaHei"/>
                  <a:cs typeface="Consolas"/>
                </a:rPr>
                <a:t># 示例 B：最简智能体（带工具）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547866" y="293465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909816" y="293465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langchain.agents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86216" y="293465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47866" y="3182302"/>
              <a:ext cx="9435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create_agent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547866" y="3525202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def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71716" y="3525202"/>
              <a:ext cx="22298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get_weather(city: str) -&gt; str: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547866" y="3810952"/>
              <a:ext cx="23988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"""Get the weather for a city."""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547866" y="4096702"/>
              <a:ext cx="2254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return f"{city} 今天晴，25°C。"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547866" y="4439602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024116" y="443960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create_agent(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47866" y="4725352"/>
              <a:ext cx="3268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model="openai:gpt-4o", tools=[get_weather])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47866" y="506825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result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024116" y="5068252"/>
              <a:ext cx="11061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agent.invoke(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547866" y="5354002"/>
              <a:ext cx="43006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{"messages": [{"role": "user", "content": "上海天气？"}]})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547866" y="5696902"/>
              <a:ext cx="33536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print(result["messages"][-1].content_blocks)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6" name="Line 4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718868" cy="721328"/>
            <a:chOff x="685800" y="552450"/>
            <a:chExt cx="4718868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04583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聊天模型 Chat Models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4586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init_chat_model 是 v1.0 统一入口；模型名须带厂商前缀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6280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模型名格式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"provider:model"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：如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"openai:gpt-4o"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、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"anthropic:claude-..."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2438400"/>
            <a:ext cx="5905500" cy="3635311"/>
            <a:chOff x="685800" y="2438400"/>
            <a:chExt cx="5905500" cy="3635311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1016" y="2648902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langchain.chat_models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214116" y="264890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28466" y="2648902"/>
              <a:ext cx="10990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init_chat_model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2991802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推荐：统一入口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3277552"/>
              <a:ext cx="3923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model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85316" y="3277552"/>
              <a:ext cx="2505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init_chat_model("openai:gpt-4o",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3563302"/>
              <a:ext cx="25196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temperature=0.7, max_tokens=512)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3906202"/>
              <a:ext cx="1402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多轮对话：消息列表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4191952"/>
              <a:ext cx="6608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messages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13916" y="4191952"/>
              <a:ext cx="2085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[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066" y="4477702"/>
              <a:ext cx="28652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("system", "你是资深 Python 工程师。"),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066" y="47634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("user", "什么是装饰器？"),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066" y="5049202"/>
              <a:ext cx="33182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("assistant", "装饰器是用于包装函数的函数。"),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5334952"/>
              <a:ext cx="19754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("user", "能给个例子吗？"),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066" y="56207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resp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309116" y="562070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model.invoke(messages)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066" y="5868352"/>
              <a:ext cx="30779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print(resp.content, resp.usage_metadata)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1904" y="2708910"/>
            <a:ext cx="3087609" cy="3371374"/>
            <a:chOff x="6851904" y="2708910"/>
            <a:chExt cx="3087609" cy="3371374"/>
          </a:xfrm>
        </p:grpSpPr>
        <p:sp>
          <p:nvSpPr>
            <p:cNvPr id="31" name="TextBox 31"/>
            <p:cNvSpPr txBox="1"/>
            <p:nvPr/>
          </p:nvSpPr>
          <p:spPr>
            <a:xfrm>
              <a:off x="6851904" y="27089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模型名必带前缀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285" y="2945606"/>
              <a:ext cx="30721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openai / anthropic / google_genai / ollama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1904" y="33375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多轮对话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3574256"/>
              <a:ext cx="293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messages 列表：system/user/assistant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1904" y="3966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调用方式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2285" y="4202906"/>
              <a:ext cx="27706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model.invoke() 单次 / .stream() 流式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1904" y="4594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读取结果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2285" y="4831556"/>
              <a:ext cx="30872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content 文本；usage_metadata token 用量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1904" y="5223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多模态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2285" y="5460206"/>
              <a:ext cx="245263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HumanMessage + image_url 传图片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5860256"/>
              <a:ext cx="2122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忘记前缀会报错，务必带上厂商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3" name="Line 4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064076" cy="721328"/>
            <a:chOff x="685800" y="552450"/>
            <a:chExt cx="4064076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729373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提示词模板 Prompts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8038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把「可变输入」与「固定模板」分离，用变量填充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78607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用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ChatPromptTemplate.from_messages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构造带变量的提示词，再拼上模型组成链。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685800" y="2438400"/>
            <a:ext cx="5905500" cy="3616261"/>
            <a:chOff x="685800" y="2438400"/>
            <a:chExt cx="5905500" cy="3616261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1016" y="2648902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langchain_core.prompts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04616" y="264890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918966" y="2648902"/>
              <a:ext cx="1444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ChatPromptTemplate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2991802"/>
              <a:ext cx="5053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prompt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442466" y="2991802"/>
              <a:ext cx="28679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ChatPromptTemplate.from_messages([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3277552"/>
              <a:ext cx="32900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("system", "你是翻译助手，只输出翻译结果。"),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3563302"/>
              <a:ext cx="30073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("user", "把下面中文翻译成英文：{text}"),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38490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])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4191952"/>
              <a:ext cx="15443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先单独渲染，再拼模型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4477702"/>
              <a:ext cx="7386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formatted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32966" y="4477702"/>
              <a:ext cx="3035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= prompt.invoke({"text": "今天天气真好"})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066" y="482060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chain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85316" y="4820602"/>
              <a:ext cx="1134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prompt | model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516350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71016" y="5163502"/>
              <a:ext cx="35515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(chain.invoke({"text": "今天天气真好"}).content)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09066" y="5601652"/>
              <a:ext cx="3148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多轮历史用 MessagesPlaceholder("history")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066" y="5849302"/>
              <a:ext cx="333910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少样本用 FewShotChatMessagePromptTemplate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851904" y="2708910"/>
            <a:ext cx="3432621" cy="3371374"/>
            <a:chOff x="6851904" y="2708910"/>
            <a:chExt cx="3432621" cy="3371374"/>
          </a:xfrm>
        </p:grpSpPr>
        <p:sp>
          <p:nvSpPr>
            <p:cNvPr id="31" name="TextBox 31"/>
            <p:cNvSpPr txBox="1"/>
            <p:nvPr/>
          </p:nvSpPr>
          <p:spPr>
            <a:xfrm>
              <a:off x="6851904" y="2708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模板变量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2285" y="2945606"/>
              <a:ext cx="209211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用 {name}，调用时传同名字典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1904" y="3337560"/>
              <a:ext cx="12928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from_messages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3574256"/>
              <a:ext cx="18734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接收 (role, content) 元组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1904" y="3966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合法角色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2285" y="4202906"/>
              <a:ext cx="19639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system / human / ai / user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1904" y="4594860"/>
              <a:ext cx="8050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Few-Shot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2285" y="4831556"/>
              <a:ext cx="34322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FewShotChatMessagePromptTemplate 注入示例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1904" y="5223510"/>
              <a:ext cx="17441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MessagesPlaceholder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2285" y="54602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在模板中插入消息列表（多轮历史）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5860256"/>
              <a:ext cx="2401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拼写 from_messages，别误写逗号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3" name="Line 43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06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219158" cy="721328"/>
            <a:chOff x="685800" y="552450"/>
            <a:chExt cx="4219158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LCEL 链式组合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9589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用 | 把多个组件串成可运行、可流式、可批处理的链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5998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LCEL 是 v1.0 的</a:t>
              </a:r>
              <a:r>
                <a:rPr lang="zh-CN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核心编排原语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，除智能体外几乎所有组合都用它。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1016" y="2648902"/>
              <a:ext cx="177048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langchain_core.runnables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785616" y="264890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299966" y="2648902"/>
              <a:ext cx="1617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(RunnablePassthrough,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2934652"/>
              <a:ext cx="24104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RunnableParallel, RunnableLambda)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327755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chain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47216" y="327755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prompt | model | parser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362045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print(chain.invoke({"topic": "量子计算"}))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3963352"/>
              <a:ext cx="69622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透传输入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4249102"/>
              <a:ext cx="32030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c2 = {"topic": RunnablePassthrough()} | chain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4592002"/>
              <a:ext cx="157966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并行分支，合并为 dict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9066" y="4877752"/>
              <a:ext cx="394516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 = RunnableParallel({"joke": j_chain, "poem": p_chain})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066" y="5220652"/>
              <a:ext cx="978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包装普通函数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066" y="5506402"/>
              <a:ext cx="32094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upper = RunnableLambda(lambda s: s.upper())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9066" y="5792152"/>
              <a:ext cx="326880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print((chain | upper).invoke({"topic": "ai"}))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51904" y="2708910"/>
            <a:ext cx="2258350" cy="3371374"/>
            <a:chOff x="6851904" y="2708910"/>
            <a:chExt cx="2258350" cy="3371374"/>
          </a:xfrm>
        </p:grpSpPr>
        <p:sp>
          <p:nvSpPr>
            <p:cNvPr id="28" name="TextBox 28"/>
            <p:cNvSpPr txBox="1"/>
            <p:nvPr/>
          </p:nvSpPr>
          <p:spPr>
            <a:xfrm>
              <a:off x="6851904" y="270891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a | b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294560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 a 的输出作为 b 的输入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3337560"/>
              <a:ext cx="1752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RunnablePassthrough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35742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原样透传输入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3966210"/>
              <a:ext cx="13445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RunnableParallel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4202906"/>
              <a:ext cx="170764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多分支并行，合并为 dict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1904" y="4594860"/>
              <a:ext cx="1320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RunnableLambda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2285" y="4831556"/>
              <a:ext cx="19747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包装任意 Python 函数为节点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1904" y="52235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统一接口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2285" y="5460206"/>
              <a:ext cx="22579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invoke / stream / batch 全支持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2285" y="5860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每步输入输出类型要匹配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0" name="Line 40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07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885182" cy="721328"/>
            <a:chOff x="685800" y="552450"/>
            <a:chExt cx="4885182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46329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检索基础：文档加载与切分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8454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RAG 前置——先把文档读进来、切成合适大小的块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3422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一条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Document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含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page_content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与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metadata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；切分让检索更精准。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71016" y="2648902"/>
              <a:ext cx="2752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langchain_community.document_loaders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471416" y="264890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2934652"/>
              <a:ext cx="7969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TextLoader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277552"/>
              <a:ext cx="3499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from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71016" y="3277552"/>
              <a:ext cx="17351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langchain_text_splitters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214116" y="3277552"/>
              <a:ext cx="4700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import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728466" y="3277552"/>
              <a:ext cx="2253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RecursiveCharacterTextSplitter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36204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docs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309116" y="3620452"/>
              <a:ext cx="21300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TextLoader("a.txt").load()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3963352"/>
              <a:ext cx="5619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splitter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75816" y="3963352"/>
              <a:ext cx="24531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RecursiveCharacterTextSplitter(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09066" y="4249102"/>
              <a:ext cx="262566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chunk_size=1000, chunk_overlap=200)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066" y="45920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chunks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61516" y="4592002"/>
              <a:ext cx="23500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= splitter.split_documents(docs)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09066" y="493490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7FD0FF"/>
                  </a:solidFill>
                  <a:latin typeface="Consolas"/>
                  <a:ea typeface="Consolas"/>
                  <a:cs typeface="Consolas"/>
                </a:rPr>
                <a:t>print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71016" y="493490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(len(chunks), "个文本块")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09066" y="5334952"/>
              <a:ext cx="2090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# PDF: PyPDFLoader("x.pdf")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09066" y="5620702"/>
              <a:ext cx="274672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9AAEC2"/>
                  </a:solidFill>
                  <a:latin typeface="Consolas"/>
                  <a:ea typeface="Consolas"/>
                  <a:cs typeface="Consolas"/>
                </a:rPr>
                <a:t># Web: WebBaseLoader("https://...")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851904" y="2708910"/>
            <a:ext cx="2196089" cy="3371374"/>
            <a:chOff x="6851904" y="2708910"/>
            <a:chExt cx="2196089" cy="3371374"/>
          </a:xfrm>
        </p:grpSpPr>
        <p:sp>
          <p:nvSpPr>
            <p:cNvPr id="32" name="TextBox 32"/>
            <p:cNvSpPr txBox="1"/>
            <p:nvPr/>
          </p:nvSpPr>
          <p:spPr>
            <a:xfrm>
              <a:off x="6851904" y="2708910"/>
              <a:ext cx="797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Document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2945606"/>
              <a:ext cx="21373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含 page_content 与 metadata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1904" y="333756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Loader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52285" y="3574256"/>
              <a:ext cx="21957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支持 PDF / Web / Markdown 等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851904" y="3966210"/>
              <a:ext cx="6783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Splitter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852285" y="4202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递归字符切分最常用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851904" y="4594860"/>
              <a:ext cx="9027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chunk_size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852285" y="483155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控制每块长度（字符/token）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851904" y="5223510"/>
              <a:ext cx="11825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chunk_overlap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852285" y="546020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块间重叠，保留上下文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852285" y="5860256"/>
              <a:ext cx="19036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块太大/太小都影响检索质量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44" name="Line 44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08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3734181" cy="721328"/>
            <a:chOff x="685800" y="552450"/>
            <a:chExt cx="3734181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48195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文本嵌入与向量存储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2869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把文本变成向量，存进向量库以便语义检索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4239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Embeddings 将文本映射为向量；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retriever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是 RAG 的标准检索接口。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32233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langchain_openai import OpenAIEmbeddings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15602"/>
              <a:ext cx="375158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langchain_community.vectorstores import FAISS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39452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嵌入模型（建索引与查询须一致）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25202"/>
              <a:ext cx="462580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embeddings = OpenAIEmbeddings(model="text-embedding-3-small")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810952"/>
              <a:ext cx="24489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docs = [...] # 加载并切分后的文本块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096702"/>
              <a:ext cx="39874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vectorstore = FAISS.from_documents(docs, embeddings)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205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转成检索器，取最相似的 k 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706302"/>
              <a:ext cx="27458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retriever = vectorstore.as_retriever(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4992052"/>
              <a:ext cx="179169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search_kwargs={"k": 3})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27954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hits = retriever.invoke("RAG 是什么？")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620702"/>
              <a:ext cx="203905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print(hits[0].page_content)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448299" cy="3371374"/>
            <a:chOff x="6851904" y="2708910"/>
            <a:chExt cx="2448299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9418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Embeddings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把文本映射为向量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向量库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19554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FAISS / Chroma / Milvus 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14624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similarity_search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按相似度语义检索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retriever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244791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RAG 标准接口：query → documents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一致性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19714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建索引与查询用同一嵌入模型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向量库是「语义搜索引擎」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09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236390" cy="721328"/>
            <a:chOff x="685800" y="552450"/>
            <a:chExt cx="4236390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29128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检索增强生成 RAG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9761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先检索相关文档，再让模型基于文档回答，减少幻觉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5257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标准流水线：</a:t>
              </a:r>
              <a:r>
                <a:rPr lang="zh-CN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加载 → 切分 → 嵌入 → 检索 → 生成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，用 LCEL 串成一条链。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41472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langchain_core.runnables import RunnablePassthrough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292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model = init_chat_model("openai:gpt-4o")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20402"/>
              <a:ext cx="340489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prompt = ChatPromptTemplate.from_messages([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06152"/>
              <a:ext cx="52901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("system", "只使用上下文回答，不知道就说不知道。\n上下文：\n{context}"),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791902"/>
              <a:ext cx="17280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("user", "{question}"),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0776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])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20552"/>
              <a:ext cx="1827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把检索到的文档拼成字符串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706302"/>
              <a:ext cx="17139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def format_docs(docs):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4992052"/>
              <a:ext cx="34596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return "\n\n".join(d.page_content for d in docs)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35656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rag_chain = ({"context": retriever | format_docs,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620702"/>
              <a:ext cx="37676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"question": RunnablePassthrough()} | prompt | model)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1986956" cy="3371374"/>
            <a:chOff x="6851904" y="2708910"/>
            <a:chExt cx="1986956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标准流水线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8508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加载→切分→嵌入→检索→生成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注入上下文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retriever 须在 prompt 之前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8518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{context}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检索内容注入提示词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减少幻觉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答案有据可依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进阶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18659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查询重写 / 多路检索 / 重排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嵌入模型要与建索引时一致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10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598248" cy="721328"/>
            <a:chOff x="685800" y="552450"/>
            <a:chExt cx="4598248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885779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工具与函数调用 Tools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3380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用 @tool 把函数变成模型可用的工具，模型自主选择调用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4971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docstring 与类型注解极其重要——模型靠它们判断</a:t>
              </a:r>
              <a:r>
                <a:rPr lang="zh-CN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何时、如何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调用工具。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22722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langchain.tools import tool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@tool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20402"/>
              <a:ext cx="21026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def add(a: int, b: int) -&gt; int: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06152"/>
              <a:ext cx="17492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"""计算两个整数的和。"""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791902"/>
              <a:ext cx="83757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return a + b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134802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查看工具元信息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20552"/>
              <a:ext cx="238536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print(add.name, add.description)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763452"/>
              <a:ext cx="112027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让模型决定调用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5049202"/>
              <a:ext cx="292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model = init_chat_model("openai:gpt-4o")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198958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 = model.bind_tools([add])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620702"/>
              <a:ext cx="332534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print(m.invoke("3 加 4 等于多少？").tool_calls)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213117" cy="3371374"/>
            <a:chOff x="6851904" y="2708910"/>
            <a:chExt cx="2213117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4362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@tool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47170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把函数变成 Tool 对象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132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docstring + 注解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模型据此判断何时调用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bind_tools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15267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让模型返回 tool_calls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817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tool_calls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模型决定的工具与参数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执行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17420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由 Agent 自动或手动完成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22127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仅 bind_tools 不执行，只是决策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11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6589560" cy="721328"/>
            <a:chOff x="685800" y="552450"/>
            <a:chExt cx="6589560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435591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智能体 Agent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63293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create_agent 把「模型 + 工具 + 系统提示」组合成可执行图（底层 LangGraph）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8029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v1.0 推荐 </a:t>
              </a:r>
              <a:r>
                <a:rPr lang="en-US" sz="1500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create_agent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，取代旧版 </a:t>
              </a:r>
              <a:r>
                <a:rPr lang="en-US" sz="1500" dirty="0">
                  <a:solidFill>
                    <a:srgbClr val="8FA6BC"/>
                  </a:solidFill>
                  <a:latin typeface="Consolas"/>
                  <a:ea typeface="Consolas"/>
                  <a:cs typeface="Consolas"/>
                </a:rPr>
                <a:t>AgentExecutor / initialize_agent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langchain.agents import create_agent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250551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def get_weather(city: str) -&gt; str: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20402"/>
              <a:ext cx="18906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"""获取指定城市的天气。"""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06152"/>
              <a:ext cx="22545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return f"{city} 今天晴，25°C。"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84905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agent = create_agent(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134802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model="openai:gpt-4o",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20552"/>
              <a:ext cx="15584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tools=[get_weather],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706302"/>
              <a:ext cx="26609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system_prompt="你是一个天气助手。")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5049202"/>
              <a:ext cx="23076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r = agent.invoke({"messages": [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32193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{"role": "user", "content": "北京天气？"}]})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620702"/>
              <a:ext cx="300024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print(r["messages"][-1].content_blocks)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461895" cy="3371374"/>
            <a:chOff x="6851904" y="2708910"/>
            <a:chExt cx="2461895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11316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create_agent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745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v1.0 核心智能体构建方式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5295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invoke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22730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输入 {"messages": [...]} 字典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6058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stream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2461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stream_mode="updates" 观察步骤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1275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content_blocks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读取最终回复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多工具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21524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tools=[f1, f2]，模型自主决策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模型名须带厂商前缀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12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911153" cy="721328"/>
            <a:chOff x="685800" y="552450"/>
            <a:chExt cx="4911153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271462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记忆与多轮对话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46509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v1.0 移除旧 Memory 类，统一用 LangGraph Checkpointer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5480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记忆能力由 </a:t>
              </a:r>
              <a:r>
                <a:rPr lang="en-US" sz="1500" b="1" dirty="0">
                  <a:solidFill>
                    <a:srgbClr val="1FA97E"/>
                  </a:solidFill>
                  <a:latin typeface="Microsoft YaHei"/>
                  <a:ea typeface="Microsoft YaHei"/>
                  <a:cs typeface="Microsoft YaHei"/>
                </a:rPr>
                <a:t>LangGraph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 提供——必须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pip install langgraph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30426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langchain.agents import create_agent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40676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from langgraph.checkpoint.memory import InMemorySaver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77552"/>
              <a:ext cx="227341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checkpointer = InMemorySaver()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620452"/>
              <a:ext cx="15725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agent = create_agent(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906202"/>
              <a:ext cx="16786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model="openai:gpt-4o",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191952"/>
              <a:ext cx="12898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tools=[get_time],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77702"/>
              <a:ext cx="1961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checkpointer=checkpointer)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820602"/>
              <a:ext cx="36151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config = {"configurable": {"thread_id": "user-1"}}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5163502"/>
              <a:ext cx="324053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agent.invoke({"messages": [{"role": "user",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449252"/>
              <a:ext cx="306385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"content": "现在几点？"}]}, config=config)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735002"/>
              <a:ext cx="2576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同 thread_id 共享记忆，可回忆上一轮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220656" cy="3371374"/>
            <a:chOff x="6851904" y="2708910"/>
            <a:chExt cx="2220656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12666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InMemorySaver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进程内记忆（重启即丢）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1089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checkpointer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每轮结束保存会话状态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thread_id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139101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区分不同用户 / 会话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2994A"/>
                  </a:solidFill>
                  <a:latin typeface="Consolas"/>
                  <a:ea typeface="Microsoft YaHei"/>
                  <a:cs typeface="Consolas"/>
                </a:rPr>
                <a:t>持久化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2119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PostgresSaver / SqliteSaver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注意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17312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旧 Memory 类已全部移除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22202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不传 config 则每次都是独立会话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13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lipse 2"/>
          <p:cNvSpPr/>
          <p:nvPr/>
        </p:nvSpPr>
        <p:spPr>
          <a:xfrm>
            <a:off x="10382250" y="-762000"/>
            <a:ext cx="2286000" cy="2286000"/>
          </a:xfrm>
          <a:prstGeom prst="ellipse">
            <a:avLst/>
          </a:prstGeom>
          <a:solidFill>
            <a:srgbClr val="1FA97E">
              <a:alpha val="6000"/>
            </a:srgbClr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685800" y="552450"/>
            <a:ext cx="4089923" cy="721328"/>
            <a:chOff x="685800" y="552450"/>
            <a:chExt cx="4089923" cy="721328"/>
          </a:xfrm>
        </p:grpSpPr>
        <p:sp>
          <p:nvSpPr>
            <p:cNvPr id="3" name="Rectangle 3"/>
            <p:cNvSpPr/>
            <p:nvPr/>
          </p:nvSpPr>
          <p:spPr>
            <a:xfrm>
              <a:off x="685800" y="552450"/>
              <a:ext cx="95250" cy="4953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4" name="TextBox 4"/>
            <p:cNvSpPr txBox="1"/>
            <p:nvPr/>
          </p:nvSpPr>
          <p:spPr>
            <a:xfrm>
              <a:off x="938022" y="568642"/>
              <a:ext cx="3098292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流式输出与可观测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46023" y="1024414"/>
              <a:ext cx="3829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流式带来实时体验，回调 / 追踪让生产环境可观测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85800" y="1543050"/>
            <a:ext cx="10820400" cy="609600"/>
            <a:chOff x="685800" y="1543050"/>
            <a:chExt cx="10820400" cy="609600"/>
          </a:xfrm>
        </p:grpSpPr>
        <p:sp>
          <p:nvSpPr>
            <p:cNvPr id="7" name="Rectangle 7"/>
            <p:cNvSpPr/>
            <p:nvPr/>
          </p:nvSpPr>
          <p:spPr>
            <a:xfrm>
              <a:off x="685800" y="1543050"/>
              <a:ext cx="10820400" cy="609600"/>
            </a:xfrm>
            <a:prstGeom prst="roundRect">
              <a:avLst>
                <a:gd name="adj" fmla="val 25000"/>
              </a:avLst>
            </a:prstGeom>
            <a:solidFill>
              <a:srgbClr val="E7F5EF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685800" y="1543050"/>
              <a:ext cx="76200" cy="6096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82980" y="1762125"/>
              <a:ext cx="6164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 xml:space="preserve">模型与智能体都支持 </a:t>
              </a:r>
              <a:r>
                <a:rPr lang="en-US" sz="1500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.stream()</a:t>
              </a:r>
              <a:r>
                <a:rPr lang="zh-CN" sz="1500" dirty="0">
                  <a:solidFill>
                    <a:srgbClr val="0F2942"/>
                  </a:solidFill>
                  <a:latin typeface="Microsoft YaHei"/>
                  <a:ea typeface="Microsoft YaHei"/>
                  <a:cs typeface="Microsoft YaHei"/>
                </a:rPr>
                <a:t>；回调可拦截每一步做日志与追踪。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" y="2438400"/>
            <a:ext cx="5905500" cy="3600450"/>
            <a:chOff x="685800" y="2438400"/>
            <a:chExt cx="5905500" cy="3600450"/>
          </a:xfrm>
        </p:grpSpPr>
        <p:sp>
          <p:nvSpPr>
            <p:cNvPr id="11" name="Rectangle 11"/>
            <p:cNvSpPr/>
            <p:nvPr/>
          </p:nvSpPr>
          <p:spPr>
            <a:xfrm>
              <a:off x="685800" y="2438400"/>
              <a:ext cx="5905500" cy="3600450"/>
            </a:xfrm>
            <a:prstGeom prst="roundRect">
              <a:avLst>
                <a:gd name="adj" fmla="val 3704"/>
              </a:avLst>
            </a:prstGeom>
            <a:solidFill>
              <a:srgbClr val="10241E"/>
            </a:solidFill>
            <a:ln>
              <a:noFill/>
            </a:ln>
            <a:effectLst>
              <a:outerShdw blurRad="228600" dist="76200" dir="5400000" algn="ctr" rotWithShape="0">
                <a:srgbClr val="0E2620">
                  <a:alpha val="7500"/>
                </a:srgbClr>
              </a:outerShdw>
            </a:effectLst>
          </p:spPr>
        </p:sp>
        <p:sp>
          <p:nvSpPr>
            <p:cNvPr id="12" name="TextBox 12"/>
            <p:cNvSpPr txBox="1"/>
            <p:nvPr/>
          </p:nvSpPr>
          <p:spPr>
            <a:xfrm>
              <a:off x="909066" y="2648902"/>
              <a:ext cx="16856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模型流式（打字机效果）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09066" y="2934652"/>
              <a:ext cx="29295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for chunk in model.stream("讲个冷笑话"):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09066" y="3220402"/>
              <a:ext cx="2984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print(chunk.content, end="", flush=True)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09066" y="3563302"/>
              <a:ext cx="22510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智能体流式：观察决策与工具调用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9066" y="3849052"/>
              <a:ext cx="184116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for step in agent.stream(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9066" y="4134802"/>
              <a:ext cx="226521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{"messages": [{"role": "user",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09066" y="4420552"/>
              <a:ext cx="200371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"content": "搜索并总结"}]},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09066" y="4706302"/>
              <a:ext cx="18552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stream_mode="updates"):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09066" y="4992052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FE4F7"/>
                  </a:solidFill>
                  <a:latin typeface="Consolas"/>
                  <a:ea typeface="Consolas"/>
                  <a:cs typeface="Consolas"/>
                </a:rPr>
                <a:t>print(step)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9066" y="5334952"/>
              <a:ext cx="17353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AAEC2"/>
                  </a:solidFill>
                  <a:latin typeface="Consolas"/>
                  <a:ea typeface="Microsoft YaHei"/>
                  <a:cs typeface="Consolas"/>
                </a:rPr>
                <a:t># 可观测：LangSmith 追踪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09066" y="5620702"/>
              <a:ext cx="24116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CFE4F7"/>
                  </a:solidFill>
                  <a:latin typeface="Consolas"/>
                  <a:ea typeface="Microsoft YaHei"/>
                  <a:cs typeface="Consolas"/>
                </a:rPr>
                <a:t># 设 LANGSMITH_TRACING=true 即可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851904" y="2708910"/>
            <a:ext cx="2130191" cy="3371374"/>
            <a:chOff x="6851904" y="2708910"/>
            <a:chExt cx="2130191" cy="3371374"/>
          </a:xfrm>
        </p:grpSpPr>
        <p:sp>
          <p:nvSpPr>
            <p:cNvPr id="24" name="TextBox 24"/>
            <p:cNvSpPr txBox="1"/>
            <p:nvPr/>
          </p:nvSpPr>
          <p:spPr>
            <a:xfrm>
              <a:off x="6851904" y="2708910"/>
              <a:ext cx="11571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model.stream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852285" y="2945606"/>
              <a:ext cx="10743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逐块返回 token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851904" y="3337560"/>
              <a:ext cx="11656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A97E"/>
                  </a:solidFill>
                  <a:latin typeface="Consolas"/>
                  <a:ea typeface="Consolas"/>
                  <a:cs typeface="Consolas"/>
                </a:rPr>
                <a:t>agent.stream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852285" y="3574256"/>
              <a:ext cx="16699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观察决策与工具调用过程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851904" y="3966210"/>
              <a:ext cx="767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callbacks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852285" y="4202906"/>
              <a:ext cx="18433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拦截每个步骤做日志 / 追踪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851904" y="4594860"/>
              <a:ext cx="853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F2994A"/>
                  </a:solidFill>
                  <a:latin typeface="Consolas"/>
                  <a:ea typeface="Consolas"/>
                  <a:cs typeface="Consolas"/>
                </a:rPr>
                <a:t>LangSmith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852285" y="4831556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官方可观测平台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851904" y="52235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A97E"/>
                  </a:solidFill>
                  <a:latin typeface="Consolas"/>
                  <a:ea typeface="Microsoft YaHei"/>
                  <a:cs typeface="Consolas"/>
                </a:rPr>
                <a:t>价值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852285" y="5460206"/>
              <a:ext cx="21298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7894"/>
                  </a:solidFill>
                  <a:latin typeface="Microsoft YaHei"/>
                  <a:ea typeface="Microsoft YaHei"/>
                  <a:cs typeface="Microsoft YaHei"/>
                </a:rPr>
                <a:t>调试链路、统计 token、控成本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852285" y="5860256"/>
              <a:ext cx="15417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8FA6BC"/>
                  </a:solidFill>
                  <a:latin typeface="Microsoft YaHei"/>
                  <a:ea typeface="Microsoft YaHei"/>
                  <a:cs typeface="Microsoft YaHei"/>
                </a:rPr>
                <a:t>流式 + 追踪是生产必备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680466" y="6324600"/>
            <a:ext cx="10831068" cy="339661"/>
            <a:chOff x="680466" y="6324600"/>
            <a:chExt cx="10831068" cy="339661"/>
          </a:xfrm>
        </p:grpSpPr>
        <p:sp>
          <p:nvSpPr>
            <p:cNvPr id="36" name="Line 36"/>
            <p:cNvSpPr/>
            <p:nvPr/>
          </p:nvSpPr>
          <p:spPr>
            <a:xfrm>
              <a:off x="685800" y="6324600"/>
              <a:ext cx="10820400" cy="9525"/>
            </a:xfrm>
            <a:custGeom>
              <a:avLst/>
              <a:gdLst/>
              <a:ahLst/>
              <a:cxnLst/>
              <a:rect l="l" t="t" r="r" b="b"/>
              <a:pathLst>
                <a:path w="10820400" h="9525">
                  <a:moveTo>
                    <a:pt x="0" y="0"/>
                  </a:moveTo>
                  <a:lnTo>
                    <a:pt x="10820400" y="0"/>
                  </a:lnTo>
                </a:path>
              </a:pathLst>
            </a:custGeom>
            <a:noFill/>
            <a:ln w="9525">
              <a:solidFill>
                <a:srgbClr val="CFE8DF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80466" y="6458902"/>
              <a:ext cx="28196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027340" y="64589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14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E2620"/>
            </a:gs>
            <a:gs pos="55000">
              <a:srgbClr val="123A2E"/>
            </a:gs>
            <a:gs pos="100000">
              <a:srgbClr val="0B2E25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FA97E">
                  <a:alpha val="55000"/>
                </a:srgbClr>
              </a:gs>
              <a:gs pos="55000">
                <a:srgbClr val="1FA97E">
                  <a:alpha val="12000"/>
                </a:srgbClr>
              </a:gs>
              <a:gs pos="100000">
                <a:srgbClr val="1FA97E">
                  <a:alpha val="0"/>
                </a:srgbClr>
              </a:gs>
            </a:gsLst>
            <a:path path="circle">
              <a:fillToRect l="78000" t="26000" r="22000" b="74000"/>
            </a:path>
          </a:gradFill>
          <a:ln>
            <a:noFill/>
          </a:ln>
        </p:spPr>
      </p:sp>
      <p:sp>
        <p:nvSpPr>
          <p:cNvPr id="3" name="Ellipse 3"/>
          <p:cNvSpPr/>
          <p:nvPr/>
        </p:nvSpPr>
        <p:spPr>
          <a:xfrm>
            <a:off x="9048750" y="190500"/>
            <a:ext cx="2476500" cy="2476500"/>
          </a:xfrm>
          <a:prstGeom prst="ellipse">
            <a:avLst/>
          </a:prstGeom>
          <a:solidFill>
            <a:srgbClr val="1FA97E">
              <a:alpha val="16000"/>
            </a:srgbClr>
          </a:solidFill>
          <a:ln>
            <a:noFill/>
          </a:ln>
        </p:spPr>
      </p:sp>
      <p:sp>
        <p:nvSpPr>
          <p:cNvPr id="4" name="Ellipse 4"/>
          <p:cNvSpPr/>
          <p:nvPr/>
        </p:nvSpPr>
        <p:spPr>
          <a:xfrm>
            <a:off x="10629900" y="4438650"/>
            <a:ext cx="1409700" cy="1409700"/>
          </a:xfrm>
          <a:prstGeom prst="ellipse">
            <a:avLst/>
          </a:prstGeom>
          <a:solidFill>
            <a:srgbClr val="F2994A">
              <a:alpha val="18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66800" y="5543550"/>
            <a:ext cx="914400" cy="914400"/>
          </a:xfrm>
          <a:prstGeom prst="ellipse">
            <a:avLst/>
          </a:prstGeom>
          <a:solidFill>
            <a:srgbClr val="1FA97E">
              <a:alpha val="22000"/>
            </a:srgbClr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8991600" y="5924550"/>
            <a:ext cx="495300" cy="495300"/>
          </a:xfrm>
          <a:prstGeom prst="ellipse">
            <a:avLst/>
          </a:prstGeom>
          <a:solidFill>
            <a:srgbClr val="8FE0C8">
              <a:alpha val="30000"/>
            </a:srgbClr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47750" y="1123950"/>
            <a:ext cx="3429000" cy="514350"/>
            <a:chOff x="1047750" y="1123950"/>
            <a:chExt cx="3429000" cy="514350"/>
          </a:xfrm>
        </p:grpSpPr>
        <p:sp>
          <p:nvSpPr>
            <p:cNvPr id="7" name="Rectangle 7"/>
            <p:cNvSpPr/>
            <p:nvPr/>
          </p:nvSpPr>
          <p:spPr>
            <a:xfrm>
              <a:off x="1047750" y="1123950"/>
              <a:ext cx="3429000" cy="51435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344168" y="1279208"/>
              <a:ext cx="18748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🎓 学习路径与总结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028700" y="2088832"/>
            <a:ext cx="6923913" cy="1288352"/>
            <a:chOff x="1028700" y="2088832"/>
            <a:chExt cx="6923913" cy="1288352"/>
          </a:xfrm>
        </p:grpSpPr>
        <p:sp>
          <p:nvSpPr>
            <p:cNvPr id="10" name="TextBox 10"/>
            <p:cNvSpPr txBox="1"/>
            <p:nvPr/>
          </p:nvSpPr>
          <p:spPr>
            <a:xfrm>
              <a:off x="1028700" y="2088832"/>
              <a:ext cx="6923913" cy="9048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65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从模型调用到智能体编排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04900" y="2781300"/>
              <a:ext cx="1143000" cy="76200"/>
            </a:xfrm>
            <a:prstGeom prst="roundRect">
              <a:avLst>
                <a:gd name="adj" fmla="val 50000"/>
              </a:avLst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57656" y="3025140"/>
              <a:ext cx="41352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E0D2"/>
                  </a:solidFill>
                  <a:latin typeface="Microsoft YaHei"/>
                  <a:ea typeface="Microsoft YaHei"/>
                  <a:cs typeface="Microsoft YaHei"/>
                </a:rPr>
                <a:t>构建 LangChain v1.0 的完整认知闭环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047750" y="3486150"/>
            <a:ext cx="2057400" cy="1905000"/>
            <a:chOff x="1047750" y="3486150"/>
            <a:chExt cx="2057400" cy="1905000"/>
          </a:xfrm>
        </p:grpSpPr>
        <p:sp>
          <p:nvSpPr>
            <p:cNvPr id="14" name="Rectangle 14"/>
            <p:cNvSpPr/>
            <p:nvPr/>
          </p:nvSpPr>
          <p:spPr>
            <a:xfrm>
              <a:off x="1047750" y="3486150"/>
              <a:ext cx="2057400" cy="1905000"/>
            </a:xfrm>
            <a:prstGeom prst="roundRect">
              <a:avLst>
                <a:gd name="adj" fmla="val 8000"/>
              </a:avLst>
            </a:prstGeom>
            <a:solidFill>
              <a:srgbClr val="143629"/>
            </a:solidFill>
            <a:ln w="9525">
              <a:solidFill>
                <a:srgbClr val="2E5044"/>
              </a:solidFill>
            </a:ln>
          </p:spPr>
        </p:sp>
        <p:sp>
          <p:nvSpPr>
            <p:cNvPr id="15" name="Ellipse 15"/>
            <p:cNvSpPr/>
            <p:nvPr/>
          </p:nvSpPr>
          <p:spPr>
            <a:xfrm>
              <a:off x="1238250" y="3676650"/>
              <a:ext cx="457200" cy="457200"/>
            </a:xfrm>
            <a:prstGeom prst="ellipse">
              <a:avLst/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342615" y="3819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69111" y="4341971"/>
              <a:ext cx="82139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模型 I/O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271016" y="4687252"/>
              <a:ext cx="15739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Chat Models / Prompts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71016" y="4915852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输出解析与结构化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3257550" y="3486150"/>
            <a:ext cx="2057400" cy="1905000"/>
            <a:chOff x="3257550" y="3486150"/>
            <a:chExt cx="2057400" cy="1905000"/>
          </a:xfrm>
        </p:grpSpPr>
        <p:sp>
          <p:nvSpPr>
            <p:cNvPr id="21" name="Rectangle 21"/>
            <p:cNvSpPr/>
            <p:nvPr/>
          </p:nvSpPr>
          <p:spPr>
            <a:xfrm>
              <a:off x="3257550" y="3486150"/>
              <a:ext cx="2057400" cy="1905000"/>
            </a:xfrm>
            <a:prstGeom prst="roundRect">
              <a:avLst>
                <a:gd name="adj" fmla="val 8000"/>
              </a:avLst>
            </a:prstGeom>
            <a:solidFill>
              <a:srgbClr val="143629"/>
            </a:solidFill>
            <a:ln w="9525">
              <a:solidFill>
                <a:srgbClr val="2E5044"/>
              </a:solidFill>
            </a:ln>
          </p:spPr>
        </p:sp>
        <p:sp>
          <p:nvSpPr>
            <p:cNvPr id="22" name="Ellipse 22"/>
            <p:cNvSpPr/>
            <p:nvPr/>
          </p:nvSpPr>
          <p:spPr>
            <a:xfrm>
              <a:off x="3448050" y="3676650"/>
              <a:ext cx="457200" cy="457200"/>
            </a:xfrm>
            <a:prstGeom prst="ellipse">
              <a:avLst/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552415" y="3819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478911" y="43419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编排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80816" y="4687252"/>
              <a:ext cx="9814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LCEL 链式组合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80816" y="4915852"/>
              <a:ext cx="9288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Runnable 原语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5467350" y="3486150"/>
            <a:ext cx="2057400" cy="1905000"/>
            <a:chOff x="5467350" y="3486150"/>
            <a:chExt cx="2057400" cy="1905000"/>
          </a:xfrm>
        </p:grpSpPr>
        <p:sp>
          <p:nvSpPr>
            <p:cNvPr id="28" name="Rectangle 28"/>
            <p:cNvSpPr/>
            <p:nvPr/>
          </p:nvSpPr>
          <p:spPr>
            <a:xfrm>
              <a:off x="5467350" y="3486150"/>
              <a:ext cx="2057400" cy="1905000"/>
            </a:xfrm>
            <a:prstGeom prst="roundRect">
              <a:avLst>
                <a:gd name="adj" fmla="val 8000"/>
              </a:avLst>
            </a:prstGeom>
            <a:solidFill>
              <a:srgbClr val="143629"/>
            </a:solidFill>
            <a:ln w="9525">
              <a:solidFill>
                <a:srgbClr val="2E5044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5657850" y="3676650"/>
              <a:ext cx="457200" cy="457200"/>
            </a:xfrm>
            <a:prstGeom prst="ellipse">
              <a:avLst/>
            </a:prstGeom>
            <a:solidFill>
              <a:srgbClr val="1FA97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762215" y="3819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88711" y="4341971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检索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90616" y="4687252"/>
              <a:ext cx="11838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加载 / 切分 / 嵌入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90616" y="4915852"/>
              <a:ext cx="8993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RAG 检索增强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77150" y="3486150"/>
            <a:ext cx="2057400" cy="1905000"/>
            <a:chOff x="7677150" y="3486150"/>
            <a:chExt cx="2057400" cy="1905000"/>
          </a:xfrm>
        </p:grpSpPr>
        <p:sp>
          <p:nvSpPr>
            <p:cNvPr id="35" name="Rectangle 35"/>
            <p:cNvSpPr/>
            <p:nvPr/>
          </p:nvSpPr>
          <p:spPr>
            <a:xfrm>
              <a:off x="7677150" y="3486150"/>
              <a:ext cx="2057400" cy="1905000"/>
            </a:xfrm>
            <a:prstGeom prst="roundRect">
              <a:avLst>
                <a:gd name="adj" fmla="val 8000"/>
              </a:avLst>
            </a:prstGeom>
            <a:solidFill>
              <a:srgbClr val="143629"/>
            </a:solidFill>
            <a:ln w="9525">
              <a:solidFill>
                <a:srgbClr val="2E5044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7867650" y="3676650"/>
              <a:ext cx="457200" cy="457200"/>
            </a:xfrm>
            <a:prstGeom prst="ellipse">
              <a:avLst/>
            </a:prstGeom>
            <a:solidFill>
              <a:srgbClr val="F2994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972015" y="3819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898511" y="4341971"/>
              <a:ext cx="121357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工具与 Agent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00416" y="4687252"/>
              <a:ext cx="12333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@tool / bind_tools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900416" y="4915852"/>
              <a:ext cx="141004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create_agent 智能体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9886950" y="3486150"/>
            <a:ext cx="2057400" cy="1905000"/>
            <a:chOff x="9886950" y="3486150"/>
            <a:chExt cx="2057400" cy="1905000"/>
          </a:xfrm>
        </p:grpSpPr>
        <p:sp>
          <p:nvSpPr>
            <p:cNvPr id="42" name="Rectangle 42"/>
            <p:cNvSpPr/>
            <p:nvPr/>
          </p:nvSpPr>
          <p:spPr>
            <a:xfrm>
              <a:off x="9886950" y="3486150"/>
              <a:ext cx="2057400" cy="1905000"/>
            </a:xfrm>
            <a:prstGeom prst="roundRect">
              <a:avLst>
                <a:gd name="adj" fmla="val 8000"/>
              </a:avLst>
            </a:prstGeom>
            <a:solidFill>
              <a:srgbClr val="143629"/>
            </a:solidFill>
            <a:ln w="9525">
              <a:solidFill>
                <a:srgbClr val="2E5044"/>
              </a:solidFill>
            </a:ln>
          </p:spPr>
        </p:sp>
        <p:sp>
          <p:nvSpPr>
            <p:cNvPr id="43" name="Ellipse 43"/>
            <p:cNvSpPr/>
            <p:nvPr/>
          </p:nvSpPr>
          <p:spPr>
            <a:xfrm>
              <a:off x="10077450" y="3676650"/>
              <a:ext cx="457200" cy="457200"/>
            </a:xfrm>
            <a:prstGeom prst="ellipse">
              <a:avLst/>
            </a:prstGeom>
            <a:solidFill>
              <a:srgbClr val="F2994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0181815" y="3819525"/>
              <a:ext cx="2484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5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0108311" y="4341971"/>
              <a:ext cx="116144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记忆与可观测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0110216" y="4687252"/>
              <a:ext cx="1239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Checkpointer 记忆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110216" y="4915852"/>
              <a:ext cx="115570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B8D0C8"/>
                  </a:solidFill>
                  <a:latin typeface="Microsoft YaHei"/>
                  <a:ea typeface="Microsoft YaHei"/>
                  <a:cs typeface="Microsoft YaHei"/>
                </a:rPr>
                <a:t>Streaming / 追踪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1039368" y="5936932"/>
            <a:ext cx="5309159" cy="322707"/>
            <a:chOff x="1039368" y="5936932"/>
            <a:chExt cx="5309159" cy="322707"/>
          </a:xfrm>
        </p:grpSpPr>
        <p:sp>
          <p:nvSpPr>
            <p:cNvPr id="49" name="TextBox 49"/>
            <p:cNvSpPr txBox="1"/>
            <p:nvPr/>
          </p:nvSpPr>
          <p:spPr>
            <a:xfrm>
              <a:off x="1039368" y="5936932"/>
              <a:ext cx="53091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B8E0D2"/>
                  </a:solidFill>
                  <a:latin typeface="Microsoft YaHei"/>
                  <a:ea typeface="Microsoft YaHei"/>
                  <a:cs typeface="Microsoft YaHei"/>
                </a:rPr>
                <a:t>动手写一个带 RAG 的小项目，是最好的巩固方式 🚀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1041654" y="6267450"/>
            <a:ext cx="10108692" cy="409956"/>
            <a:chOff x="1041654" y="6267450"/>
            <a:chExt cx="10108692" cy="409956"/>
          </a:xfrm>
        </p:grpSpPr>
        <p:sp>
          <p:nvSpPr>
            <p:cNvPr id="51" name="Line 51"/>
            <p:cNvSpPr/>
            <p:nvPr/>
          </p:nvSpPr>
          <p:spPr>
            <a:xfrm>
              <a:off x="1047750" y="6267450"/>
              <a:ext cx="10096500" cy="9525"/>
            </a:xfrm>
            <a:custGeom>
              <a:avLst/>
              <a:gdLst/>
              <a:ahLst/>
              <a:cxnLst/>
              <a:rect l="l" t="t" r="r" b="b"/>
              <a:pathLst>
                <a:path w="10096500" h="9525">
                  <a:moveTo>
                    <a:pt x="0" y="0"/>
                  </a:moveTo>
                  <a:lnTo>
                    <a:pt x="10096500" y="0"/>
                  </a:lnTo>
                </a:path>
              </a:pathLst>
            </a:custGeom>
            <a:noFill/>
            <a:ln w="9525">
              <a:solidFill>
                <a:srgbClr val="2E5044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1654" y="6442710"/>
              <a:ext cx="32224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LangChain v1.0 教程 · 大模型应用开发入门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596982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200" dirty="0">
                  <a:solidFill>
                    <a:srgbClr val="6E9488"/>
                  </a:solidFill>
                  <a:latin typeface="Microsoft YaHei"/>
                  <a:ea typeface="Microsoft YaHei"/>
                  <a:cs typeface="Microsoft YaHei"/>
                </a:rPr>
                <a:t>15 / 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angchain-v1-tutorial">
  <a:themeElements>
    <a:clrScheme name="langchain-v1-tutorial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ngchain-v1-tutorial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ngchain-v1-tutoria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2026-09-03T00:34:45Z</dcterms:created>
  <dcterms:modified xsi:type="dcterms:W3CDTF">2026-09-03T00:34:45Z</dcterms:modified>
  <cp:category/>
  <cp:contentStatus/>
</cp:coreProperties>
</file>