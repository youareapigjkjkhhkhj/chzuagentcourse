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inux-basics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inux-basics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C001E"/>
            </a:gs>
            <a:gs pos="55000">
              <a:srgbClr val="3D1140"/>
            </a:gs>
            <a:gs pos="100000">
              <a:srgbClr val="511A4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95420">
                  <a:alpha val="55000"/>
                </a:srgbClr>
              </a:gs>
              <a:gs pos="55000">
                <a:srgbClr val="E95420">
                  <a:alpha val="12000"/>
                </a:srgbClr>
              </a:gs>
              <a:gs pos="100000">
                <a:srgbClr val="E95420">
                  <a:alpha val="0"/>
                </a:srgbClr>
              </a:gs>
            </a:gsLst>
            <a:path path="circle">
              <a:fillToRect l="80000" t="28000" r="20000" b="72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144000" y="95250"/>
            <a:ext cx="2476500" cy="2476500"/>
          </a:xfrm>
          <a:prstGeom prst="ellipse">
            <a:avLst/>
          </a:prstGeom>
          <a:solidFill>
            <a:srgbClr val="E95420">
              <a:alpha val="1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629900" y="4438650"/>
            <a:ext cx="1409700" cy="1409700"/>
          </a:xfrm>
          <a:prstGeom prst="ellipse">
            <a:avLst/>
          </a:prstGeom>
          <a:solidFill>
            <a:srgbClr val="0089D9">
              <a:alpha val="2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5543550"/>
            <a:ext cx="914400" cy="914400"/>
          </a:xfrm>
          <a:prstGeom prst="ellipse">
            <a:avLst/>
          </a:prstGeom>
          <a:solidFill>
            <a:srgbClr val="FF8C42">
              <a:alpha val="22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9086850" y="5848350"/>
            <a:ext cx="495300" cy="495300"/>
          </a:xfrm>
          <a:prstGeom prst="ellipse">
            <a:avLst/>
          </a:prstGeom>
          <a:solidFill>
            <a:srgbClr val="FFD9C2">
              <a:alpha val="30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47750" y="1123950"/>
            <a:ext cx="4095750" cy="514350"/>
            <a:chOff x="1047750" y="1123950"/>
            <a:chExt cx="4095750" cy="514350"/>
          </a:xfrm>
        </p:grpSpPr>
        <p:sp>
          <p:nvSpPr>
            <p:cNvPr id="7" name="Rectangle 7"/>
            <p:cNvSpPr/>
            <p:nvPr/>
          </p:nvSpPr>
          <p:spPr>
            <a:xfrm>
              <a:off x="1047750" y="1123950"/>
              <a:ext cx="4095750" cy="51435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4168" y="1279208"/>
              <a:ext cx="34757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🐧 开源操作系统 · 命令行入门教程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637472"/>
            <a:ext cx="6132314" cy="1674495"/>
            <a:chOff x="1028700" y="2637472"/>
            <a:chExt cx="6132314" cy="1674495"/>
          </a:xfrm>
        </p:grpSpPr>
        <p:sp>
          <p:nvSpPr>
            <p:cNvPr id="10" name="TextBox 10"/>
            <p:cNvSpPr txBox="1"/>
            <p:nvPr/>
          </p:nvSpPr>
          <p:spPr>
            <a:xfrm>
              <a:off x="1028700" y="2637472"/>
              <a:ext cx="6132314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Linux 基础教程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3600450"/>
              <a:ext cx="1143000" cy="762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5370" y="3871912"/>
              <a:ext cx="57673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6F5F4"/>
                  </a:solidFill>
                  <a:latin typeface="Microsoft YaHei"/>
                  <a:ea typeface="Microsoft YaHei"/>
                  <a:cs typeface="Microsoft YaHei"/>
                </a:rPr>
                <a:t>从零开始掌握 Ubuntu 22.04 / 24.04 LTS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8418" y="4679632"/>
            <a:ext cx="6502756" cy="322707"/>
            <a:chOff x="1058418" y="4679632"/>
            <a:chExt cx="6502756" cy="322707"/>
          </a:xfrm>
        </p:grpSpPr>
        <p:sp>
          <p:nvSpPr>
            <p:cNvPr id="14" name="TextBox 14"/>
            <p:cNvSpPr txBox="1"/>
            <p:nvPr/>
          </p:nvSpPr>
          <p:spPr>
            <a:xfrm>
              <a:off x="1058418" y="4679632"/>
              <a:ext cx="65027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0B8AC"/>
                  </a:solidFill>
                  <a:latin typeface="Microsoft YaHei"/>
                  <a:ea typeface="Microsoft YaHei"/>
                  <a:cs typeface="Microsoft YaHei"/>
                </a:rPr>
                <a:t>命令行　·　文件系统　·　软件管理　·　用户权限　·　系统运维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1654" y="6057900"/>
            <a:ext cx="10108692" cy="448056"/>
            <a:chOff x="1041654" y="6057900"/>
            <a:chExt cx="10108692" cy="448056"/>
          </a:xfrm>
        </p:grpSpPr>
        <p:sp>
          <p:nvSpPr>
            <p:cNvPr id="16" name="Line 16"/>
            <p:cNvSpPr/>
            <p:nvPr/>
          </p:nvSpPr>
          <p:spPr>
            <a:xfrm>
              <a:off x="1047750" y="60579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6E4A5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1654" y="6271260"/>
              <a:ext cx="43843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A7B8"/>
                  </a:solidFill>
                  <a:latin typeface="Microsoft YaHei"/>
                  <a:ea typeface="Microsoft YaHei"/>
                  <a:cs typeface="Microsoft YaHei"/>
                </a:rPr>
                <a:t>教育版入门讲义　|　适用 Ubuntu 22.04 LTS 与 24.04 LTS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82757" y="62712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C7A7B8"/>
                  </a:solidFill>
                  <a:latin typeface="Microsoft YaHei"/>
                  <a:ea typeface="Microsoft YaHei"/>
                  <a:cs typeface="Microsoft YaHei"/>
                </a:rPr>
                <a:t>2026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E95420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2973970" cy="721328"/>
            <a:chOff x="685800" y="552450"/>
            <a:chExt cx="2973970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272174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什么是 Linux？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先建立三个核心概念，再开始动手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7032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Linux 是一个</a:t>
              </a:r>
              <a:r>
                <a:rPr lang="zh-CN" sz="15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免费、开源</a:t>
              </a:r>
              <a:r>
                <a:rPr lang="zh-CN" sz="150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的类 Unix 操作系统内核，围绕它构建了众多发行版。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2438400"/>
            <a:ext cx="3429000" cy="3486150"/>
            <a:chOff x="685800" y="2438400"/>
            <a:chExt cx="3429000" cy="34861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3429000" cy="34861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12" name="Ellipse 12"/>
            <p:cNvSpPr/>
            <p:nvPr/>
          </p:nvSpPr>
          <p:spPr>
            <a:xfrm>
              <a:off x="933450" y="2762250"/>
              <a:ext cx="647700" cy="647700"/>
            </a:xfrm>
            <a:prstGeom prst="ellipse">
              <a:avLst/>
            </a:prstGeom>
            <a:solidFill>
              <a:srgbClr val="FBE9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94422" y="2976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2406" y="3653790"/>
              <a:ext cx="13678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内核 Kernel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4692" y="4121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操作系统的核心，负责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4692" y="4388168"/>
              <a:ext cx="1924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管理 CPU、内存、磁盘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4692" y="46548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与各种硬件设备。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5073" y="5120164"/>
              <a:ext cx="14469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由 Linus Torvalds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5073" y="5367814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于 1991 年发布。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2438400"/>
            <a:ext cx="3429000" cy="3486150"/>
            <a:chOff x="4381500" y="2438400"/>
            <a:chExt cx="3429000" cy="3486150"/>
          </a:xfrm>
        </p:grpSpPr>
        <p:sp>
          <p:nvSpPr>
            <p:cNvPr id="21" name="Rectangle 21"/>
            <p:cNvSpPr/>
            <p:nvPr/>
          </p:nvSpPr>
          <p:spPr>
            <a:xfrm>
              <a:off x="4381500" y="2438400"/>
              <a:ext cx="3429000" cy="34861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22" name="Ellipse 22"/>
            <p:cNvSpPr/>
            <p:nvPr/>
          </p:nvSpPr>
          <p:spPr>
            <a:xfrm>
              <a:off x="4629150" y="2762250"/>
              <a:ext cx="647700" cy="647700"/>
            </a:xfrm>
            <a:prstGeom prst="ellipse">
              <a:avLst/>
            </a:prstGeom>
            <a:solidFill>
              <a:srgbClr val="EDE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90122" y="2976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58106" y="3653790"/>
              <a:ext cx="16124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发行版 Distro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0392" y="41214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内核 + 软件 + 工具 +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0392" y="438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桌面环境的完整系统。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0392" y="4654868"/>
              <a:ext cx="1784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如 Ubuntu、Debian、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60392" y="4921568"/>
              <a:ext cx="1883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CentOS、Fedora 等。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0773" y="5386864"/>
              <a:ext cx="19088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本教程以 Ubuntu 为主。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077200" y="2438400"/>
            <a:ext cx="3429000" cy="3486150"/>
            <a:chOff x="8077200" y="2438400"/>
            <a:chExt cx="3429000" cy="3486150"/>
          </a:xfrm>
        </p:grpSpPr>
        <p:sp>
          <p:nvSpPr>
            <p:cNvPr id="31" name="Rectangle 31"/>
            <p:cNvSpPr/>
            <p:nvPr/>
          </p:nvSpPr>
          <p:spPr>
            <a:xfrm>
              <a:off x="8077200" y="2438400"/>
              <a:ext cx="3429000" cy="34861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2" name="Ellipse 32"/>
            <p:cNvSpPr/>
            <p:nvPr/>
          </p:nvSpPr>
          <p:spPr>
            <a:xfrm>
              <a:off x="8324850" y="2762250"/>
              <a:ext cx="647700" cy="647700"/>
            </a:xfrm>
            <a:prstGeom prst="ellipse">
              <a:avLst/>
            </a:prstGeom>
            <a:solidFill>
              <a:srgbClr val="E1F0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5822" y="2976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3806" y="3653790"/>
              <a:ext cx="21294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开源 Open Source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6092" y="41214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源代码公开，遵循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6092" y="4388168"/>
              <a:ext cx="1732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GPL 等自由许可证，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6092" y="4654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可自由使用、学习、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56092" y="4921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修改与分发。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6473" y="53868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社区驱动，安全可靠。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1" name="Line 41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02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4843413" cy="721328"/>
            <a:chOff x="685800" y="552450"/>
            <a:chExt cx="4843413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45911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Ubuntu 发行版与版本选择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两个长期支持版本，按需选择即可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6" name="Rectangle 6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980" y="1762125"/>
              <a:ext cx="7543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LTS</a:t>
              </a:r>
              <a:r>
                <a:rPr lang="zh-CN" sz="150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 = 长期支持版本：每两年 4 月发布，提供 5 年免费安全更新，适合学习与生产。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438400"/>
            <a:ext cx="5143500" cy="3810000"/>
            <a:chOff x="685800" y="2438400"/>
            <a:chExt cx="51435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685800" y="2438400"/>
              <a:ext cx="5143500" cy="381000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11" name="Rectangle 11"/>
            <p:cNvSpPr/>
            <p:nvPr/>
          </p:nvSpPr>
          <p:spPr>
            <a:xfrm>
              <a:off x="685800" y="2438400"/>
              <a:ext cx="5143500" cy="723900"/>
            </a:xfrm>
            <a:prstGeom prst="roundRect">
              <a:avLst>
                <a:gd name="adj" fmla="val 23684"/>
              </a:avLst>
            </a:prstGeom>
            <a:solidFill>
              <a:srgbClr val="2C001E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85800" y="2971800"/>
              <a:ext cx="5143500" cy="190500"/>
            </a:xfrm>
            <a:prstGeom prst="rect">
              <a:avLst/>
            </a:prstGeom>
            <a:solidFill>
              <a:srgbClr val="2C001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80694" y="2685098"/>
              <a:ext cx="23651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Ubuntu 22.04 LTS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79523" y="2715006"/>
              <a:ext cx="14152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FF8C42"/>
                  </a:solidFill>
                  <a:latin typeface="Microsoft YaHei"/>
                  <a:ea typeface="Microsoft YaHei"/>
                  <a:cs typeface="Microsoft YaHei"/>
                </a:rPr>
                <a:t>Jammy Jellyfish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361" y="33894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发布时间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3742" y="3664268"/>
              <a:ext cx="2817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2022 年 4 月（每两年一个 LTS）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3361" y="40943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桌面环境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4369118"/>
              <a:ext cx="1847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GNOME 42，稳定成熟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3361" y="47991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默认组件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3742" y="5073968"/>
              <a:ext cx="211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Python 3.10 · 内核 5.15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3742" y="551211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支持周期：桌面至 2027，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3742" y="5778818"/>
              <a:ext cx="276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扩展安全维护（ESM）至 2032。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362700" y="2438400"/>
            <a:ext cx="5143500" cy="3810000"/>
            <a:chOff x="6362700" y="2438400"/>
            <a:chExt cx="5143500" cy="3810000"/>
          </a:xfrm>
        </p:grpSpPr>
        <p:sp>
          <p:nvSpPr>
            <p:cNvPr id="24" name="Rectangle 24"/>
            <p:cNvSpPr/>
            <p:nvPr/>
          </p:nvSpPr>
          <p:spPr>
            <a:xfrm>
              <a:off x="6362700" y="2438400"/>
              <a:ext cx="5143500" cy="381000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6362700" y="2438400"/>
              <a:ext cx="5143500" cy="723900"/>
            </a:xfrm>
            <a:prstGeom prst="roundRect">
              <a:avLst>
                <a:gd name="adj" fmla="val 23684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362700" y="2971800"/>
              <a:ext cx="5143500" cy="190500"/>
            </a:xfrm>
            <a:prstGeom prst="rect">
              <a:avLst/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7594" y="2685098"/>
              <a:ext cx="23651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Ubuntu 24.04 LTS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02547" y="2706433"/>
              <a:ext cx="1170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Noble Numbat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0261" y="33894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77216F"/>
                  </a:solidFill>
                  <a:latin typeface="Microsoft YaHei"/>
                  <a:ea typeface="Microsoft YaHei"/>
                  <a:cs typeface="Microsoft YaHei"/>
                </a:rPr>
                <a:t>发布时间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0642" y="3664268"/>
              <a:ext cx="2241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2024 年 4 月（最新 LTS）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0261" y="40943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77216F"/>
                  </a:solidFill>
                  <a:latin typeface="Microsoft YaHei"/>
                  <a:ea typeface="Microsoft YaHei"/>
                  <a:cs typeface="Microsoft YaHei"/>
                </a:rPr>
                <a:t>桌面环境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0642" y="4369118"/>
              <a:ext cx="2039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GNOME 46，更现代流畅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0261" y="479917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77216F"/>
                  </a:solidFill>
                  <a:latin typeface="Microsoft YaHei"/>
                  <a:ea typeface="Microsoft YaHei"/>
                  <a:cs typeface="Microsoft YaHei"/>
                </a:rPr>
                <a:t>默认组件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0642" y="5073968"/>
              <a:ext cx="2013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Python 3.12 · 内核 6.8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642" y="5512118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支持周期：桌面至 2029，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642" y="5778818"/>
              <a:ext cx="26348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ESM 至 2036，硬件支持更好。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8" name="Line 38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03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5652516" cy="721328"/>
            <a:chOff x="685800" y="552450"/>
            <a:chExt cx="5652516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三种安装方式，总有一款适合你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按你的系统与需求选择入门路径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1676400"/>
            <a:ext cx="3429000" cy="4305300"/>
            <a:chOff x="685800" y="1676400"/>
            <a:chExt cx="3429000" cy="43053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3429000" cy="43053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933450" y="2000250"/>
              <a:ext cx="647700" cy="647700"/>
            </a:xfrm>
            <a:prstGeom prst="ellipse">
              <a:avLst/>
            </a:prstGeom>
            <a:solidFill>
              <a:srgbClr val="FBE9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4422" y="2214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2406" y="2891790"/>
              <a:ext cx="19811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双系统 Dual Boot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454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适用人群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5073" y="36152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追求最佳性能、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5073" y="38438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独立的学习机器。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454" y="4271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上手难度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073" y="4529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★★★☆☆　中高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454" y="4956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上手建议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5073" y="51963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先备份数据，用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5073" y="54249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安装盘为硬盘分区。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81500" y="1676400"/>
            <a:ext cx="3429000" cy="4305300"/>
            <a:chOff x="4381500" y="1676400"/>
            <a:chExt cx="3429000" cy="4305300"/>
          </a:xfrm>
        </p:grpSpPr>
        <p:sp>
          <p:nvSpPr>
            <p:cNvPr id="19" name="Rectangle 19"/>
            <p:cNvSpPr/>
            <p:nvPr/>
          </p:nvSpPr>
          <p:spPr>
            <a:xfrm>
              <a:off x="4381500" y="1676400"/>
              <a:ext cx="3429000" cy="43053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20" name="Ellipse 20"/>
            <p:cNvSpPr/>
            <p:nvPr/>
          </p:nvSpPr>
          <p:spPr>
            <a:xfrm>
              <a:off x="4629150" y="2000250"/>
              <a:ext cx="647700" cy="647700"/>
            </a:xfrm>
            <a:prstGeom prst="ellipse">
              <a:avLst/>
            </a:prstGeom>
            <a:solidFill>
              <a:srgbClr val="E1F0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90122" y="2214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8106" y="2891790"/>
              <a:ext cx="13643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WSL 子系统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1154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89D9"/>
                  </a:solidFill>
                  <a:latin typeface="Microsoft YaHei"/>
                  <a:ea typeface="Microsoft YaHei"/>
                  <a:cs typeface="Microsoft YaHei"/>
                </a:rPr>
                <a:t>适用人群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0773" y="3615214"/>
              <a:ext cx="1356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Win10/11 用户，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0773" y="38438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开发学习首选。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1154" y="4271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89D9"/>
                  </a:solidFill>
                  <a:latin typeface="Microsoft YaHei"/>
                  <a:ea typeface="Microsoft YaHei"/>
                  <a:cs typeface="Microsoft YaHei"/>
                </a:rPr>
                <a:t>上手难度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0773" y="4529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★★☆☆☆　低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61154" y="4956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89D9"/>
                  </a:solidFill>
                  <a:latin typeface="Microsoft YaHei"/>
                  <a:ea typeface="Microsoft YaHei"/>
                  <a:cs typeface="Microsoft YaHei"/>
                </a:rPr>
                <a:t>上手建议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60773" y="51963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一条命令即可：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60773" y="5424964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wsl --install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77200" y="1676400"/>
            <a:ext cx="3429000" cy="4305300"/>
            <a:chOff x="8077200" y="1676400"/>
            <a:chExt cx="3429000" cy="4305300"/>
          </a:xfrm>
        </p:grpSpPr>
        <p:sp>
          <p:nvSpPr>
            <p:cNvPr id="32" name="Rectangle 32"/>
            <p:cNvSpPr/>
            <p:nvPr/>
          </p:nvSpPr>
          <p:spPr>
            <a:xfrm>
              <a:off x="8077200" y="1676400"/>
              <a:ext cx="3429000" cy="43053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3" name="Ellipse 33"/>
            <p:cNvSpPr/>
            <p:nvPr/>
          </p:nvSpPr>
          <p:spPr>
            <a:xfrm>
              <a:off x="8324850" y="2000250"/>
              <a:ext cx="647700" cy="647700"/>
            </a:xfrm>
            <a:prstGeom prst="ellipse">
              <a:avLst/>
            </a:prstGeom>
            <a:solidFill>
              <a:srgbClr val="EDE2F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85822" y="22145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3806" y="2891790"/>
              <a:ext cx="12165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虚拟机 VM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6854" y="33756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7216F"/>
                  </a:solidFill>
                  <a:latin typeface="Microsoft YaHei"/>
                  <a:ea typeface="Microsoft YaHei"/>
                  <a:cs typeface="Microsoft YaHei"/>
                </a:rPr>
                <a:t>适用人群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6473" y="36152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零风险体验，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56473" y="38438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隔离的实验环境。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6854" y="4271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7216F"/>
                  </a:solidFill>
                  <a:latin typeface="Microsoft YaHei"/>
                  <a:ea typeface="Microsoft YaHei"/>
                  <a:cs typeface="Microsoft YaHei"/>
                </a:rPr>
                <a:t>上手难度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56473" y="4529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★★☆☆☆　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56854" y="49568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77216F"/>
                  </a:solidFill>
                  <a:latin typeface="Microsoft YaHei"/>
                  <a:ea typeface="Microsoft YaHei"/>
                  <a:cs typeface="Microsoft YaHei"/>
                </a:rPr>
                <a:t>上手建议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56473" y="5196364"/>
              <a:ext cx="10324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VirtualBox /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56473" y="5424964"/>
              <a:ext cx="15930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VMware 载入镜像。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5" name="Line 45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04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4992754" cy="721328"/>
            <a:chOff x="685800" y="552450"/>
            <a:chExt cx="4992754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474053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GNOME 桌面环境快速导览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9003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Ubuntu 默认桌面，先认得这几个地方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" y="1676400"/>
            <a:ext cx="6858000" cy="4229100"/>
            <a:chOff x="685800" y="1676400"/>
            <a:chExt cx="6858000" cy="42291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6858000" cy="4229100"/>
            </a:xfrm>
            <a:prstGeom prst="roundRect">
              <a:avLst>
                <a:gd name="adj" fmla="val 4505"/>
              </a:avLst>
            </a:prstGeom>
            <a:solidFill>
              <a:srgbClr val="2C001E"/>
            </a:solidFill>
            <a:ln>
              <a:noFill/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7" name="Freeform 7"/>
            <p:cNvSpPr/>
            <p:nvPr/>
          </p:nvSpPr>
          <p:spPr>
            <a:xfrm>
              <a:off x="685800" y="1676400"/>
              <a:ext cx="6858000" cy="419100"/>
            </a:xfrm>
            <a:custGeom>
              <a:avLst/>
              <a:gdLst/>
              <a:ahLst/>
              <a:cxnLst/>
              <a:rect l="l" t="t" r="r" b="b"/>
              <a:pathLst>
                <a:path w="6858000" h="419100">
                  <a:moveTo>
                    <a:pt x="0" y="190500"/>
                  </a:moveTo>
                  <a:cubicBezTo>
                    <a:pt x="0" y="63500"/>
                    <a:pt x="63500" y="0"/>
                    <a:pt x="190500" y="0"/>
                  </a:cubicBezTo>
                  <a:lnTo>
                    <a:pt x="6667500" y="0"/>
                  </a:lnTo>
                  <a:cubicBezTo>
                    <a:pt x="6794500" y="0"/>
                    <a:pt x="6858000" y="63500"/>
                    <a:pt x="6858000" y="190500"/>
                  </a:cubicBezTo>
                  <a:lnTo>
                    <a:pt x="6858000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E9542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76300" y="1771650"/>
              <a:ext cx="285750" cy="228600"/>
            </a:xfrm>
            <a:prstGeom prst="roundRect">
              <a:avLst>
                <a:gd name="adj" fmla="val 25000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08735" y="1821656"/>
              <a:ext cx="731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Activities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2095500"/>
              <a:ext cx="666750" cy="3810000"/>
            </a:xfrm>
            <a:prstGeom prst="rect">
              <a:avLst/>
            </a:prstGeom>
            <a:solidFill>
              <a:srgbClr val="3A1B3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19150" y="236220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19150" y="291465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E95420">
                <a:alpha val="9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19150" y="346710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0089D9">
                <a:alpha val="90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819150" y="4019550"/>
              <a:ext cx="400050" cy="400050"/>
            </a:xfrm>
            <a:prstGeom prst="roundRect">
              <a:avLst>
                <a:gd name="adj" fmla="val 2381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05000" y="2762250"/>
              <a:ext cx="3810000" cy="2000250"/>
            </a:xfrm>
            <a:prstGeom prst="roundRect">
              <a:avLst>
                <a:gd name="adj" fmla="val 5714"/>
              </a:avLst>
            </a:prstGeom>
            <a:solidFill>
              <a:srgbClr val="4A2A42">
                <a:alpha val="60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057400" y="2914650"/>
              <a:ext cx="1143000" cy="1333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057400" y="3181350"/>
              <a:ext cx="2857500" cy="952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057400" y="3390900"/>
              <a:ext cx="2476500" cy="952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3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228850" y="173355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28508" y="18135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66775" y="556260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6433" y="56426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57600" y="358140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57258" y="36614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543800" y="2381250"/>
            <a:ext cx="419100" cy="2486025"/>
            <a:chOff x="7543800" y="2381250"/>
            <a:chExt cx="419100" cy="2486025"/>
          </a:xfrm>
        </p:grpSpPr>
        <p:sp>
          <p:nvSpPr>
            <p:cNvPr id="26" name="Line 26"/>
            <p:cNvSpPr/>
            <p:nvPr/>
          </p:nvSpPr>
          <p:spPr>
            <a:xfrm>
              <a:off x="7543800" y="23812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C9B8C4"/>
              </a:solidFill>
              <a:prstDash val="dash"/>
            </a:ln>
          </p:spPr>
        </p:sp>
        <p:sp>
          <p:nvSpPr>
            <p:cNvPr id="27" name="Line 27"/>
            <p:cNvSpPr/>
            <p:nvPr/>
          </p:nvSpPr>
          <p:spPr>
            <a:xfrm>
              <a:off x="7543800" y="36195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C9B8C4"/>
              </a:solidFill>
              <a:prstDash val="dash"/>
            </a:ln>
          </p:spPr>
        </p:sp>
        <p:sp>
          <p:nvSpPr>
            <p:cNvPr id="28" name="Line 28"/>
            <p:cNvSpPr/>
            <p:nvPr/>
          </p:nvSpPr>
          <p:spPr>
            <a:xfrm>
              <a:off x="7543800" y="48577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C9B8C4"/>
              </a:solidFill>
              <a:prstDash val="dash"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8077200" y="2145982"/>
            <a:ext cx="2596791" cy="804196"/>
            <a:chOff x="8077200" y="2145982"/>
            <a:chExt cx="2596791" cy="804196"/>
          </a:xfrm>
        </p:grpSpPr>
        <p:sp>
          <p:nvSpPr>
            <p:cNvPr id="30" name="Ellipse 30"/>
            <p:cNvSpPr/>
            <p:nvPr/>
          </p:nvSpPr>
          <p:spPr>
            <a:xfrm>
              <a:off x="8077200" y="2228850"/>
              <a:ext cx="304800" cy="304800"/>
            </a:xfrm>
            <a:prstGeom prst="ellipse">
              <a:avLst/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76858" y="23088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06968" y="2145982"/>
              <a:ext cx="20947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活动概览 Activities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08873" y="2472214"/>
              <a:ext cx="21651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点按左上角或按 Super 键，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08873" y="27008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查看所有窗口与工作区。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77200" y="3384232"/>
            <a:ext cx="1995449" cy="804196"/>
            <a:chOff x="8077200" y="3384232"/>
            <a:chExt cx="1995449" cy="804196"/>
          </a:xfrm>
        </p:grpSpPr>
        <p:sp>
          <p:nvSpPr>
            <p:cNvPr id="36" name="Ellipse 36"/>
            <p:cNvSpPr/>
            <p:nvPr/>
          </p:nvSpPr>
          <p:spPr>
            <a:xfrm>
              <a:off x="8077200" y="3467100"/>
              <a:ext cx="304800" cy="304800"/>
            </a:xfrm>
            <a:prstGeom prst="ellipse">
              <a:avLst/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76858" y="354711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06968" y="3384232"/>
              <a:ext cx="10586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左侧 Dock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08873" y="37104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固定常用应用，快速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08873" y="39390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启动与切换程序。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77200" y="4622482"/>
            <a:ext cx="2167763" cy="804196"/>
            <a:chOff x="8077200" y="4622482"/>
            <a:chExt cx="2167763" cy="804196"/>
          </a:xfrm>
        </p:grpSpPr>
        <p:sp>
          <p:nvSpPr>
            <p:cNvPr id="42" name="Ellipse 42"/>
            <p:cNvSpPr/>
            <p:nvPr/>
          </p:nvSpPr>
          <p:spPr>
            <a:xfrm>
              <a:off x="8077200" y="4705350"/>
              <a:ext cx="304800" cy="304800"/>
            </a:xfrm>
            <a:prstGeom prst="ellipse">
              <a:avLst/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176858" y="47853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06968" y="46224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桌面与工作区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08873" y="49487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多任务并行，四指滑动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08873" y="51773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切换不同工作区。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8" name="Line 48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05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3375082" cy="721328"/>
            <a:chOff x="685800" y="552450"/>
            <a:chExt cx="3375082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终端与命令行基础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3114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Linux 的灵魂在命令行，先学会和它对话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1676400"/>
            <a:ext cx="6858000" cy="3619500"/>
            <a:chOff x="685800" y="1676400"/>
            <a:chExt cx="6858000" cy="3619500"/>
          </a:xfrm>
        </p:grpSpPr>
        <p:sp>
          <p:nvSpPr>
            <p:cNvPr id="6" name="Rectangle 6"/>
            <p:cNvSpPr/>
            <p:nvPr/>
          </p:nvSpPr>
          <p:spPr>
            <a:xfrm>
              <a:off x="685800" y="1676400"/>
              <a:ext cx="6858000" cy="3619500"/>
            </a:xfrm>
            <a:prstGeom prst="roundRect">
              <a:avLst>
                <a:gd name="adj" fmla="val 4211"/>
              </a:avLst>
            </a:prstGeom>
            <a:solidFill>
              <a:srgbClr val="2C001E"/>
            </a:solidFill>
            <a:ln>
              <a:noFill/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885825" y="1876425"/>
              <a:ext cx="133350" cy="13335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114425" y="1876425"/>
              <a:ext cx="133350" cy="13335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876425"/>
              <a:ext cx="133350" cy="13335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685800" y="21336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4A2A4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5642" y="238791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</a:t>
              </a:r>
              <a:r>
                <a:rPr lang="en-US" sz="135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ls -l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6927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A8C4"/>
                  </a:solidFill>
                  <a:latin typeface="Consolas"/>
                  <a:ea typeface="Consolas"/>
                  <a:cs typeface="Consolas"/>
                </a:rPr>
                <a:t>total 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5642" y="2997518"/>
              <a:ext cx="5230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-rw-r--r-- 1 student student 220 Sep 1 10:20 readme.txt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3302318"/>
              <a:ext cx="2776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</a:t>
              </a:r>
              <a:r>
                <a:rPr lang="en-US" sz="135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cd projects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5642" y="3607118"/>
              <a:ext cx="2957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student@ubuntu:~/projects$</a:t>
              </a:r>
              <a:r>
                <a:rPr lang="en-US" sz="135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pwd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391191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A8C4"/>
                  </a:solidFill>
                  <a:latin typeface="Consolas"/>
                  <a:ea typeface="Consolas"/>
                  <a:cs typeface="Consolas"/>
                </a:rPr>
                <a:t>/home/student/projects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642" y="4216718"/>
              <a:ext cx="2721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student@ubuntu:~/projects$</a:t>
              </a:r>
              <a:r>
                <a:rPr lang="en-US" sz="135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</a:t>
              </a:r>
              <a:r>
                <a:rPr lang="en-US" sz="135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48600" y="1676400"/>
            <a:ext cx="3657600" cy="1143000"/>
            <a:chOff x="7848600" y="1676400"/>
            <a:chExt cx="3657600" cy="1143000"/>
          </a:xfrm>
        </p:grpSpPr>
        <p:sp>
          <p:nvSpPr>
            <p:cNvPr id="19" name="Rectangle 19"/>
            <p:cNvSpPr/>
            <p:nvPr/>
          </p:nvSpPr>
          <p:spPr>
            <a:xfrm>
              <a:off x="7848600" y="1676400"/>
              <a:ext cx="3657600" cy="1143000"/>
            </a:xfrm>
            <a:prstGeom prst="roundRect">
              <a:avLst>
                <a:gd name="adj" fmla="val 13333"/>
              </a:avLst>
            </a:prstGeom>
            <a:solidFill>
              <a:srgbClr val="FBE9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07680" y="18954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如何打开终端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08823" y="2243614"/>
              <a:ext cx="18606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快捷键 Ctrl + Alt + T，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08823" y="2491264"/>
              <a:ext cx="23556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或菜单搜索"终端 Terminal"。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848600" y="2971800"/>
            <a:ext cx="3657600" cy="1143000"/>
            <a:chOff x="7848600" y="2971800"/>
            <a:chExt cx="3657600" cy="1143000"/>
          </a:xfrm>
        </p:grpSpPr>
        <p:sp>
          <p:nvSpPr>
            <p:cNvPr id="24" name="Rectangle 24"/>
            <p:cNvSpPr/>
            <p:nvPr/>
          </p:nvSpPr>
          <p:spPr>
            <a:xfrm>
              <a:off x="7848600" y="2971800"/>
              <a:ext cx="3657600" cy="1143000"/>
            </a:xfrm>
            <a:prstGeom prst="roundRect">
              <a:avLst>
                <a:gd name="adj" fmla="val 13333"/>
              </a:avLst>
            </a:prstGeom>
            <a:solidFill>
              <a:srgbClr val="E1F0F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07680" y="3190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89D9"/>
                  </a:solidFill>
                  <a:latin typeface="Microsoft YaHei"/>
                  <a:ea typeface="Microsoft YaHei"/>
                  <a:cs typeface="Microsoft YaHei"/>
                </a:rPr>
                <a:t>提示符结构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08823" y="3539014"/>
              <a:ext cx="16757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用户名@主机名:目录$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08823" y="3786664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认识它，就知道"我在哪"。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848600" y="4267200"/>
            <a:ext cx="3657600" cy="1143000"/>
            <a:chOff x="7848600" y="4267200"/>
            <a:chExt cx="3657600" cy="1143000"/>
          </a:xfrm>
        </p:grpSpPr>
        <p:sp>
          <p:nvSpPr>
            <p:cNvPr id="29" name="Rectangle 29"/>
            <p:cNvSpPr/>
            <p:nvPr/>
          </p:nvSpPr>
          <p:spPr>
            <a:xfrm>
              <a:off x="7848600" y="4267200"/>
              <a:ext cx="3657600" cy="1143000"/>
            </a:xfrm>
            <a:prstGeom prst="roundRect">
              <a:avLst>
                <a:gd name="adj" fmla="val 13333"/>
              </a:avLst>
            </a:prstGeom>
            <a:solidFill>
              <a:srgbClr val="EDE2F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07680" y="44862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7216F"/>
                  </a:solidFill>
                  <a:latin typeface="Microsoft YaHei"/>
                  <a:ea typeface="Microsoft YaHei"/>
                  <a:cs typeface="Microsoft YaHei"/>
                </a:rPr>
                <a:t>两个关键符号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8823" y="4834414"/>
              <a:ext cx="11933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~ 表示家目录；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8823" y="5082064"/>
              <a:ext cx="23650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# 表示 root 管理员（慎用）。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4" name="Line 34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06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3749991" cy="721328"/>
            <a:chOff x="685800" y="552450"/>
            <a:chExt cx="3749991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34977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Linux 文件系统结构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9681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所有文件都从根目录 / 开始，像一棵树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800" y="1714500"/>
            <a:ext cx="6553200" cy="533400"/>
            <a:chOff x="685800" y="1714500"/>
            <a:chExt cx="6553200" cy="53340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6553200" cy="533400"/>
            </a:xfrm>
            <a:prstGeom prst="roundRect">
              <a:avLst>
                <a:gd name="adj" fmla="val 25000"/>
              </a:avLst>
            </a:prstGeom>
            <a:solidFill>
              <a:srgbClr val="2C001E"/>
            </a:solidFill>
            <a:ln>
              <a:noFill/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44118" y="1879282"/>
              <a:ext cx="3675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根目录　</a:t>
              </a:r>
              <a:r>
                <a:rPr lang="en-US" sz="1650" b="1" dirty="0">
                  <a:solidFill>
                    <a:srgbClr val="FF8C42"/>
                  </a:solidFill>
                  <a:latin typeface="Microsoft YaHei"/>
                  <a:ea typeface="Microsoft YaHei"/>
                  <a:cs typeface="Microsoft YaHei"/>
                </a:rPr>
                <a:t>/</a:t>
              </a:r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　— 所有文件与目录的起点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76300" y="2400300"/>
            <a:ext cx="6172200" cy="457200"/>
            <a:chOff x="876300" y="2400300"/>
            <a:chExt cx="6172200" cy="457200"/>
          </a:xfrm>
        </p:grpSpPr>
        <p:sp>
          <p:nvSpPr>
            <p:cNvPr id="9" name="Rectangle 9"/>
            <p:cNvSpPr/>
            <p:nvPr/>
          </p:nvSpPr>
          <p:spPr>
            <a:xfrm>
              <a:off x="876300" y="2400300"/>
              <a:ext cx="6172200" cy="457200"/>
            </a:xfrm>
            <a:prstGeom prst="roundRect">
              <a:avLst>
                <a:gd name="adj" fmla="val 2083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90600" y="24955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9227" y="2548414"/>
              <a:ext cx="5466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/home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79523" y="254841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用户主目录，存放个人文件与配置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6300" y="2990850"/>
            <a:ext cx="6172200" cy="457200"/>
            <a:chOff x="876300" y="2990850"/>
            <a:chExt cx="6172200" cy="457200"/>
          </a:xfrm>
        </p:grpSpPr>
        <p:sp>
          <p:nvSpPr>
            <p:cNvPr id="14" name="Rectangle 14"/>
            <p:cNvSpPr/>
            <p:nvPr/>
          </p:nvSpPr>
          <p:spPr>
            <a:xfrm>
              <a:off x="876300" y="2990850"/>
              <a:ext cx="6172200" cy="457200"/>
            </a:xfrm>
            <a:prstGeom prst="roundRect">
              <a:avLst>
                <a:gd name="adj" fmla="val 2083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90600" y="308610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77216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47076" y="313896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/etc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79523" y="313896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系统全局配置文件（如网络、用户）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6300" y="3581400"/>
            <a:ext cx="6172200" cy="457200"/>
            <a:chOff x="876300" y="3581400"/>
            <a:chExt cx="6172200" cy="457200"/>
          </a:xfrm>
        </p:grpSpPr>
        <p:sp>
          <p:nvSpPr>
            <p:cNvPr id="19" name="Rectangle 19"/>
            <p:cNvSpPr/>
            <p:nvPr/>
          </p:nvSpPr>
          <p:spPr>
            <a:xfrm>
              <a:off x="876300" y="3581400"/>
              <a:ext cx="6172200" cy="457200"/>
            </a:xfrm>
            <a:prstGeom prst="roundRect">
              <a:avLst>
                <a:gd name="adj" fmla="val 2083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90600" y="36766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0089D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47076" y="372951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/var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79523" y="37295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日志、缓存等经常变化的文件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76300" y="4171950"/>
            <a:ext cx="6172200" cy="457200"/>
            <a:chOff x="876300" y="4171950"/>
            <a:chExt cx="6172200" cy="457200"/>
          </a:xfrm>
        </p:grpSpPr>
        <p:sp>
          <p:nvSpPr>
            <p:cNvPr id="24" name="Rectangle 24"/>
            <p:cNvSpPr/>
            <p:nvPr/>
          </p:nvSpPr>
          <p:spPr>
            <a:xfrm>
              <a:off x="876300" y="4171950"/>
              <a:ext cx="6172200" cy="457200"/>
            </a:xfrm>
            <a:prstGeom prst="roundRect">
              <a:avLst>
                <a:gd name="adj" fmla="val 2083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90600" y="426720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347076" y="432006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/usr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9523" y="43200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系统安装的程序与共享库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76300" y="4762500"/>
            <a:ext cx="6172200" cy="457200"/>
            <a:chOff x="876300" y="4762500"/>
            <a:chExt cx="6172200" cy="457200"/>
          </a:xfrm>
        </p:grpSpPr>
        <p:sp>
          <p:nvSpPr>
            <p:cNvPr id="29" name="Rectangle 29"/>
            <p:cNvSpPr/>
            <p:nvPr/>
          </p:nvSpPr>
          <p:spPr>
            <a:xfrm>
              <a:off x="876300" y="4762500"/>
              <a:ext cx="6172200" cy="457200"/>
            </a:xfrm>
            <a:prstGeom prst="roundRect">
              <a:avLst>
                <a:gd name="adj" fmla="val 2083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90600" y="48577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2C001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369692" y="4910614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/bin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79523" y="4910614"/>
              <a:ext cx="22702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基础命令（如 ls、cp、pwd）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6300" y="5353050"/>
            <a:ext cx="6172200" cy="457200"/>
            <a:chOff x="876300" y="5353050"/>
            <a:chExt cx="6172200" cy="457200"/>
          </a:xfrm>
        </p:grpSpPr>
        <p:sp>
          <p:nvSpPr>
            <p:cNvPr id="34" name="Rectangle 34"/>
            <p:cNvSpPr/>
            <p:nvPr/>
          </p:nvSpPr>
          <p:spPr>
            <a:xfrm>
              <a:off x="876300" y="5353050"/>
              <a:ext cx="6172200" cy="457200"/>
            </a:xfrm>
            <a:prstGeom prst="roundRect">
              <a:avLst>
                <a:gd name="adj" fmla="val 2083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90600" y="544830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8A8A8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328983" y="5501164"/>
              <a:ext cx="44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/tmp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79523" y="550116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临时文件，重启后自动清空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467600" y="1714500"/>
            <a:ext cx="4038600" cy="4095750"/>
            <a:chOff x="7467600" y="1714500"/>
            <a:chExt cx="4038600" cy="4095750"/>
          </a:xfrm>
        </p:grpSpPr>
        <p:sp>
          <p:nvSpPr>
            <p:cNvPr id="39" name="Rectangle 39"/>
            <p:cNvSpPr/>
            <p:nvPr/>
          </p:nvSpPr>
          <p:spPr>
            <a:xfrm>
              <a:off x="7467600" y="1714500"/>
              <a:ext cx="4038600" cy="4095750"/>
            </a:xfrm>
            <a:prstGeom prst="roundRect">
              <a:avLst>
                <a:gd name="adj" fmla="val 4245"/>
              </a:avLst>
            </a:prstGeom>
            <a:solidFill>
              <a:srgbClr val="FBE9E0"/>
            </a:solidFill>
            <a:ln>
              <a:noFill/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7725918" y="1974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记住两点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27442" y="244506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① 一切皆文件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27823" y="27389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硬盘、键盘、打印机也都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27823" y="2967514"/>
              <a:ext cx="19945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以文件形式存在于 /dev。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27442" y="347376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② 路径怎么写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7823" y="3767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/ 开头 = 绝对路径；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27823" y="3996214"/>
              <a:ext cx="2123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. 当前目录，.. 上级目录。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27823" y="4510564"/>
              <a:ext cx="1891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例如：/home/student/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27823" y="4739164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note.txt 是绝对路径。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28204" y="5261610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用 tab 键可自动补全路径。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51" name="Line 51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07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5268849" cy="721328"/>
            <a:chOff x="685800" y="552450"/>
            <a:chExt cx="5268849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常用命令（一）：文件与目录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先掌握这 6 个，日常操作就够用了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1752600"/>
            <a:ext cx="3429000" cy="1905000"/>
            <a:chOff x="685800" y="1752600"/>
            <a:chExt cx="3429000" cy="19050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42594" y="2037398"/>
              <a:ext cx="5297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95420"/>
                  </a:solidFill>
                  <a:latin typeface="Consolas"/>
                  <a:ea typeface="Consolas"/>
                  <a:cs typeface="Consolas"/>
                </a:rPr>
                <a:t>pwd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023" y="249126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显示当前所在目录。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3048000"/>
              <a:ext cx="2971800" cy="381000"/>
            </a:xfrm>
            <a:prstGeom prst="roundRect">
              <a:avLst>
                <a:gd name="adj" fmla="val 20000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61085" y="3174206"/>
              <a:ext cx="200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示例: pwd → /home/student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381500" y="1752600"/>
            <a:ext cx="3429000" cy="1905000"/>
            <a:chOff x="4381500" y="1752600"/>
            <a:chExt cx="3429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75260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4638294" y="2037398"/>
              <a:ext cx="2541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77216F"/>
                  </a:solidFill>
                  <a:latin typeface="Consolas"/>
                  <a:ea typeface="Consolas"/>
                  <a:cs typeface="Consolas"/>
                </a:rPr>
                <a:t>ls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41723" y="24912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列出目录内容。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610100" y="3048000"/>
              <a:ext cx="2971800" cy="381000"/>
            </a:xfrm>
            <a:prstGeom prst="roundRect">
              <a:avLst>
                <a:gd name="adj" fmla="val 20000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56785" y="3174206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示例: ls -l · ls -a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77200" y="1752600"/>
            <a:ext cx="3429000" cy="1905000"/>
            <a:chOff x="8077200" y="1752600"/>
            <a:chExt cx="3429000" cy="1905000"/>
          </a:xfrm>
        </p:grpSpPr>
        <p:sp>
          <p:nvSpPr>
            <p:cNvPr id="18" name="Rectangle 18"/>
            <p:cNvSpPr/>
            <p:nvPr/>
          </p:nvSpPr>
          <p:spPr>
            <a:xfrm>
              <a:off x="8077200" y="175260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8333994" y="20373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089D9"/>
                  </a:solidFill>
                  <a:latin typeface="Consolas"/>
                  <a:ea typeface="Consolas"/>
                  <a:cs typeface="Consolas"/>
                </a:rPr>
                <a:t>cd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37423" y="24912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切换工作目录。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05800" y="3048000"/>
              <a:ext cx="2971800" cy="381000"/>
            </a:xfrm>
            <a:prstGeom prst="roundRect">
              <a:avLst>
                <a:gd name="adj" fmla="val 20000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2485" y="3174206"/>
              <a:ext cx="1285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示例: cd ~ · cd ..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3848100"/>
            <a:ext cx="3429000" cy="1905000"/>
            <a:chOff x="685800" y="3848100"/>
            <a:chExt cx="3429000" cy="1905000"/>
          </a:xfrm>
        </p:grpSpPr>
        <p:sp>
          <p:nvSpPr>
            <p:cNvPr id="24" name="Rectangle 24"/>
            <p:cNvSpPr/>
            <p:nvPr/>
          </p:nvSpPr>
          <p:spPr>
            <a:xfrm>
              <a:off x="685800" y="384810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942594" y="4132898"/>
              <a:ext cx="7640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E8420"/>
                  </a:solidFill>
                  <a:latin typeface="Consolas"/>
                  <a:ea typeface="Consolas"/>
                  <a:cs typeface="Consolas"/>
                </a:rPr>
                <a:t>mkdir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45867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新建一个目录。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4400" y="5143500"/>
              <a:ext cx="2971800" cy="381000"/>
            </a:xfrm>
            <a:prstGeom prst="roundRect">
              <a:avLst>
                <a:gd name="adj" fmla="val 20000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1085" y="5269706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示例: mkdir demo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3848100"/>
            <a:ext cx="3429000" cy="1905000"/>
            <a:chOff x="4381500" y="3848100"/>
            <a:chExt cx="3429000" cy="1905000"/>
          </a:xfrm>
        </p:grpSpPr>
        <p:sp>
          <p:nvSpPr>
            <p:cNvPr id="30" name="Rectangle 30"/>
            <p:cNvSpPr/>
            <p:nvPr/>
          </p:nvSpPr>
          <p:spPr>
            <a:xfrm>
              <a:off x="4381500" y="384810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4638294" y="4132898"/>
              <a:ext cx="777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C001E"/>
                  </a:solidFill>
                  <a:latin typeface="Consolas"/>
                  <a:ea typeface="Consolas"/>
                  <a:cs typeface="Consolas"/>
                </a:rPr>
                <a:t>touch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41723" y="45867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新建空文件。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610100" y="5143500"/>
              <a:ext cx="2971800" cy="381000"/>
            </a:xfrm>
            <a:prstGeom prst="roundRect">
              <a:avLst>
                <a:gd name="adj" fmla="val 20000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756785" y="5269706"/>
              <a:ext cx="15644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示例: touch note.txt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77200" y="3848100"/>
            <a:ext cx="3429000" cy="1905000"/>
            <a:chOff x="8077200" y="3848100"/>
            <a:chExt cx="3429000" cy="1905000"/>
          </a:xfrm>
        </p:grpSpPr>
        <p:sp>
          <p:nvSpPr>
            <p:cNvPr id="36" name="Rectangle 36"/>
            <p:cNvSpPr/>
            <p:nvPr/>
          </p:nvSpPr>
          <p:spPr>
            <a:xfrm>
              <a:off x="8077200" y="384810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8335518" y="41652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8A8A8A"/>
                  </a:solidFill>
                  <a:latin typeface="Consolas"/>
                  <a:ea typeface="Consolas"/>
                  <a:cs typeface="Consolas"/>
                </a:rPr>
                <a:t>cp / mv / rm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37423" y="4586764"/>
              <a:ext cx="1615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复制 / 移动 / 删除。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05800" y="5143500"/>
              <a:ext cx="2971800" cy="381000"/>
            </a:xfrm>
            <a:prstGeom prst="roundRect">
              <a:avLst>
                <a:gd name="adj" fmla="val 20000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52485" y="5269706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示例: cp a.txt b.txt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2" name="Line 42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08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5268849" cy="721328"/>
            <a:chOff x="685800" y="552450"/>
            <a:chExt cx="5268849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常用命令（二）：查看与文本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读文件、搜内容、找文件，全靠它们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1714500"/>
            <a:ext cx="6553200" cy="685800"/>
            <a:chOff x="685800" y="1714500"/>
            <a:chExt cx="6553200" cy="68580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1895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0187" y="196881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4773" y="18626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查看文件全部内容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5916" y="2115502"/>
              <a:ext cx="1311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cat note.txt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476500"/>
            <a:ext cx="6553200" cy="685800"/>
            <a:chOff x="685800" y="2476500"/>
            <a:chExt cx="6553200" cy="685800"/>
          </a:xfrm>
        </p:grpSpPr>
        <p:sp>
          <p:nvSpPr>
            <p:cNvPr id="12" name="Rectangle 12"/>
            <p:cNvSpPr/>
            <p:nvPr/>
          </p:nvSpPr>
          <p:spPr>
            <a:xfrm>
              <a:off x="685800" y="2476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0100" y="2657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77216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2851" y="2730818"/>
              <a:ext cx="1063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less / more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74773" y="2624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分页查看长文件，空格翻页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75916" y="2877502"/>
              <a:ext cx="1205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less big.log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3238500"/>
            <a:ext cx="6553200" cy="685800"/>
            <a:chOff x="685800" y="3238500"/>
            <a:chExt cx="6553200" cy="685800"/>
          </a:xfrm>
        </p:grpSpPr>
        <p:sp>
          <p:nvSpPr>
            <p:cNvPr id="18" name="Rectangle 18"/>
            <p:cNvSpPr/>
            <p:nvPr/>
          </p:nvSpPr>
          <p:spPr>
            <a:xfrm>
              <a:off x="685800" y="3238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0100" y="3419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0089D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5787" y="3492818"/>
              <a:ext cx="977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head / tail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4773" y="3386614"/>
              <a:ext cx="24167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查看头/尾部；tail -f 实时监控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916" y="3639502"/>
              <a:ext cx="1600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tail -n 20 app.log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4000500"/>
            <a:ext cx="6553200" cy="685800"/>
            <a:chOff x="685800" y="4000500"/>
            <a:chExt cx="6553200" cy="685800"/>
          </a:xfrm>
        </p:grpSpPr>
        <p:sp>
          <p:nvSpPr>
            <p:cNvPr id="24" name="Rectangle 24"/>
            <p:cNvSpPr/>
            <p:nvPr/>
          </p:nvSpPr>
          <p:spPr>
            <a:xfrm>
              <a:off x="685800" y="4000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0100" y="4181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97711" y="42548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grep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74773" y="4148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按关键词过滤文本行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916" y="4401502"/>
              <a:ext cx="18623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grep "error" app.log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4762500"/>
            <a:ext cx="6553200" cy="685800"/>
            <a:chOff x="685800" y="4762500"/>
            <a:chExt cx="6553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685800" y="4762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0100" y="4943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2C001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21564" y="5016818"/>
              <a:ext cx="385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74773" y="49106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按名称或条件查找文件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5916" y="5163502"/>
              <a:ext cx="1855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find ~ -name "*.txt"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467600" y="1714500"/>
            <a:ext cx="4038600" cy="3733800"/>
            <a:chOff x="7467600" y="1714500"/>
            <a:chExt cx="4038600" cy="3733800"/>
          </a:xfrm>
        </p:grpSpPr>
        <p:sp>
          <p:nvSpPr>
            <p:cNvPr id="36" name="Rectangle 36"/>
            <p:cNvSpPr/>
            <p:nvPr/>
          </p:nvSpPr>
          <p:spPr>
            <a:xfrm>
              <a:off x="7467600" y="1714500"/>
              <a:ext cx="4038600" cy="3733800"/>
            </a:xfrm>
            <a:prstGeom prst="roundRect">
              <a:avLst>
                <a:gd name="adj" fmla="val 4082"/>
              </a:avLst>
            </a:prstGeom>
            <a:solidFill>
              <a:srgbClr val="2C001E"/>
            </a:solidFill>
            <a:ln>
              <a:noFill/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7" name="Ellipse 37"/>
            <p:cNvSpPr/>
            <p:nvPr/>
          </p:nvSpPr>
          <p:spPr>
            <a:xfrm>
              <a:off x="7667625" y="1914525"/>
              <a:ext cx="133350" cy="13335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896225" y="1914525"/>
              <a:ext cx="133350" cy="13335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124825" y="1914525"/>
              <a:ext cx="133350" cy="13335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28204" y="2308860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</a:t>
              </a:r>
              <a:r>
                <a:rPr lang="en-US" sz="120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grep "error" app.log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28204" y="2613660"/>
              <a:ext cx="23192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B8A8C4"/>
                  </a:solidFill>
                  <a:latin typeface="Consolas"/>
                  <a:ea typeface="Consolas"/>
                  <a:cs typeface="Consolas"/>
                </a:rPr>
                <a:t>[ERROR] failed to connect db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28204" y="2994660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</a:t>
              </a:r>
              <a:r>
                <a:rPr lang="en-US" sz="120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find ~ -name "*.txt"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28204" y="329946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B8A8C4"/>
                  </a:solidFill>
                  <a:latin typeface="Consolas"/>
                  <a:ea typeface="Consolas"/>
                  <a:cs typeface="Consolas"/>
                </a:rPr>
                <a:t>/home/student/note.txt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28204" y="3680460"/>
              <a:ext cx="2701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</a:t>
              </a:r>
              <a:r>
                <a:rPr lang="en-US" sz="120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tail -f app.log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8204" y="3985260"/>
              <a:ext cx="1409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A8C4"/>
                  </a:solidFill>
                  <a:latin typeface="Consolas"/>
                  <a:ea typeface="Microsoft YaHei"/>
                  <a:cs typeface="Consolas"/>
                </a:rPr>
                <a:t>(实时滚动的日志…)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28204" y="482346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student@ubuntu:~$▋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8" name="Line 48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09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2966847" cy="721328"/>
            <a:chOff x="685800" y="552450"/>
            <a:chExt cx="2966847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用户与权限管理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5031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Linux 用 rwx 控制"谁能做什么"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1752600"/>
            <a:ext cx="5143500" cy="4095750"/>
            <a:chOff x="685800" y="1752600"/>
            <a:chExt cx="5143500" cy="409575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5143500" cy="4095750"/>
            </a:xfrm>
            <a:prstGeom prst="roundRect">
              <a:avLst>
                <a:gd name="adj" fmla="val 4186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44118" y="1974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读懂权限字符串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404" y="2327910"/>
              <a:ext cx="24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A5A5A"/>
                  </a:solidFill>
                  <a:latin typeface="Consolas"/>
                  <a:ea typeface="Consolas"/>
                  <a:cs typeface="Consolas"/>
                </a:rPr>
                <a:t>-rwxr-xr-x student script.sh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04775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7965" y="2902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50495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36083" y="2902268"/>
              <a:ext cx="1568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96215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112365" y="2902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x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59080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741015" y="2902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04800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E6E1D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98215" y="2902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9A9290"/>
                  </a:solidFill>
                  <a:latin typeface="Microsoft YaHei"/>
                  <a:ea typeface="Microsoft YaHei"/>
                  <a:cs typeface="Microsoft YaHei"/>
                </a:rPr>
                <a:t>-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50520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655415" y="2902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x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3385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84065" y="2902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59105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E6E1D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41265" y="2902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9A9290"/>
                  </a:solidFill>
                  <a:latin typeface="Microsoft YaHei"/>
                  <a:ea typeface="Microsoft YaHei"/>
                  <a:cs typeface="Microsoft YaHei"/>
                </a:rPr>
                <a:t>-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048250" y="2762250"/>
              <a:ext cx="419100" cy="438150"/>
            </a:xfrm>
            <a:prstGeom prst="roundRect">
              <a:avLst>
                <a:gd name="adj" fmla="val 13636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98465" y="29022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x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44523" y="3421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拥有者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03880" y="3631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0E8420"/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987573" y="3421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所属组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46930" y="3631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0E8420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30623" y="34218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其他人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89980" y="36318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0E8420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4167664"/>
              <a:ext cx="3184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数字含义：</a:t>
              </a:r>
              <a:r>
                <a:rPr lang="zh-CN" sz="128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r=4　w=2　x=1</a:t>
              </a:r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，相加得分。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6023" y="4529614"/>
              <a:ext cx="293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常见：</a:t>
              </a:r>
              <a:r>
                <a:rPr lang="en-US" sz="1280" dirty="0">
                  <a:solidFill>
                    <a:srgbClr val="0E8420"/>
                  </a:solidFill>
                  <a:latin typeface="Consolas"/>
                  <a:ea typeface="Consolas"/>
                  <a:cs typeface="Consolas"/>
                </a:rPr>
                <a:t>644</a:t>
              </a:r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 = rw-r--r--（普通文件）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6023" y="4796314"/>
              <a:ext cx="25890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E8420"/>
                  </a:solidFill>
                  <a:latin typeface="Consolas"/>
                  <a:ea typeface="Consolas"/>
                  <a:cs typeface="Consolas"/>
                </a:rPr>
                <a:t>755</a:t>
              </a:r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 = rwxr-xr-x（可执行脚本）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6404" y="5261610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d 开头表示目录，l 表示软链接。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362700" y="1752600"/>
            <a:ext cx="5143500" cy="1143000"/>
            <a:chOff x="6362700" y="1752600"/>
            <a:chExt cx="51435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6362700" y="1752600"/>
              <a:ext cx="5143500" cy="1143000"/>
            </a:xfrm>
            <a:prstGeom prst="roundRect">
              <a:avLst>
                <a:gd name="adj" fmla="val 13333"/>
              </a:avLst>
            </a:prstGeom>
            <a:solidFill>
              <a:srgbClr val="FBE9E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20256" y="19583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E95420"/>
                  </a:solidFill>
                  <a:latin typeface="Consolas"/>
                  <a:ea typeface="Consolas"/>
                  <a:cs typeface="Consolas"/>
                </a:rPr>
                <a:t>sudo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22923" y="23388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以管理员身份执行命令（需要密码）。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23685" y="2621756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sudo apt update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362700" y="3048000"/>
            <a:ext cx="5143500" cy="1143000"/>
            <a:chOff x="6362700" y="3048000"/>
            <a:chExt cx="5143500" cy="1143000"/>
          </a:xfrm>
        </p:grpSpPr>
        <p:sp>
          <p:nvSpPr>
            <p:cNvPr id="43" name="Rectangle 43"/>
            <p:cNvSpPr/>
            <p:nvPr/>
          </p:nvSpPr>
          <p:spPr>
            <a:xfrm>
              <a:off x="6362700" y="3048000"/>
              <a:ext cx="5143500" cy="1143000"/>
            </a:xfrm>
            <a:prstGeom prst="roundRect">
              <a:avLst>
                <a:gd name="adj" fmla="val 13333"/>
              </a:avLst>
            </a:prstGeom>
            <a:solidFill>
              <a:srgbClr val="E1F0F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0256" y="325374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89D9"/>
                  </a:solidFill>
                  <a:latin typeface="Consolas"/>
                  <a:ea typeface="Consolas"/>
                  <a:cs typeface="Consolas"/>
                </a:rPr>
                <a:t>chmod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2923" y="36342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修改文件或目录的权限。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23685" y="3917156"/>
              <a:ext cx="193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chmod 755 script.sh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362700" y="4343400"/>
            <a:ext cx="5143500" cy="1143000"/>
            <a:chOff x="6362700" y="4343400"/>
            <a:chExt cx="5143500" cy="1143000"/>
          </a:xfrm>
        </p:grpSpPr>
        <p:sp>
          <p:nvSpPr>
            <p:cNvPr id="48" name="Rectangle 48"/>
            <p:cNvSpPr/>
            <p:nvPr/>
          </p:nvSpPr>
          <p:spPr>
            <a:xfrm>
              <a:off x="6362700" y="4343400"/>
              <a:ext cx="5143500" cy="1143000"/>
            </a:xfrm>
            <a:prstGeom prst="roundRect">
              <a:avLst>
                <a:gd name="adj" fmla="val 13333"/>
              </a:avLst>
            </a:prstGeom>
            <a:solidFill>
              <a:srgbClr val="EDE2F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20256" y="454914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77216F"/>
                  </a:solidFill>
                  <a:latin typeface="Consolas"/>
                  <a:ea typeface="Consolas"/>
                  <a:cs typeface="Consolas"/>
                </a:rPr>
                <a:t>chown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22923" y="4929664"/>
              <a:ext cx="2520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修改文件的所有者（用户:组）。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23685" y="5212556"/>
              <a:ext cx="2061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chown user:group file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53" name="Line 5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10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4501515" cy="721328"/>
            <a:chOff x="685800" y="552450"/>
            <a:chExt cx="4501515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软件包管理：安装与更新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31264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在 Ubuntu 上，装软件就是一条命令的事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" y="1752600"/>
            <a:ext cx="3429000" cy="4000500"/>
            <a:chOff x="685800" y="1752600"/>
            <a:chExt cx="3429000" cy="40005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3429000" cy="4000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7" name="Ellipse 7"/>
            <p:cNvSpPr/>
            <p:nvPr/>
          </p:nvSpPr>
          <p:spPr>
            <a:xfrm>
              <a:off x="933450" y="2076450"/>
              <a:ext cx="647700" cy="647700"/>
            </a:xfrm>
            <a:prstGeom prst="ellipse">
              <a:avLst/>
            </a:prstGeom>
            <a:solidFill>
              <a:srgbClr val="FBE9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4422" y="22907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1644" y="2951798"/>
              <a:ext cx="4746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E95420"/>
                  </a:solidFill>
                  <a:latin typeface="Consolas"/>
                  <a:ea typeface="Consolas"/>
                  <a:cs typeface="Consolas"/>
                </a:rPr>
                <a:t>apt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5073" y="3367564"/>
              <a:ext cx="17175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Debian / Ubuntu 主力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5073" y="35961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包管理器。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5835" y="4031456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sudo apt update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5835" y="4298156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sudo apt install 包名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835" y="456485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sudo apt upgrade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835" y="4831556"/>
              <a:ext cx="1556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sudo apt remove 包名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5219700"/>
              <a:ext cx="2971800" cy="361950"/>
            </a:xfrm>
            <a:prstGeom prst="roundRect">
              <a:avLst>
                <a:gd name="adj" fmla="val 2105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61466" y="5344478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例: sudo apt install git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381500" y="1752600"/>
            <a:ext cx="3429000" cy="4000500"/>
            <a:chOff x="4381500" y="1752600"/>
            <a:chExt cx="3429000" cy="4000500"/>
          </a:xfrm>
        </p:grpSpPr>
        <p:sp>
          <p:nvSpPr>
            <p:cNvPr id="19" name="Rectangle 19"/>
            <p:cNvSpPr/>
            <p:nvPr/>
          </p:nvSpPr>
          <p:spPr>
            <a:xfrm>
              <a:off x="4381500" y="1752600"/>
              <a:ext cx="3429000" cy="4000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20" name="Ellipse 20"/>
            <p:cNvSpPr/>
            <p:nvPr/>
          </p:nvSpPr>
          <p:spPr>
            <a:xfrm>
              <a:off x="4629150" y="2076450"/>
              <a:ext cx="647700" cy="647700"/>
            </a:xfrm>
            <a:prstGeom prst="ellipse">
              <a:avLst/>
            </a:prstGeom>
            <a:solidFill>
              <a:srgbClr val="E1F0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90122" y="22907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🧩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7344" y="29517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089D9"/>
                  </a:solidFill>
                  <a:latin typeface="Consolas"/>
                  <a:ea typeface="Consolas"/>
                  <a:cs typeface="Consolas"/>
                </a:rPr>
                <a:t>snap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60773" y="33675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通用打包格式，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60773" y="35961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自带依赖、跨发行版。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61535" y="4031456"/>
              <a:ext cx="1579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sudo snap install 包名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1535" y="4298156"/>
              <a:ext cx="16397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sudo snap remove 包名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61535" y="45648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snap list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10100" y="5219700"/>
              <a:ext cx="2971800" cy="361950"/>
            </a:xfrm>
            <a:prstGeom prst="roundRect">
              <a:avLst>
                <a:gd name="adj" fmla="val 2105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57166" y="5344478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例: sudo snap install code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77200" y="1752600"/>
            <a:ext cx="3429000" cy="4000500"/>
            <a:chOff x="8077200" y="1752600"/>
            <a:chExt cx="3429000" cy="4000500"/>
          </a:xfrm>
        </p:grpSpPr>
        <p:sp>
          <p:nvSpPr>
            <p:cNvPr id="31" name="Rectangle 31"/>
            <p:cNvSpPr/>
            <p:nvPr/>
          </p:nvSpPr>
          <p:spPr>
            <a:xfrm>
              <a:off x="8077200" y="1752600"/>
              <a:ext cx="3429000" cy="4000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2" name="Ellipse 32"/>
            <p:cNvSpPr/>
            <p:nvPr/>
          </p:nvSpPr>
          <p:spPr>
            <a:xfrm>
              <a:off x="8324850" y="2076450"/>
              <a:ext cx="647700" cy="647700"/>
            </a:xfrm>
            <a:prstGeom prst="ellipse">
              <a:avLst/>
            </a:prstGeom>
            <a:solidFill>
              <a:srgbClr val="EDE2F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85822" y="2290762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53044" y="2951798"/>
              <a:ext cx="62620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77216F"/>
                  </a:solidFill>
                  <a:latin typeface="Consolas"/>
                  <a:ea typeface="Consolas"/>
                  <a:cs typeface="Consolas"/>
                </a:rPr>
                <a:t>dpkg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56473" y="33675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底层工具，直接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6473" y="3596164"/>
              <a:ext cx="1357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安装 .deb 文件。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7235" y="4031456"/>
              <a:ext cx="1421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sudo dpkg -i 包.deb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57235" y="4298156"/>
              <a:ext cx="12779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D3D3D"/>
                  </a:solidFill>
                  <a:latin typeface="Consolas"/>
                  <a:ea typeface="Microsoft YaHei"/>
                  <a:cs typeface="Consolas"/>
                </a:rPr>
                <a:t>sudo dpkg -r 包名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57235" y="45648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dpkg -l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305800" y="5219700"/>
              <a:ext cx="2971800" cy="361950"/>
            </a:xfrm>
            <a:prstGeom prst="roundRect">
              <a:avLst>
                <a:gd name="adj" fmla="val 21053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52866" y="5344478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例: sudo dpkg -i pkg.deb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9323" y="6072664"/>
            <a:ext cx="5170731" cy="249364"/>
            <a:chOff x="679323" y="6072664"/>
            <a:chExt cx="5170731" cy="249364"/>
          </a:xfrm>
        </p:grpSpPr>
        <p:sp>
          <p:nvSpPr>
            <p:cNvPr id="43" name="TextBox 43"/>
            <p:cNvSpPr txBox="1"/>
            <p:nvPr/>
          </p:nvSpPr>
          <p:spPr>
            <a:xfrm>
              <a:off x="679323" y="6072664"/>
              <a:ext cx="51707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💡 日常首选 </a:t>
              </a:r>
              <a:r>
                <a:rPr lang="en-US" sz="128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apt</a:t>
              </a:r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；遇到 snap 版应用或本地 .deb 再使用另外两个。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5" name="Line 45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11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3030195" cy="721328"/>
            <a:chOff x="685800" y="552450"/>
            <a:chExt cx="3030195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系统管理与服务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查看状态、管控服务、了解资源占用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1752600"/>
            <a:ext cx="5143500" cy="1905000"/>
            <a:chOff x="685800" y="1752600"/>
            <a:chExt cx="5143500" cy="1905000"/>
          </a:xfrm>
        </p:grpSpPr>
        <p:sp>
          <p:nvSpPr>
            <p:cNvPr id="6" name="Rectangle 6"/>
            <p:cNvSpPr/>
            <p:nvPr/>
          </p:nvSpPr>
          <p:spPr>
            <a:xfrm>
              <a:off x="685800" y="175260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44118" y="1955482"/>
              <a:ext cx="26194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⚙️ 服务管理 · systemctl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404" y="2366010"/>
              <a:ext cx="2241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sudo systemctl status nginx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28085" y="23741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查看运行状态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2727960"/>
              <a:ext cx="2152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sudo systemctl start nginx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28085" y="2736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启动服务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308991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sudo systemctl enable nginx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28085" y="30980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开机自启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62700" y="1752600"/>
            <a:ext cx="5143500" cy="1905000"/>
            <a:chOff x="6362700" y="1752600"/>
            <a:chExt cx="5143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6362700" y="175260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6621018" y="195548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📊 进程查看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3304" y="236601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ps aux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76285" y="23741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列出全部进程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3304" y="27279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top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76285" y="27360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实时资源占用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3304" y="30899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htop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0980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更友好的监控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85800" y="3905250"/>
            <a:ext cx="5143500" cy="1905000"/>
            <a:chOff x="685800" y="3905250"/>
            <a:chExt cx="5143500" cy="1905000"/>
          </a:xfrm>
        </p:grpSpPr>
        <p:sp>
          <p:nvSpPr>
            <p:cNvPr id="24" name="Rectangle 24"/>
            <p:cNvSpPr/>
            <p:nvPr/>
          </p:nvSpPr>
          <p:spPr>
            <a:xfrm>
              <a:off x="685800" y="390525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25" name="TextBox 25"/>
            <p:cNvSpPr txBox="1"/>
            <p:nvPr/>
          </p:nvSpPr>
          <p:spPr>
            <a:xfrm>
              <a:off x="944118" y="4108132"/>
              <a:ext cx="1430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💽 磁盘与内存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518660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df -h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28085" y="45267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磁盘空间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404" y="4880610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free -h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28085" y="48887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内存使用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5242560"/>
              <a:ext cx="779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du -sh dir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28085" y="5250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目录大小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362700" y="3905250"/>
            <a:ext cx="5143500" cy="1905000"/>
            <a:chOff x="6362700" y="3905250"/>
            <a:chExt cx="51435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6362700" y="390525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4" name="TextBox 34"/>
            <p:cNvSpPr txBox="1"/>
            <p:nvPr/>
          </p:nvSpPr>
          <p:spPr>
            <a:xfrm>
              <a:off x="6621018" y="4108132"/>
              <a:ext cx="13256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⏻ 关机与重启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23304" y="45186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shutdown -h now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73187" y="45267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立即关机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23304" y="488061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reboot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73187" y="48887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重启系统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23304" y="5242560"/>
              <a:ext cx="755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D3D3D"/>
                  </a:solidFill>
                  <a:latin typeface="Consolas"/>
                  <a:ea typeface="Consolas"/>
                  <a:cs typeface="Consolas"/>
                </a:rPr>
                <a:t>poweroff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73187" y="5250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断电关机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2" name="Line 42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12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3030195" cy="721328"/>
            <a:chOff x="685800" y="552450"/>
            <a:chExt cx="3030195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网络基础命令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查地址、测连通、连远程，运维必备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1714500"/>
            <a:ext cx="6553200" cy="685800"/>
            <a:chOff x="685800" y="1714500"/>
            <a:chExt cx="6553200" cy="685800"/>
          </a:xfrm>
        </p:grpSpPr>
        <p:sp>
          <p:nvSpPr>
            <p:cNvPr id="6" name="Rectangle 6"/>
            <p:cNvSpPr/>
            <p:nvPr/>
          </p:nvSpPr>
          <p:spPr>
            <a:xfrm>
              <a:off x="685800" y="1714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1895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5417" y="1968818"/>
              <a:ext cx="338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ip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74773" y="1862614"/>
              <a:ext cx="1915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查看网络接口与 IP 地址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5916" y="2115502"/>
              <a:ext cx="6538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ip 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476500"/>
            <a:ext cx="6553200" cy="685800"/>
            <a:chOff x="685800" y="2476500"/>
            <a:chExt cx="6553200" cy="685800"/>
          </a:xfrm>
        </p:grpSpPr>
        <p:sp>
          <p:nvSpPr>
            <p:cNvPr id="12" name="Rectangle 12"/>
            <p:cNvSpPr/>
            <p:nvPr/>
          </p:nvSpPr>
          <p:spPr>
            <a:xfrm>
              <a:off x="685800" y="2476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00100" y="2657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0089D9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21564" y="2730818"/>
              <a:ext cx="385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74773" y="26246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测试网络连通性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75916" y="2877502"/>
              <a:ext cx="1593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ping -c 4 8.8.8.8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3238500"/>
            <a:ext cx="6553200" cy="685800"/>
            <a:chOff x="685800" y="3238500"/>
            <a:chExt cx="6553200" cy="685800"/>
          </a:xfrm>
        </p:grpSpPr>
        <p:sp>
          <p:nvSpPr>
            <p:cNvPr id="18" name="Rectangle 18"/>
            <p:cNvSpPr/>
            <p:nvPr/>
          </p:nvSpPr>
          <p:spPr>
            <a:xfrm>
              <a:off x="685800" y="3238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0100" y="3419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0E842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50187" y="349281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ssh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4773" y="3386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远程登录另一台机器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75916" y="363950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ssh user@192.168.1.10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85800" y="4000500"/>
            <a:ext cx="6553200" cy="685800"/>
            <a:chOff x="685800" y="4000500"/>
            <a:chExt cx="6553200" cy="685800"/>
          </a:xfrm>
        </p:grpSpPr>
        <p:sp>
          <p:nvSpPr>
            <p:cNvPr id="24" name="Rectangle 24"/>
            <p:cNvSpPr/>
            <p:nvPr/>
          </p:nvSpPr>
          <p:spPr>
            <a:xfrm>
              <a:off x="685800" y="4000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0100" y="4181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77216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2851" y="4254818"/>
              <a:ext cx="1063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curl / wget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74773" y="4148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下载或请求网络资源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75916" y="4401502"/>
              <a:ext cx="19828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curl -O https://x/file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4762500"/>
            <a:ext cx="6553200" cy="685800"/>
            <a:chOff x="685800" y="4762500"/>
            <a:chExt cx="6553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685800" y="4762500"/>
              <a:ext cx="6553200" cy="685800"/>
            </a:xfrm>
            <a:prstGeom prst="roundRect">
              <a:avLst>
                <a:gd name="adj" fmla="val 16667"/>
              </a:avLst>
            </a:prstGeom>
            <a:solidFill>
              <a:srgbClr val="F6F5F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00100" y="4943475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2C001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50187" y="5016818"/>
              <a:ext cx="3285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74773" y="491061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D3D3D"/>
                  </a:solidFill>
                  <a:latin typeface="Microsoft YaHei"/>
                  <a:ea typeface="Microsoft YaHei"/>
                  <a:cs typeface="Microsoft YaHei"/>
                </a:rPr>
                <a:t>安全复制文件到远程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375916" y="5163502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8A8A"/>
                  </a:solidFill>
                  <a:latin typeface="Consolas"/>
                  <a:ea typeface="Microsoft YaHei"/>
                  <a:cs typeface="Consolas"/>
                </a:rPr>
                <a:t>示例: scp f user@h:/path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467600" y="1714500"/>
            <a:ext cx="4038600" cy="3733800"/>
            <a:chOff x="7467600" y="1714500"/>
            <a:chExt cx="4038600" cy="3733800"/>
          </a:xfrm>
        </p:grpSpPr>
        <p:sp>
          <p:nvSpPr>
            <p:cNvPr id="36" name="Rectangle 36"/>
            <p:cNvSpPr/>
            <p:nvPr/>
          </p:nvSpPr>
          <p:spPr>
            <a:xfrm>
              <a:off x="7467600" y="1714500"/>
              <a:ext cx="4038600" cy="3733800"/>
            </a:xfrm>
            <a:prstGeom prst="roundRect">
              <a:avLst>
                <a:gd name="adj" fmla="val 4082"/>
              </a:avLst>
            </a:prstGeom>
            <a:solidFill>
              <a:srgbClr val="2C001E"/>
            </a:solidFill>
            <a:ln>
              <a:noFill/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7" name="Ellipse 37"/>
            <p:cNvSpPr/>
            <p:nvPr/>
          </p:nvSpPr>
          <p:spPr>
            <a:xfrm>
              <a:off x="7667625" y="1914525"/>
              <a:ext cx="133350" cy="133350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896225" y="1914525"/>
              <a:ext cx="133350" cy="133350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124825" y="1914525"/>
              <a:ext cx="133350" cy="133350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28204" y="2308860"/>
              <a:ext cx="18457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</a:t>
              </a:r>
              <a:r>
                <a:rPr lang="en-US" sz="120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ip 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28204" y="2613660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B8A8C4"/>
                  </a:solidFill>
                  <a:latin typeface="Consolas"/>
                  <a:ea typeface="Consolas"/>
                  <a:cs typeface="Consolas"/>
                </a:rPr>
                <a:t>inet 192.168.1.10/24 ...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28204" y="299466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</a:t>
              </a:r>
              <a:r>
                <a:rPr lang="en-US" sz="120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ping -c 2 8.8.8.8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28204" y="32994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B8A8C4"/>
                  </a:solidFill>
                  <a:latin typeface="Consolas"/>
                  <a:ea typeface="Consolas"/>
                  <a:cs typeface="Consolas"/>
                </a:rPr>
                <a:t>64 bytes from 8.8.8.8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28204" y="3680460"/>
              <a:ext cx="2863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student@ubuntu:~$</a:t>
              </a:r>
              <a:r>
                <a:rPr lang="en-US" sz="1200" dirty="0">
                  <a:solidFill>
                    <a:srgbClr val="F6F5F4"/>
                  </a:solidFill>
                  <a:latin typeface="Consolas"/>
                  <a:ea typeface="Consolas"/>
                  <a:cs typeface="Consolas"/>
                </a:rPr>
                <a:t> ssh user@server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28204" y="3985260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B8A8C4"/>
                  </a:solidFill>
                  <a:latin typeface="Consolas"/>
                  <a:ea typeface="Consolas"/>
                  <a:cs typeface="Consolas"/>
                </a:rPr>
                <a:t>user@server:~$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28204" y="4823460"/>
              <a:ext cx="1344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8C42"/>
                  </a:solidFill>
                  <a:latin typeface="Consolas"/>
                  <a:ea typeface="Consolas"/>
                  <a:cs typeface="Consolas"/>
                </a:rPr>
                <a:t>user@server:~$▋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8" name="Line 48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13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85800" y="552450"/>
            <a:ext cx="3734181" cy="721328"/>
            <a:chOff x="685800" y="552450"/>
            <a:chExt cx="3734181" cy="721328"/>
          </a:xfrm>
        </p:grpSpPr>
        <p:sp>
          <p:nvSpPr>
            <p:cNvPr id="2" name="Rectangle 2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38022" y="5686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学习路径与实用技巧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46023" y="10244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A8A8A"/>
                  </a:solidFill>
                  <a:latin typeface="Microsoft YaHei"/>
                  <a:ea typeface="Microsoft YaHei"/>
                  <a:cs typeface="Microsoft YaHei"/>
                </a:rPr>
                <a:t>按这条路线走，越学越顺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1905000"/>
            <a:ext cx="10287000" cy="559117"/>
            <a:chOff x="685800" y="1905000"/>
            <a:chExt cx="10287000" cy="559117"/>
          </a:xfrm>
        </p:grpSpPr>
        <p:sp>
          <p:nvSpPr>
            <p:cNvPr id="6" name="Rectangle 6"/>
            <p:cNvSpPr/>
            <p:nvPr/>
          </p:nvSpPr>
          <p:spPr>
            <a:xfrm>
              <a:off x="685800" y="1905000"/>
              <a:ext cx="2286000" cy="552450"/>
            </a:xfrm>
            <a:prstGeom prst="roundRect">
              <a:avLst>
                <a:gd name="adj" fmla="val 50000"/>
              </a:avLst>
            </a:prstGeom>
            <a:solidFill>
              <a:srgbClr val="2C001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7209" y="20955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① 入门基础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063409" y="20240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352800" y="1905000"/>
              <a:ext cx="2286000" cy="552450"/>
            </a:xfrm>
            <a:prstGeom prst="roundRect">
              <a:avLst>
                <a:gd name="adj" fmla="val 50000"/>
              </a:avLst>
            </a:prstGeom>
            <a:solidFill>
              <a:srgbClr val="2C001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994209" y="20955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② 常用命令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30409" y="20240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019800" y="1905000"/>
              <a:ext cx="2286000" cy="552450"/>
            </a:xfrm>
            <a:prstGeom prst="roundRect">
              <a:avLst>
                <a:gd name="adj" fmla="val 50000"/>
              </a:avLst>
            </a:prstGeom>
            <a:solidFill>
              <a:srgbClr val="2C001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586438" y="2095500"/>
              <a:ext cx="11527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③ Shell 脚本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97409" y="20240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E95420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686800" y="1905000"/>
              <a:ext cx="2286000" cy="55245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6294" y="2095500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④ 运维 / 开发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3048000"/>
            <a:ext cx="2286000" cy="2571750"/>
            <a:chOff x="685800" y="3048000"/>
            <a:chExt cx="2286000" cy="2571750"/>
          </a:xfrm>
        </p:grpSpPr>
        <p:sp>
          <p:nvSpPr>
            <p:cNvPr id="18" name="Rectangle 18"/>
            <p:cNvSpPr/>
            <p:nvPr/>
          </p:nvSpPr>
          <p:spPr>
            <a:xfrm>
              <a:off x="685800" y="3048000"/>
              <a:ext cx="2286000" cy="2571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901446" y="3382328"/>
              <a:ext cx="369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6780" y="3990975"/>
              <a:ext cx="1298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--help / man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923" y="43772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忘记用法时，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7923" y="462486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随时查看命令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7923" y="48725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官方说明。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124200" y="3048000"/>
            <a:ext cx="2286000" cy="2571750"/>
            <a:chOff x="3124200" y="3048000"/>
            <a:chExt cx="2286000" cy="2571750"/>
          </a:xfrm>
        </p:grpSpPr>
        <p:sp>
          <p:nvSpPr>
            <p:cNvPr id="25" name="Rectangle 25"/>
            <p:cNvSpPr/>
            <p:nvPr/>
          </p:nvSpPr>
          <p:spPr>
            <a:xfrm>
              <a:off x="3124200" y="3048000"/>
              <a:ext cx="2286000" cy="2571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26" name="TextBox 26"/>
            <p:cNvSpPr txBox="1"/>
            <p:nvPr/>
          </p:nvSpPr>
          <p:spPr>
            <a:xfrm>
              <a:off x="3339846" y="3382328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⌨️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5180" y="3990975"/>
              <a:ext cx="847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Tab 补全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46323" y="43772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路径与命令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46323" y="46248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一键补全，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46323" y="487251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少打字防出错。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562600" y="3048000"/>
            <a:ext cx="2286000" cy="2571750"/>
            <a:chOff x="5562600" y="3048000"/>
            <a:chExt cx="2286000" cy="2571750"/>
          </a:xfrm>
        </p:grpSpPr>
        <p:sp>
          <p:nvSpPr>
            <p:cNvPr id="32" name="Rectangle 32"/>
            <p:cNvSpPr/>
            <p:nvPr/>
          </p:nvSpPr>
          <p:spPr>
            <a:xfrm>
              <a:off x="5562600" y="3048000"/>
              <a:ext cx="2286000" cy="2571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33" name="TextBox 33"/>
            <p:cNvSpPr txBox="1"/>
            <p:nvPr/>
          </p:nvSpPr>
          <p:spPr>
            <a:xfrm>
              <a:off x="5778246" y="3382328"/>
              <a:ext cx="369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🕘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83580" y="399097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↑ 历史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84723" y="43772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按上下方向键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84723" y="46248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快速复用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84723" y="48725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上一条命令。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3048000"/>
            <a:ext cx="2286000" cy="2571750"/>
            <a:chOff x="8001000" y="3048000"/>
            <a:chExt cx="2286000" cy="2571750"/>
          </a:xfrm>
        </p:grpSpPr>
        <p:sp>
          <p:nvSpPr>
            <p:cNvPr id="39" name="Rectangle 39"/>
            <p:cNvSpPr/>
            <p:nvPr/>
          </p:nvSpPr>
          <p:spPr>
            <a:xfrm>
              <a:off x="8001000" y="3048000"/>
              <a:ext cx="2286000" cy="25717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ECE6E3"/>
              </a:solidFill>
            </a:ln>
            <a:effectLst>
              <a:outerShdw blurRad="228600" dist="76200" dir="5400000" algn="ctr" rotWithShape="0">
                <a:srgbClr val="2C001E">
                  <a:alpha val="750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8216646" y="3382328"/>
              <a:ext cx="369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21980" y="39909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C001E"/>
                  </a:solidFill>
                  <a:latin typeface="Microsoft YaHei"/>
                  <a:ea typeface="Microsoft YaHei"/>
                  <a:cs typeface="Microsoft YaHei"/>
                </a:rPr>
                <a:t>社区文档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23123" y="4377214"/>
              <a:ext cx="1508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Ubuntu 官方文档、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223123" y="4624864"/>
              <a:ext cx="1281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StackOverflow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23123" y="48725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5A5A"/>
                  </a:solidFill>
                  <a:latin typeface="Microsoft YaHei"/>
                  <a:ea typeface="Microsoft YaHei"/>
                  <a:cs typeface="Microsoft YaHei"/>
                </a:rPr>
                <a:t>都是好帮手。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6" name="Line 4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CE6E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466" y="6458902"/>
              <a:ext cx="29164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B0A8A4"/>
                  </a:solidFill>
                  <a:latin typeface="Microsoft YaHei"/>
                  <a:ea typeface="Microsoft YaHei"/>
                  <a:cs typeface="Microsoft YaHei"/>
                </a:rPr>
                <a:t>14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C001E"/>
            </a:gs>
            <a:gs pos="55000">
              <a:srgbClr val="3D1140"/>
            </a:gs>
            <a:gs pos="100000">
              <a:srgbClr val="511A4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95420">
                  <a:alpha val="50000"/>
                </a:srgbClr>
              </a:gs>
              <a:gs pos="55000">
                <a:srgbClr val="E95420">
                  <a:alpha val="10000"/>
                </a:srgbClr>
              </a:gs>
              <a:gs pos="100000">
                <a:srgbClr val="E95420">
                  <a:alpha val="0"/>
                </a:srgbClr>
              </a:gs>
            </a:gsLst>
            <a:path path="circle">
              <a:fillToRect l="82000" t="26000" r="18000" b="74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906000" y="4857750"/>
            <a:ext cx="1714500" cy="1714500"/>
          </a:xfrm>
          <a:prstGeom prst="ellipse">
            <a:avLst/>
          </a:prstGeom>
          <a:solidFill>
            <a:srgbClr val="0089D9">
              <a:alpha val="1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666750" y="666750"/>
            <a:ext cx="952500" cy="952500"/>
          </a:xfrm>
          <a:prstGeom prst="ellipse">
            <a:avLst/>
          </a:prstGeom>
          <a:solidFill>
            <a:srgbClr val="FF8C42">
              <a:alpha val="20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1028700" y="1740218"/>
            <a:ext cx="3673193" cy="847725"/>
            <a:chOff x="1028700" y="1740218"/>
            <a:chExt cx="3673193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1028700" y="1740218"/>
              <a:ext cx="367319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总结 &amp; 下一步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104900" y="2438400"/>
              <a:ext cx="1143000" cy="76200"/>
            </a:xfrm>
            <a:prstGeom prst="roundRect">
              <a:avLst>
                <a:gd name="adj" fmla="val 50000"/>
              </a:avLst>
            </a:prstGeom>
            <a:solidFill>
              <a:srgbClr val="E95420"/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39368" y="3041332"/>
            <a:ext cx="6749312" cy="646557"/>
            <a:chOff x="1039368" y="3041332"/>
            <a:chExt cx="6749312" cy="646557"/>
          </a:xfrm>
        </p:grpSpPr>
        <p:sp>
          <p:nvSpPr>
            <p:cNvPr id="8" name="TextBox 8"/>
            <p:cNvSpPr txBox="1"/>
            <p:nvPr/>
          </p:nvSpPr>
          <p:spPr>
            <a:xfrm>
              <a:off x="1039368" y="3041332"/>
              <a:ext cx="31841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6F5F4"/>
                  </a:solidFill>
                  <a:latin typeface="Microsoft YaHei"/>
                  <a:ea typeface="Microsoft YaHei"/>
                  <a:cs typeface="Microsoft YaHei"/>
                </a:rPr>
                <a:t>你已经掌握 Linux 的核心能力：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9368" y="3365182"/>
              <a:ext cx="6749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8C42"/>
                  </a:solidFill>
                  <a:latin typeface="Microsoft YaHei"/>
                  <a:ea typeface="Microsoft YaHei"/>
                  <a:cs typeface="Microsoft YaHei"/>
                </a:rPr>
                <a:t>命令行　·　文件系统　·　用户权限　·　软件包管理　·　系统运维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47750" y="3905250"/>
            <a:ext cx="3238500" cy="1428750"/>
            <a:chOff x="1047750" y="3905250"/>
            <a:chExt cx="3238500" cy="1428750"/>
          </a:xfrm>
        </p:grpSpPr>
        <p:sp>
          <p:nvSpPr>
            <p:cNvPr id="11" name="Rectangle 11"/>
            <p:cNvSpPr/>
            <p:nvPr/>
          </p:nvSpPr>
          <p:spPr>
            <a:xfrm>
              <a:off x="1047750" y="3905250"/>
              <a:ext cx="3238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63396" y="4182428"/>
              <a:ext cx="369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✍️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8730" y="4752975"/>
              <a:ext cx="1851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写第一个 Shell 脚本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0635" y="50601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0B8AC"/>
                  </a:solidFill>
                  <a:latin typeface="Microsoft YaHei"/>
                  <a:ea typeface="Microsoft YaHei"/>
                  <a:cs typeface="Microsoft YaHei"/>
                </a:rPr>
                <a:t>把重复命令自动化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76750" y="3905250"/>
            <a:ext cx="3238500" cy="1428750"/>
            <a:chOff x="4476750" y="3905250"/>
            <a:chExt cx="3238500" cy="1428750"/>
          </a:xfrm>
        </p:grpSpPr>
        <p:sp>
          <p:nvSpPr>
            <p:cNvPr id="16" name="Rectangle 16"/>
            <p:cNvSpPr/>
            <p:nvPr/>
          </p:nvSpPr>
          <p:spPr>
            <a:xfrm>
              <a:off x="4476750" y="3905250"/>
              <a:ext cx="3238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92396" y="4182428"/>
              <a:ext cx="369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🖥️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7730" y="47529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搭建个人服务器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99635" y="50601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0B8AC"/>
                  </a:solidFill>
                  <a:latin typeface="Microsoft YaHei"/>
                  <a:ea typeface="Microsoft YaHei"/>
                  <a:cs typeface="Microsoft YaHei"/>
                </a:rPr>
                <a:t>部署网站或小应用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905750" y="3905250"/>
            <a:ext cx="3238500" cy="1428750"/>
            <a:chOff x="7905750" y="3905250"/>
            <a:chExt cx="32385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7905750" y="3905250"/>
              <a:ext cx="3238500" cy="1428750"/>
            </a:xfrm>
            <a:prstGeom prst="roundRect">
              <a:avLst>
                <a:gd name="adj" fmla="val 10667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21396" y="4182428"/>
              <a:ext cx="3691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🎓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26730" y="4752975"/>
              <a:ext cx="18757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考取 LFCS / RHCSA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28635" y="50601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0B8AC"/>
                  </a:solidFill>
                  <a:latin typeface="Microsoft YaHei"/>
                  <a:ea typeface="Microsoft YaHei"/>
                  <a:cs typeface="Microsoft YaHei"/>
                </a:rPr>
                <a:t>用证书证明实力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38606" y="5901690"/>
            <a:ext cx="5309258" cy="352044"/>
            <a:chOff x="1038606" y="5901690"/>
            <a:chExt cx="5309258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1038606" y="5901690"/>
              <a:ext cx="53092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动手实践是最好的老师 —— 打开终端，开始吧！🐧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42035" y="6546056"/>
            <a:ext cx="10107930" cy="220028"/>
            <a:chOff x="1042035" y="6546056"/>
            <a:chExt cx="10107930" cy="220028"/>
          </a:xfrm>
        </p:grpSpPr>
        <p:sp>
          <p:nvSpPr>
            <p:cNvPr id="28" name="TextBox 28"/>
            <p:cNvSpPr txBox="1"/>
            <p:nvPr/>
          </p:nvSpPr>
          <p:spPr>
            <a:xfrm>
              <a:off x="1042035" y="6546056"/>
              <a:ext cx="4654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C7A7B8"/>
                  </a:solidFill>
                  <a:latin typeface="Microsoft YaHei"/>
                  <a:ea typeface="Microsoft YaHei"/>
                  <a:cs typeface="Microsoft YaHei"/>
                </a:rPr>
                <a:t>Linux 基础教程 · Ubuntu 22.04 / 24.04 LTS　|　谢谢聆听 · Q &amp; 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33441" y="65460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C7A7B8"/>
                  </a:solidFill>
                  <a:latin typeface="Microsoft YaHei"/>
                  <a:ea typeface="Microsoft YaHei"/>
                  <a:cs typeface="Microsoft YaHei"/>
                </a:rPr>
                <a:t>15 / 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linux-basics">
  <a:themeElements>
    <a:clrScheme name="linux-basic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inux-basic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inux-bas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1917</Words>
  <Application>Microsoft Office PowerPoint</Application>
  <PresentationFormat>宽屏</PresentationFormat>
  <Paragraphs>374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Microsoft YaHei</vt:lpstr>
      <vt:lpstr>Arial</vt:lpstr>
      <vt:lpstr>Calibri</vt:lpstr>
      <vt:lpstr>Consolas</vt:lpstr>
      <vt:lpstr>linux-basics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hui tong</cp:lastModifiedBy>
  <cp:revision>2</cp:revision>
  <dcterms:created xsi:type="dcterms:W3CDTF">2026-09-02T13:56:55Z</dcterms:created>
  <dcterms:modified xsi:type="dcterms:W3CDTF">2026-09-02T14:08:16Z</dcterms:modified>
  <cp:category/>
  <cp:contentStatus/>
  <dc:language/>
</cp:coreProperties>
</file>