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8285667" cy="1493996"/>
            <a:chOff x="895350" y="2295049"/>
            <a:chExt cx="8285667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4152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225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SPRING AI 2.0 TUTORIAL · BOOT 4.x ·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80817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Spring AI 零基础到企业级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8274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基于 Spring AI 2.0.0（GA 2026-06-12）与 Spring Boot 4.x：ChatClient + Advisor 体系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23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完整教程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教程目录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1218" y="1707832"/>
            <a:ext cx="2652007" cy="755571"/>
            <a:chOff x="601218" y="1707832"/>
            <a:chExt cx="2652007" cy="75557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732121"/>
              <a:ext cx="2117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Spring AI 2.0 核心认知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8238" y="20514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定位 · 新旧对比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238" y="22800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架构 · 核心组件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1218" y="2660332"/>
            <a:ext cx="2269465" cy="755571"/>
            <a:chOff x="601218" y="2660332"/>
            <a:chExt cx="2269465" cy="755571"/>
          </a:xfrm>
        </p:grpSpPr>
        <p:sp>
          <p:nvSpPr>
            <p:cNvPr id="11" name="TextBox 11"/>
            <p:cNvSpPr txBox="1"/>
            <p:nvPr/>
          </p:nvSpPr>
          <p:spPr>
            <a:xfrm>
              <a:off x="6012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5761" y="26846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环境搭建与依赖配置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3003947"/>
              <a:ext cx="5916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pom · yml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238" y="3232547"/>
              <a:ext cx="10914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双模型 · pgvector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3612832"/>
            <a:ext cx="2398170" cy="755571"/>
            <a:chOff x="601218" y="3612832"/>
            <a:chExt cx="2398170" cy="755571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761" y="3637121"/>
              <a:ext cx="18636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基础实战 ChatClient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238" y="3956447"/>
              <a:ext cx="10598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同步 · 流式 · 角色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238" y="4185047"/>
              <a:ext cx="104084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结构化 · 工具调用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4565332"/>
            <a:ext cx="2078304" cy="755571"/>
            <a:chOff x="601218" y="4565332"/>
            <a:chExt cx="2078304" cy="755571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761" y="45896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对话记忆与上下文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238" y="490894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记忆配置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8238" y="5137547"/>
              <a:ext cx="11673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会话隔离 · 生产建议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68618" y="1707832"/>
            <a:ext cx="1568519" cy="755571"/>
            <a:chOff x="6468618" y="1707832"/>
            <a:chExt cx="1568519" cy="755571"/>
          </a:xfrm>
        </p:grpSpPr>
        <p:sp>
          <p:nvSpPr>
            <p:cNvPr id="26" name="TextBox 26"/>
            <p:cNvSpPr txBox="1"/>
            <p:nvPr/>
          </p:nvSpPr>
          <p:spPr>
            <a:xfrm>
              <a:off x="64686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3161" y="1732121"/>
              <a:ext cx="1033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企业级 RAG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5638" y="2051447"/>
              <a:ext cx="8573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pgvector 入库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5638" y="22800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检索问答 · 调参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660332"/>
            <a:ext cx="2014897" cy="755571"/>
            <a:chOff x="6468618" y="2660332"/>
            <a:chExt cx="2014897" cy="755571"/>
          </a:xfrm>
        </p:grpSpPr>
        <p:sp>
          <p:nvSpPr>
            <p:cNvPr id="31" name="TextBox 31"/>
            <p:cNvSpPr txBox="1"/>
            <p:nvPr/>
          </p:nvSpPr>
          <p:spPr>
            <a:xfrm>
              <a:off x="64686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3161" y="2684621"/>
              <a:ext cx="148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迁移升级与 MCP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5638" y="300394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七步迁移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5638" y="3232547"/>
              <a:ext cx="1386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破坏性变更 · MCP 双向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68618" y="3612832"/>
            <a:ext cx="1504823" cy="755571"/>
            <a:chOff x="6468618" y="3612832"/>
            <a:chExt cx="1504823" cy="755571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3161" y="36371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附录与总结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5638" y="395644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坑点清单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638" y="418504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上手路径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40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这套教程写给谁、解决什么问题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面向对象与场景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3127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Java 开发者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不想为 AI 再学一门 Python 生态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企业落地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智能客服 · 私有文档问答 · 多轮对话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30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技术栈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Boot 4.x + Spring AI 2.0 + WebFlux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学完你能做到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对话能力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同步/流式接口 + 角色化提示词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记忆能力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多轮上下文 + 用户级会话隔离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857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能力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文档入库 → 检索 → 基于资料作答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40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949431" cy="738854"/>
            <a:chOff x="595122" y="501491"/>
            <a:chExt cx="894943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认知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9494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Spring AI 2.0 与 1.x：变了什么（重点看前三行）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25668" y="1753552"/>
              <a:ext cx="940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Spring AI 1.x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82191" y="1753552"/>
              <a:ext cx="94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Spring AI 2.0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56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运行基线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1227" y="2256949"/>
              <a:ext cx="1009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Boot 3.x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63881" y="2256949"/>
              <a:ext cx="1979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Boot 4.0/4.1 + Framework 7.0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895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常用入口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76546" y="2895124"/>
              <a:ext cx="1238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ChatModel 直接注入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7025" y="2895124"/>
              <a:ext cx="26131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ChatClient 为主，ChatModel 降为底层构件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5237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55415" y="3523774"/>
              <a:ext cx="208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spring.ai.*.chat.options.model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5335" y="352377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去掉 .options：spring.ai.*.chat.model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161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97373" y="4161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各模型内部私有循环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03366" y="4161949"/>
              <a:ext cx="23004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ToolCallingAdvisor（可组合/可观察）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800124"/>
              <a:ext cx="8393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JSON/空安全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78510" y="4800124"/>
              <a:ext cx="6349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Jackson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27975" y="4800124"/>
              <a:ext cx="2051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Jackson 3 + JSpecify 空安全注解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5428774"/>
              <a:ext cx="267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61228" y="54287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无原生支持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6519" y="5428774"/>
              <a:ext cx="2574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原生 MCP（SDK 2.0 / Streamable HTTP）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40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0112659" cy="738854"/>
            <a:chOff x="595122" y="501491"/>
            <a:chExt cx="101126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0112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2.0 架构总览：入口是 ChatClient，能力挂在 Advisor 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47738" y="1809750"/>
            <a:ext cx="10291762" cy="4086226"/>
            <a:chOff x="947738" y="1809750"/>
            <a:chExt cx="10291762" cy="4086226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22613" y="1923574"/>
              <a:ext cx="4346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Spring AI 2.0 架构：ChatClient 是对外入口，Advisor 链是能力装配处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286000"/>
              <a:ext cx="102870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286000"/>
              <a:ext cx="1028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92833" y="2394347"/>
              <a:ext cx="48063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应用层：Controller / Service —— chatClient.prompt() … call() / stream()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8238" y="2635091"/>
              <a:ext cx="3399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同步 call() · 流式 stream()（Flux/SSE） · 结构化 entity(Class)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009900"/>
              <a:ext cx="1028700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3009900"/>
              <a:ext cx="10287000" cy="1238250"/>
            </a:xfrm>
            <a:prstGeom prst="roundRect">
              <a:avLst>
                <a:gd name="adj" fmla="val 2308"/>
              </a:avLst>
            </a:prstGeom>
            <a:noFill/>
            <a:ln w="15240">
              <a:solidFill>
                <a:srgbClr val="E3061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26655" y="3148251"/>
              <a:ext cx="23386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② Advisor 链（可组合：顺序即行为）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38250" y="3429000"/>
              <a:ext cx="22669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38250" y="3429000"/>
              <a:ext cx="2266950" cy="666750"/>
            </a:xfrm>
            <a:prstGeom prst="roundRect">
              <a:avLst>
                <a:gd name="adj" fmla="val 4286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56151" y="3583543"/>
              <a:ext cx="123114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MessageChatMemory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6382" y="3754993"/>
              <a:ext cx="4506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Advisor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54263" y="3934539"/>
              <a:ext cx="4349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多轮记忆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505200" y="37623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654742" y="37299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33800" y="3429000"/>
              <a:ext cx="22669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33800" y="3429000"/>
              <a:ext cx="2266950" cy="666750"/>
            </a:xfrm>
            <a:prstGeom prst="roundRect">
              <a:avLst>
                <a:gd name="adj" fmla="val 4286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81524" y="3583543"/>
              <a:ext cx="97150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QuestionAnswer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1932" y="3754993"/>
              <a:ext cx="4506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Advisor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0583" y="3934539"/>
              <a:ext cx="45338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 检索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00750" y="37623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150292" y="37299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29350" y="3429000"/>
              <a:ext cx="22669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29350" y="3429000"/>
              <a:ext cx="2266950" cy="666750"/>
            </a:xfrm>
            <a:prstGeom prst="roundRect">
              <a:avLst>
                <a:gd name="adj" fmla="val 4286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47960" y="3583543"/>
              <a:ext cx="6297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ToolCalling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7482" y="3754993"/>
              <a:ext cx="4506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Advisor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51275" y="3934539"/>
              <a:ext cx="82310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工具循环（2.0）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496300" y="37623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8645842" y="37299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724900" y="3429000"/>
              <a:ext cx="22669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724900" y="3429000"/>
              <a:ext cx="2266950" cy="666750"/>
            </a:xfrm>
            <a:prstGeom prst="roundRect">
              <a:avLst>
                <a:gd name="adj" fmla="val 4286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7080" y="3583543"/>
              <a:ext cx="78259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SimpleLogger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33032" y="3754993"/>
              <a:ext cx="4506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Advisor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11667" y="3934539"/>
              <a:ext cx="49341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日志/审计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381500"/>
              <a:ext cx="102870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2500" y="4381500"/>
              <a:ext cx="1028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1868" y="4489847"/>
              <a:ext cx="10082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模型与存储抽象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8238" y="4715589"/>
              <a:ext cx="709773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ChatModel（OpenAI / DashScope / DeepSeek…） · EmbeddingModel · VectorStore（pgvector / Redis / Milvus） · ChatMemory + Repository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52500" y="5048250"/>
              <a:ext cx="1028700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2500" y="5048250"/>
              <a:ext cx="10287000" cy="533400"/>
            </a:xfrm>
            <a:prstGeom prst="roundRect">
              <a:avLst>
                <a:gd name="adj" fmla="val 5357"/>
              </a:avLst>
            </a:prstGeom>
            <a:noFill/>
            <a:ln w="9525">
              <a:solidFill>
                <a:srgbClr val="99999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18411" y="5156597"/>
              <a:ext cx="7551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运行与观测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8238" y="5382339"/>
              <a:ext cx="512119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JDK 21+（虚拟线程） · Micrometer / OpenTelemetry 链路追踪 · MCP Client/Server（Tool 双向暴露）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738" y="5748338"/>
              <a:ext cx="56453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口径：Spring AI 2.0.0 GA（2026-06-12）面向 Boot 4.0/4.1 + Framework 7.0；Jackson 3 与 JSpecify 空安全为基线。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40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组件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五个核心组件：记住这五个就够了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2057400" cy="1905000"/>
            <a:chOff x="609600" y="1619250"/>
            <a:chExt cx="20574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ChatClient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统一调用入口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同步 call / 流式 str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链式链式拼装 prompt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38450" y="1619250"/>
            <a:ext cx="2057400" cy="1905000"/>
            <a:chOff x="2838450" y="1619250"/>
            <a:chExt cx="20574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28384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60192" y="18926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Advisor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1335" y="2431256"/>
              <a:ext cx="1596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 / RAG / 工具调用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61335" y="2678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切面式增强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6133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顺序即行为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67300" y="1619250"/>
            <a:ext cx="2057400" cy="1905000"/>
            <a:chOff x="5067300" y="1619250"/>
            <a:chExt cx="2057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50673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9042" y="1892618"/>
              <a:ext cx="1152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ChatMemory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0185" y="23074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多轮对话上下文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90185" y="2555081"/>
              <a:ext cx="1494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 conversationId 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90185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90185" y="3050381"/>
              <a:ext cx="122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内存/Redis/JDBC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96150" y="1619250"/>
            <a:ext cx="2057400" cy="1905000"/>
            <a:chOff x="7296150" y="1619250"/>
            <a:chExt cx="2057400" cy="1905000"/>
          </a:xfrm>
        </p:grpSpPr>
        <p:sp>
          <p:nvSpPr>
            <p:cNvPr id="29" name="Rectangle 29"/>
            <p:cNvSpPr/>
            <p:nvPr/>
          </p:nvSpPr>
          <p:spPr>
            <a:xfrm>
              <a:off x="72961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17892" y="1892618"/>
              <a:ext cx="1475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EmbeddingModel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9035" y="24312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文本 → 向量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903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维度决定库结构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903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换模型要改维度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25000" y="1619250"/>
            <a:ext cx="2057400" cy="1905000"/>
            <a:chOff x="9525000" y="1619250"/>
            <a:chExt cx="20574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95250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46742" y="1892618"/>
              <a:ext cx="1180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VectorStore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78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向量存取与相似检索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47885" y="2678906"/>
              <a:ext cx="12304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pgvector / Redis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478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统一抽象可切换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43" name="Rectangle 43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6018" y="4050982"/>
              <a:ext cx="7953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一句话记住 2.0：ChatClient 管调用，Advisor 管能力，VectorStore 管知识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304" y="4947285"/>
              <a:ext cx="455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本教程后续每一章，都是在给这五个组件加“怎么用、有什么坑”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40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依赖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依赖即能力：教程用到的模块一览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947738" y="1866900"/>
            <a:ext cx="10300759" cy="3705226"/>
            <a:chOff x="947738" y="1866900"/>
            <a:chExt cx="10300759" cy="3705226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69662" y="19807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依赖即能力：教程用到的主要模块一览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62200"/>
              <a:ext cx="20955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62200"/>
              <a:ext cx="20955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74330" y="24745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2362200"/>
              <a:ext cx="59055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238500" y="2362200"/>
              <a:ext cx="59055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43738" y="2474595"/>
              <a:ext cx="895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依赖 / Starter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334500" y="2362200"/>
              <a:ext cx="19050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334500" y="2362200"/>
              <a:ext cx="19050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61080" y="24745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276225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" y="276225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79714" y="2907268"/>
              <a:ext cx="241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276225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38500" y="276225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86138" y="2915364"/>
              <a:ext cx="207271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spring-boot-starter-webmvc / webflux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34500" y="276225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334500" y="276225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70956" y="2915364"/>
              <a:ext cx="103208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同步接口 + SSE 流式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320040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2500" y="320040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9714" y="3345418"/>
              <a:ext cx="241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38500" y="320040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38500" y="320040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86138" y="3353514"/>
              <a:ext cx="167921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spring-ai-starter-model-openai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0" y="320040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34500" y="320040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28065" y="3353514"/>
              <a:ext cx="151787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兼容（可换 base-url）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363855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" y="363855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9714" y="3783568"/>
              <a:ext cx="241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38500" y="363855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238500" y="363855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86138" y="3791664"/>
              <a:ext cx="195040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spring-ai-alibaba-starter-dashscope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334500" y="363855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334500" y="363855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02631" y="3791664"/>
              <a:ext cx="116873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通义千问（qwen-plus）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2500" y="407670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2500" y="407670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879714" y="4221718"/>
              <a:ext cx="241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238500" y="407670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238500" y="407670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86138" y="4229814"/>
              <a:ext cx="26842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spring-ai-starter-vector-store-pgvector / -redis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34500" y="407670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34500" y="407670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910013" y="4229814"/>
              <a:ext cx="7539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向量存储二选一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2500" y="451485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52500" y="451485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894568" y="4659868"/>
              <a:ext cx="2113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RAG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238500" y="451485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238500" y="451485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386138" y="4667964"/>
              <a:ext cx="16738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spring-ai-pdf-document-reader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334500" y="451485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334500" y="451485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25503" y="4667964"/>
              <a:ext cx="1922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PDF 读取（PagePdfDocumentReader）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2500" y="4953000"/>
              <a:ext cx="209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52500" y="4953000"/>
              <a:ext cx="209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879714" y="5098018"/>
              <a:ext cx="241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238500" y="4953000"/>
              <a:ext cx="5905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238500" y="4953000"/>
              <a:ext cx="5905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386138" y="5106114"/>
              <a:ext cx="182278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chat-memory 相关 starter / 核心类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334500" y="4953000"/>
              <a:ext cx="1905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334500" y="4953000"/>
              <a:ext cx="1905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622633" y="5106114"/>
              <a:ext cx="132873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ChatMemory + Repository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7738" y="5424488"/>
              <a:ext cx="60953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注：Spring AI 2.0 重构了模块命名（如 advisors 相关模块改名）；chat-memory 的 starter 名称建议以官方 Upgrade Notes 为准。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3" name="TextBox 73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40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环境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环境要求：先对齐这四件事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JDK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最低 17（教程示例）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477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高并发推荐 21/25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虚拟线程是 21+ 正式能力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构建与运行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842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Maven 3.9+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1322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Spring Boot 4.0.8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mvn spring-boot:run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763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 Key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337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或通义千问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写入环境变量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base-url 可换兼容服务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1828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pgvector（Docker 一键）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或 Redis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1604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维度与 Embedding 对齐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58243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环境三件套：JDK + 模型 Key + 向量库，缺一个都跑不通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6998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版本口径：Spring AI 2.0.0 GA（2026-06-12）；教程示例 Boot 4.0.8 可按需换 4.0.x/4.1.x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40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181167" cy="738854"/>
            <a:chOff x="595122" y="501491"/>
            <a:chExt cx="818116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依赖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1811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pom.xml：BOM 管理版本，starter 声明能力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7" name="Group 27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pom.xml（节选）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314119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&lt;parent&gt; spring-boot-starter-parent 4.0.8 &lt;/parent&gt;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74468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&lt;properties&gt;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193714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&lt;java.version&gt;21&lt;/java.version&gt;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270704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&lt;spring-ai.version&gt;2.0.1&lt;/spring-ai.version&gt;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107293"/>
                <a:ext cx="395656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&lt;spring-ai-alibaba.version&gt;2.0.0-M1.1&lt;/spring-ai-alibaba.version&gt;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297793"/>
                <a:ext cx="80836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&lt;/properties&gt;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488293"/>
                <a:ext cx="146078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&lt;dependencyManagement&gt;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678793"/>
                <a:ext cx="280544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spring-ai-bom            (type=pom, scope=import)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3869293"/>
                <a:ext cx="297910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spring-ai-alibaba-bom    (type=pom, scope=import)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059793"/>
                <a:ext cx="152464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&lt;/dependencyManagement&gt;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250293"/>
                <a:ext cx="87203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&lt;dependencies&gt;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440793"/>
                <a:ext cx="312382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spring-boot-starter-webmvc / webflux   # 同步 + 流式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4631293"/>
                <a:ext cx="296576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spring-ai-starter-model-openai         # OpenAI 兼容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4821793"/>
                <a:ext cx="289227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spring-ai-alibaba-starter-dashscope    # 通义千问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012293"/>
                <a:ext cx="321065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spring-ai-starter-vector-store-pgvector   # 或 -redis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3488" y="5202793"/>
                <a:ext cx="189084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spring-ai-pdf-document-reader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3488" y="5393293"/>
                <a:ext cx="93571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&lt;/dependencies&gt;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40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634195" cy="738854"/>
            <a:chOff x="595122" y="501491"/>
            <a:chExt cx="76341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6341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application.yml：模型、向量库与虚拟线程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7" name="Group 27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3967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application.yml（节选）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106306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server.port: 8080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42630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spring: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304290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threads.virtual.enabled: true        # Boot 4 虚拟线程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24107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ai: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107293"/>
                <a:ext cx="56523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openai: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297793"/>
                <a:ext cx="184769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api-key: ${OPENAI_API_KEY}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488293"/>
                <a:ext cx="216290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base-url: https://api.openai.com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678793"/>
                <a:ext cx="318171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chat.model: gpt-4o-mini          # 2.0 去掉 .options 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3869293"/>
                <a:ext cx="310066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chat.temperature: 0.7            # 2.0 默认温度已移除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059793"/>
                <a:ext cx="262021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embedding.model: text-embedding-3-small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250293"/>
                <a:ext cx="78520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dashscope: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440793"/>
                <a:ext cx="208133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api-key: ${DASHSCOPE_API_KEY}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4631293"/>
                <a:ext cx="151457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chat.model: qwen-plus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4821793"/>
                <a:ext cx="148563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vectorstore.pgvector: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012293"/>
                <a:ext cx="153194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initialize-schema: true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3488" y="5202793"/>
                <a:ext cx="117304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dimensions: 1536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3488" y="5393293"/>
                <a:ext cx="323488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index-type: HNSW / distance-type: COSINE_DISTANCE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40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022907" cy="738854"/>
            <a:chOff x="595122" y="501491"/>
            <a:chExt cx="702290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双模型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02290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双模型接入：OpenAI 与通义千问可并存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为什么要双模型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成本与合规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不同任务用不同价位的模型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854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国产化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DashScope 走通义千问 qwen-plus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切换成本低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只改配置，不改业务代码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配置要点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230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统一入口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ChatClient 仍只有一个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2803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BOM 管理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spring-ai-bom + alibaba bom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3466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维度一致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两个 Embedding 模型维度不同要分开建库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40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946757" cy="738854"/>
            <a:chOff x="595122" y="501491"/>
            <a:chExt cx="794675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部署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9467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最小可运行环境：一个数据库 + 一个模型 Key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47738" y="1905000"/>
            <a:ext cx="10291762" cy="3390662"/>
            <a:chOff x="947738" y="1905000"/>
            <a:chExt cx="10291762" cy="33906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729741" y="2018824"/>
              <a:ext cx="2732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最小可运行环境：一个数据库 + 一个模型 Key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495550"/>
              <a:ext cx="4762500" cy="1809750"/>
            </a:xfrm>
            <a:prstGeom prst="roundRect">
              <a:avLst>
                <a:gd name="adj" fmla="val 157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495550"/>
              <a:ext cx="4762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60862" y="2637949"/>
              <a:ext cx="13457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pgvector（Docker）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882741"/>
              <a:ext cx="15991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镜像 pgvector/pgvector:pg16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3092291"/>
              <a:ext cx="13231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端口 5432 · 库 vector_db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3301841"/>
              <a:ext cx="17039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initialize-schema=true 自动建表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23950" y="3533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3511391"/>
              <a:ext cx="13391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HNSW 索引 · COSINE 距离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77000" y="2495550"/>
              <a:ext cx="4762500" cy="1809750"/>
            </a:xfrm>
            <a:prstGeom prst="roundRect">
              <a:avLst>
                <a:gd name="adj" fmla="val 157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7000" y="2495550"/>
              <a:ext cx="4762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1731" y="26379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模型接入（二选一或并存）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7038" y="2882741"/>
              <a:ext cx="14741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OpenAI：api-key + base-url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484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7038" y="3092291"/>
              <a:ext cx="15499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通义千问：DashScope api-key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484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7038" y="3301841"/>
              <a:ext cx="15091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维度必须匹配 Embedding 模型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48450" y="3533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7038" y="3511391"/>
              <a:ext cx="19744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（如 text-embedding-3-small=1536）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4552950"/>
              <a:ext cx="10287000" cy="438150"/>
            </a:xfrm>
            <a:prstGeom prst="roundRect">
              <a:avLst>
                <a:gd name="adj" fmla="val 6522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96969" y="4718447"/>
              <a:ext cx="57980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启动顺序：docker compose up -d → 配 API Key → mvn spring-boot:run → 访问 /api/rag/health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738" y="5126593"/>
              <a:ext cx="555392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提示：教程第五章的 docker-compose 与 application.yml 可直接复制；只改数据库地址与 Key 即可跑通。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40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32369" cy="738854"/>
            <a:chOff x="595122" y="501491"/>
            <a:chExt cx="723236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45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 · ChatClient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323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ChatClient 是什么：一个入口，两种返回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两种调用形态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628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同步 call()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返回完整回答 .content()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3143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 stream()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返回 Flux，逐字输出（SSE）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3693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同一套链式 API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prompt().user().call()/stream()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两种值类型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直接 content() 拿字符串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2471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结构化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entity(Class) 直接映射对象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627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可校验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2.0 支持 schema 校验与自纠错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40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实战 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最小可运行：同步对话接口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4" name="Group 24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2000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AIChatController.java —— 同步对话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91402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@RestController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73733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class AIChatController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916793"/>
                <a:ext cx="21626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private final ChatClient chatClient;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297793"/>
                <a:ext cx="314481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AIChatController(ChatClient.Builder builder)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488293"/>
                <a:ext cx="219660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this.chatClient = builder.build();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678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4059793"/>
                <a:ext cx="158935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@GetMapping("/ai/chat")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4250293"/>
                <a:ext cx="348616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String simpleChat(@RequestParam String message) {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440793"/>
                <a:ext cx="188407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chatClient.prompt()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631293"/>
                <a:ext cx="147984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.user(message)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821793"/>
                <a:ext cx="95307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.call()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5012293"/>
                <a:ext cx="126566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.content();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202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393293"/>
                <a:ext cx="732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40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507436" cy="738854"/>
            <a:chOff x="595122" y="501491"/>
            <a:chExt cx="450743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实战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5074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流式输出：SSE 逐字返回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5" name="Group 25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23726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AIStreamController.java —— 流式（SSE）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91402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@RestController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88802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class AIStreamController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916793"/>
                <a:ext cx="21626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private final ChatClient chatClient;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297793"/>
                <a:ext cx="329544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AIStreamController(ChatClient.Builder builder)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488293"/>
                <a:ext cx="219660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this.chatClient = builder.build();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678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4059793"/>
                <a:ext cx="216187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@GetMapping(value = "/ai/stream",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4250293"/>
                <a:ext cx="336027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produces = MediaType.TEXT_EVENT_STREAM_VALUE)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440793"/>
                <a:ext cx="39021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Flux&lt;String&gt; streamChat(@RequestParam String message) {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631293"/>
                <a:ext cx="188407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chatClient.prompt()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821793"/>
                <a:ext cx="147984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.user(message)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5012293"/>
                <a:ext cx="359908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          .stream()      // 逐字返回，前端可用 EventSource 接收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202793"/>
                <a:ext cx="126566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.content();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3932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583793"/>
                <a:ext cx="732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40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32417" cy="738854"/>
            <a:chOff x="595122" y="501491"/>
            <a:chExt cx="80324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实战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324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角色化提示词：defaultSystem 定人格与边界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5" name="Group 25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22150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AIRoleController.java —— 角色化提示词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91402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@RestController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70815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class AIRoleController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916793"/>
                <a:ext cx="21626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private final ChatClient chatClient;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297793"/>
                <a:ext cx="311561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AIRoleController(ChatClient.Builder builder)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488293"/>
                <a:ext cx="168115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this.chatClient = builder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678793"/>
                <a:ext cx="171298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.defaultSystem("""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869293"/>
                <a:ext cx="255653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              你是专业电商客服，语气友好简洁，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4059793"/>
                <a:ext cx="267230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              仅回答电商相关问题，禁止编造信息。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250293"/>
                <a:ext cx="95886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    """)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440793"/>
                <a:ext cx="108042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.build();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6312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5012293"/>
                <a:ext cx="187820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@GetMapping("/ai/role-chat")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202793"/>
                <a:ext cx="337595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String roleChat(@RequestParam String question) {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393293"/>
                <a:ext cx="389860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chatClient.prompt().user(question).call().content();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583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40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786947" cy="738854"/>
            <a:chOff x="595122" y="501491"/>
            <a:chExt cx="978694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7869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一次对话的链路：HTTP → ChatClient → Advisor → 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947738" y="1905000"/>
            <a:ext cx="10291762" cy="3876676"/>
            <a:chOff x="947738" y="1905000"/>
            <a:chExt cx="10291762" cy="3876676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47133" y="2018824"/>
              <a:ext cx="449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一次对话的链路：从 HTTP 到模型，再到返回值（以带记忆 + RAG 为例）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76500"/>
              <a:ext cx="18669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76500"/>
              <a:ext cx="1866900" cy="914400"/>
            </a:xfrm>
            <a:prstGeom prst="roundRect">
              <a:avLst>
                <a:gd name="adj" fmla="val 312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67243" y="2622947"/>
              <a:ext cx="6279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HTTP 请求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9185" y="2871788"/>
              <a:ext cx="10040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/ai/chat?message=…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2896" y="3062288"/>
              <a:ext cx="20166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（SSE 走 produces=text/event-stream）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914650" y="29337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026092" y="29013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05150" y="2476500"/>
              <a:ext cx="18669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05150" y="2476500"/>
              <a:ext cx="1866900" cy="914400"/>
            </a:xfrm>
            <a:prstGeom prst="roundRect">
              <a:avLst>
                <a:gd name="adj" fmla="val 312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05150" y="2476500"/>
              <a:ext cx="18669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97902" y="2622947"/>
              <a:ext cx="6813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ChatClient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3868" y="2871788"/>
              <a:ext cx="10494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prompt().user(msg)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13274" y="3062288"/>
              <a:ext cx="6506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.advisors(…)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972050" y="29337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083492" y="2901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62550" y="2476500"/>
              <a:ext cx="18669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62550" y="2476500"/>
              <a:ext cx="1866900" cy="914400"/>
            </a:xfrm>
            <a:prstGeom prst="roundRect">
              <a:avLst>
                <a:gd name="adj" fmla="val 312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66263" y="2622947"/>
              <a:ext cx="6594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Advisor 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88342" y="287178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记忆：取历史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36526" y="3062288"/>
              <a:ext cx="7189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RAG：检索知识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029450" y="29337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7140892" y="2901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19950" y="2476500"/>
              <a:ext cx="18669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19950" y="2476500"/>
              <a:ext cx="1866900" cy="914400"/>
            </a:xfrm>
            <a:prstGeom prst="roundRect">
              <a:avLst>
                <a:gd name="adj" fmla="val 312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19011" y="2622947"/>
              <a:ext cx="6687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ChatModel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3077" y="2871788"/>
              <a:ext cx="6006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组装 Prompt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4600" y="3062288"/>
              <a:ext cx="6176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调用模型 API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086850" y="29337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9198292" y="2901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77350" y="2476500"/>
              <a:ext cx="18669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77350" y="2476500"/>
              <a:ext cx="1866900" cy="914400"/>
            </a:xfrm>
            <a:prstGeom prst="roundRect">
              <a:avLst>
                <a:gd name="adj" fmla="val 312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9495" y="2622947"/>
              <a:ext cx="262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返回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87033" y="2871788"/>
              <a:ext cx="8475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call().content()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30537" y="3062288"/>
              <a:ext cx="116052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或 stream().content()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2500" y="3743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81088" y="3712845"/>
              <a:ext cx="4455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关键点一：ChatClient 是唯一入口 —— 换模型不改业务代码，只换 starter 与配置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2500" y="40100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1088" y="3979545"/>
              <a:ext cx="4624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关键点二：Advisor 是可组合切面 —— 记忆、RAG、工具循环、日志都挂在这一条链上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2500" y="4276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81088" y="4246245"/>
              <a:ext cx="46687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关键点三：流式与同步同一个 API —— call() 返回内容，stream() 返回 Flux 逐字输出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2500" y="4953000"/>
              <a:ext cx="102870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2500" y="4953000"/>
              <a:ext cx="10287000" cy="495300"/>
            </a:xfrm>
            <a:prstGeom prst="roundRect">
              <a:avLst>
                <a:gd name="adj" fmla="val 5769"/>
              </a:avLst>
            </a:prstGeom>
            <a:noFill/>
            <a:ln w="9525">
              <a:solidFill>
                <a:srgbClr val="E3061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523096" y="5089922"/>
              <a:ext cx="514580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2.0 变化提醒：工具调用循环已上移进 Advisor（ToolCallingAdvisor），可观察、可组合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7738" y="5634038"/>
              <a:ext cx="34809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对应教程章节：第三章（ChatClient）、第四章（记忆）、第五章（RAG）。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40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009343" cy="738854"/>
            <a:chOff x="595122" y="501491"/>
            <a:chExt cx="700934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进阶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0093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结构化输出：让模型直接产出 Java 对象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2" name="Group 22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20813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结构化输出：entity() + schema 校验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254561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// 1) 基础用法：模型输出直接映射成 Java 对象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231399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ActorsFilms films = chatClient.prompt()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348171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.user("Generate the filmography for a random actor.")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67522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.call()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107293"/>
                <a:ext cx="192379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.entity(ActorsFilms.class);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488293"/>
                <a:ext cx="386466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// 2) Spring AI 2.0：先校验 schema，不合格自动反馈重试（默认 3 次）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678793"/>
                <a:ext cx="237801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ActorsFilms films2 = chatClient.prompt()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869293"/>
                <a:ext cx="348171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.user("Generate the filmography for a random actor.")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059793"/>
                <a:ext cx="67522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.call()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250293"/>
                <a:ext cx="378086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.entity(ActorsFilms.class, spec -&gt; spec.validateSchema());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631293"/>
                <a:ext cx="360428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// 典型失败：少字段 / 多字段 / 包了 ```json 代码块 / 返回解释文字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821793"/>
                <a:ext cx="412435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// 2.0 由 StructuredOutputValidationAdvisor 负责自纠错，不用自己写重试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40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098191" cy="738854"/>
            <a:chOff x="595122" y="501491"/>
            <a:chExt cx="90981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工具调用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0981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工具调用（2.0 重点变化）：@Tool 交给 Advisor 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定义工具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898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方法加 @Tool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描述即 schema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参数类型可校验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传入调用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307431"/>
              <a:ext cx="2043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.tools(new WeatherTools()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5550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802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模型决定何时调用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2360" y="30503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结果回填上下文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0617" y="1892618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2.0 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307431"/>
              <a:ext cx="1830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ToolCallingAdvisor 接管循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5550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1760" y="2802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可观察每轮调用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1760" y="3050381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可与记忆/日志组合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9" name="Rectangle 29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704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工具太多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307431"/>
              <a:ext cx="1879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ToolSearchToolCallingAdvi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71635" y="25550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1635" y="2802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按需检索工具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1635" y="30503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渐进式披露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6018" y="4050982"/>
              <a:ext cx="5705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工具调用从“模型内部黑盒”变成“Advisor 链上一等公民”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304" y="4947285"/>
              <a:ext cx="4660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这样才谈得上审计、重试、评测与组合——企业 Agent 的必要条件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40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67517" cy="738854"/>
            <a:chOff x="595122" y="501491"/>
            <a:chExt cx="42675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避坑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675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2.0 上手最常踩的四个坑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52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配置与 Options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3102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属性键变了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去掉 .options 段（chat.model）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3247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Options 不可变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用 mutate() 改，不再 copy()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默认温度没了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不再默认 0.7，需显式配置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调用与流式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3771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 ID 必传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用记忆 Advisor 时显式传 conversationId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3080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不要自己写工具循环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交给 ToolCallingAdvisor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3372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旧 API 已移除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internalToolExecutionEnabled 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40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0348065" cy="738854"/>
            <a:chOff x="595122" y="501491"/>
            <a:chExt cx="1034806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记忆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0348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记忆配置：ChatMemory + MessageChatMemoryAdvisor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6" name="Group 26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94790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AIMemoryConfig.java —— 记忆配置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84672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@Configuration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68591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class AIMemoryConfig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916793"/>
                <a:ext cx="4733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@Bean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107293"/>
                <a:ext cx="214783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ChatMemory chatMemory()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297793"/>
                <a:ext cx="285215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MessageWindowChatMemory.builder()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488293"/>
                <a:ext cx="427391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.chatMemoryRepository(new InMemoryChatMemoryRepository())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678793"/>
                <a:ext cx="163869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.maxMessages(20)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869293"/>
                <a:ext cx="108042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.build();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059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440793"/>
                <a:ext cx="4733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@Bean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631293"/>
                <a:ext cx="330233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ChatClient chatClient(ChatClient.Builder builder,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821793"/>
                <a:ext cx="274162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                 ChatMemory chatMemory) {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012293"/>
                <a:ext cx="109200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builder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202793"/>
                <a:ext cx="159579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.defaultAdvisors(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393293"/>
                <a:ext cx="421465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        MessageChatMemoryAdvisor.builder(chatMemory).build())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3488" y="5583793"/>
                <a:ext cx="108042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.build();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40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840823" cy="738854"/>
            <a:chOff x="595122" y="501491"/>
            <a:chExt cx="884082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记忆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8408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带上下文的接口：每次调用显式传 conversationId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5" name="Group 25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21383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带上下文的对话：显式 conversationId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91402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@RestController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91136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class AIMemoryController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916793"/>
                <a:ext cx="21626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private final ChatClient chatClient;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297793"/>
                <a:ext cx="305841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AIMemoryController(ChatClient chatClient)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488293"/>
                <a:ext cx="194042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this.chatClient = chatClient;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678793"/>
                <a:ext cx="21212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}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4059793"/>
                <a:ext cx="208089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@GetMapping("/ai/memory-chat")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4250293"/>
                <a:ext cx="346869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public String memoryChat(@RequestParam String message,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440793"/>
                <a:ext cx="283182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             @RequestParam String chatId) {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631293"/>
                <a:ext cx="188407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return chatClient.prompt()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821793"/>
                <a:ext cx="196609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.advisors(a -&gt; a.param(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5012293"/>
                <a:ext cx="321176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        ChatMemory.CONVERSATION_ID, chatId))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202793"/>
                <a:ext cx="147984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.user(message)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393293"/>
                <a:ext cx="95307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.call()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583793"/>
                <a:ext cx="126566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.content();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40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18629" cy="738854"/>
            <a:chOff x="595122" y="501491"/>
            <a:chExt cx="73186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隔离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186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会话隔离与生产建议（最容易出事的地方）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为什么要隔离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多用户共用进程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历史串了=数据泄漏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2.0 强调显式会话 ID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1013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ID 怎么设计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325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userId + sessionId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529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或 UUID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1150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一次会话一个 ID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窗口别太大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587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maxMessages=20 起步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越多越贵且更易跑偏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必要时摘要压缩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存储要持久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演示用内存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1434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生产用 Redis / JDBC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设置过期时间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4972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记忆的核心不是“记住”，而是“记住谁跟谁说的话”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4467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 用户绝不允许看到 B 用户的历史——这是企业级的最低红线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23 / 40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图解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记忆机制图解：写入、读取与隔离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52500" y="1905000"/>
            <a:ext cx="10287000" cy="3371612"/>
            <a:chOff x="952500" y="1905000"/>
            <a:chExt cx="10287000" cy="337161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22950" y="2018824"/>
              <a:ext cx="43461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记忆机制：MessageChatMemoryAdvisor + 显式 conversationId 隔离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495550"/>
              <a:ext cx="4762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495550"/>
              <a:ext cx="4762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85291" y="2637949"/>
              <a:ext cx="696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写入 / 读取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882741"/>
              <a:ext cx="19160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Advisor 在调用前后读写 ChatMemory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3092291"/>
              <a:ext cx="25250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MessageWindowChatMemory(maxMessages=20)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3301841"/>
              <a:ext cx="16498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历史以 conversationId 分区存储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0" y="2495550"/>
              <a:ext cx="4762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0" y="2495550"/>
              <a:ext cx="4762500" cy="1428750"/>
            </a:xfrm>
            <a:prstGeom prst="roundRect">
              <a:avLst>
                <a:gd name="adj" fmla="val 2000"/>
              </a:avLst>
            </a:prstGeom>
            <a:noFill/>
            <a:ln w="15240">
              <a:solidFill>
                <a:srgbClr val="E3061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0526" y="2637949"/>
              <a:ext cx="1335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会话隔离（2.0 强调）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484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7038" y="2882741"/>
              <a:ext cx="2518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每次调用显式传 ChatMemory.CONVERSATION_ID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7038" y="3092291"/>
              <a:ext cx="1638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建议 userId + sessionId 或 UUID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484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7038" y="3301841"/>
              <a:ext cx="14091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 用户看不到 B 用户的历史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4171950"/>
              <a:ext cx="1028700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2688" y="4308872"/>
              <a:ext cx="31466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存储实现：内存（演示）→ Redis / JDBC（生产常见）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52500" y="4886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81088" y="4859893"/>
              <a:ext cx="452934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生产建议：会话记忆走 Redis/JDBC 持久化，设置窗口大小与过期时间，避免无限增长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51339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81088" y="5107543"/>
              <a:ext cx="53594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调试接口：chatMemory.get(chatId) 查历史、chatMemory.clear(chatId) 清空（教程第四章示例）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24 / 40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调试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调试接口：查历史与清空会话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19" name="Group 19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3604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调试接口：查历史 / 清空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161089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@GetMapping("/ai/history")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326344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Object getHistory(@RequestParam String chatId) 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205636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return chatMemory.get(chatId);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732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297793"/>
                <a:ext cx="148380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@GetMapping("/ai/clear")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488293"/>
                <a:ext cx="33503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public String clearMemory(@RequestParam String chatId) {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678793"/>
                <a:ext cx="173802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chatMemory.clear(chatId);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869293"/>
                <a:ext cx="239407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return "会话 " + chatId + " 记忆已清空";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059793"/>
                <a:ext cx="732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1" name="TextBox 2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25 / 40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39740" cy="738854"/>
            <a:chOff x="595122" y="501491"/>
            <a:chExt cx="69397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36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 · RAG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397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是什么：先查资料，再让模型作答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解决什么问题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模型不知道私事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企业内部文档不在训练数据里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幻觉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让模型凭空答易编造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答案来自你自己维护的资料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两个阶段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98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入库（离线）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读文件 → 切块 → 向量化 → 存库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问答（在线）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问题向量化 → 检索 → 拼进提示词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72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参数可调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topK / 相似度阈值 / 过滤条件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26 / 40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527728" cy="738854"/>
            <a:chOff x="595122" y="501491"/>
            <a:chExt cx="75277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环境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5277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一步起库：pgvector 的 docker-compose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5" name="Group 25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9662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999999"/>
                    </a:solidFill>
                    <a:latin typeface="Consolas"/>
                    <a:ea typeface="Consolas"/>
                    <a:cs typeface="Consolas"/>
                  </a:rPr>
                  <a:t>docker-compose.yml —— pgvector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55365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services: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22514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postgres-pgvector: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196030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image: pgvector/pgvector:pg16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221500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container_name: postgres-pgvector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107293"/>
                <a:ext cx="90676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environment: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297793"/>
                <a:ext cx="173327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POSTGRES_USER: postgres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488293"/>
                <a:ext cx="205193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POSTGRES_PASSWORD: postgres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678793"/>
                <a:ext cx="166340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POSTGRES_DB: vector_db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3869293"/>
                <a:ext cx="53050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ports: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059793"/>
                <a:ext cx="101675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- "5432:5432"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250293"/>
                <a:ext cx="65206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volumes: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440793"/>
                <a:ext cx="264915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- pgvector-data:/var/lib/postgresql/data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4631293"/>
                <a:ext cx="88361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healthcheck: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4821793"/>
                <a:ext cx="301187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test: ["CMD-SHELL", "pg_isready -U postgres"]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3488" y="5202793"/>
                <a:ext cx="179822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volumes: { pgvector-data: {} }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27 / 40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64126" cy="738854"/>
            <a:chOff x="595122" y="501491"/>
            <a:chExt cx="57641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入库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641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文档入库：PDF → 切块 → 向量库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2" name="Group 22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8326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RAGController.java —— 文档入库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362452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PagePdfDocumentReader reader = new PagePdfDocumentReader(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32916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new InputStreamResource(file.getInputStream()));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256002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List&lt;Document&gt; documents = reader.read();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3107293"/>
                <a:ext cx="163517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documents.forEach(doc -&gt; {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297793"/>
                <a:ext cx="391326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doc.getMetadata().put("filename", file.getOriginalFilename());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488293"/>
                <a:ext cx="294941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doc.getMetadata().put("category", category);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678793"/>
                <a:ext cx="413109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doc.getMetadata().put("uploadTime", System.currentTimeMillis());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869293"/>
                <a:ext cx="20055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});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250293"/>
                <a:ext cx="314149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TokenTextSplitter splitter = new TokenTextSplitter();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440793"/>
                <a:ext cx="301653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List&lt;Document&gt; chunks = splitter.split(documents);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631293"/>
                <a:ext cx="322292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vectorStore.add(chunks);        // 向量化并写入 pgvector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5012293"/>
                <a:ext cx="201240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// 返回：成功 / chunks 数量 / 文件名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28 / 40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985783" cy="738854"/>
            <a:chOff x="595122" y="501491"/>
            <a:chExt cx="99857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问答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9857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检索问答：QuestionAnswerAdvisor + SearchRequest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47750" y="1809750"/>
            <a:ext cx="10096500" cy="4095750"/>
            <a:chOff x="1047750" y="1809750"/>
            <a:chExt cx="10096500" cy="4095750"/>
          </a:xfrm>
        </p:grpSpPr>
        <p:grpSp>
          <p:nvGrpSpPr>
            <p:cNvPr id="24" name="Group 24"/>
            <p:cNvGrpSpPr/>
            <p:nvPr/>
          </p:nvGrpSpPr>
          <p:grpSpPr>
            <a:xfrm>
              <a:off x="1047750" y="1809750"/>
              <a:ext cx="10096500" cy="4095750"/>
              <a:chOff x="1047750" y="1809750"/>
              <a:chExt cx="100965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047750" y="1809750"/>
                <a:ext cx="10096500" cy="409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DDDD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47750" y="1809750"/>
                <a:ext cx="10096500" cy="57150"/>
              </a:xfrm>
              <a:prstGeom prst="rect">
                <a:avLst/>
              </a:prstGeom>
              <a:solidFill>
                <a:srgbClr val="E3061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488" y="2036445"/>
                <a:ext cx="18326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99999"/>
                    </a:solidFill>
                    <a:latin typeface="Consolas"/>
                    <a:ea typeface="Microsoft YaHei"/>
                    <a:cs typeface="Consolas"/>
                  </a:rPr>
                  <a:t>RAGController.java —— 检索问答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238250" y="2228850"/>
                <a:ext cx="971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715500" h="9525">
                    <a:moveTo>
                      <a:pt x="0" y="0"/>
                    </a:moveTo>
                    <a:lnTo>
                      <a:pt x="9715500" y="0"/>
                    </a:lnTo>
                  </a:path>
                </a:pathLst>
              </a:custGeom>
              <a:noFill/>
              <a:ln w="9525">
                <a:solidFill>
                  <a:srgbClr val="DDDDDD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33488" y="2345293"/>
                <a:ext cx="301077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SearchRequest.Builder sb = SearchRequest.builder()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488" y="2535793"/>
                <a:ext cx="127724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.query(question)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33488" y="2726293"/>
                <a:ext cx="224034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  .topK(topK)                     // 默认 5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3488" y="2916793"/>
                <a:ext cx="277894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0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        .similarityThreshold(0.7);      // 相似度阈值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3488" y="3297793"/>
                <a:ext cx="261950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if (category != null &amp;&amp; !category.isEmpty()) {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3488" y="3488293"/>
                <a:ext cx="133929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sb.filterExpression(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3488" y="3678793"/>
                <a:ext cx="3089303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String.format("category == '%s'", category));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3488" y="3869293"/>
                <a:ext cx="73200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4250293"/>
                <a:ext cx="211930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String answer = chatClient.prompt()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3488" y="4440793"/>
                <a:ext cx="351690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.advisors(QuestionAnswerAdvisor.builder(vectorStore)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33488" y="4631293"/>
                <a:ext cx="268413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        .searchRequest(sb.build()).build())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3488" y="4821793"/>
                <a:ext cx="1213566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.user(question)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3488" y="5012293"/>
                <a:ext cx="675221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.call()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3488" y="5202793"/>
                <a:ext cx="98780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60" dirty="0">
                    <a:solidFill>
                      <a:srgbClr val="1A1A1A"/>
                    </a:solidFill>
                    <a:latin typeface="Consolas"/>
                    <a:ea typeface="Consolas"/>
                    <a:cs typeface="Consolas"/>
                  </a:rPr>
                  <a:t>        .content();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29 / 40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103059" cy="738854"/>
            <a:chOff x="595122" y="501491"/>
            <a:chExt cx="71030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图解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103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全流程图解：入库链路 vs 问答链路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52500" y="1866900"/>
            <a:ext cx="10287000" cy="3314462"/>
            <a:chOff x="952500" y="1866900"/>
            <a:chExt cx="10287000" cy="3314462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24087" y="1980724"/>
              <a:ext cx="2943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企业级 RAG：先入库（离线），再问答（在线）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62200"/>
              <a:ext cx="4953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62200"/>
              <a:ext cx="4953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6337" y="25045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入库链路（离线）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771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749391"/>
              <a:ext cx="16421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PDF → PagePdfDocumentReader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2981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2958941"/>
              <a:ext cx="1626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加元数据：filename / category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190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3168491"/>
              <a:ext cx="12526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TokenTextSplitter 切块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23950" y="3400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3378041"/>
              <a:ext cx="16645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vectorStore.add(chunks) 入库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2362200"/>
              <a:ext cx="4953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2362200"/>
              <a:ext cx="4953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0337" y="25045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问答链路（在线）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57950" y="2771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6538" y="2749391"/>
              <a:ext cx="21039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问题 → SearchRequest(topK/threshold)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57950" y="2981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6538" y="2958941"/>
              <a:ext cx="18407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过滤：filterExpression(category)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57950" y="3190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6538" y="3168491"/>
              <a:ext cx="19847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QuestionAnswerAdvisor 注入检索结果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57950" y="3400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6538" y="33780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模型基于「资料」作答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4038600"/>
              <a:ext cx="10287000" cy="495300"/>
            </a:xfrm>
            <a:prstGeom prst="roundRect">
              <a:avLst>
                <a:gd name="adj" fmla="val 576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10929" y="4175522"/>
              <a:ext cx="577014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向量库：pgvector（PostgreSQL 扩展）或 Redis —— 维度必须与 Embedding 模型一致（如 1536）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47910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1088" y="4764643"/>
              <a:ext cx="4843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参数经验：topK=5、similarityThreshold=0.7 起步；分类过滤（category）做多知识库隔离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" y="5038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1088" y="5012293"/>
              <a:ext cx="529286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常见坑：换了 Embedding 模型却沿用旧维度 → 入库/检索直接失败；文档不切块直接入库 → 召回质量差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30 / 40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112126" cy="738854"/>
            <a:chOff x="595122" y="501491"/>
            <a:chExt cx="81121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1121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向量库怎么选：pgvector vs Redis vs Milvus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向量库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079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适用规模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4888" y="17535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选它的理由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571274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pgvector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95133" y="2571274"/>
              <a:ext cx="1201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中小规模 / 已有 PG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02121" y="2571274"/>
              <a:ext cx="2302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零新增组件 · SQL 一起查 · 教程默认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847624"/>
              <a:ext cx="34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Redis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93987" y="3847624"/>
              <a:ext cx="1204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已有 Redis / 低延迟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47187" y="3847624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复用现有缓存 · 内存级响应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5114449"/>
              <a:ext cx="40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Milvus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53442" y="5114449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大规模 / 专用检索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81223" y="511444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独立向量服务 · 高吞吐高召回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31 / 40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63667" cy="738854"/>
            <a:chOff x="595122" y="501491"/>
            <a:chExt cx="646366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调参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636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检索调参三件事：TopK、阈值、过滤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TopK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召回条数，默认 5 起步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太大→噪声多、费 token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太小→漏关键信息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相似度阈值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0.7 是常见起点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太低→答非所问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太高→召回不足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过滤条件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2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filterExpression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如 category == 'finance'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多知识库互不污染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切块策略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1359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TokenTextSplitter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块太大→检索不精确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块太小→语义不完整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6364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RAG 效果不好，八成不是模型问题，而是检索参数与切块问题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先固定一批问题做评测集，再调参——否则只是凭感觉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32 / 40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56668" cy="738854"/>
            <a:chOff x="595122" y="501491"/>
            <a:chExt cx="62566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启动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566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快速启动五步：从零跑通 RAG 服务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五步走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068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 起库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docker compose up -d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173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 配 Key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环境变量注入 API Key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023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 启动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mvn spring-boot:run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验证与使用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897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4 健康检查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/api/rag/health 返回 running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2622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5 上传+问答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先 /upload 再 /chat 验证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806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出问题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先看维度是否一致、Key 是否生效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33 / 40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555543" cy="738854"/>
            <a:chOff x="595122" y="501491"/>
            <a:chExt cx="755554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迁移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5555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 1.x 迁到 2.0：七步走 + 破坏性变更速记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52500" y="1866900"/>
            <a:ext cx="10287000" cy="3905250"/>
            <a:chOff x="952500" y="1866900"/>
            <a:chExt cx="10287000" cy="3905250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39431" y="1980724"/>
              <a:ext cx="23131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 Spring AI 1.x 迁移到 2.0：七步走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9704" y="2669143"/>
              <a:ext cx="4914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升 JDK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38275" y="292893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17 → 21/25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3431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416492" y="2872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955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955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73284" y="2669143"/>
              <a:ext cx="5399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升 Boot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8310" y="2928938"/>
              <a:ext cx="5698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3.x → 4.0.x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7909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864292" y="2872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9433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433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2495550"/>
              <a:ext cx="12954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45761" y="2669143"/>
              <a:ext cx="69057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升 AI BOM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06110" y="2928938"/>
              <a:ext cx="5698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1.x → 2.0.0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2387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312092" y="2872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911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911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72434" y="2669143"/>
              <a:ext cx="7328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改 Options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68684" y="2928938"/>
              <a:ext cx="11403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去 .options / mutate()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6865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759892" y="2872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389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389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38950" y="2495550"/>
              <a:ext cx="12954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40791" y="2669143"/>
              <a:ext cx="69171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改工具调用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2123" y="2928938"/>
              <a:ext cx="7490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@Tool + Advisor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1343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8207692" y="2872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867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867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46477" y="2669143"/>
              <a:ext cx="5759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虚拟线程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8946" y="2928938"/>
              <a:ext cx="12110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threads.virtual.enabled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582150" y="2905125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655492" y="2872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34550" y="2495550"/>
              <a:ext cx="12954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34550" y="2495550"/>
              <a:ext cx="12954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046442" y="2669143"/>
              <a:ext cx="6716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⑦ MCP/观测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16538" y="2928938"/>
              <a:ext cx="7314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按需接入 + 回归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2500" y="36480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81088" y="3621643"/>
              <a:ext cx="392246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先跑通再优化：迁移后先验证「能对话」，再逐个补 Advisor / 工具 / MCP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2500" y="3895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81088" y="3869293"/>
              <a:ext cx="39283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优先处理破坏性变更：配置键扁平化、Options 不可变、工具调用 API 调整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52500" y="41433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1088" y="4116943"/>
              <a:ext cx="46849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存量项目策略：Boot 3.x 可继续用 Spring AI 1.1.x 维护版；新项目直接 Boot 4 + AI 2.0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2500" y="4876800"/>
              <a:ext cx="10287000" cy="895350"/>
            </a:xfrm>
            <a:prstGeom prst="roundRect">
              <a:avLst>
                <a:gd name="adj" fmla="val 319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22927" y="5023247"/>
              <a:ext cx="23461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破坏性变更速记（2.0 Upgrade Notes）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8238" y="5248989"/>
              <a:ext cx="518327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配置去 .options 段 · Options 严格不可变（mutate() 取代 copy()） · N()→n() · 默认 temperature 移除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8238" y="5458539"/>
              <a:ext cx="576434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工具调用：internalToolExecutionEnabled / ToolExecutionEligibilityPredicate / streamToolCallResponses 均已移除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34 / 40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53186" cy="738854"/>
            <a:chOff x="595122" y="501491"/>
            <a:chExt cx="695318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变更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531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2.0 破坏性变更清单（迁移前逐条核对）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81272" y="175355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旧写法 / 旧行为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1531" y="1753552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2.0 怎么改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093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55415" y="2209324"/>
              <a:ext cx="208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spring.ai.*.chat.options.model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37428" y="2209324"/>
              <a:ext cx="1032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去掉 .options 段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752249"/>
              <a:ext cx="515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Options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13048" y="2752249"/>
              <a:ext cx="1565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copy() / fromOptions()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49431" y="2752249"/>
              <a:ext cx="1408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mutate()，对象不可变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2951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606" y="3295174"/>
              <a:ext cx="886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builder 的 N()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39807" y="32951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n()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8476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默认值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0009" y="3847624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框架默认 temperature=0.7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9190" y="38476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改用提供方原生默认，需显式配置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390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51999" y="4390549"/>
              <a:ext cx="1888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internalToolExecutionEnabled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9771" y="4390549"/>
              <a:ext cx="1867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移除，交给 ToolCallingAdvisor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9334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6992" y="4933474"/>
              <a:ext cx="1618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streamToolCallResponses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9009" y="49334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移除（避免历史损坏）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5476399"/>
              <a:ext cx="794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Advisor 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15837" y="5476399"/>
              <a:ext cx="2160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spring-ai-advisors-vector-store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09717" y="5476399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spring-ai-vector-store-advisor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35 / 40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646406" cy="738854"/>
            <a:chOff x="595122" y="501491"/>
            <a:chExt cx="86464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609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MCP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6464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双向：既消费远程工具，也暴露自己的能力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47738" y="1905000"/>
            <a:ext cx="10291762" cy="3085862"/>
            <a:chOff x="947738" y="1905000"/>
            <a:chExt cx="10291762" cy="30858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82172" y="2018824"/>
              <a:ext cx="42276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MCP 双向：你的应用既能用别人的工具，也能把自己的能力暴露出去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495550"/>
              <a:ext cx="4762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495550"/>
              <a:ext cx="4762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06832" y="2637949"/>
              <a:ext cx="1253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Client（消费）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882741"/>
              <a:ext cx="21936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连接远程 MCP Server（数据库/文件系统）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3092291"/>
              <a:ext cx="15880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远程工具当本地 @Tool 一样调用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3301841"/>
              <a:ext cx="21854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Streamable HTTP 为默认传输（SSE 弃用）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0" y="2495550"/>
              <a:ext cx="4762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0" y="2495550"/>
              <a:ext cx="4762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0" y="2637949"/>
              <a:ext cx="1324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Server（暴露）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484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7038" y="2882741"/>
              <a:ext cx="2172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@McpTool / @McpResource / @McpPrompt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3114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7038" y="3092291"/>
              <a:ext cx="1882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注解即协议，无需手写 JSON Schema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48450" y="3324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7038" y="3301841"/>
              <a:ext cx="17423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与安全/观测栈集成（OAuth2 等）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4095750"/>
              <a:ext cx="102870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95868" y="4204097"/>
              <a:ext cx="42002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Spring AI 2.0 原生 MCP：官方维护 Java SDK，合规 2025-11-25 规范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8238" y="4391739"/>
              <a:ext cx="49335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配置位置：spring.ai.mcp.server / spring.ai.mcp.client（教程附录给出 server+client 双开配置）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738" y="4821793"/>
              <a:ext cx="533684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价值：企业内部工具（工单/仓库/知识库）一次暴露，多个 AI 应用复用，权限与审计收敛在一处。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36 / 40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生产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上生产前值得做的四件事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记忆持久化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41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Redis/JDBC 存会话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设置过期与窗口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别用内存跑生产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可观测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47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OpenTelemetry 追踪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记录模型/工具调用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定位慢与失败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成本控制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按任务选模型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141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限制 maxTokens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缓存高频问答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安全护栏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提示注入防护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工具最小权限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输出审核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67375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Demo 到生产差的不是功能，而是记忆、观测、成本与安全这四件事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4278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这四件事恰好都挂在 Advisor 链或基础设施上，可增量补齐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37 / 40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附录：教程配套的四条注意事项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629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 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903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用记忆必传 conversationId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73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生产用 userId+sessionId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2" name="Rectangle 12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412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模型切换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42360" y="2555081"/>
              <a:ext cx="1492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与千问可共存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802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改配置即可切换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18" name="Rectangle 18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06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维度一致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1760" y="2555081"/>
              <a:ext cx="16424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Embedding 维度=库维度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1760" y="2802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换模型要重建索引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4" name="Rectangle 24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704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记忆存储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71635" y="2555081"/>
              <a:ext cx="1496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生产建议 Redis/JDBC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71635" y="2802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设窗口与过期时间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三条最容易翻车的线：会话串号、维度不一致、内存当生产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3848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把这三条写进团队 checklist，能省掉大部分线上事故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38 / 40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上手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推荐上手路径（按教程章节推进）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0084" y="3188018"/>
            <a:ext cx="10900964" cy="1456943"/>
            <a:chOff x="600084" y="3188018"/>
            <a:chExt cx="10900964" cy="145694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0084" y="3188018"/>
              <a:ext cx="1543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1 步 · 跑通对话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3740" y="4020502"/>
              <a:ext cx="1175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环境 + ChatClient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0186" y="4230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同步与流式两个接口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4439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先看到模型回话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4291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34202" y="3188018"/>
              <a:ext cx="1361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2 步 · 加记忆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23416" y="4020502"/>
              <a:ext cx="1182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ChatMemory 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5384" y="4230052"/>
              <a:ext cx="1358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显式 conversationId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4788" y="4439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验证历史与隔离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44277" y="3188018"/>
              <a:ext cx="144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3 步 · 接 RAG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59441" y="4020502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起 pgvector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6961" y="42300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上传文档 → 问答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68096" y="4439602"/>
              <a:ext cx="9990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调 TopK 与阈值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52" y="3188018"/>
              <a:ext cx="1361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4 步 · 上生产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9919" y="4020502"/>
              <a:ext cx="130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换 Redis/JDBC 记忆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91013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接观测与护栏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20338" y="4439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压测与成本核算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38" y="6017895"/>
              <a:ext cx="5098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说明：本节为学习顺序建议（非官方课程大纲），按「先能跑、再能记、后能查」推进最省力。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39 / 40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总结与下一步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917382"/>
            <a:ext cx="4617969" cy="322707"/>
            <a:chOff x="601218" y="1917382"/>
            <a:chExt cx="4617969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941671"/>
              <a:ext cx="40834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ChatClient 调用 · Advisor 装配 · 向量库检索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50782"/>
            <a:ext cx="3772632" cy="322707"/>
            <a:chOff x="601218" y="2450782"/>
            <a:chExt cx="377263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一基线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761" y="2475071"/>
              <a:ext cx="3238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2.0.0 + Boot 4.x（Jackson 3）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84182"/>
            <a:ext cx="3957411" cy="322707"/>
            <a:chOff x="601218" y="2984182"/>
            <a:chExt cx="3957411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一实战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761" y="3008471"/>
              <a:ext cx="34228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同步 / 流式 / 角色 / 结构化 / 工具调用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517582"/>
            <a:ext cx="3913350" cy="322707"/>
            <a:chOff x="601218" y="3517582"/>
            <a:chExt cx="3913350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517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一记忆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5761" y="3541871"/>
              <a:ext cx="3378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ChatMemory + 显式会话隔离（红线）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917382"/>
            <a:ext cx="3304598" cy="322707"/>
            <a:chOff x="6468618" y="1917382"/>
            <a:chExt cx="3304598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917382"/>
              <a:ext cx="732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 RAG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03161" y="1941671"/>
              <a:ext cx="2770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入库 → 检索 → 作答，调参三件事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50782"/>
            <a:ext cx="2882612" cy="322707"/>
            <a:chOff x="6468618" y="2450782"/>
            <a:chExt cx="288261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一迁移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03161" y="2475071"/>
              <a:ext cx="2348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七步迁移 + 破坏性变更清单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84182"/>
            <a:ext cx="3352515" cy="322707"/>
            <a:chOff x="6468618" y="2984182"/>
            <a:chExt cx="3352515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一延伸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03161" y="3008471"/>
              <a:ext cx="2817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双向 · 观测 · 成本 · 安全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336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Spring AI 零基础到企业级（Boot 4.x + Spring AI 2.0）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40 / 40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roject">
  <a:themeElements>
    <a:clrScheme name="projec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jec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5592</Words>
  <Application>Microsoft Office PowerPoint</Application>
  <PresentationFormat>宽屏</PresentationFormat>
  <Paragraphs>776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辉 童</cp:lastModifiedBy>
  <cp:revision>2</cp:revision>
  <dcterms:created xsi:type="dcterms:W3CDTF">2026-09-10T14:18:02Z</dcterms:created>
  <dcterms:modified xsi:type="dcterms:W3CDTF">2026-09-10T14:32:46Z</dcterms:modified>
  <cp:category/>
  <cp:contentStatus/>
  <dc:language/>
</cp:coreProperties>
</file>